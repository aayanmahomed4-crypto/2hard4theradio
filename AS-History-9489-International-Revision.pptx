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charts/chart1.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charts/chart2.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charts/chart3.xml" ContentType="application/vnd.openxmlformats-officedocument.drawingml.chart+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charts/chart4.xml" ContentType="application/vnd.openxmlformats-officedocument.drawingml.chart+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Lst>
  <p:notesMasterIdLst>
    <p:notesMasterId r:id="rId1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here" id="{72210aa3-ad05-0524-c50d-6e31c150cd99}">
          <p14:sldIdLst>
            <p14:sldId id="256"/>
            <p14:sldId id="257"/>
            <p14:sldId id="258"/>
            <p14:sldId id="259"/>
          </p14:sldIdLst>
        </p14:section>
        <p14:section name="Topic 1 · Imperialism (Paper 1)" id="{6e7f8859-1300-1558-5281-49fdeb74edfe}">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 name="Paper 1 skills" id="{3da682f7-8905-0044-de94-d26d25125dff}">
          <p14:sldIdLst>
            <p14:sldId id="296"/>
            <p14:sldId id="297"/>
            <p14:sldId id="298"/>
            <p14:sldId id="299"/>
            <p14:sldId id="300"/>
            <p14:sldId id="301"/>
            <p14:sldId id="302"/>
          </p14:sldIdLst>
        </p14:section>
        <p14:section name="Topic 2 · 1919–29 (Paper 2)" id="{7c89351f-2d36-a684-ceb7-c48e454e28ef}">
          <p14:sldIdLst>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 name="Topic 3 · 1929–39 (Paper 2)" id="{89ab0196-b27b-43bf-a685-96485105468a}">
          <p14:sldIdLst>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Lst>
        </p14:section>
        <p14:section name="Paper 2 skills" id="{c24f114b-e55c-0038-e0cf-ba8c1c89681e}">
          <p14:sldIdLst>
            <p14:sldId id="378"/>
            <p14:sldId id="379"/>
            <p14:sldId id="380"/>
            <p14:sldId id="381"/>
            <p14:sldId id="382"/>
            <p14:sldId id="383"/>
          </p14:sldIdLst>
        </p14:section>
        <p14:section name="Final checklist" id="{3f43f55c-3390-1287-e4c1-64bf709be61b}">
          <p14:sldIdLst>
            <p14:sldId id="384"/>
            <p14:sldId id="385"/>
            <p14:sldId id="3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notesMaster" Target="notesMasters/notesMaster1.xml"/><Relationship Id="rId134" Type="http://schemas.openxmlformats.org/officeDocument/2006/relationships/presProps" Target="presProps.xml"/><Relationship Id="rId135" Type="http://schemas.openxmlformats.org/officeDocument/2006/relationships/viewProps" Target="viewProps.xml"/><Relationship Id="rId136" Type="http://schemas.openxmlformats.org/officeDocument/2006/relationships/theme" Target="theme/theme1.xml"/><Relationship Id="rId1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E2A35"/>
                </a:solidFill>
                <a:latin typeface="+mn-lt"/>
              </a:defRPr>
            </a:pPr>
            <a:r>
              <a:rPr sz="1500" b="0" i="0" u="none" strike="noStrike">
                <a:solidFill>
                  <a:srgbClr val="1E2A35"/>
                </a:solidFill>
                <a:latin typeface="+mn-lt"/>
              </a:rPr>
              <a:t>German reparations (billion gold marks)</a:t>
            </a:r>
          </a:p>
        </c:rich>
      </c:tx>
      <c:layout/>
      <c:overlay val="0"/>
    </c:title>
    <c:autoTitleDeleted val="0"/>
    <c:plotArea>
      <c:layout/>
      <c:barChart>
        <c:barDir val="col"/>
        <c:grouping val="clustered"/>
        <c:varyColors val="0"/>
        <c:ser>
          <c:idx val="0"/>
          <c:order val="0"/>
          <c:tx>
            <c:strRef>
              <c:f>Sheet1!$B$1</c:f>
              <c:strCache>
                <c:ptCount val="1"/>
                <c:pt idx="0">
                  <c:v>Series</c:v>
                </c:pt>
              </c:strCache>
            </c:strRef>
          </c:tx>
          <c:spPr>
            <a:solidFill>
              <a:srgbClr val="1C6E6A"/>
            </a:solidFill>
            <a:effectLst/>
          </c:spPr>
          <c:invertIfNegative val="0"/>
          <c:dLbls>
            <c:numFmt formatCode="General" sourceLinked="0"/>
            <c:txPr>
              <a:bodyPr/>
              <a:lstStyle/>
              <a:p>
                <a:pPr>
                  <a:defRPr b="0" i="0" strike="noStrike" sz="13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Set in 1921</c:v>
                  </c:pt>
                  <c:pt idx="1">
                    <c:v>Young Plan, 1929</c:v>
                  </c:pt>
                  <c:pt idx="2">
                    <c:v>Actually paid by 1932</c:v>
                  </c:pt>
                  <c:pt idx="3">
                    <c:v>Lausanne, 1932</c:v>
                  </c:pt>
                </c:lvl>
              </c:multiLvlStrCache>
            </c:multiLvlStrRef>
          </c:cat>
          <c:val>
            <c:numRef>
              <c:f>Sheet1!$B$2:$B$5</c:f>
              <c:numCache>
                <c:formatCode>General</c:formatCode>
                <c:ptCount val="4"/>
                <c:pt idx="0">
                  <c:v>132</c:v>
                </c:pt>
                <c:pt idx="1">
                  <c:v>112</c:v>
                </c:pt>
                <c:pt idx="2">
                  <c:v>20</c:v>
                </c:pt>
                <c:pt idx="3">
                  <c:v>3</c:v>
                </c:pt>
              </c:numCache>
            </c:numRef>
          </c:val>
        </c:ser>
        <c:dLbls>
          <c:numFmt formatCode="General" sourceLinked="0"/>
          <c:txPr>
            <a:bodyPr/>
            <a:lstStyle/>
            <a:p>
              <a:pPr>
                <a:defRPr b="0" i="0" strike="noStrike" sz="13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D7DB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E2A35"/>
                </a:solidFill>
                <a:latin typeface="+mn-lt"/>
              </a:defRPr>
            </a:pPr>
            <a:r>
              <a:rPr sz="1500" b="0" i="0" u="none" strike="noStrike">
                <a:solidFill>
                  <a:srgbClr val="1E2A35"/>
                </a:solidFill>
                <a:latin typeface="+mn-lt"/>
              </a:rPr>
              <a:t>Battleship tonnage allowed (thousand tons)</a:t>
            </a:r>
          </a:p>
        </c:rich>
      </c:tx>
      <c:layout/>
      <c:overlay val="0"/>
    </c:title>
    <c:autoTitleDeleted val="0"/>
    <c:plotArea>
      <c:layout/>
      <c:barChart>
        <c:barDir val="col"/>
        <c:grouping val="clustered"/>
        <c:varyColors val="0"/>
        <c:ser>
          <c:idx val="0"/>
          <c:order val="0"/>
          <c:tx>
            <c:strRef>
              <c:f>Sheet1!$B$1</c:f>
              <c:strCache>
                <c:ptCount val="1"/>
                <c:pt idx="0">
                  <c:v>Series</c:v>
                </c:pt>
              </c:strCache>
            </c:strRef>
          </c:tx>
          <c:spPr>
            <a:solidFill>
              <a:srgbClr val="1C6E6A"/>
            </a:solidFill>
            <a:effectLst/>
          </c:spPr>
          <c:invertIfNegative val="0"/>
          <c:dLbls>
            <c:numFmt formatCode="General" sourceLinked="0"/>
            <c:txPr>
              <a:bodyPr/>
              <a:lstStyle/>
              <a:p>
                <a:pPr>
                  <a:defRPr b="0" i="0" strike="noStrike" sz="1300" u="none">
                    <a:solidFill>
                      <a:srgbClr val="1B1F24"/>
                    </a:solidFill>
                    <a:latin typeface="+mn-lt"/>
                  </a:defRPr>
                </a:pPr>
              </a:p>
            </c:txPr>
            <c:showLegendKey val="0"/>
            <c:showVal val="1"/>
            <c:showCatName val="0"/>
            <c:showSerName val="0"/>
            <c:showPercent val="0"/>
            <c:showBubbleSize val="0"/>
            <c:showLeaderLines val="0"/>
          </c:dLbls>
          <c:cat>
            <c:multiLvlStrRef>
              <c:f>Sheet1!$A$2:$A$6</c:f>
              <c:multiLvlStrCache>
                <c:ptCount val="5"/>
                <c:lvl>
                  <c:pt idx="0">
                    <c:v>USA</c:v>
                  </c:pt>
                  <c:pt idx="1">
                    <c:v>Britain</c:v>
                  </c:pt>
                  <c:pt idx="2">
                    <c:v>Japan</c:v>
                  </c:pt>
                  <c:pt idx="3">
                    <c:v>France</c:v>
                  </c:pt>
                  <c:pt idx="4">
                    <c:v>Italy</c:v>
                  </c:pt>
                </c:lvl>
              </c:multiLvlStrCache>
            </c:multiLvlStrRef>
          </c:cat>
          <c:val>
            <c:numRef>
              <c:f>Sheet1!$B$2:$B$6</c:f>
              <c:numCache>
                <c:formatCode>General</c:formatCode>
                <c:ptCount val="5"/>
                <c:pt idx="0">
                  <c:v>525</c:v>
                </c:pt>
                <c:pt idx="1">
                  <c:v>525</c:v>
                </c:pt>
                <c:pt idx="2">
                  <c:v>315</c:v>
                </c:pt>
                <c:pt idx="3">
                  <c:v>175</c:v>
                </c:pt>
                <c:pt idx="4">
                  <c:v>175</c:v>
                </c:pt>
              </c:numCache>
            </c:numRef>
          </c:val>
        </c:ser>
        <c:dLbls>
          <c:numFmt formatCode="General" sourceLinked="0"/>
          <c:txPr>
            <a:bodyPr/>
            <a:lstStyle/>
            <a:p>
              <a:pPr>
                <a:defRPr b="0" i="0" strike="noStrike" sz="13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600"/>
          <c:min val="0"/>
        </c:scaling>
        <c:delete val="0"/>
        <c:axPos val="l"/>
        <c:majorGridlines>
          <c:spPr>
            <a:ln w="9525" cap="flat">
              <a:solidFill>
                <a:srgbClr val="D7DB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E2A35"/>
                </a:solidFill>
                <a:latin typeface="+mn-lt"/>
              </a:defRPr>
            </a:pPr>
            <a:r>
              <a:rPr sz="1500" b="0" i="0" u="none" strike="noStrike">
                <a:solidFill>
                  <a:srgbClr val="1E2A35"/>
                </a:solidFill>
                <a:latin typeface="+mn-lt"/>
              </a:rPr>
              <a:t>World trade collapsed: imports, January each year ($m a month)</a:t>
            </a:r>
          </a:p>
        </c:rich>
      </c:tx>
      <c:layout/>
      <c:overlay val="0"/>
    </c:title>
    <c:autoTitleDeleted val="0"/>
    <c:plotArea>
      <c:layout/>
      <c:lineChart>
        <c:varyColors val="0"/>
        <c:ser>
          <c:idx val="0"/>
          <c:order val="0"/>
          <c:tx>
            <c:strRef>
              <c:f>Sheet1!$B$1</c:f>
              <c:strCache>
                <c:ptCount val="1"/>
                <c:pt idx="0">
                  <c:v>Series</c:v>
                </c:pt>
              </c:strCache>
            </c:strRef>
          </c:tx>
          <c:spPr>
            <a:solidFill>
              <a:srgbClr val="A85A17"/>
            </a:solidFill>
            <a:ln w="38100" cap="flat">
              <a:solidFill>
                <a:srgbClr val="A85A17"/>
              </a:solidFill>
              <a:prstDash val="solid"/>
              <a:round/>
            </a:ln>
            <a:effectLst/>
          </c:spPr>
          <c:invertIfNegative val="0"/>
          <c:dLbls>
            <c:numFmt formatCode="#,##0" sourceLinked="0"/>
            <c:txPr>
              <a:bodyPr/>
              <a:lstStyle/>
              <a:p>
                <a:pPr>
                  <a:defRPr b="0" i="0" strike="noStrike" sz="1300" u="none">
                    <a:solidFill>
                      <a:srgbClr val="1B1F24"/>
                    </a:solidFill>
                    <a:latin typeface="+mn-lt"/>
                  </a:defRPr>
                </a:pPr>
              </a:p>
            </c:txPr>
            <c:dLblPos val="t"/>
            <c:showLegendKey val="0"/>
            <c:showVal val="1"/>
            <c:showCatName val="0"/>
            <c:showSerName val="0"/>
            <c:showPercent val="0"/>
            <c:showBubbleSize val="0"/>
            <c:showLeaderLines val="0"/>
          </c:dLbls>
          <c:marker>
            <c:symbol val="circle"/>
            <c:size val="9"/>
            <c:spPr>
              <a:solidFill>
                <a:srgbClr val="A85A17"/>
              </a:solidFill>
              <a:ln w="9525" cap="flat">
                <a:solidFill>
                  <a:srgbClr val="A85A17"/>
                </a:solidFill>
                <a:prstDash val="solid"/>
                <a:round/>
              </a:ln>
              <a:effectLst/>
            </c:spPr>
          </c:marker>
          <c:cat>
            <c:multiLvlStrRef>
              <c:f>Sheet1!$A$2:$A$6</c:f>
              <c:multiLvlStrCache>
                <c:ptCount val="5"/>
                <c:lvl>
                  <c:pt idx="0">
                    <c:v>1929</c:v>
                  </c:pt>
                  <c:pt idx="1">
                    <c:v>1930</c:v>
                  </c:pt>
                  <c:pt idx="2">
                    <c:v>1931</c:v>
                  </c:pt>
                  <c:pt idx="3">
                    <c:v>1932</c:v>
                  </c:pt>
                  <c:pt idx="4">
                    <c:v>1933</c:v>
                  </c:pt>
                </c:lvl>
              </c:multiLvlStrCache>
            </c:multiLvlStrRef>
          </c:cat>
          <c:val>
            <c:numRef>
              <c:f>Sheet1!$B$2:$B$6</c:f>
              <c:numCache>
                <c:formatCode>General</c:formatCode>
                <c:ptCount val="5"/>
                <c:pt idx="0">
                  <c:v>2998</c:v>
                </c:pt>
                <c:pt idx="1">
                  <c:v>2739</c:v>
                </c:pt>
                <c:pt idx="2">
                  <c:v>1839</c:v>
                </c:pt>
                <c:pt idx="3">
                  <c:v>1206</c:v>
                </c:pt>
                <c:pt idx="4">
                  <c:v>992</c:v>
                </c:pt>
              </c:numCache>
            </c:numRef>
          </c:val>
          <c:smooth val="0"/>
        </c:ser>
        <c:dLbls>
          <c:numFmt formatCode="#,##0" sourceLinked="0"/>
          <c:txPr>
            <a:bodyPr/>
            <a:lstStyle/>
            <a:p>
              <a:pPr>
                <a:defRPr b="0" i="0" strike="noStrike" sz="1300" u="none">
                  <a:solidFill>
                    <a:srgbClr val="1B1F24"/>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3500"/>
          <c:min val="0"/>
        </c:scaling>
        <c:delete val="0"/>
        <c:axPos val="l"/>
        <c:majorGridlines>
          <c:spPr>
            <a:ln w="9525" cap="flat">
              <a:solidFill>
                <a:srgbClr val="D7DB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E2A35"/>
                </a:solidFill>
                <a:latin typeface="+mn-lt"/>
              </a:defRPr>
            </a:pPr>
            <a:r>
              <a:rPr sz="1500" b="0" i="0" u="none" strike="noStrike">
                <a:solidFill>
                  <a:srgbClr val="1E2A35"/>
                </a:solidFill>
                <a:latin typeface="+mn-lt"/>
              </a:rPr>
              <a:t>Nazi share of the vote in Reichstag elections (%)</a:t>
            </a:r>
          </a:p>
        </c:rich>
      </c:tx>
      <c:layout/>
      <c:overlay val="0"/>
    </c:title>
    <c:autoTitleDeleted val="0"/>
    <c:plotArea>
      <c:layout/>
      <c:barChart>
        <c:barDir val="col"/>
        <c:grouping val="clustered"/>
        <c:varyColors val="0"/>
        <c:ser>
          <c:idx val="0"/>
          <c:order val="0"/>
          <c:tx>
            <c:strRef>
              <c:f>Sheet1!$B$1</c:f>
              <c:strCache>
                <c:ptCount val="1"/>
                <c:pt idx="0">
                  <c:v>Series</c:v>
                </c:pt>
              </c:strCache>
            </c:strRef>
          </c:tx>
          <c:spPr>
            <a:solidFill>
              <a:srgbClr val="A85A17"/>
            </a:solidFill>
            <a:effectLst/>
          </c:spPr>
          <c:invertIfNegative val="0"/>
          <c:dLbls>
            <c:numFmt formatCode="0.0" sourceLinked="0"/>
            <c:txPr>
              <a:bodyPr/>
              <a:lstStyle/>
              <a:p>
                <a:pPr>
                  <a:defRPr b="0" i="0" strike="noStrike" sz="1300" u="none">
                    <a:solidFill>
                      <a:srgbClr val="1B1F24"/>
                    </a:solidFill>
                    <a:latin typeface="+mn-lt"/>
                  </a:defRPr>
                </a:pPr>
              </a:p>
            </c:txPr>
            <c:showLegendKey val="0"/>
            <c:showVal val="1"/>
            <c:showCatName val="0"/>
            <c:showSerName val="0"/>
            <c:showPercent val="0"/>
            <c:showBubbleSize val="0"/>
            <c:showLeaderLines val="0"/>
          </c:dLbls>
          <c:cat>
            <c:multiLvlStrRef>
              <c:f>Sheet1!$A$2:$A$6</c:f>
              <c:multiLvlStrCache>
                <c:ptCount val="5"/>
                <c:lvl>
                  <c:pt idx="0">
                    <c:v>1928</c:v>
                  </c:pt>
                  <c:pt idx="1">
                    <c:v>Sept 1930</c:v>
                  </c:pt>
                  <c:pt idx="2">
                    <c:v>July 1932</c:v>
                  </c:pt>
                  <c:pt idx="3">
                    <c:v>Nov 1932</c:v>
                  </c:pt>
                  <c:pt idx="4">
                    <c:v>Mar 1933</c:v>
                  </c:pt>
                </c:lvl>
              </c:multiLvlStrCache>
            </c:multiLvlStrRef>
          </c:cat>
          <c:val>
            <c:numRef>
              <c:f>Sheet1!$B$2:$B$6</c:f>
              <c:numCache>
                <c:formatCode>General</c:formatCode>
                <c:ptCount val="5"/>
                <c:pt idx="0">
                  <c:v>2.6</c:v>
                </c:pt>
                <c:pt idx="1">
                  <c:v>18.3</c:v>
                </c:pt>
                <c:pt idx="2">
                  <c:v>37.3</c:v>
                </c:pt>
                <c:pt idx="3">
                  <c:v>33.1</c:v>
                </c:pt>
                <c:pt idx="4">
                  <c:v>43.9</c:v>
                </c:pt>
              </c:numCache>
            </c:numRef>
          </c:val>
        </c:ser>
        <c:dLbls>
          <c:numFmt formatCode="0.0" sourceLinked="0"/>
          <c:txPr>
            <a:bodyPr/>
            <a:lstStyle/>
            <a:p>
              <a:pPr>
                <a:defRPr b="0" i="0" strike="noStrike" sz="13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D7DB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deck for Cambridge International AS History 9489, International option (exams from 2027). Topic 1 is your Paper 1 source topic; Topics 2 and 3 are your Paper 2 essay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questions are paraphrased from the syllabus themes. Paper 1 sources for this topic can come from any part of it, so revise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Imperialism = the burst of formal empire-building c.1870–1914. Contrast with earlier 'informal empire' (influence through trade). Key stat: Africa went from about 10% to about 90% European-controlled.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questions are paraphrased from the syllabus themes. Paper 2 (a) questions ask 'Explain why…'; (b) questions ask for a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questions are paraphrased from the syllabus themes. The 2027 specimen paper asks: 'Explain why the Nazi–Soviet Pact was formed in 1939.'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AS History 9489 · International option · Revision</a:t>
            </a:r>
            <a:endParaRPr lang="en-US" sz="1000" dirty="0"/>
          </a:p>
        </p:txBody>
      </p:sp>
      <p:sp>
        <p:nvSpPr>
          <p:cNvPr id="3" name="Text 1"/>
          <p:cNvSpPr/>
          <p:nvPr>
            <p:ph idx="101" type="title" hasCustomPrompt="1"/>
          </p:nvPr>
        </p:nvSpPr>
        <p:spPr>
          <a:xfrm>
            <a:off x="548640" y="603504"/>
            <a:ext cx="11094415" cy="713232"/>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CAL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AS History 9489 · International option · Revision</a:t>
            </a:r>
            <a:endParaRPr lang="en-US" sz="1000" dirty="0"/>
          </a:p>
        </p:txBody>
      </p:sp>
      <p:sp>
        <p:nvSpPr>
          <p:cNvPr id="3" name="Text 1"/>
          <p:cNvSpPr/>
          <p:nvPr>
            <p:ph idx="101" type="title" hasCustomPrompt="1"/>
          </p:nvPr>
        </p:nvSpPr>
        <p:spPr>
          <a:xfrm>
            <a:off x="548640" y="603504"/>
            <a:ext cx="11094415" cy="713232"/>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F1F3F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788920" y="868680"/>
            <a:ext cx="8869680" cy="17373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2788920" y="2606040"/>
            <a:ext cx="8869680" cy="457200"/>
          </a:xfrm>
          <a:prstGeom prst="rect">
            <a:avLst/>
          </a:prstGeom>
          <a:noFill/>
          <a:ln/>
        </p:spPr>
        <p:txBody>
          <a:bodyPr wrap="square" rtlCol="0"/>
          <a:lstStyle>
            <a:lvl1pPr algn="l" indent="0" marL="0">
              <a:buNone/>
              <a:defRPr lang="en-US" sz="1800" i="1" dirty="0">
                <a:solidFill>
                  <a:schemeClr val="bg1"/>
                </a:solidFill>
              </a:defRPr>
            </a:lvl1pPr>
          </a:lstStyle>
          <a:p>
            <a:pPr algn="l"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6583680" cy="192024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548640" y="3703320"/>
            <a:ext cx="6400800" cy="91440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2.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2.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2.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2.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2.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2.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slideLayout" Target="../slideLayouts/slideLayout2.xml"/><Relationship Id="rId10"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2.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6-1.png"/><Relationship Id="rId3" Type="http://schemas.openxmlformats.org/officeDocument/2006/relationships/image" Target="../media/image-56-2.png"/><Relationship Id="rId4" Type="http://schemas.openxmlformats.org/officeDocument/2006/relationships/image" Target="../media/image-56-3.png"/><Relationship Id="rId5" Type="http://schemas.openxmlformats.org/officeDocument/2006/relationships/slideLayout" Target="../slideLayouts/slideLayout2.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slideLayout" Target="../slideLayouts/slideLayout2.xml"/><Relationship Id="rId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image" Target="../media/image-61-6.png"/><Relationship Id="rId7" Type="http://schemas.openxmlformats.org/officeDocument/2006/relationships/slideLayout" Target="../slideLayouts/slideLayout2.xml"/><Relationship Id="rId8"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2.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slideLayout" Target="../slideLayouts/slideLayout2.xml"/><Relationship Id="rId8"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4-1.png"/><Relationship Id="rId3" Type="http://schemas.openxmlformats.org/officeDocument/2006/relationships/image" Target="../media/image-64-2.png"/><Relationship Id="rId4" Type="http://schemas.openxmlformats.org/officeDocument/2006/relationships/image" Target="../media/image-64-3.png"/><Relationship Id="rId5" Type="http://schemas.openxmlformats.org/officeDocument/2006/relationships/slideLayout" Target="../slideLayouts/slideLayout2.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2.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2.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2.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slideLayout" Target="../slideLayouts/slideLayout2.xml"/><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2.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2.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2.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slideLayout" Target="../slideLayouts/slideLayout2.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2.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image" Target="../media/image-77-5.png"/><Relationship Id="rId6" Type="http://schemas.openxmlformats.org/officeDocument/2006/relationships/image" Target="../media/image-77-6.png"/><Relationship Id="rId7" Type="http://schemas.openxmlformats.org/officeDocument/2006/relationships/slideLayout" Target="../slideLayouts/slideLayout2.xml"/><Relationship Id="rId8"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image" Target="../media/image-78-5.png"/><Relationship Id="rId6" Type="http://schemas.openxmlformats.org/officeDocument/2006/relationships/image" Target="../media/image-78-6.png"/><Relationship Id="rId7" Type="http://schemas.openxmlformats.org/officeDocument/2006/relationships/slideLayout" Target="../slideLayouts/slideLayout2.xml"/><Relationship Id="rId8"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7-1.png"/><Relationship Id="rId3" Type="http://schemas.openxmlformats.org/officeDocument/2006/relationships/image" Target="../media/image-87-2.png"/><Relationship Id="rId4" Type="http://schemas.openxmlformats.org/officeDocument/2006/relationships/image" Target="../media/image-87-3.png"/><Relationship Id="rId5" Type="http://schemas.openxmlformats.org/officeDocument/2006/relationships/slideLayout" Target="../slideLayouts/slideLayout2.xml"/><Relationship Id="rId6"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89-1.png"/><Relationship Id="rId3" Type="http://schemas.openxmlformats.org/officeDocument/2006/relationships/image" Target="../media/image-89-2.png"/><Relationship Id="rId4" Type="http://schemas.openxmlformats.org/officeDocument/2006/relationships/image" Target="../media/image-89-3.png"/><Relationship Id="rId5" Type="http://schemas.openxmlformats.org/officeDocument/2006/relationships/slideLayout" Target="../slideLayouts/slideLayout2.xml"/><Relationship Id="rId6"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2.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image" Target="../media/image-93-3.png"/><Relationship Id="rId4" Type="http://schemas.openxmlformats.org/officeDocument/2006/relationships/slideLayout" Target="../slideLayouts/slideLayout2.xml"/><Relationship Id="rId5"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image" Target="../media/image-95-4.png"/><Relationship Id="rId5" Type="http://schemas.openxmlformats.org/officeDocument/2006/relationships/image" Target="../media/image-95-5.png"/><Relationship Id="rId6" Type="http://schemas.openxmlformats.org/officeDocument/2006/relationships/image" Target="../media/image-95-6.png"/><Relationship Id="rId7" Type="http://schemas.openxmlformats.org/officeDocument/2006/relationships/slideLayout" Target="../slideLayouts/slideLayout2.xml"/><Relationship Id="rId8"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4" Type="http://schemas.openxmlformats.org/officeDocument/2006/relationships/image" Target="../media/image-99-4.png"/><Relationship Id="rId5" Type="http://schemas.openxmlformats.org/officeDocument/2006/relationships/image" Target="../media/image-99-5.png"/><Relationship Id="rId6" Type="http://schemas.openxmlformats.org/officeDocument/2006/relationships/image" Target="../media/image-99-6.png"/><Relationship Id="rId7" Type="http://schemas.openxmlformats.org/officeDocument/2006/relationships/slideLayout" Target="../slideLayouts/slideLayout2.xml"/><Relationship Id="rId8"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image" Target="../media/image-102-2.png"/><Relationship Id="rId3" Type="http://schemas.openxmlformats.org/officeDocument/2006/relationships/image" Target="../media/image-102-3.png"/><Relationship Id="rId4" Type="http://schemas.openxmlformats.org/officeDocument/2006/relationships/image" Target="../media/image-102-4.png"/><Relationship Id="rId5" Type="http://schemas.openxmlformats.org/officeDocument/2006/relationships/image" Target="../media/image-102-5.png"/><Relationship Id="rId6" Type="http://schemas.openxmlformats.org/officeDocument/2006/relationships/slideLayout" Target="../slideLayouts/slideLayout2.xml"/><Relationship Id="rId7"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3-2.png"/><Relationship Id="rId3" Type="http://schemas.openxmlformats.org/officeDocument/2006/relationships/image" Target="../media/image-103-3.png"/><Relationship Id="rId4" Type="http://schemas.openxmlformats.org/officeDocument/2006/relationships/image" Target="../media/image-103-4.png"/><Relationship Id="rId5" Type="http://schemas.openxmlformats.org/officeDocument/2006/relationships/slideLayout" Target="../slideLayouts/slideLayout2.xml"/><Relationship Id="rId6"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image" Target="../media/image-104-3.png"/><Relationship Id="rId4" Type="http://schemas.openxmlformats.org/officeDocument/2006/relationships/slideLayout" Target="../slideLayouts/slideLayout2.xml"/><Relationship Id="rId5"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slideLayout" Target="../slideLayouts/slideLayout2.xml"/><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image" Target="../media/image-108-2.png"/><Relationship Id="rId3" Type="http://schemas.openxmlformats.org/officeDocument/2006/relationships/image" Target="../media/image-108-3.png"/><Relationship Id="rId4" Type="http://schemas.openxmlformats.org/officeDocument/2006/relationships/image" Target="../media/image-108-4.png"/><Relationship Id="rId5" Type="http://schemas.openxmlformats.org/officeDocument/2006/relationships/slideLayout" Target="../slideLayouts/slideLayout2.xml"/><Relationship Id="rId6"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2.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image" Target="../media/image-111-3.png"/><Relationship Id="rId4" Type="http://schemas.openxmlformats.org/officeDocument/2006/relationships/image" Target="../media/image-111-4.png"/><Relationship Id="rId5" Type="http://schemas.openxmlformats.org/officeDocument/2006/relationships/image" Target="../media/image-111-5.png"/><Relationship Id="rId6" Type="http://schemas.openxmlformats.org/officeDocument/2006/relationships/image" Target="../media/image-111-6.png"/><Relationship Id="rId7" Type="http://schemas.openxmlformats.org/officeDocument/2006/relationships/slideLayout" Target="../slideLayouts/slideLayout2.xml"/><Relationship Id="rId8"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image" Target="../media/image-112-2.png"/><Relationship Id="rId3" Type="http://schemas.openxmlformats.org/officeDocument/2006/relationships/image" Target="../media/image-112-3.png"/><Relationship Id="rId4" Type="http://schemas.openxmlformats.org/officeDocument/2006/relationships/image" Target="../media/image-112-4.png"/><Relationship Id="rId5" Type="http://schemas.openxmlformats.org/officeDocument/2006/relationships/slideLayout" Target="../slideLayouts/slideLayout2.xml"/><Relationship Id="rId6"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image" Target="../media/image-114-2.png"/><Relationship Id="rId3" Type="http://schemas.openxmlformats.org/officeDocument/2006/relationships/image" Target="../media/image-114-3.png"/><Relationship Id="rId4" Type="http://schemas.openxmlformats.org/officeDocument/2006/relationships/image" Target="../media/image-114-4.png"/><Relationship Id="rId5" Type="http://schemas.openxmlformats.org/officeDocument/2006/relationships/image" Target="../media/image-114-5.png"/><Relationship Id="rId6" Type="http://schemas.openxmlformats.org/officeDocument/2006/relationships/image" Target="../media/image-114-6.png"/><Relationship Id="rId7" Type="http://schemas.openxmlformats.org/officeDocument/2006/relationships/image" Target="../media/image-114-7.png"/><Relationship Id="rId8" Type="http://schemas.openxmlformats.org/officeDocument/2006/relationships/image" Target="../media/image-114-8.png"/><Relationship Id="rId9" Type="http://schemas.openxmlformats.org/officeDocument/2006/relationships/slideLayout" Target="../slideLayouts/slideLayout2.xml"/><Relationship Id="rId10"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image" Target="../media/image-115-2.png"/><Relationship Id="rId3" Type="http://schemas.openxmlformats.org/officeDocument/2006/relationships/image" Target="../media/image-115-3.png"/><Relationship Id="rId4" Type="http://schemas.openxmlformats.org/officeDocument/2006/relationships/image" Target="../media/image-115-4.png"/><Relationship Id="rId5" Type="http://schemas.openxmlformats.org/officeDocument/2006/relationships/image" Target="../media/image-115-5.png"/><Relationship Id="rId6" Type="http://schemas.openxmlformats.org/officeDocument/2006/relationships/image" Target="../media/image-115-6.png"/><Relationship Id="rId7" Type="http://schemas.openxmlformats.org/officeDocument/2006/relationships/slideLayout" Target="../slideLayouts/slideLayout2.xml"/><Relationship Id="rId8"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image" Target="../media/image-116-2.png"/><Relationship Id="rId3" Type="http://schemas.openxmlformats.org/officeDocument/2006/relationships/image" Target="../media/image-116-3.png"/><Relationship Id="rId4" Type="http://schemas.openxmlformats.org/officeDocument/2006/relationships/image" Target="../media/image-116-4.png"/><Relationship Id="rId5" Type="http://schemas.openxmlformats.org/officeDocument/2006/relationships/image" Target="../media/image-116-5.png"/><Relationship Id="rId6" Type="http://schemas.openxmlformats.org/officeDocument/2006/relationships/image" Target="../media/image-116-6.png"/><Relationship Id="rId7" Type="http://schemas.openxmlformats.org/officeDocument/2006/relationships/slideLayout" Target="../slideLayouts/slideLayout2.xml"/><Relationship Id="rId8"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2.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2.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2.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image" Target="../media/image-124-2.png"/><Relationship Id="rId3" Type="http://schemas.openxmlformats.org/officeDocument/2006/relationships/image" Target="../media/image-124-3.png"/><Relationship Id="rId4" Type="http://schemas.openxmlformats.org/officeDocument/2006/relationships/slideLayout" Target="../slideLayouts/slideLayout2.xml"/><Relationship Id="rId5"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image" Target="../media/image-128-2.png"/><Relationship Id="rId3" Type="http://schemas.openxmlformats.org/officeDocument/2006/relationships/slideLayout" Target="../slideLayouts/slideLayout2.xml"/><Relationship Id="rId4"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6583680" cy="1920240"/>
          </a:xfrm>
          <a:prstGeom prst="rect">
            <a:avLst/>
          </a:prstGeom>
          <a:noFill/>
          <a:ln/>
        </p:spPr>
        <p:txBody>
          <a:bodyPr wrap="square" lIns="0" tIns="0" rIns="0" bIns="0" rtlCol="0" anchor="b"/>
          <a:lstStyle/>
          <a:p>
            <a:pPr algn="l" indent="0" marL="0">
              <a:buNone/>
            </a:pPr>
            <a:r>
              <a:rPr lang="en-US" sz="4600" b="1" dirty="0">
                <a:solidFill>
                  <a:schemeClr val="bg1"/>
                </a:solidFill>
              </a:rPr>
              <a:t>International History, 1870–1939</a:t>
            </a:r>
            <a:endParaRPr lang="en-US" sz="4600" dirty="0"/>
          </a:p>
        </p:txBody>
      </p:sp>
      <p:sp>
        <p:nvSpPr>
          <p:cNvPr id="3" name="Text 0"/>
          <p:cNvSpPr/>
          <p:nvPr>
            <p:ph idx="101" type="body" hasCustomPrompt="1"/>
          </p:nvPr>
        </p:nvSpPr>
        <p:spPr>
          <a:xfrm>
            <a:off x="548640" y="3703320"/>
            <a:ext cx="6400800" cy="914400"/>
          </a:xfrm>
          <a:prstGeom prst="rect">
            <a:avLst/>
          </a:prstGeom>
          <a:noFill/>
          <a:ln/>
        </p:spPr>
        <p:txBody>
          <a:bodyPr wrap="square" lIns="0" tIns="0" rIns="0" bIns="0" rtlCol="0" anchor="t"/>
          <a:lstStyle/>
          <a:p>
            <a:pPr algn="l" indent="0" marL="0">
              <a:buNone/>
            </a:pPr>
            <a:r>
              <a:rPr lang="en-US" sz="2000" dirty="0">
                <a:solidFill>
                  <a:schemeClr val="accent4"/>
                </a:solidFill>
              </a:rPr>
              <a:t>AS Level History 9489 · International option</a:t>
            </a:r>
            <a:endParaRPr lang="en-US" sz="2000" dirty="0"/>
          </a:p>
          <a:p>
            <a:pPr algn="l" indent="0" marL="0">
              <a:buNone/>
            </a:pPr>
            <a:r>
              <a:rPr lang="en-US" sz="2000" dirty="0">
                <a:solidFill>
                  <a:schemeClr val="accent4"/>
                </a:solidFill>
              </a:rPr>
              <a:t>The complete revision deck</a:t>
            </a:r>
            <a:endParaRPr lang="en-US" sz="2000" dirty="0"/>
          </a:p>
        </p:txBody>
      </p:sp>
      <p:sp>
        <p:nvSpPr>
          <p:cNvPr id="4" name="Text 1"/>
          <p:cNvSpPr txBox="1"/>
          <p:nvPr/>
        </p:nvSpPr>
        <p:spPr>
          <a:xfrm>
            <a:off x="548640" y="4892040"/>
            <a:ext cx="6400800" cy="822960"/>
          </a:xfrm>
          <a:prstGeom prst="rect">
            <a:avLst/>
          </a:prstGeom>
          <a:noFill/>
          <a:ln/>
        </p:spPr>
        <p:txBody>
          <a:bodyPr wrap="square" lIns="0" tIns="0" rIns="0" bIns="0" rtlCol="0" anchor="t"/>
          <a:lstStyle/>
          <a:p>
            <a:pPr algn="l" indent="0" marL="0">
              <a:spcAft>
                <a:spcPts val="600"/>
              </a:spcAft>
              <a:buNone/>
            </a:pPr>
            <a:r>
              <a:rPr lang="en-US" sz="1400" dirty="0">
                <a:solidFill>
                  <a:schemeClr val="bg2"/>
                </a:solidFill>
              </a:rPr>
              <a:t>Cambridge International AS &amp; A Level History (9489) · syllabus for exams from 2027. Covers every topic you sit at AS: Paper 1 and Paper 2.</a:t>
            </a:r>
            <a:endParaRPr lang="en-US" sz="1400" dirty="0"/>
          </a:p>
        </p:txBody>
      </p:sp>
      <p:sp>
        <p:nvSpPr>
          <p:cNvPr id="5" name="Topic tile 2"/>
          <p:cNvSpPr/>
          <p:nvPr/>
        </p:nvSpPr>
        <p:spPr>
          <a:xfrm>
            <a:off x="7178040" y="1325880"/>
            <a:ext cx="4465015" cy="1261872"/>
          </a:xfrm>
          <a:prstGeom prst="roundRect">
            <a:avLst>
              <a:gd name="adj" fmla="val 8696"/>
            </a:avLst>
          </a:prstGeom>
          <a:solidFill>
            <a:schemeClr val="accent1"/>
          </a:solidFill>
          <a:ln/>
        </p:spPr>
      </p:sp>
      <p:sp>
        <p:nvSpPr>
          <p:cNvPr id="6" name="Topic number 3"/>
          <p:cNvSpPr/>
          <p:nvPr/>
        </p:nvSpPr>
        <p:spPr>
          <a:xfrm>
            <a:off x="7379208" y="1600200"/>
            <a:ext cx="713232" cy="713232"/>
          </a:xfrm>
          <a:prstGeom prst="ellipse">
            <a:avLst/>
          </a:prstGeom>
          <a:solidFill>
            <a:schemeClr val="bg1"/>
          </a:solidFill>
          <a:ln/>
        </p:spPr>
      </p:sp>
      <p:sp>
        <p:nvSpPr>
          <p:cNvPr id="7" name="Text 4"/>
          <p:cNvSpPr txBox="1"/>
          <p:nvPr/>
        </p:nvSpPr>
        <p:spPr>
          <a:xfrm>
            <a:off x="7379208" y="1600200"/>
            <a:ext cx="713232" cy="713232"/>
          </a:xfrm>
          <a:prstGeom prst="rect">
            <a:avLst/>
          </a:prstGeom>
          <a:noFill/>
          <a:ln/>
        </p:spPr>
        <p:txBody>
          <a:bodyPr wrap="square" lIns="0" tIns="0" rIns="0" bIns="0" rtlCol="0" anchor="ctr"/>
          <a:lstStyle/>
          <a:p>
            <a:pPr algn="ctr" indent="0" marL="0">
              <a:spcAft>
                <a:spcPts val="600"/>
              </a:spcAft>
              <a:buNone/>
            </a:pPr>
            <a:r>
              <a:rPr lang="en-US" sz="3000" b="1" dirty="0">
                <a:solidFill>
                  <a:schemeClr val="accent1"/>
                </a:solidFill>
                <a:latin typeface="+mj-lt" pitchFamily="34" charset="0"/>
                <a:ea typeface="+mj-lt" pitchFamily="34" charset="-122"/>
                <a:cs typeface="+mj-lt" pitchFamily="34" charset="-120"/>
              </a:rPr>
              <a:t>1</a:t>
            </a:r>
            <a:endParaRPr lang="en-US" sz="3000" dirty="0"/>
          </a:p>
        </p:txBody>
      </p:sp>
      <p:sp>
        <p:nvSpPr>
          <p:cNvPr id="8" name="Text 5"/>
          <p:cNvSpPr txBox="1"/>
          <p:nvPr/>
        </p:nvSpPr>
        <p:spPr>
          <a:xfrm>
            <a:off x="8275320" y="1435608"/>
            <a:ext cx="3203143" cy="786384"/>
          </a:xfrm>
          <a:prstGeom prst="rect">
            <a:avLst/>
          </a:prstGeom>
          <a:noFill/>
          <a:ln/>
        </p:spPr>
        <p:txBody>
          <a:bodyPr wrap="square" lIns="0" tIns="0" rIns="0" bIns="0" rtlCol="0" anchor="b"/>
          <a:lstStyle/>
          <a:p>
            <a:pPr algn="l" indent="0" marL="0">
              <a:spcAft>
                <a:spcPts val="600"/>
              </a:spcAft>
              <a:buNone/>
            </a:pPr>
            <a:r>
              <a:rPr lang="en-US" sz="1500" b="1" dirty="0">
                <a:solidFill>
                  <a:schemeClr val="bg1"/>
                </a:solidFill>
              </a:rPr>
              <a:t>Imperialism and the emergence of world powers, c.1870–1918</a:t>
            </a:r>
            <a:endParaRPr lang="en-US" sz="1500" dirty="0"/>
          </a:p>
        </p:txBody>
      </p:sp>
      <p:sp>
        <p:nvSpPr>
          <p:cNvPr id="9" name="Text 6"/>
          <p:cNvSpPr txBox="1"/>
          <p:nvPr/>
        </p:nvSpPr>
        <p:spPr>
          <a:xfrm>
            <a:off x="8275320" y="2221992"/>
            <a:ext cx="3203143" cy="274320"/>
          </a:xfrm>
          <a:prstGeom prst="rect">
            <a:avLst/>
          </a:prstGeom>
          <a:noFill/>
          <a:ln/>
        </p:spPr>
        <p:txBody>
          <a:bodyPr wrap="square" lIns="0" tIns="0" rIns="0" bIns="0" rtlCol="0" anchor="t"/>
          <a:lstStyle/>
          <a:p>
            <a:pPr algn="l" indent="0" marL="0">
              <a:spcAft>
                <a:spcPts val="600"/>
              </a:spcAft>
              <a:buNone/>
            </a:pPr>
            <a:r>
              <a:rPr lang="en-US" sz="1300" dirty="0">
                <a:solidFill>
                  <a:schemeClr val="bg1"/>
                </a:solidFill>
              </a:rPr>
              <a:t>Paper 1 · Historical Sources</a:t>
            </a:r>
            <a:endParaRPr lang="en-US" sz="1300" dirty="0"/>
          </a:p>
        </p:txBody>
      </p:sp>
      <p:sp>
        <p:nvSpPr>
          <p:cNvPr id="10" name="Topic tile 7"/>
          <p:cNvSpPr/>
          <p:nvPr/>
        </p:nvSpPr>
        <p:spPr>
          <a:xfrm>
            <a:off x="7178040" y="2807208"/>
            <a:ext cx="4465015" cy="1261872"/>
          </a:xfrm>
          <a:prstGeom prst="roundRect">
            <a:avLst>
              <a:gd name="adj" fmla="val 8696"/>
            </a:avLst>
          </a:prstGeom>
          <a:solidFill>
            <a:schemeClr val="accent2"/>
          </a:solidFill>
          <a:ln/>
        </p:spPr>
      </p:sp>
      <p:sp>
        <p:nvSpPr>
          <p:cNvPr id="11" name="Topic number 8"/>
          <p:cNvSpPr/>
          <p:nvPr/>
        </p:nvSpPr>
        <p:spPr>
          <a:xfrm>
            <a:off x="7379208" y="3081528"/>
            <a:ext cx="713232" cy="713232"/>
          </a:xfrm>
          <a:prstGeom prst="ellipse">
            <a:avLst/>
          </a:prstGeom>
          <a:solidFill>
            <a:schemeClr val="bg1"/>
          </a:solidFill>
          <a:ln/>
        </p:spPr>
      </p:sp>
      <p:sp>
        <p:nvSpPr>
          <p:cNvPr id="12" name="Text 9"/>
          <p:cNvSpPr txBox="1"/>
          <p:nvPr/>
        </p:nvSpPr>
        <p:spPr>
          <a:xfrm>
            <a:off x="7379208" y="3081528"/>
            <a:ext cx="713232" cy="713232"/>
          </a:xfrm>
          <a:prstGeom prst="rect">
            <a:avLst/>
          </a:prstGeom>
          <a:noFill/>
          <a:ln/>
        </p:spPr>
        <p:txBody>
          <a:bodyPr wrap="square" lIns="0" tIns="0" rIns="0" bIns="0" rtlCol="0" anchor="ctr"/>
          <a:lstStyle/>
          <a:p>
            <a:pPr algn="ctr" indent="0" marL="0">
              <a:spcAft>
                <a:spcPts val="600"/>
              </a:spcAft>
              <a:buNone/>
            </a:pPr>
            <a:r>
              <a:rPr lang="en-US" sz="3000" b="1" dirty="0">
                <a:solidFill>
                  <a:schemeClr val="accent2"/>
                </a:solidFill>
                <a:latin typeface="+mj-lt" pitchFamily="34" charset="0"/>
                <a:ea typeface="+mj-lt" pitchFamily="34" charset="-122"/>
                <a:cs typeface="+mj-lt" pitchFamily="34" charset="-120"/>
              </a:rPr>
              <a:t>2</a:t>
            </a:r>
            <a:endParaRPr lang="en-US" sz="3000" dirty="0"/>
          </a:p>
        </p:txBody>
      </p:sp>
      <p:sp>
        <p:nvSpPr>
          <p:cNvPr id="13" name="Text 10"/>
          <p:cNvSpPr txBox="1"/>
          <p:nvPr/>
        </p:nvSpPr>
        <p:spPr>
          <a:xfrm>
            <a:off x="8275320" y="2916936"/>
            <a:ext cx="3203143" cy="786384"/>
          </a:xfrm>
          <a:prstGeom prst="rect">
            <a:avLst/>
          </a:prstGeom>
          <a:noFill/>
          <a:ln/>
        </p:spPr>
        <p:txBody>
          <a:bodyPr wrap="square" lIns="0" tIns="0" rIns="0" bIns="0" rtlCol="0" anchor="b"/>
          <a:lstStyle/>
          <a:p>
            <a:pPr algn="l" indent="0" marL="0">
              <a:spcAft>
                <a:spcPts val="600"/>
              </a:spcAft>
              <a:buNone/>
            </a:pPr>
            <a:r>
              <a:rPr lang="en-US" sz="1500" b="1" dirty="0">
                <a:solidFill>
                  <a:schemeClr val="bg1"/>
                </a:solidFill>
              </a:rPr>
              <a:t>International relations, 1919–29: conflict and cooperation</a:t>
            </a:r>
            <a:endParaRPr lang="en-US" sz="1500" dirty="0"/>
          </a:p>
        </p:txBody>
      </p:sp>
      <p:sp>
        <p:nvSpPr>
          <p:cNvPr id="14" name="Text 11"/>
          <p:cNvSpPr txBox="1"/>
          <p:nvPr/>
        </p:nvSpPr>
        <p:spPr>
          <a:xfrm>
            <a:off x="8275320" y="3703320"/>
            <a:ext cx="3203143" cy="274320"/>
          </a:xfrm>
          <a:prstGeom prst="rect">
            <a:avLst/>
          </a:prstGeom>
          <a:noFill/>
          <a:ln/>
        </p:spPr>
        <p:txBody>
          <a:bodyPr wrap="square" lIns="0" tIns="0" rIns="0" bIns="0" rtlCol="0" anchor="t"/>
          <a:lstStyle/>
          <a:p>
            <a:pPr algn="l" indent="0" marL="0">
              <a:spcAft>
                <a:spcPts val="600"/>
              </a:spcAft>
              <a:buNone/>
            </a:pPr>
            <a:r>
              <a:rPr lang="en-US" sz="1300" dirty="0">
                <a:solidFill>
                  <a:schemeClr val="bg1"/>
                </a:solidFill>
              </a:rPr>
              <a:t>Paper 2 · Outline Study</a:t>
            </a:r>
            <a:endParaRPr lang="en-US" sz="1300" dirty="0"/>
          </a:p>
        </p:txBody>
      </p:sp>
      <p:sp>
        <p:nvSpPr>
          <p:cNvPr id="15" name="Topic tile 12"/>
          <p:cNvSpPr/>
          <p:nvPr/>
        </p:nvSpPr>
        <p:spPr>
          <a:xfrm>
            <a:off x="7178040" y="4288536"/>
            <a:ext cx="4465015" cy="1261872"/>
          </a:xfrm>
          <a:prstGeom prst="roundRect">
            <a:avLst>
              <a:gd name="adj" fmla="val 8696"/>
            </a:avLst>
          </a:prstGeom>
          <a:solidFill>
            <a:schemeClr val="accent3"/>
          </a:solidFill>
          <a:ln/>
        </p:spPr>
      </p:sp>
      <p:sp>
        <p:nvSpPr>
          <p:cNvPr id="16" name="Topic number 13"/>
          <p:cNvSpPr/>
          <p:nvPr/>
        </p:nvSpPr>
        <p:spPr>
          <a:xfrm>
            <a:off x="7379208" y="4562856"/>
            <a:ext cx="713232" cy="713232"/>
          </a:xfrm>
          <a:prstGeom prst="ellipse">
            <a:avLst/>
          </a:prstGeom>
          <a:solidFill>
            <a:schemeClr val="bg1"/>
          </a:solidFill>
          <a:ln/>
        </p:spPr>
      </p:sp>
      <p:sp>
        <p:nvSpPr>
          <p:cNvPr id="17" name="Text 14"/>
          <p:cNvSpPr txBox="1"/>
          <p:nvPr/>
        </p:nvSpPr>
        <p:spPr>
          <a:xfrm>
            <a:off x="7379208" y="4562856"/>
            <a:ext cx="713232" cy="713232"/>
          </a:xfrm>
          <a:prstGeom prst="rect">
            <a:avLst/>
          </a:prstGeom>
          <a:noFill/>
          <a:ln/>
        </p:spPr>
        <p:txBody>
          <a:bodyPr wrap="square" lIns="0" tIns="0" rIns="0" bIns="0" rtlCol="0" anchor="ctr"/>
          <a:lstStyle/>
          <a:p>
            <a:pPr algn="ctr" indent="0" marL="0">
              <a:spcAft>
                <a:spcPts val="600"/>
              </a:spcAft>
              <a:buNone/>
            </a:pPr>
            <a:r>
              <a:rPr lang="en-US" sz="3000" b="1" dirty="0">
                <a:solidFill>
                  <a:schemeClr val="accent3"/>
                </a:solidFill>
                <a:latin typeface="+mj-lt" pitchFamily="34" charset="0"/>
                <a:ea typeface="+mj-lt" pitchFamily="34" charset="-122"/>
                <a:cs typeface="+mj-lt" pitchFamily="34" charset="-120"/>
              </a:rPr>
              <a:t>3</a:t>
            </a:r>
            <a:endParaRPr lang="en-US" sz="3000" dirty="0"/>
          </a:p>
        </p:txBody>
      </p:sp>
      <p:sp>
        <p:nvSpPr>
          <p:cNvPr id="18" name="Text 15"/>
          <p:cNvSpPr txBox="1"/>
          <p:nvPr/>
        </p:nvSpPr>
        <p:spPr>
          <a:xfrm>
            <a:off x="8275320" y="4398264"/>
            <a:ext cx="3203143" cy="786384"/>
          </a:xfrm>
          <a:prstGeom prst="rect">
            <a:avLst/>
          </a:prstGeom>
          <a:noFill/>
          <a:ln/>
        </p:spPr>
        <p:txBody>
          <a:bodyPr wrap="square" lIns="0" tIns="0" rIns="0" bIns="0" rtlCol="0" anchor="b"/>
          <a:lstStyle/>
          <a:p>
            <a:pPr algn="l" indent="0" marL="0">
              <a:spcAft>
                <a:spcPts val="600"/>
              </a:spcAft>
              <a:buNone/>
            </a:pPr>
            <a:r>
              <a:rPr lang="en-US" sz="1500" b="1" dirty="0">
                <a:solidFill>
                  <a:schemeClr val="bg1"/>
                </a:solidFill>
              </a:rPr>
              <a:t>International history, 1929–39: the rise of extremism and the road to war</a:t>
            </a:r>
            <a:endParaRPr lang="en-US" sz="1500" dirty="0"/>
          </a:p>
        </p:txBody>
      </p:sp>
      <p:sp>
        <p:nvSpPr>
          <p:cNvPr id="19" name="Text 16"/>
          <p:cNvSpPr txBox="1"/>
          <p:nvPr/>
        </p:nvSpPr>
        <p:spPr>
          <a:xfrm>
            <a:off x="8275320" y="5184648"/>
            <a:ext cx="3203143" cy="274320"/>
          </a:xfrm>
          <a:prstGeom prst="rect">
            <a:avLst/>
          </a:prstGeom>
          <a:noFill/>
          <a:ln/>
        </p:spPr>
        <p:txBody>
          <a:bodyPr wrap="square" lIns="0" tIns="0" rIns="0" bIns="0" rtlCol="0" anchor="t"/>
          <a:lstStyle/>
          <a:p>
            <a:pPr algn="l" indent="0" marL="0">
              <a:spcAft>
                <a:spcPts val="600"/>
              </a:spcAft>
              <a:buNone/>
            </a:pPr>
            <a:r>
              <a:rPr lang="en-US" sz="1300" dirty="0">
                <a:solidFill>
                  <a:schemeClr val="bg1"/>
                </a:solidFill>
              </a:rPr>
              <a:t>Paper 2 · Outline Study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1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tx2"/>
                </a:solidFill>
              </a:rPr>
              <a:t>START HERE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How to use this deck</a:t>
            </a:r>
            <a:endParaRPr lang="en-US" sz="3400" dirty="0"/>
          </a:p>
        </p:txBody>
      </p:sp>
      <p:sp>
        <p:nvSpPr>
          <p:cNvPr id="4" name="Card 18"/>
          <p:cNvSpPr/>
          <p:nvPr/>
        </p:nvSpPr>
        <p:spPr>
          <a:xfrm>
            <a:off x="548640" y="1481328"/>
            <a:ext cx="5410048" cy="1760220"/>
          </a:xfrm>
          <a:prstGeom prst="roundRect">
            <a:avLst>
              <a:gd name="adj" fmla="val 5195"/>
            </a:avLst>
          </a:prstGeom>
          <a:solidFill>
            <a:schemeClr val="tx2">
              <a:alpha val="10000"/>
            </a:schemeClr>
          </a:solidFill>
          <a:ln/>
        </p:spPr>
      </p:sp>
      <p:sp>
        <p:nvSpPr>
          <p:cNvPr id="5" name="Icon circle 19"/>
          <p:cNvSpPr/>
          <p:nvPr/>
        </p:nvSpPr>
        <p:spPr>
          <a:xfrm>
            <a:off x="731520" y="1664208"/>
            <a:ext cx="475488" cy="475488"/>
          </a:xfrm>
          <a:prstGeom prst="ellipse">
            <a:avLst/>
          </a:prstGeom>
          <a:solidFill>
            <a:schemeClr val="tx2"/>
          </a:solidFill>
          <a:ln/>
        </p:spPr>
      </p:sp>
      <p:pic>
        <p:nvPicPr>
          <p:cNvPr id="6" name="Icon FaRoute 20"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1"/>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1 · Learn the story first</a:t>
            </a:r>
            <a:endParaRPr lang="en-US" sz="1700" dirty="0"/>
          </a:p>
        </p:txBody>
      </p:sp>
      <p:sp>
        <p:nvSpPr>
          <p:cNvPr id="8" name="Text 22"/>
          <p:cNvSpPr txBox="1"/>
          <p:nvPr/>
        </p:nvSpPr>
        <p:spPr>
          <a:xfrm>
            <a:off x="731520" y="224942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Each topic opens with a timeline. Learn the order of events before the detail: most mistakes come from muddled chronology.</a:t>
            </a:r>
            <a:endParaRPr lang="en-US" sz="1700" dirty="0"/>
          </a:p>
        </p:txBody>
      </p:sp>
      <p:sp>
        <p:nvSpPr>
          <p:cNvPr id="9" name="Card 23"/>
          <p:cNvSpPr/>
          <p:nvPr/>
        </p:nvSpPr>
        <p:spPr>
          <a:xfrm>
            <a:off x="6233008" y="1481328"/>
            <a:ext cx="5410048" cy="1760220"/>
          </a:xfrm>
          <a:prstGeom prst="roundRect">
            <a:avLst>
              <a:gd name="adj" fmla="val 5195"/>
            </a:avLst>
          </a:prstGeom>
          <a:solidFill>
            <a:schemeClr val="tx2">
              <a:alpha val="10000"/>
            </a:schemeClr>
          </a:solidFill>
          <a:ln/>
        </p:spPr>
      </p:sp>
      <p:sp>
        <p:nvSpPr>
          <p:cNvPr id="10" name="Icon circle 24"/>
          <p:cNvSpPr/>
          <p:nvPr/>
        </p:nvSpPr>
        <p:spPr>
          <a:xfrm>
            <a:off x="6415888" y="1664208"/>
            <a:ext cx="475488" cy="475488"/>
          </a:xfrm>
          <a:prstGeom prst="ellipse">
            <a:avLst/>
          </a:prstGeom>
          <a:solidFill>
            <a:schemeClr val="tx2"/>
          </a:solidFill>
          <a:ln/>
        </p:spPr>
      </p:sp>
      <p:pic>
        <p:nvPicPr>
          <p:cNvPr id="11" name="Icon FaListOl 25"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26"/>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2 · Revise by key question</a:t>
            </a:r>
            <a:endParaRPr lang="en-US" sz="1700" dirty="0"/>
          </a:p>
        </p:txBody>
      </p:sp>
      <p:sp>
        <p:nvSpPr>
          <p:cNvPr id="13" name="Text 27"/>
          <p:cNvSpPr txBox="1"/>
          <p:nvPr/>
        </p:nvSpPr>
        <p:spPr>
          <a:xfrm>
            <a:off x="6415888" y="224942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Slides are grouped under the key questions (KQ1–KQ4). Exam questions are built from these, so revise one KQ at a time.</a:t>
            </a:r>
            <a:endParaRPr lang="en-US" sz="1700" dirty="0"/>
          </a:p>
        </p:txBody>
      </p:sp>
      <p:sp>
        <p:nvSpPr>
          <p:cNvPr id="14" name="Card 28"/>
          <p:cNvSpPr/>
          <p:nvPr/>
        </p:nvSpPr>
        <p:spPr>
          <a:xfrm>
            <a:off x="548640" y="3515868"/>
            <a:ext cx="5410048" cy="1760220"/>
          </a:xfrm>
          <a:prstGeom prst="roundRect">
            <a:avLst>
              <a:gd name="adj" fmla="val 5195"/>
            </a:avLst>
          </a:prstGeom>
          <a:solidFill>
            <a:schemeClr val="tx2">
              <a:alpha val="10000"/>
            </a:schemeClr>
          </a:solidFill>
          <a:ln/>
        </p:spPr>
      </p:sp>
      <p:sp>
        <p:nvSpPr>
          <p:cNvPr id="15" name="Icon circle 29"/>
          <p:cNvSpPr/>
          <p:nvPr/>
        </p:nvSpPr>
        <p:spPr>
          <a:xfrm>
            <a:off x="731520" y="3698748"/>
            <a:ext cx="475488" cy="475488"/>
          </a:xfrm>
          <a:prstGeom prst="ellipse">
            <a:avLst/>
          </a:prstGeom>
          <a:solidFill>
            <a:schemeClr val="tx2"/>
          </a:solidFill>
          <a:ln/>
        </p:spPr>
      </p:sp>
      <p:pic>
        <p:nvPicPr>
          <p:cNvPr id="16" name="Icon FaBrain 30" descr="preencoded.png">    </p:cNvPr>
          <p:cNvPicPr>
            <a:picLocks noChangeAspect="1"/>
          </p:cNvPicPr>
          <p:nvPr/>
        </p:nvPicPr>
        <p:blipFill>
          <a:blip r:embed="rId3"/>
          <a:stretch>
            <a:fillRect/>
          </a:stretch>
        </p:blipFill>
        <p:spPr>
          <a:xfrm>
            <a:off x="836127" y="3803355"/>
            <a:ext cx="266273" cy="266273"/>
          </a:xfrm>
          <a:prstGeom prst="rect">
            <a:avLst/>
          </a:prstGeom>
        </p:spPr>
      </p:pic>
      <p:sp>
        <p:nvSpPr>
          <p:cNvPr id="17" name="Card title 31"/>
          <p:cNvSpPr txBox="1"/>
          <p:nvPr/>
        </p:nvSpPr>
        <p:spPr>
          <a:xfrm>
            <a:off x="1335024"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3 · Test yourself</a:t>
            </a:r>
            <a:endParaRPr lang="en-US" sz="1700" dirty="0"/>
          </a:p>
        </p:txBody>
      </p:sp>
      <p:sp>
        <p:nvSpPr>
          <p:cNvPr id="18" name="Text 32"/>
          <p:cNvSpPr txBox="1"/>
          <p:nvPr/>
        </p:nvSpPr>
        <p:spPr>
          <a:xfrm>
            <a:off x="731520" y="428396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Every topic ends with a quick-fire quiz. Cover the answer slide, say your answers out loud, then check.</a:t>
            </a:r>
            <a:endParaRPr lang="en-US" sz="1700" dirty="0"/>
          </a:p>
        </p:txBody>
      </p:sp>
      <p:sp>
        <p:nvSpPr>
          <p:cNvPr id="19" name="Card 33"/>
          <p:cNvSpPr/>
          <p:nvPr/>
        </p:nvSpPr>
        <p:spPr>
          <a:xfrm>
            <a:off x="6233008" y="3515868"/>
            <a:ext cx="5410048" cy="1760220"/>
          </a:xfrm>
          <a:prstGeom prst="roundRect">
            <a:avLst>
              <a:gd name="adj" fmla="val 5195"/>
            </a:avLst>
          </a:prstGeom>
          <a:solidFill>
            <a:schemeClr val="tx2">
              <a:alpha val="10000"/>
            </a:schemeClr>
          </a:solidFill>
          <a:ln/>
        </p:spPr>
      </p:sp>
      <p:sp>
        <p:nvSpPr>
          <p:cNvPr id="20" name="Icon circle 34"/>
          <p:cNvSpPr/>
          <p:nvPr/>
        </p:nvSpPr>
        <p:spPr>
          <a:xfrm>
            <a:off x="6415888" y="3698748"/>
            <a:ext cx="475488" cy="475488"/>
          </a:xfrm>
          <a:prstGeom prst="ellipse">
            <a:avLst/>
          </a:prstGeom>
          <a:solidFill>
            <a:schemeClr val="tx2"/>
          </a:solidFill>
          <a:ln/>
        </p:spPr>
      </p:sp>
      <p:pic>
        <p:nvPicPr>
          <p:cNvPr id="21" name="Icon FaPen 35" descr="preencoded.png">    </p:cNvPr>
          <p:cNvPicPr>
            <a:picLocks noChangeAspect="1"/>
          </p:cNvPicPr>
          <p:nvPr/>
        </p:nvPicPr>
        <p:blipFill>
          <a:blip r:embed="rId4"/>
          <a:stretch>
            <a:fillRect/>
          </a:stretch>
        </p:blipFill>
        <p:spPr>
          <a:xfrm>
            <a:off x="6520495" y="3803355"/>
            <a:ext cx="266273" cy="266273"/>
          </a:xfrm>
          <a:prstGeom prst="rect">
            <a:avLst/>
          </a:prstGeom>
        </p:spPr>
      </p:pic>
      <p:sp>
        <p:nvSpPr>
          <p:cNvPr id="22" name="Card title 36"/>
          <p:cNvSpPr txBox="1"/>
          <p:nvPr/>
        </p:nvSpPr>
        <p:spPr>
          <a:xfrm>
            <a:off x="7019392"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4 · Practise answers</a:t>
            </a:r>
            <a:endParaRPr lang="en-US" sz="1700" dirty="0"/>
          </a:p>
        </p:txBody>
      </p:sp>
      <p:sp>
        <p:nvSpPr>
          <p:cNvPr id="23" name="Text 37"/>
          <p:cNvSpPr txBox="1"/>
          <p:nvPr/>
        </p:nvSpPr>
        <p:spPr>
          <a:xfrm>
            <a:off x="6415888" y="428396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Use the exam-focus slides to plan an answer in 5 minutes. Then write one under timed conditions.</a:t>
            </a:r>
            <a:endParaRPr lang="en-US" sz="1700" dirty="0"/>
          </a:p>
        </p:txBody>
      </p:sp>
      <p:sp>
        <p:nvSpPr>
          <p:cNvPr id="24" name="Callout 38"/>
          <p:cNvSpPr/>
          <p:nvPr/>
        </p:nvSpPr>
        <p:spPr>
          <a:xfrm>
            <a:off x="548640" y="5550408"/>
            <a:ext cx="11094415" cy="713232"/>
          </a:xfrm>
          <a:prstGeom prst="roundRect">
            <a:avLst>
              <a:gd name="adj" fmla="val 12821"/>
            </a:avLst>
          </a:prstGeom>
          <a:solidFill>
            <a:schemeClr val="accent4">
              <a:alpha val="20000"/>
            </a:schemeClr>
          </a:solidFill>
          <a:ln/>
        </p:spPr>
      </p:sp>
      <p:sp>
        <p:nvSpPr>
          <p:cNvPr id="25" name="Callout label 39"/>
          <p:cNvSpPr/>
          <p:nvPr/>
        </p:nvSpPr>
        <p:spPr>
          <a:xfrm>
            <a:off x="731520" y="5751576"/>
            <a:ext cx="1320136" cy="310896"/>
          </a:xfrm>
          <a:prstGeom prst="roundRect">
            <a:avLst>
              <a:gd name="adj" fmla="val 50000"/>
            </a:avLst>
          </a:prstGeom>
          <a:solidFill>
            <a:schemeClr val="accent4"/>
          </a:solidFill>
          <a:ln/>
        </p:spPr>
      </p:sp>
      <p:sp>
        <p:nvSpPr>
          <p:cNvPr id="26" name="Text 40"/>
          <p:cNvSpPr txBox="1"/>
          <p:nvPr/>
        </p:nvSpPr>
        <p:spPr>
          <a:xfrm>
            <a:off x="731520" y="5751576"/>
            <a:ext cx="1320136"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COLOUR CODE</a:t>
            </a:r>
            <a:endParaRPr lang="en-US" sz="1200" dirty="0"/>
          </a:p>
        </p:txBody>
      </p:sp>
      <p:sp>
        <p:nvSpPr>
          <p:cNvPr id="27" name="Text 41"/>
          <p:cNvSpPr txBox="1"/>
          <p:nvPr/>
        </p:nvSpPr>
        <p:spPr>
          <a:xfrm>
            <a:off x="2234536" y="5623560"/>
            <a:ext cx="9225639" cy="566928"/>
          </a:xfrm>
          <a:prstGeom prst="rect">
            <a:avLst/>
          </a:prstGeom>
          <a:noFill/>
          <a:ln/>
        </p:spPr>
        <p:txBody>
          <a:bodyPr wrap="square" lIns="0" tIns="0" rIns="0" bIns="0" rtlCol="0" anchor="ctr"/>
          <a:lstStyle/>
          <a:p>
            <a:pPr algn="l" indent="0" marL="0">
              <a:spcAft>
                <a:spcPts val="600"/>
              </a:spcAft>
              <a:buNone/>
            </a:pPr>
            <a:r>
              <a:rPr lang="en-US" sz="1500" b="1" dirty="0">
                <a:solidFill>
                  <a:schemeClr val="tx1"/>
                </a:solidFill>
              </a:rPr>
              <a:t>Red</a:t>
            </a:r>
            <a:r>
              <a:rPr lang="en-US" sz="1500" dirty="0">
                <a:solidFill>
                  <a:schemeClr val="tx1"/>
                </a:solidFill>
              </a:rPr>
              <a:t> = Topic 1 (Imperialism, Paper 1) · </a:t>
            </a:r>
            <a:r>
              <a:rPr lang="en-US" sz="1500" b="1" dirty="0">
                <a:solidFill>
                  <a:schemeClr val="tx1"/>
                </a:solidFill>
              </a:rPr>
              <a:t>Teal</a:t>
            </a:r>
            <a:r>
              <a:rPr lang="en-US" sz="1500" dirty="0">
                <a:solidFill>
                  <a:schemeClr val="tx1"/>
                </a:solidFill>
              </a:rPr>
              <a:t> = Topic 2 (1919–29) · </a:t>
            </a:r>
            <a:r>
              <a:rPr lang="en-US" sz="1500" b="1" dirty="0">
                <a:solidFill>
                  <a:schemeClr val="tx1"/>
                </a:solidFill>
              </a:rPr>
              <a:t>Amber</a:t>
            </a:r>
            <a:r>
              <a:rPr lang="en-US" sz="1500" dirty="0">
                <a:solidFill>
                  <a:schemeClr val="tx1"/>
                </a:solidFill>
              </a:rPr>
              <a:t> = Topic 3 (1929–39) · </a:t>
            </a:r>
            <a:r>
              <a:rPr lang="en-US" sz="1500" b="1" dirty="0">
                <a:solidFill>
                  <a:schemeClr val="tx1"/>
                </a:solidFill>
              </a:rPr>
              <a:t>Slate</a:t>
            </a:r>
            <a:r>
              <a:rPr lang="en-US" sz="1500" dirty="0">
                <a:solidFill>
                  <a:schemeClr val="tx1"/>
                </a:solidFill>
              </a:rPr>
              <a:t> = exam skills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4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START HERE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Your two AS exams at a glance</a:t>
            </a:r>
            <a:endParaRPr lang="en-US" sz="3400" dirty="0"/>
          </a:p>
        </p:txBody>
      </p:sp>
      <p:sp>
        <p:nvSpPr>
          <p:cNvPr id="4" name="Paper card 43"/>
          <p:cNvSpPr/>
          <p:nvPr/>
        </p:nvSpPr>
        <p:spPr>
          <a:xfrm>
            <a:off x="548640" y="1481328"/>
            <a:ext cx="5410048" cy="3886200"/>
          </a:xfrm>
          <a:prstGeom prst="roundRect">
            <a:avLst>
              <a:gd name="adj" fmla="val 2353"/>
            </a:avLst>
          </a:prstGeom>
          <a:solidFill>
            <a:schemeClr val="accent1">
              <a:alpha val="10000"/>
            </a:schemeClr>
          </a:solidFill>
          <a:ln/>
        </p:spPr>
      </p:sp>
      <p:sp>
        <p:nvSpPr>
          <p:cNvPr id="5" name="Icon circle 44"/>
          <p:cNvSpPr/>
          <p:nvPr/>
        </p:nvSpPr>
        <p:spPr>
          <a:xfrm>
            <a:off x="777240" y="1709928"/>
            <a:ext cx="640080" cy="640080"/>
          </a:xfrm>
          <a:prstGeom prst="ellipse">
            <a:avLst/>
          </a:prstGeom>
          <a:solidFill>
            <a:schemeClr val="accent1"/>
          </a:solidFill>
          <a:ln/>
        </p:spPr>
      </p:sp>
      <p:pic>
        <p:nvPicPr>
          <p:cNvPr id="6" name="Icon FaMagnifyingGlass 45" descr="preencoded.png">    </p:cNvPr>
          <p:cNvPicPr>
            <a:picLocks noChangeAspect="1"/>
          </p:cNvPicPr>
          <p:nvPr/>
        </p:nvPicPr>
        <p:blipFill>
          <a:blip r:embed="rId1"/>
          <a:stretch>
            <a:fillRect/>
          </a:stretch>
        </p:blipFill>
        <p:spPr>
          <a:xfrm>
            <a:off x="918058" y="1850746"/>
            <a:ext cx="358445" cy="358445"/>
          </a:xfrm>
          <a:prstGeom prst="rect">
            <a:avLst/>
          </a:prstGeom>
        </p:spPr>
      </p:pic>
      <p:sp>
        <p:nvSpPr>
          <p:cNvPr id="7" name="Text 46"/>
          <p:cNvSpPr txBox="1"/>
          <p:nvPr/>
        </p:nvSpPr>
        <p:spPr>
          <a:xfrm>
            <a:off x="1600200" y="1664208"/>
            <a:ext cx="4175608" cy="411480"/>
          </a:xfrm>
          <a:prstGeom prst="rect">
            <a:avLst/>
          </a:prstGeom>
          <a:noFill/>
          <a:ln/>
        </p:spPr>
        <p:txBody>
          <a:bodyPr wrap="square" lIns="0" tIns="0" rIns="0" bIns="0" rtlCol="0" anchor="ctr"/>
          <a:lstStyle/>
          <a:p>
            <a:pPr algn="l" indent="0" marL="0">
              <a:spcAft>
                <a:spcPts val="600"/>
              </a:spcAft>
              <a:buNone/>
            </a:pPr>
            <a:r>
              <a:rPr lang="en-US" sz="2100" b="1" dirty="0">
                <a:solidFill>
                  <a:schemeClr val="tx2"/>
                </a:solidFill>
              </a:rPr>
              <a:t>Paper 1 · Historical Sources</a:t>
            </a:r>
            <a:endParaRPr lang="en-US" sz="2100" dirty="0"/>
          </a:p>
        </p:txBody>
      </p:sp>
      <p:sp>
        <p:nvSpPr>
          <p:cNvPr id="8" name="Text 47"/>
          <p:cNvSpPr txBox="1"/>
          <p:nvPr/>
        </p:nvSpPr>
        <p:spPr>
          <a:xfrm>
            <a:off x="1600200" y="2066544"/>
            <a:ext cx="4175608" cy="329184"/>
          </a:xfrm>
          <a:prstGeom prst="rect">
            <a:avLst/>
          </a:prstGeom>
          <a:noFill/>
          <a:ln/>
        </p:spPr>
        <p:txBody>
          <a:bodyPr wrap="square" lIns="0" tIns="0" rIns="0" bIns="0" rtlCol="0" anchor="ctr"/>
          <a:lstStyle/>
          <a:p>
            <a:pPr algn="l" indent="0" marL="0">
              <a:spcAft>
                <a:spcPts val="600"/>
              </a:spcAft>
              <a:buNone/>
            </a:pPr>
            <a:r>
              <a:rPr lang="en-US" sz="1500" b="1" dirty="0">
                <a:solidFill>
                  <a:schemeClr val="accent1"/>
                </a:solidFill>
              </a:rPr>
              <a:t>1 hr 15 min · 40 marks · 40% of AS</a:t>
            </a:r>
            <a:endParaRPr lang="en-US" sz="1500" dirty="0"/>
          </a:p>
        </p:txBody>
      </p:sp>
      <p:sp>
        <p:nvSpPr>
          <p:cNvPr id="9" name="Text 48"/>
          <p:cNvSpPr txBox="1"/>
          <p:nvPr/>
        </p:nvSpPr>
        <p:spPr>
          <a:xfrm>
            <a:off x="822960" y="2624328"/>
            <a:ext cx="4861408" cy="2606040"/>
          </a:xfrm>
          <a:prstGeom prst="rect">
            <a:avLst/>
          </a:prstGeom>
          <a:noFill/>
          <a:ln/>
        </p:spPr>
        <p:txBody>
          <a:bodyPr wrap="square" lIns="0" tIns="0" rIns="0" bIns="0" rtlCol="0" anchor="t"/>
          <a:lstStyle/>
          <a:p>
            <a:pPr algn="l" marL="190500" indent="-190500">
              <a:spcAft>
                <a:spcPts val="900"/>
              </a:spcAft>
              <a:buSzPct val="100000"/>
              <a:buChar char="•"/>
            </a:pPr>
            <a:r>
              <a:rPr lang="en-US" sz="1600" b="1" dirty="0">
                <a:solidFill>
                  <a:schemeClr val="tx1"/>
                </a:solidFill>
              </a:rPr>
              <a:t>Topic:</a:t>
            </a:r>
            <a:r>
              <a:rPr lang="en-US" sz="1600" dirty="0">
                <a:solidFill>
                  <a:schemeClr val="tx1"/>
                </a:solidFill>
              </a:rPr>
              <a:t> Imperialism and the emergence of world powers, c.1870–1918</a:t>
            </a:r>
            <a:endParaRPr lang="en-US" sz="1600" dirty="0"/>
          </a:p>
          <a:p>
            <a:pPr algn="l" marL="190500" indent="-190500">
              <a:spcAft>
                <a:spcPts val="900"/>
              </a:spcAft>
              <a:buSzPct val="100000"/>
              <a:buChar char="•"/>
            </a:pPr>
            <a:r>
              <a:rPr lang="en-US" sz="1600" b="1" dirty="0">
                <a:solidFill>
                  <a:schemeClr val="tx1"/>
                </a:solidFill>
              </a:rPr>
              <a:t>Format:</a:t>
            </a:r>
            <a:r>
              <a:rPr lang="en-US" sz="1600" dirty="0">
                <a:solidFill>
                  <a:schemeClr val="tx1"/>
                </a:solidFill>
              </a:rPr>
              <a:t> one two-part question on a set of sources</a:t>
            </a:r>
            <a:endParaRPr lang="en-US" sz="1600" dirty="0"/>
          </a:p>
          <a:p>
            <a:pPr algn="l" marL="190500" indent="-190500">
              <a:spcAft>
                <a:spcPts val="900"/>
              </a:spcAft>
              <a:buSzPct val="100000"/>
              <a:buChar char="•"/>
            </a:pPr>
            <a:r>
              <a:rPr lang="en-US" sz="1600" b="1" dirty="0">
                <a:solidFill>
                  <a:schemeClr val="tx1"/>
                </a:solidFill>
              </a:rPr>
              <a:t>(a) 15 marks:</a:t>
            </a:r>
            <a:r>
              <a:rPr lang="en-US" sz="1600" dirty="0">
                <a:solidFill>
                  <a:schemeClr val="tx1"/>
                </a:solidFill>
              </a:rPr>
              <a:t> compare two sources (similarities and differences)</a:t>
            </a:r>
            <a:endParaRPr lang="en-US" sz="1600" dirty="0"/>
          </a:p>
          <a:p>
            <a:pPr algn="l" marL="190500" indent="-190500">
              <a:spcAft>
                <a:spcPts val="900"/>
              </a:spcAft>
              <a:buSzPct val="100000"/>
              <a:buChar char="•"/>
            </a:pPr>
            <a:r>
              <a:rPr lang="en-US" sz="1600" b="1" dirty="0">
                <a:solidFill>
                  <a:schemeClr val="tx1"/>
                </a:solidFill>
              </a:rPr>
              <a:t>(b) 25 marks:</a:t>
            </a:r>
            <a:r>
              <a:rPr lang="en-US" sz="1600" dirty="0">
                <a:solidFill>
                  <a:schemeClr val="tx1"/>
                </a:solidFill>
              </a:rPr>
              <a:t> use all the sources to assess a view</a:t>
            </a:r>
            <a:endParaRPr lang="en-US" sz="1600" dirty="0"/>
          </a:p>
        </p:txBody>
      </p:sp>
      <p:sp>
        <p:nvSpPr>
          <p:cNvPr id="10" name="Paper card 49"/>
          <p:cNvSpPr/>
          <p:nvPr/>
        </p:nvSpPr>
        <p:spPr>
          <a:xfrm>
            <a:off x="6233008" y="1481328"/>
            <a:ext cx="5410048" cy="3886200"/>
          </a:xfrm>
          <a:prstGeom prst="roundRect">
            <a:avLst>
              <a:gd name="adj" fmla="val 2353"/>
            </a:avLst>
          </a:prstGeom>
          <a:solidFill>
            <a:schemeClr val="accent2">
              <a:alpha val="10000"/>
            </a:schemeClr>
          </a:solidFill>
          <a:ln/>
        </p:spPr>
      </p:sp>
      <p:sp>
        <p:nvSpPr>
          <p:cNvPr id="11" name="Icon circle 50"/>
          <p:cNvSpPr/>
          <p:nvPr/>
        </p:nvSpPr>
        <p:spPr>
          <a:xfrm>
            <a:off x="6461608" y="1709928"/>
            <a:ext cx="640080" cy="640080"/>
          </a:xfrm>
          <a:prstGeom prst="ellipse">
            <a:avLst/>
          </a:prstGeom>
          <a:solidFill>
            <a:schemeClr val="accent2"/>
          </a:solidFill>
          <a:ln/>
        </p:spPr>
      </p:sp>
      <p:pic>
        <p:nvPicPr>
          <p:cNvPr id="12" name="Icon FaFeatherPointed 51" descr="preencoded.png">    </p:cNvPr>
          <p:cNvPicPr>
            <a:picLocks noChangeAspect="1"/>
          </p:cNvPicPr>
          <p:nvPr/>
        </p:nvPicPr>
        <p:blipFill>
          <a:blip r:embed="rId2"/>
          <a:stretch>
            <a:fillRect/>
          </a:stretch>
        </p:blipFill>
        <p:spPr>
          <a:xfrm>
            <a:off x="6602425" y="1850746"/>
            <a:ext cx="358445" cy="358445"/>
          </a:xfrm>
          <a:prstGeom prst="rect">
            <a:avLst/>
          </a:prstGeom>
        </p:spPr>
      </p:pic>
      <p:sp>
        <p:nvSpPr>
          <p:cNvPr id="13" name="Text 52"/>
          <p:cNvSpPr txBox="1"/>
          <p:nvPr/>
        </p:nvSpPr>
        <p:spPr>
          <a:xfrm>
            <a:off x="7284568" y="1664208"/>
            <a:ext cx="4175608" cy="411480"/>
          </a:xfrm>
          <a:prstGeom prst="rect">
            <a:avLst/>
          </a:prstGeom>
          <a:noFill/>
          <a:ln/>
        </p:spPr>
        <p:txBody>
          <a:bodyPr wrap="square" lIns="0" tIns="0" rIns="0" bIns="0" rtlCol="0" anchor="ctr"/>
          <a:lstStyle/>
          <a:p>
            <a:pPr algn="l" indent="0" marL="0">
              <a:spcAft>
                <a:spcPts val="600"/>
              </a:spcAft>
              <a:buNone/>
            </a:pPr>
            <a:r>
              <a:rPr lang="en-US" sz="2100" b="1" dirty="0">
                <a:solidFill>
                  <a:schemeClr val="tx2"/>
                </a:solidFill>
              </a:rPr>
              <a:t>Paper 2 · Outline Study</a:t>
            </a:r>
            <a:endParaRPr lang="en-US" sz="2100" dirty="0"/>
          </a:p>
        </p:txBody>
      </p:sp>
      <p:sp>
        <p:nvSpPr>
          <p:cNvPr id="14" name="Text 53"/>
          <p:cNvSpPr txBox="1"/>
          <p:nvPr/>
        </p:nvSpPr>
        <p:spPr>
          <a:xfrm>
            <a:off x="7284568" y="2066544"/>
            <a:ext cx="4175608" cy="329184"/>
          </a:xfrm>
          <a:prstGeom prst="rect">
            <a:avLst/>
          </a:prstGeom>
          <a:noFill/>
          <a:ln/>
        </p:spPr>
        <p:txBody>
          <a:bodyPr wrap="square" lIns="0" tIns="0" rIns="0" bIns="0" rtlCol="0" anchor="ctr"/>
          <a:lstStyle/>
          <a:p>
            <a:pPr algn="l" indent="0" marL="0">
              <a:spcAft>
                <a:spcPts val="600"/>
              </a:spcAft>
              <a:buNone/>
            </a:pPr>
            <a:r>
              <a:rPr lang="en-US" sz="1500" b="1" dirty="0">
                <a:solidFill>
                  <a:schemeClr val="accent2"/>
                </a:solidFill>
              </a:rPr>
              <a:t>1 hr 45 min · 60 marks · 60% of AS</a:t>
            </a:r>
            <a:endParaRPr lang="en-US" sz="1500" dirty="0"/>
          </a:p>
        </p:txBody>
      </p:sp>
      <p:sp>
        <p:nvSpPr>
          <p:cNvPr id="15" name="Text 54"/>
          <p:cNvSpPr txBox="1"/>
          <p:nvPr/>
        </p:nvSpPr>
        <p:spPr>
          <a:xfrm>
            <a:off x="6507328" y="2624328"/>
            <a:ext cx="4861408" cy="2606040"/>
          </a:xfrm>
          <a:prstGeom prst="rect">
            <a:avLst/>
          </a:prstGeom>
          <a:noFill/>
          <a:ln/>
        </p:spPr>
        <p:txBody>
          <a:bodyPr wrap="square" lIns="0" tIns="0" rIns="0" bIns="0" rtlCol="0" anchor="t"/>
          <a:lstStyle/>
          <a:p>
            <a:pPr algn="l" marL="190500" indent="-190500">
              <a:spcAft>
                <a:spcPts val="900"/>
              </a:spcAft>
              <a:buSzPct val="100000"/>
              <a:buChar char="•"/>
            </a:pPr>
            <a:r>
              <a:rPr lang="en-US" sz="1600" b="1" dirty="0">
                <a:solidFill>
                  <a:schemeClr val="tx1"/>
                </a:solidFill>
              </a:rPr>
              <a:t>Topics:</a:t>
            </a:r>
            <a:r>
              <a:rPr lang="en-US" sz="1600" dirty="0">
                <a:solidFill>
                  <a:schemeClr val="tx1"/>
                </a:solidFill>
              </a:rPr>
              <a:t> International relations 1919–29 and International history 1929–39</a:t>
            </a:r>
            <a:endParaRPr lang="en-US" sz="1600" dirty="0"/>
          </a:p>
          <a:p>
            <a:pPr algn="l" marL="190500" indent="-190500">
              <a:spcAft>
                <a:spcPts val="900"/>
              </a:spcAft>
              <a:buSzPct val="100000"/>
              <a:buChar char="•"/>
            </a:pPr>
            <a:r>
              <a:rPr lang="en-US" sz="1600" b="1" dirty="0">
                <a:solidFill>
                  <a:schemeClr val="tx1"/>
                </a:solidFill>
              </a:rPr>
              <a:t>Format:</a:t>
            </a:r>
            <a:r>
              <a:rPr lang="en-US" sz="1600" dirty="0">
                <a:solidFill>
                  <a:schemeClr val="tx1"/>
                </a:solidFill>
              </a:rPr>
              <a:t> two two-part essay questions</a:t>
            </a:r>
            <a:endParaRPr lang="en-US" sz="1600" dirty="0"/>
          </a:p>
          <a:p>
            <a:pPr algn="l" marL="190500" indent="-190500">
              <a:spcAft>
                <a:spcPts val="900"/>
              </a:spcAft>
              <a:buSzPct val="100000"/>
              <a:buChar char="•"/>
            </a:pPr>
            <a:r>
              <a:rPr lang="en-US" sz="1600" b="1" dirty="0">
                <a:solidFill>
                  <a:schemeClr val="tx1"/>
                </a:solidFill>
              </a:rPr>
              <a:t>(a) 10 marks:</a:t>
            </a:r>
            <a:r>
              <a:rPr lang="en-US" sz="1600" dirty="0">
                <a:solidFill>
                  <a:schemeClr val="tx1"/>
                </a:solidFill>
              </a:rPr>
              <a:t> 'Explain why…'</a:t>
            </a:r>
            <a:endParaRPr lang="en-US" sz="1600" dirty="0"/>
          </a:p>
          <a:p>
            <a:pPr algn="l" marL="190500" indent="-190500">
              <a:spcAft>
                <a:spcPts val="900"/>
              </a:spcAft>
              <a:buSzPct val="100000"/>
              <a:buChar char="•"/>
            </a:pPr>
            <a:r>
              <a:rPr lang="en-US" sz="1600" b="1" dirty="0">
                <a:solidFill>
                  <a:schemeClr val="tx1"/>
                </a:solidFill>
              </a:rPr>
              <a:t>(b) 20 marks:</a:t>
            </a:r>
            <a:r>
              <a:rPr lang="en-US" sz="1600" dirty="0">
                <a:solidFill>
                  <a:schemeClr val="tx1"/>
                </a:solidFill>
              </a:rPr>
              <a:t> 'How far…?' / 'To what extent…?' / 'Assess…'</a:t>
            </a:r>
            <a:endParaRPr lang="en-US" sz="1600" dirty="0"/>
          </a:p>
        </p:txBody>
      </p:sp>
      <p:sp>
        <p:nvSpPr>
          <p:cNvPr id="16" name="Callout 55"/>
          <p:cNvSpPr/>
          <p:nvPr/>
        </p:nvSpPr>
        <p:spPr>
          <a:xfrm>
            <a:off x="548640" y="5550408"/>
            <a:ext cx="11094415" cy="713232"/>
          </a:xfrm>
          <a:prstGeom prst="roundRect">
            <a:avLst>
              <a:gd name="adj" fmla="val 12821"/>
            </a:avLst>
          </a:prstGeom>
          <a:solidFill>
            <a:schemeClr val="accent4">
              <a:alpha val="20000"/>
            </a:schemeClr>
          </a:solidFill>
          <a:ln/>
        </p:spPr>
      </p:sp>
      <p:sp>
        <p:nvSpPr>
          <p:cNvPr id="17" name="Callout label 56"/>
          <p:cNvSpPr/>
          <p:nvPr/>
        </p:nvSpPr>
        <p:spPr>
          <a:xfrm>
            <a:off x="731520" y="5751576"/>
            <a:ext cx="744340" cy="310896"/>
          </a:xfrm>
          <a:prstGeom prst="roundRect">
            <a:avLst>
              <a:gd name="adj" fmla="val 50000"/>
            </a:avLst>
          </a:prstGeom>
          <a:solidFill>
            <a:schemeClr val="accent4"/>
          </a:solidFill>
          <a:ln/>
        </p:spPr>
      </p:sp>
      <p:sp>
        <p:nvSpPr>
          <p:cNvPr id="18" name="Text 57"/>
          <p:cNvSpPr txBox="1"/>
          <p:nvPr/>
        </p:nvSpPr>
        <p:spPr>
          <a:xfrm>
            <a:off x="731520" y="5751576"/>
            <a:ext cx="744340"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CHECK</a:t>
            </a:r>
            <a:endParaRPr lang="en-US" sz="1200" dirty="0"/>
          </a:p>
        </p:txBody>
      </p:sp>
      <p:sp>
        <p:nvSpPr>
          <p:cNvPr id="19" name="Text 58"/>
          <p:cNvSpPr txBox="1"/>
          <p:nvPr/>
        </p:nvSpPr>
        <p:spPr>
          <a:xfrm>
            <a:off x="1658740" y="5623560"/>
            <a:ext cx="9801435"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Always read the rubric on the front of your paper to see exactly which questions to answer — and divide your time by the marks.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5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tx2"/>
                </a:solidFill>
              </a:rPr>
              <a:t>START HERE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big picture: 1870–1939 in one slide</a:t>
            </a:r>
            <a:endParaRPr lang="en-US" sz="3400" dirty="0"/>
          </a:p>
        </p:txBody>
      </p:sp>
      <p:sp>
        <p:nvSpPr>
          <p:cNvPr id="4" name="Era arrow 60"/>
          <p:cNvSpPr/>
          <p:nvPr/>
        </p:nvSpPr>
        <p:spPr>
          <a:xfrm>
            <a:off x="548640" y="1481328"/>
            <a:ext cx="3716426" cy="868680"/>
          </a:xfrm>
          <a:prstGeom prst="homePlate">
            <a:avLst/>
          </a:prstGeom>
          <a:solidFill>
            <a:schemeClr val="accent1"/>
          </a:solidFill>
          <a:ln/>
        </p:spPr>
      </p:sp>
      <p:sp>
        <p:nvSpPr>
          <p:cNvPr id="5" name="Text 61"/>
          <p:cNvSpPr txBox="1"/>
          <p:nvPr/>
        </p:nvSpPr>
        <p:spPr>
          <a:xfrm>
            <a:off x="731520" y="1536192"/>
            <a:ext cx="3149498" cy="384048"/>
          </a:xfrm>
          <a:prstGeom prst="rect">
            <a:avLst/>
          </a:prstGeom>
          <a:noFill/>
          <a:ln/>
        </p:spPr>
        <p:txBody>
          <a:bodyPr wrap="square" lIns="0" tIns="0" rIns="0" bIns="0" rtlCol="0" anchor="ctr"/>
          <a:lstStyle/>
          <a:p>
            <a:pPr algn="l" indent="0" marL="0">
              <a:spcAft>
                <a:spcPts val="600"/>
              </a:spcAft>
              <a:buNone/>
            </a:pPr>
            <a:r>
              <a:rPr lang="en-US" sz="2000" b="1" dirty="0">
                <a:solidFill>
                  <a:schemeClr val="bg1"/>
                </a:solidFill>
                <a:latin typeface="+mj-lt" pitchFamily="34" charset="0"/>
                <a:ea typeface="+mj-lt" pitchFamily="34" charset="-122"/>
                <a:cs typeface="+mj-lt" pitchFamily="34" charset="-120"/>
              </a:rPr>
              <a:t>c.1870–1918</a:t>
            </a:r>
            <a:endParaRPr lang="en-US" sz="2000" dirty="0"/>
          </a:p>
        </p:txBody>
      </p:sp>
      <p:sp>
        <p:nvSpPr>
          <p:cNvPr id="6" name="Text 62"/>
          <p:cNvSpPr txBox="1"/>
          <p:nvPr/>
        </p:nvSpPr>
        <p:spPr>
          <a:xfrm>
            <a:off x="731520" y="1920240"/>
            <a:ext cx="3149498" cy="347472"/>
          </a:xfrm>
          <a:prstGeom prst="rect">
            <a:avLst/>
          </a:prstGeom>
          <a:noFill/>
          <a:ln/>
        </p:spPr>
        <p:txBody>
          <a:bodyPr wrap="square" lIns="0" tIns="0" rIns="0" bIns="0" rtlCol="0" anchor="ctr"/>
          <a:lstStyle/>
          <a:p>
            <a:pPr algn="l" indent="0" marL="0">
              <a:spcAft>
                <a:spcPts val="600"/>
              </a:spcAft>
              <a:buNone/>
            </a:pPr>
            <a:r>
              <a:rPr lang="en-US" sz="1500" dirty="0">
                <a:solidFill>
                  <a:schemeClr val="bg1"/>
                </a:solidFill>
              </a:rPr>
              <a:t>Empires &amp; new world powers</a:t>
            </a:r>
            <a:endParaRPr lang="en-US" sz="1500" dirty="0"/>
          </a:p>
        </p:txBody>
      </p:sp>
      <p:sp>
        <p:nvSpPr>
          <p:cNvPr id="7" name="Era card 63"/>
          <p:cNvSpPr/>
          <p:nvPr/>
        </p:nvSpPr>
        <p:spPr>
          <a:xfrm>
            <a:off x="548640" y="2578608"/>
            <a:ext cx="3515258" cy="2743200"/>
          </a:xfrm>
          <a:prstGeom prst="roundRect">
            <a:avLst>
              <a:gd name="adj" fmla="val 3333"/>
            </a:avLst>
          </a:prstGeom>
          <a:solidFill>
            <a:schemeClr val="accent1">
              <a:alpha val="9000"/>
            </a:schemeClr>
          </a:solidFill>
          <a:ln/>
        </p:spPr>
      </p:sp>
      <p:sp>
        <p:nvSpPr>
          <p:cNvPr id="8" name="Text 64"/>
          <p:cNvSpPr txBox="1"/>
          <p:nvPr/>
        </p:nvSpPr>
        <p:spPr>
          <a:xfrm>
            <a:off x="749808" y="2743200"/>
            <a:ext cx="3112922" cy="2468880"/>
          </a:xfrm>
          <a:prstGeom prst="rect">
            <a:avLst/>
          </a:prstGeom>
          <a:noFill/>
          <a:ln/>
        </p:spPr>
        <p:txBody>
          <a:bodyPr wrap="square" lIns="0" tIns="0" rIns="0" bIns="0" rtlCol="0" anchor="t"/>
          <a:lstStyle/>
          <a:p>
            <a:pPr algn="l" marL="190500" indent="-190500">
              <a:spcAft>
                <a:spcPts val="800"/>
              </a:spcAft>
              <a:buSzPct val="100000"/>
              <a:buChar char="•"/>
            </a:pPr>
            <a:r>
              <a:rPr lang="en-US" sz="1500" dirty="0">
                <a:solidFill>
                  <a:schemeClr val="tx1"/>
                </a:solidFill>
              </a:rPr>
              <a:t>European 'New Imperialism' and the Scramble for Africa</a:t>
            </a:r>
            <a:endParaRPr lang="en-US" sz="1500" dirty="0"/>
          </a:p>
          <a:p>
            <a:pPr algn="l" marL="190500" indent="-190500">
              <a:spcAft>
                <a:spcPts val="800"/>
              </a:spcAft>
              <a:buSzPct val="100000"/>
              <a:buChar char="•"/>
            </a:pPr>
            <a:r>
              <a:rPr lang="en-US" sz="1500" dirty="0">
                <a:solidFill>
                  <a:schemeClr val="tx1"/>
                </a:solidFill>
              </a:rPr>
              <a:t>China carved up; the Boxer Rebellion</a:t>
            </a:r>
            <a:endParaRPr lang="en-US" sz="1500" dirty="0"/>
          </a:p>
          <a:p>
            <a:pPr algn="l" marL="190500" indent="-190500">
              <a:spcAft>
                <a:spcPts val="800"/>
              </a:spcAft>
              <a:buSzPct val="100000"/>
              <a:buChar char="•"/>
            </a:pPr>
            <a:r>
              <a:rPr lang="en-US" sz="1500" dirty="0">
                <a:solidFill>
                  <a:schemeClr val="tx1"/>
                </a:solidFill>
              </a:rPr>
              <a:t>Japan and the USA become world powers</a:t>
            </a:r>
            <a:endParaRPr lang="en-US" sz="1500" dirty="0"/>
          </a:p>
          <a:p>
            <a:pPr algn="l" marL="190500" indent="-190500">
              <a:spcAft>
                <a:spcPts val="800"/>
              </a:spcAft>
              <a:buSzPct val="100000"/>
              <a:buChar char="•"/>
            </a:pPr>
            <a:r>
              <a:rPr lang="en-US" sz="1500" dirty="0">
                <a:solidFill>
                  <a:schemeClr val="tx1"/>
                </a:solidFill>
              </a:rPr>
              <a:t>Imperial rivalry feeds the alliances of 1914</a:t>
            </a:r>
            <a:endParaRPr lang="en-US" sz="1500" dirty="0"/>
          </a:p>
        </p:txBody>
      </p:sp>
      <p:sp>
        <p:nvSpPr>
          <p:cNvPr id="9" name="Era arrow 65"/>
          <p:cNvSpPr/>
          <p:nvPr/>
        </p:nvSpPr>
        <p:spPr>
          <a:xfrm>
            <a:off x="4338218" y="1481328"/>
            <a:ext cx="3716426" cy="868680"/>
          </a:xfrm>
          <a:prstGeom prst="homePlate">
            <a:avLst/>
          </a:prstGeom>
          <a:solidFill>
            <a:schemeClr val="accent2"/>
          </a:solidFill>
          <a:ln/>
        </p:spPr>
      </p:sp>
      <p:sp>
        <p:nvSpPr>
          <p:cNvPr id="10" name="Text 66"/>
          <p:cNvSpPr txBox="1"/>
          <p:nvPr/>
        </p:nvSpPr>
        <p:spPr>
          <a:xfrm>
            <a:off x="4521098" y="1536192"/>
            <a:ext cx="3149498" cy="384048"/>
          </a:xfrm>
          <a:prstGeom prst="rect">
            <a:avLst/>
          </a:prstGeom>
          <a:noFill/>
          <a:ln/>
        </p:spPr>
        <p:txBody>
          <a:bodyPr wrap="square" lIns="0" tIns="0" rIns="0" bIns="0" rtlCol="0" anchor="ctr"/>
          <a:lstStyle/>
          <a:p>
            <a:pPr algn="l" indent="0" marL="0">
              <a:spcAft>
                <a:spcPts val="600"/>
              </a:spcAft>
              <a:buNone/>
            </a:pPr>
            <a:r>
              <a:rPr lang="en-US" sz="2000" b="1" dirty="0">
                <a:solidFill>
                  <a:schemeClr val="bg1"/>
                </a:solidFill>
                <a:latin typeface="+mj-lt" pitchFamily="34" charset="0"/>
                <a:ea typeface="+mj-lt" pitchFamily="34" charset="-122"/>
                <a:cs typeface="+mj-lt" pitchFamily="34" charset="-120"/>
              </a:rPr>
              <a:t>1919–29</a:t>
            </a:r>
            <a:endParaRPr lang="en-US" sz="2000" dirty="0"/>
          </a:p>
        </p:txBody>
      </p:sp>
      <p:sp>
        <p:nvSpPr>
          <p:cNvPr id="11" name="Text 67"/>
          <p:cNvSpPr txBox="1"/>
          <p:nvPr/>
        </p:nvSpPr>
        <p:spPr>
          <a:xfrm>
            <a:off x="4521098" y="1920240"/>
            <a:ext cx="3149498" cy="347472"/>
          </a:xfrm>
          <a:prstGeom prst="rect">
            <a:avLst/>
          </a:prstGeom>
          <a:noFill/>
          <a:ln/>
        </p:spPr>
        <p:txBody>
          <a:bodyPr wrap="square" lIns="0" tIns="0" rIns="0" bIns="0" rtlCol="0" anchor="ctr"/>
          <a:lstStyle/>
          <a:p>
            <a:pPr algn="l" indent="0" marL="0">
              <a:spcAft>
                <a:spcPts val="600"/>
              </a:spcAft>
              <a:buNone/>
            </a:pPr>
            <a:r>
              <a:rPr lang="en-US" sz="1500" dirty="0">
                <a:solidFill>
                  <a:schemeClr val="bg1"/>
                </a:solidFill>
              </a:rPr>
              <a:t>Conflict, then cooperation</a:t>
            </a:r>
            <a:endParaRPr lang="en-US" sz="1500" dirty="0"/>
          </a:p>
        </p:txBody>
      </p:sp>
      <p:sp>
        <p:nvSpPr>
          <p:cNvPr id="12" name="Era card 68"/>
          <p:cNvSpPr/>
          <p:nvPr/>
        </p:nvSpPr>
        <p:spPr>
          <a:xfrm>
            <a:off x="4338218" y="2578608"/>
            <a:ext cx="3515258" cy="2743200"/>
          </a:xfrm>
          <a:prstGeom prst="roundRect">
            <a:avLst>
              <a:gd name="adj" fmla="val 3333"/>
            </a:avLst>
          </a:prstGeom>
          <a:solidFill>
            <a:schemeClr val="accent2">
              <a:alpha val="9000"/>
            </a:schemeClr>
          </a:solidFill>
          <a:ln/>
        </p:spPr>
      </p:sp>
      <p:sp>
        <p:nvSpPr>
          <p:cNvPr id="13" name="Text 69"/>
          <p:cNvSpPr txBox="1"/>
          <p:nvPr/>
        </p:nvSpPr>
        <p:spPr>
          <a:xfrm>
            <a:off x="4539386" y="2743200"/>
            <a:ext cx="3112922" cy="2468880"/>
          </a:xfrm>
          <a:prstGeom prst="rect">
            <a:avLst/>
          </a:prstGeom>
          <a:noFill/>
          <a:ln/>
        </p:spPr>
        <p:txBody>
          <a:bodyPr wrap="square" lIns="0" tIns="0" rIns="0" bIns="0" rtlCol="0" anchor="t"/>
          <a:lstStyle/>
          <a:p>
            <a:pPr algn="l" marL="190500" indent="-190500">
              <a:spcAft>
                <a:spcPts val="800"/>
              </a:spcAft>
              <a:buSzPct val="100000"/>
              <a:buChar char="•"/>
            </a:pPr>
            <a:r>
              <a:rPr lang="en-US" sz="1500" dirty="0">
                <a:solidFill>
                  <a:schemeClr val="tx1"/>
                </a:solidFill>
              </a:rPr>
              <a:t>Peace treaties leave many states unhappy</a:t>
            </a:r>
            <a:endParaRPr lang="en-US" sz="1500" dirty="0"/>
          </a:p>
          <a:p>
            <a:pPr algn="l" marL="190500" indent="-190500">
              <a:spcAft>
                <a:spcPts val="800"/>
              </a:spcAft>
              <a:buSzPct val="100000"/>
              <a:buChar char="•"/>
            </a:pPr>
            <a:r>
              <a:rPr lang="en-US" sz="1500" dirty="0">
                <a:solidFill>
                  <a:schemeClr val="tx1"/>
                </a:solidFill>
              </a:rPr>
              <a:t>League of Nations: small successes, big gaps</a:t>
            </a:r>
            <a:endParaRPr lang="en-US" sz="1500" dirty="0"/>
          </a:p>
          <a:p>
            <a:pPr algn="l" marL="190500" indent="-190500">
              <a:spcAft>
                <a:spcPts val="800"/>
              </a:spcAft>
              <a:buSzPct val="100000"/>
              <a:buChar char="•"/>
            </a:pPr>
            <a:r>
              <a:rPr lang="en-US" sz="1500" dirty="0">
                <a:solidFill>
                  <a:schemeClr val="tx1"/>
                </a:solidFill>
              </a:rPr>
              <a:t>Crisis years: Rapallo, Ruhr, Corfu (1922–23)</a:t>
            </a:r>
            <a:endParaRPr lang="en-US" sz="1500" dirty="0"/>
          </a:p>
          <a:p>
            <a:pPr algn="l" marL="190500" indent="-190500">
              <a:spcAft>
                <a:spcPts val="800"/>
              </a:spcAft>
              <a:buSzPct val="100000"/>
              <a:buChar char="•"/>
            </a:pPr>
            <a:r>
              <a:rPr lang="en-US" sz="1500" dirty="0">
                <a:solidFill>
                  <a:schemeClr val="tx1"/>
                </a:solidFill>
              </a:rPr>
              <a:t>Recovery: Dawes, Locarno, Kellogg–Briand</a:t>
            </a:r>
            <a:endParaRPr lang="en-US" sz="1500" dirty="0"/>
          </a:p>
        </p:txBody>
      </p:sp>
      <p:sp>
        <p:nvSpPr>
          <p:cNvPr id="14" name="Era arrow 70"/>
          <p:cNvSpPr/>
          <p:nvPr/>
        </p:nvSpPr>
        <p:spPr>
          <a:xfrm>
            <a:off x="8127797" y="1481328"/>
            <a:ext cx="3515258" cy="868680"/>
          </a:xfrm>
          <a:prstGeom prst="homePlate">
            <a:avLst/>
          </a:prstGeom>
          <a:solidFill>
            <a:schemeClr val="accent3"/>
          </a:solidFill>
          <a:ln/>
        </p:spPr>
      </p:sp>
      <p:sp>
        <p:nvSpPr>
          <p:cNvPr id="15" name="Text 71"/>
          <p:cNvSpPr txBox="1"/>
          <p:nvPr/>
        </p:nvSpPr>
        <p:spPr>
          <a:xfrm>
            <a:off x="8310677" y="1536192"/>
            <a:ext cx="3149498" cy="384048"/>
          </a:xfrm>
          <a:prstGeom prst="rect">
            <a:avLst/>
          </a:prstGeom>
          <a:noFill/>
          <a:ln/>
        </p:spPr>
        <p:txBody>
          <a:bodyPr wrap="square" lIns="0" tIns="0" rIns="0" bIns="0" rtlCol="0" anchor="ctr"/>
          <a:lstStyle/>
          <a:p>
            <a:pPr algn="l" indent="0" marL="0">
              <a:spcAft>
                <a:spcPts val="600"/>
              </a:spcAft>
              <a:buNone/>
            </a:pPr>
            <a:r>
              <a:rPr lang="en-US" sz="2000" b="1" dirty="0">
                <a:solidFill>
                  <a:schemeClr val="bg1"/>
                </a:solidFill>
                <a:latin typeface="+mj-lt" pitchFamily="34" charset="0"/>
                <a:ea typeface="+mj-lt" pitchFamily="34" charset="-122"/>
                <a:cs typeface="+mj-lt" pitchFamily="34" charset="-120"/>
              </a:rPr>
              <a:t>1929–39</a:t>
            </a:r>
            <a:endParaRPr lang="en-US" sz="2000" dirty="0"/>
          </a:p>
        </p:txBody>
      </p:sp>
      <p:sp>
        <p:nvSpPr>
          <p:cNvPr id="16" name="Text 72"/>
          <p:cNvSpPr txBox="1"/>
          <p:nvPr/>
        </p:nvSpPr>
        <p:spPr>
          <a:xfrm>
            <a:off x="8310677" y="1920240"/>
            <a:ext cx="3149498" cy="347472"/>
          </a:xfrm>
          <a:prstGeom prst="rect">
            <a:avLst/>
          </a:prstGeom>
          <a:noFill/>
          <a:ln/>
        </p:spPr>
        <p:txBody>
          <a:bodyPr wrap="square" lIns="0" tIns="0" rIns="0" bIns="0" rtlCol="0" anchor="ctr"/>
          <a:lstStyle/>
          <a:p>
            <a:pPr algn="l" indent="0" marL="0">
              <a:spcAft>
                <a:spcPts val="600"/>
              </a:spcAft>
              <a:buNone/>
            </a:pPr>
            <a:r>
              <a:rPr lang="en-US" sz="1500" dirty="0">
                <a:solidFill>
                  <a:schemeClr val="bg1"/>
                </a:solidFill>
              </a:rPr>
              <a:t>Extremism and the road to war</a:t>
            </a:r>
            <a:endParaRPr lang="en-US" sz="1500" dirty="0"/>
          </a:p>
        </p:txBody>
      </p:sp>
      <p:sp>
        <p:nvSpPr>
          <p:cNvPr id="17" name="Era card 73"/>
          <p:cNvSpPr/>
          <p:nvPr/>
        </p:nvSpPr>
        <p:spPr>
          <a:xfrm>
            <a:off x="8127797" y="2578608"/>
            <a:ext cx="3515258" cy="2743200"/>
          </a:xfrm>
          <a:prstGeom prst="roundRect">
            <a:avLst>
              <a:gd name="adj" fmla="val 3333"/>
            </a:avLst>
          </a:prstGeom>
          <a:solidFill>
            <a:schemeClr val="accent3">
              <a:alpha val="9000"/>
            </a:schemeClr>
          </a:solidFill>
          <a:ln/>
        </p:spPr>
      </p:sp>
      <p:sp>
        <p:nvSpPr>
          <p:cNvPr id="18" name="Text 74"/>
          <p:cNvSpPr txBox="1"/>
          <p:nvPr/>
        </p:nvSpPr>
        <p:spPr>
          <a:xfrm>
            <a:off x="8328965" y="2743200"/>
            <a:ext cx="3112922" cy="2468880"/>
          </a:xfrm>
          <a:prstGeom prst="rect">
            <a:avLst/>
          </a:prstGeom>
          <a:noFill/>
          <a:ln/>
        </p:spPr>
        <p:txBody>
          <a:bodyPr wrap="square" lIns="0" tIns="0" rIns="0" bIns="0" rtlCol="0" anchor="t"/>
          <a:lstStyle/>
          <a:p>
            <a:pPr algn="l" marL="190500" indent="-190500">
              <a:spcAft>
                <a:spcPts val="800"/>
              </a:spcAft>
              <a:buSzPct val="100000"/>
              <a:buChar char="•"/>
            </a:pPr>
            <a:r>
              <a:rPr lang="en-US" sz="1500" dirty="0">
                <a:solidFill>
                  <a:schemeClr val="tx1"/>
                </a:solidFill>
              </a:rPr>
              <a:t>Depression wrecks trade and democracy</a:t>
            </a:r>
            <a:endParaRPr lang="en-US" sz="1500" dirty="0"/>
          </a:p>
          <a:p>
            <a:pPr algn="l" marL="190500" indent="-190500">
              <a:spcAft>
                <a:spcPts val="800"/>
              </a:spcAft>
              <a:buSzPct val="100000"/>
              <a:buChar char="•"/>
            </a:pPr>
            <a:r>
              <a:rPr lang="en-US" sz="1500" dirty="0">
                <a:solidFill>
                  <a:schemeClr val="tx1"/>
                </a:solidFill>
              </a:rPr>
              <a:t>Japan, Italy and Germany expand by force</a:t>
            </a:r>
            <a:endParaRPr lang="en-US" sz="1500" dirty="0"/>
          </a:p>
          <a:p>
            <a:pPr algn="l" marL="190500" indent="-190500">
              <a:spcAft>
                <a:spcPts val="800"/>
              </a:spcAft>
              <a:buSzPct val="100000"/>
              <a:buChar char="•"/>
            </a:pPr>
            <a:r>
              <a:rPr lang="en-US" sz="1500" dirty="0">
                <a:solidFill>
                  <a:schemeClr val="tx1"/>
                </a:solidFill>
              </a:rPr>
              <a:t>League fails; Britain &amp; France appease</a:t>
            </a:r>
            <a:endParaRPr lang="en-US" sz="1500" dirty="0"/>
          </a:p>
          <a:p>
            <a:pPr algn="l" marL="190500" indent="-190500">
              <a:spcAft>
                <a:spcPts val="800"/>
              </a:spcAft>
              <a:buSzPct val="100000"/>
              <a:buChar char="•"/>
            </a:pPr>
            <a:r>
              <a:rPr lang="en-US" sz="1500" dirty="0">
                <a:solidFill>
                  <a:schemeClr val="tx1"/>
                </a:solidFill>
              </a:rPr>
              <a:t>Nazi–Soviet Pact, then war over Poland</a:t>
            </a:r>
            <a:endParaRPr lang="en-US" sz="1500" dirty="0"/>
          </a:p>
        </p:txBody>
      </p:sp>
      <p:sp>
        <p:nvSpPr>
          <p:cNvPr id="19" name="Callout 75"/>
          <p:cNvSpPr/>
          <p:nvPr/>
        </p:nvSpPr>
        <p:spPr>
          <a:xfrm>
            <a:off x="548640" y="5550408"/>
            <a:ext cx="11094415" cy="713232"/>
          </a:xfrm>
          <a:prstGeom prst="roundRect">
            <a:avLst>
              <a:gd name="adj" fmla="val 12821"/>
            </a:avLst>
          </a:prstGeom>
          <a:solidFill>
            <a:schemeClr val="accent4">
              <a:alpha val="20000"/>
            </a:schemeClr>
          </a:solidFill>
          <a:ln/>
        </p:spPr>
      </p:sp>
      <p:sp>
        <p:nvSpPr>
          <p:cNvPr id="20" name="Callout label 76"/>
          <p:cNvSpPr/>
          <p:nvPr/>
        </p:nvSpPr>
        <p:spPr>
          <a:xfrm>
            <a:off x="731520" y="5751576"/>
            <a:ext cx="1068400" cy="310896"/>
          </a:xfrm>
          <a:prstGeom prst="roundRect">
            <a:avLst>
              <a:gd name="adj" fmla="val 50000"/>
            </a:avLst>
          </a:prstGeom>
          <a:solidFill>
            <a:schemeClr val="accent4"/>
          </a:solidFill>
          <a:ln/>
        </p:spPr>
      </p:sp>
      <p:sp>
        <p:nvSpPr>
          <p:cNvPr id="21" name="Text 77"/>
          <p:cNvSpPr txBox="1"/>
          <p:nvPr/>
        </p:nvSpPr>
        <p:spPr>
          <a:xfrm>
            <a:off x="731520" y="5751576"/>
            <a:ext cx="1068400"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STORYLINE</a:t>
            </a:r>
            <a:endParaRPr lang="en-US" sz="1200" dirty="0"/>
          </a:p>
        </p:txBody>
      </p:sp>
      <p:sp>
        <p:nvSpPr>
          <p:cNvPr id="22" name="Text 78"/>
          <p:cNvSpPr txBox="1"/>
          <p:nvPr/>
        </p:nvSpPr>
        <p:spPr>
          <a:xfrm>
            <a:off x="1982800" y="5623560"/>
            <a:ext cx="9477375"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Empires compete → world war → an unpopular peace → cooperation in the 1920s → Depression → extremism → appeasement fails → war in 1939.</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accent1"/>
        </a:solidFill>
      </p:bgPr>
    </p:bg>
    <p:spTree>
      <p:nvGrpSpPr>
        <p:cNvPr id="1" name=""/>
        <p:cNvGrpSpPr/>
        <p:nvPr/>
      </p:nvGrpSpPr>
      <p:grpSpPr>
        <a:xfrm>
          <a:off x="0" y="0"/>
          <a:ext cx="0" cy="0"/>
          <a:chOff x="0" y="0"/>
          <a:chExt cx="0" cy="0"/>
        </a:xfrm>
      </p:grpSpPr>
      <p:sp>
        <p:nvSpPr>
          <p:cNvPr id="2" name="Topic number 79"/>
          <p:cNvSpPr/>
          <p:nvPr/>
        </p:nvSpPr>
        <p:spPr>
          <a:xfrm>
            <a:off x="548640" y="914400"/>
            <a:ext cx="1783080" cy="1783080"/>
          </a:xfrm>
          <a:prstGeom prst="ellipse">
            <a:avLst/>
          </a:prstGeom>
          <a:solidFill>
            <a:schemeClr val="bg1"/>
          </a:solidFill>
          <a:ln/>
        </p:spPr>
      </p:sp>
      <p:sp>
        <p:nvSpPr>
          <p:cNvPr id="3" name="Text 80"/>
          <p:cNvSpPr txBox="1"/>
          <p:nvPr/>
        </p:nvSpPr>
        <p:spPr>
          <a:xfrm>
            <a:off x="548640" y="914400"/>
            <a:ext cx="1783080" cy="1783080"/>
          </a:xfrm>
          <a:prstGeom prst="rect">
            <a:avLst/>
          </a:prstGeom>
          <a:noFill/>
          <a:ln/>
        </p:spPr>
        <p:txBody>
          <a:bodyPr wrap="square" lIns="0" tIns="0" rIns="0" bIns="0" rtlCol="0" anchor="ctr"/>
          <a:lstStyle/>
          <a:p>
            <a:pPr algn="ctr" indent="0" marL="0">
              <a:spcAft>
                <a:spcPts val="600"/>
              </a:spcAft>
              <a:buNone/>
            </a:pPr>
            <a:r>
              <a:rPr lang="en-US" sz="7200" b="1" dirty="0">
                <a:solidFill>
                  <a:schemeClr val="accent1"/>
                </a:solidFill>
                <a:latin typeface="+mj-lt" pitchFamily="34" charset="0"/>
                <a:ea typeface="+mj-lt" pitchFamily="34" charset="-122"/>
                <a:cs typeface="+mj-lt" pitchFamily="34" charset="-120"/>
              </a:rPr>
              <a:t>1</a:t>
            </a:r>
            <a:endParaRPr lang="en-US" sz="7200" dirty="0"/>
          </a:p>
        </p:txBody>
      </p:sp>
      <p:sp>
        <p:nvSpPr>
          <p:cNvPr id="4" name="Text 0"/>
          <p:cNvSpPr/>
          <p:nvPr>
            <p:ph idx="100" type="title" hasCustomPrompt="1"/>
          </p:nvPr>
        </p:nvSpPr>
        <p:spPr>
          <a:xfrm>
            <a:off x="2788920" y="868680"/>
            <a:ext cx="8869680" cy="1737360"/>
          </a:xfrm>
          <a:prstGeom prst="rect">
            <a:avLst/>
          </a:prstGeom>
          <a:noFill/>
          <a:ln/>
        </p:spPr>
        <p:txBody>
          <a:bodyPr wrap="square" lIns="0" tIns="0" rIns="0" bIns="0" rtlCol="0" anchor="ctr"/>
          <a:lstStyle/>
          <a:p>
            <a:pPr algn="l" indent="0" marL="0">
              <a:buNone/>
            </a:pPr>
            <a:r>
              <a:rPr lang="en-US" sz="3400" b="1" dirty="0">
                <a:solidFill>
                  <a:schemeClr val="bg1"/>
                </a:solidFill>
              </a:rPr>
              <a:t>Imperialism and the emergence of world powers, c.1870–1918</a:t>
            </a:r>
            <a:endParaRPr lang="en-US" sz="3400" dirty="0"/>
          </a:p>
        </p:txBody>
      </p:sp>
      <p:sp>
        <p:nvSpPr>
          <p:cNvPr id="5" name="Text 0"/>
          <p:cNvSpPr/>
          <p:nvPr>
            <p:ph idx="101" type="body" hasCustomPrompt="1"/>
          </p:nvPr>
        </p:nvSpPr>
        <p:spPr>
          <a:xfrm>
            <a:off x="2788920" y="2606040"/>
            <a:ext cx="8869680" cy="457200"/>
          </a:xfrm>
          <a:prstGeom prst="rect">
            <a:avLst/>
          </a:prstGeom>
          <a:noFill/>
          <a:ln/>
        </p:spPr>
        <p:txBody>
          <a:bodyPr wrap="square" lIns="0" tIns="0" rIns="0" bIns="0" rtlCol="0" anchor="ctr"/>
          <a:lstStyle/>
          <a:p>
            <a:pPr algn="l" indent="0" marL="0">
              <a:buNone/>
            </a:pPr>
            <a:r>
              <a:rPr lang="en-US" sz="1800" i="1" dirty="0">
                <a:solidFill>
                  <a:schemeClr val="bg1"/>
                </a:solidFill>
              </a:rPr>
              <a:t>Paper 1 · Historical Sources (your source-based topic)</a:t>
            </a:r>
            <a:endParaRPr lang="en-US" sz="1800" dirty="0"/>
          </a:p>
        </p:txBody>
      </p:sp>
      <p:sp>
        <p:nvSpPr>
          <p:cNvPr id="6" name="KQ pill 81"/>
          <p:cNvSpPr/>
          <p:nvPr/>
        </p:nvSpPr>
        <p:spPr>
          <a:xfrm>
            <a:off x="2788920" y="3502152"/>
            <a:ext cx="786384" cy="365760"/>
          </a:xfrm>
          <a:prstGeom prst="roundRect">
            <a:avLst>
              <a:gd name="adj" fmla="val 50000"/>
            </a:avLst>
          </a:prstGeom>
          <a:solidFill>
            <a:schemeClr val="bg1"/>
          </a:solidFill>
          <a:ln/>
        </p:spPr>
      </p:sp>
      <p:sp>
        <p:nvSpPr>
          <p:cNvPr id="7" name="Text 82"/>
          <p:cNvSpPr txBox="1"/>
          <p:nvPr/>
        </p:nvSpPr>
        <p:spPr>
          <a:xfrm>
            <a:off x="2788920" y="350215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1"/>
                </a:solidFill>
              </a:rPr>
              <a:t>KQ1</a:t>
            </a:r>
            <a:endParaRPr lang="en-US" sz="1400" dirty="0"/>
          </a:p>
        </p:txBody>
      </p:sp>
      <p:sp>
        <p:nvSpPr>
          <p:cNvPr id="8" name="Text 83"/>
          <p:cNvSpPr txBox="1"/>
          <p:nvPr/>
        </p:nvSpPr>
        <p:spPr>
          <a:xfrm>
            <a:off x="3749040" y="344728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was imperialism such a powerful force in late-19th-century Europe?</a:t>
            </a:r>
            <a:endParaRPr lang="en-US" sz="1700" dirty="0"/>
          </a:p>
        </p:txBody>
      </p:sp>
      <p:sp>
        <p:nvSpPr>
          <p:cNvPr id="9" name="KQ pill 84"/>
          <p:cNvSpPr/>
          <p:nvPr/>
        </p:nvSpPr>
        <p:spPr>
          <a:xfrm>
            <a:off x="2788920" y="4210812"/>
            <a:ext cx="786384" cy="365760"/>
          </a:xfrm>
          <a:prstGeom prst="roundRect">
            <a:avLst>
              <a:gd name="adj" fmla="val 50000"/>
            </a:avLst>
          </a:prstGeom>
          <a:solidFill>
            <a:schemeClr val="bg1"/>
          </a:solidFill>
          <a:ln/>
        </p:spPr>
      </p:sp>
      <p:sp>
        <p:nvSpPr>
          <p:cNvPr id="10" name="Text 85"/>
          <p:cNvSpPr txBox="1"/>
          <p:nvPr/>
        </p:nvSpPr>
        <p:spPr>
          <a:xfrm>
            <a:off x="2788920" y="421081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1"/>
                </a:solidFill>
              </a:rPr>
              <a:t>KQ2</a:t>
            </a:r>
            <a:endParaRPr lang="en-US" sz="1400" dirty="0"/>
          </a:p>
        </p:txBody>
      </p:sp>
      <p:sp>
        <p:nvSpPr>
          <p:cNvPr id="11" name="Text 86"/>
          <p:cNvSpPr txBox="1"/>
          <p:nvPr/>
        </p:nvSpPr>
        <p:spPr>
          <a:xfrm>
            <a:off x="3749040" y="415594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How did imperial expansion affect relations between the powers?</a:t>
            </a:r>
            <a:endParaRPr lang="en-US" sz="1700" dirty="0"/>
          </a:p>
        </p:txBody>
      </p:sp>
      <p:sp>
        <p:nvSpPr>
          <p:cNvPr id="12" name="KQ pill 87"/>
          <p:cNvSpPr/>
          <p:nvPr/>
        </p:nvSpPr>
        <p:spPr>
          <a:xfrm>
            <a:off x="2788920" y="4919472"/>
            <a:ext cx="786384" cy="365760"/>
          </a:xfrm>
          <a:prstGeom prst="roundRect">
            <a:avLst>
              <a:gd name="adj" fmla="val 50000"/>
            </a:avLst>
          </a:prstGeom>
          <a:solidFill>
            <a:schemeClr val="bg1"/>
          </a:solidFill>
          <a:ln/>
        </p:spPr>
      </p:sp>
      <p:sp>
        <p:nvSpPr>
          <p:cNvPr id="13" name="Text 88"/>
          <p:cNvSpPr txBox="1"/>
          <p:nvPr/>
        </p:nvSpPr>
        <p:spPr>
          <a:xfrm>
            <a:off x="2788920" y="491947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1"/>
                </a:solidFill>
              </a:rPr>
              <a:t>KQ3</a:t>
            </a:r>
            <a:endParaRPr lang="en-US" sz="1400" dirty="0"/>
          </a:p>
        </p:txBody>
      </p:sp>
      <p:sp>
        <p:nvSpPr>
          <p:cNvPr id="14" name="Text 89"/>
          <p:cNvSpPr txBox="1"/>
          <p:nvPr/>
        </p:nvSpPr>
        <p:spPr>
          <a:xfrm>
            <a:off x="3749040" y="486460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did Japan emerge as a world power, and with what impact?</a:t>
            </a:r>
            <a:endParaRPr lang="en-US" sz="1700" dirty="0"/>
          </a:p>
        </p:txBody>
      </p:sp>
      <p:sp>
        <p:nvSpPr>
          <p:cNvPr id="15" name="KQ pill 90"/>
          <p:cNvSpPr/>
          <p:nvPr/>
        </p:nvSpPr>
        <p:spPr>
          <a:xfrm>
            <a:off x="2788920" y="5628132"/>
            <a:ext cx="786384" cy="365760"/>
          </a:xfrm>
          <a:prstGeom prst="roundRect">
            <a:avLst>
              <a:gd name="adj" fmla="val 50000"/>
            </a:avLst>
          </a:prstGeom>
          <a:solidFill>
            <a:schemeClr val="bg1"/>
          </a:solidFill>
          <a:ln/>
        </p:spPr>
      </p:sp>
      <p:sp>
        <p:nvSpPr>
          <p:cNvPr id="16" name="Text 91"/>
          <p:cNvSpPr txBox="1"/>
          <p:nvPr/>
        </p:nvSpPr>
        <p:spPr>
          <a:xfrm>
            <a:off x="2788920" y="562813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1"/>
                </a:solidFill>
              </a:rPr>
              <a:t>KQ4</a:t>
            </a:r>
            <a:endParaRPr lang="en-US" sz="1400" dirty="0"/>
          </a:p>
        </p:txBody>
      </p:sp>
      <p:sp>
        <p:nvSpPr>
          <p:cNvPr id="17" name="Text 92"/>
          <p:cNvSpPr txBox="1"/>
          <p:nvPr/>
        </p:nvSpPr>
        <p:spPr>
          <a:xfrm>
            <a:off x="3749040" y="557326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did the USA emerge as a world power, and with what impact?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9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TIMELINE (1 OF 2)</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dates, 1868–1898</a:t>
            </a:r>
            <a:endParaRPr lang="en-US" sz="3400" dirty="0"/>
          </a:p>
        </p:txBody>
      </p:sp>
      <p:sp>
        <p:nvSpPr>
          <p:cNvPr id="4" name="Connector 94"/>
          <p:cNvSpPr/>
          <p:nvPr/>
        </p:nvSpPr>
        <p:spPr>
          <a:xfrm>
            <a:off x="1152144" y="1856232"/>
            <a:ext cx="0" cy="420624"/>
          </a:xfrm>
          <a:prstGeom prst="line">
            <a:avLst/>
          </a:prstGeom>
          <a:noFill/>
          <a:ln w="15875">
            <a:solidFill>
              <a:schemeClr val="accent1"/>
            </a:solidFill>
            <a:prstDash val="solid"/>
          </a:ln>
        </p:spPr>
      </p:sp>
      <p:sp>
        <p:nvSpPr>
          <p:cNvPr id="5" name="Date pill 95"/>
          <p:cNvSpPr/>
          <p:nvPr/>
        </p:nvSpPr>
        <p:spPr>
          <a:xfrm>
            <a:off x="548640" y="1527048"/>
            <a:ext cx="1207008" cy="329184"/>
          </a:xfrm>
          <a:prstGeom prst="roundRect">
            <a:avLst>
              <a:gd name="adj" fmla="val 50000"/>
            </a:avLst>
          </a:prstGeom>
          <a:solidFill>
            <a:schemeClr val="accent1"/>
          </a:solidFill>
          <a:ln/>
        </p:spPr>
      </p:sp>
      <p:sp>
        <p:nvSpPr>
          <p:cNvPr id="6" name="Text 96"/>
          <p:cNvSpPr txBox="1"/>
          <p:nvPr/>
        </p:nvSpPr>
        <p:spPr>
          <a:xfrm>
            <a:off x="548640" y="152704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1868</a:t>
            </a:r>
            <a:endParaRPr lang="en-US" sz="1300" dirty="0"/>
          </a:p>
        </p:txBody>
      </p:sp>
      <p:sp>
        <p:nvSpPr>
          <p:cNvPr id="7" name="Text 97"/>
          <p:cNvSpPr txBox="1"/>
          <p:nvPr/>
        </p:nvSpPr>
        <p:spPr>
          <a:xfrm>
            <a:off x="1920240" y="1508760"/>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Meiji Restoration</a:t>
            </a:r>
            <a:r>
              <a:rPr lang="en-US" sz="1500" dirty="0">
                <a:solidFill>
                  <a:schemeClr val="tx1"/>
                </a:solidFill>
              </a:rPr>
              <a:t> begins Japan's rapid modernisation</a:t>
            </a:r>
            <a:endParaRPr lang="en-US" sz="1500" dirty="0"/>
          </a:p>
        </p:txBody>
      </p:sp>
      <p:sp>
        <p:nvSpPr>
          <p:cNvPr id="8" name="Connector 98"/>
          <p:cNvSpPr/>
          <p:nvPr/>
        </p:nvSpPr>
        <p:spPr>
          <a:xfrm>
            <a:off x="1152144" y="2606040"/>
            <a:ext cx="0" cy="420624"/>
          </a:xfrm>
          <a:prstGeom prst="line">
            <a:avLst/>
          </a:prstGeom>
          <a:noFill/>
          <a:ln w="15875">
            <a:solidFill>
              <a:schemeClr val="accent1"/>
            </a:solidFill>
            <a:prstDash val="solid"/>
          </a:ln>
        </p:spPr>
      </p:sp>
      <p:sp>
        <p:nvSpPr>
          <p:cNvPr id="9" name="Date pill 99"/>
          <p:cNvSpPr/>
          <p:nvPr/>
        </p:nvSpPr>
        <p:spPr>
          <a:xfrm>
            <a:off x="548640" y="2276856"/>
            <a:ext cx="1207008" cy="329184"/>
          </a:xfrm>
          <a:prstGeom prst="roundRect">
            <a:avLst>
              <a:gd name="adj" fmla="val 50000"/>
            </a:avLst>
          </a:prstGeom>
          <a:solidFill>
            <a:schemeClr val="accent1"/>
          </a:solidFill>
          <a:ln/>
        </p:spPr>
      </p:sp>
      <p:sp>
        <p:nvSpPr>
          <p:cNvPr id="10" name="Text 100"/>
          <p:cNvSpPr txBox="1"/>
          <p:nvPr/>
        </p:nvSpPr>
        <p:spPr>
          <a:xfrm>
            <a:off x="548640" y="2276856"/>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1869</a:t>
            </a:r>
            <a:endParaRPr lang="en-US" sz="1300" dirty="0"/>
          </a:p>
        </p:txBody>
      </p:sp>
      <p:sp>
        <p:nvSpPr>
          <p:cNvPr id="11" name="Text 101"/>
          <p:cNvSpPr txBox="1"/>
          <p:nvPr/>
        </p:nvSpPr>
        <p:spPr>
          <a:xfrm>
            <a:off x="1920240" y="2258568"/>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Suez Canal</a:t>
            </a:r>
            <a:r>
              <a:rPr lang="en-US" sz="1500" dirty="0">
                <a:solidFill>
                  <a:schemeClr val="tx1"/>
                </a:solidFill>
              </a:rPr>
              <a:t> opens — a vital route to India and Asia</a:t>
            </a:r>
            <a:endParaRPr lang="en-US" sz="1500" dirty="0"/>
          </a:p>
        </p:txBody>
      </p:sp>
      <p:sp>
        <p:nvSpPr>
          <p:cNvPr id="12" name="Connector 102"/>
          <p:cNvSpPr/>
          <p:nvPr/>
        </p:nvSpPr>
        <p:spPr>
          <a:xfrm>
            <a:off x="1152144" y="3355848"/>
            <a:ext cx="0" cy="420624"/>
          </a:xfrm>
          <a:prstGeom prst="line">
            <a:avLst/>
          </a:prstGeom>
          <a:noFill/>
          <a:ln w="15875">
            <a:solidFill>
              <a:schemeClr val="accent1"/>
            </a:solidFill>
            <a:prstDash val="solid"/>
          </a:ln>
        </p:spPr>
      </p:sp>
      <p:sp>
        <p:nvSpPr>
          <p:cNvPr id="13" name="Date pill 103"/>
          <p:cNvSpPr/>
          <p:nvPr/>
        </p:nvSpPr>
        <p:spPr>
          <a:xfrm>
            <a:off x="548640" y="3026664"/>
            <a:ext cx="1207008" cy="329184"/>
          </a:xfrm>
          <a:prstGeom prst="roundRect">
            <a:avLst>
              <a:gd name="adj" fmla="val 50000"/>
            </a:avLst>
          </a:prstGeom>
          <a:solidFill>
            <a:schemeClr val="accent1"/>
          </a:solidFill>
          <a:ln/>
        </p:spPr>
      </p:sp>
      <p:sp>
        <p:nvSpPr>
          <p:cNvPr id="14" name="Text 104"/>
          <p:cNvSpPr txBox="1"/>
          <p:nvPr/>
        </p:nvSpPr>
        <p:spPr>
          <a:xfrm>
            <a:off x="548640" y="3026664"/>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1871</a:t>
            </a:r>
            <a:endParaRPr lang="en-US" sz="1300" dirty="0"/>
          </a:p>
        </p:txBody>
      </p:sp>
      <p:sp>
        <p:nvSpPr>
          <p:cNvPr id="15" name="Text 105"/>
          <p:cNvSpPr txBox="1"/>
          <p:nvPr/>
        </p:nvSpPr>
        <p:spPr>
          <a:xfrm>
            <a:off x="1920240" y="3008376"/>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Germany unified</a:t>
            </a:r>
            <a:r>
              <a:rPr lang="en-US" sz="1500" dirty="0">
                <a:solidFill>
                  <a:schemeClr val="tx1"/>
                </a:solidFill>
              </a:rPr>
              <a:t>; France defeated and humiliated</a:t>
            </a:r>
            <a:endParaRPr lang="en-US" sz="1500" dirty="0"/>
          </a:p>
        </p:txBody>
      </p:sp>
      <p:sp>
        <p:nvSpPr>
          <p:cNvPr id="16" name="Connector 106"/>
          <p:cNvSpPr/>
          <p:nvPr/>
        </p:nvSpPr>
        <p:spPr>
          <a:xfrm>
            <a:off x="1152144" y="4105656"/>
            <a:ext cx="0" cy="420624"/>
          </a:xfrm>
          <a:prstGeom prst="line">
            <a:avLst/>
          </a:prstGeom>
          <a:noFill/>
          <a:ln w="15875">
            <a:solidFill>
              <a:schemeClr val="accent1"/>
            </a:solidFill>
            <a:prstDash val="solid"/>
          </a:ln>
        </p:spPr>
      </p:sp>
      <p:sp>
        <p:nvSpPr>
          <p:cNvPr id="17" name="Date pill 107"/>
          <p:cNvSpPr/>
          <p:nvPr/>
        </p:nvSpPr>
        <p:spPr>
          <a:xfrm>
            <a:off x="548640" y="3776472"/>
            <a:ext cx="1207008" cy="329184"/>
          </a:xfrm>
          <a:prstGeom prst="roundRect">
            <a:avLst>
              <a:gd name="adj" fmla="val 50000"/>
            </a:avLst>
          </a:prstGeom>
          <a:solidFill>
            <a:schemeClr val="accent1"/>
          </a:solidFill>
          <a:ln/>
        </p:spPr>
      </p:sp>
      <p:sp>
        <p:nvSpPr>
          <p:cNvPr id="18" name="Text 108"/>
          <p:cNvSpPr txBox="1"/>
          <p:nvPr/>
        </p:nvSpPr>
        <p:spPr>
          <a:xfrm>
            <a:off x="548640" y="3776472"/>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1882</a:t>
            </a:r>
            <a:endParaRPr lang="en-US" sz="1300" dirty="0"/>
          </a:p>
        </p:txBody>
      </p:sp>
      <p:sp>
        <p:nvSpPr>
          <p:cNvPr id="19" name="Text 109"/>
          <p:cNvSpPr txBox="1"/>
          <p:nvPr/>
        </p:nvSpPr>
        <p:spPr>
          <a:xfrm>
            <a:off x="1920240" y="3758184"/>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Britain occupies Egypt</a:t>
            </a:r>
            <a:r>
              <a:rPr lang="en-US" sz="1500" dirty="0">
                <a:solidFill>
                  <a:schemeClr val="tx1"/>
                </a:solidFill>
              </a:rPr>
              <a:t> to protect the Suez Canal</a:t>
            </a:r>
            <a:endParaRPr lang="en-US" sz="1500" dirty="0"/>
          </a:p>
        </p:txBody>
      </p:sp>
      <p:sp>
        <p:nvSpPr>
          <p:cNvPr id="20" name="Date pill 110"/>
          <p:cNvSpPr/>
          <p:nvPr/>
        </p:nvSpPr>
        <p:spPr>
          <a:xfrm>
            <a:off x="548640" y="4526280"/>
            <a:ext cx="1207008" cy="329184"/>
          </a:xfrm>
          <a:prstGeom prst="roundRect">
            <a:avLst>
              <a:gd name="adj" fmla="val 50000"/>
            </a:avLst>
          </a:prstGeom>
          <a:solidFill>
            <a:schemeClr val="accent1"/>
          </a:solidFill>
          <a:ln/>
        </p:spPr>
      </p:sp>
      <p:sp>
        <p:nvSpPr>
          <p:cNvPr id="21" name="Text 111"/>
          <p:cNvSpPr txBox="1"/>
          <p:nvPr/>
        </p:nvSpPr>
        <p:spPr>
          <a:xfrm>
            <a:off x="548640" y="4526280"/>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1884–85</a:t>
            </a:r>
            <a:endParaRPr lang="en-US" sz="1300" dirty="0"/>
          </a:p>
        </p:txBody>
      </p:sp>
      <p:sp>
        <p:nvSpPr>
          <p:cNvPr id="22" name="Text 112"/>
          <p:cNvSpPr txBox="1"/>
          <p:nvPr/>
        </p:nvSpPr>
        <p:spPr>
          <a:xfrm>
            <a:off x="1920240" y="4507992"/>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Berlin Conference</a:t>
            </a:r>
            <a:r>
              <a:rPr lang="en-US" sz="1500" dirty="0">
                <a:solidFill>
                  <a:schemeClr val="tx1"/>
                </a:solidFill>
              </a:rPr>
              <a:t> sets rules for carving up Africa</a:t>
            </a:r>
            <a:endParaRPr lang="en-US" sz="1500" dirty="0"/>
          </a:p>
        </p:txBody>
      </p:sp>
      <p:sp>
        <p:nvSpPr>
          <p:cNvPr id="23" name="Connector 113"/>
          <p:cNvSpPr/>
          <p:nvPr/>
        </p:nvSpPr>
        <p:spPr>
          <a:xfrm>
            <a:off x="6882232" y="1856232"/>
            <a:ext cx="0" cy="420624"/>
          </a:xfrm>
          <a:prstGeom prst="line">
            <a:avLst/>
          </a:prstGeom>
          <a:noFill/>
          <a:ln w="15875">
            <a:solidFill>
              <a:schemeClr val="accent1"/>
            </a:solidFill>
            <a:prstDash val="solid"/>
          </a:ln>
        </p:spPr>
      </p:sp>
      <p:sp>
        <p:nvSpPr>
          <p:cNvPr id="24" name="Date pill 114"/>
          <p:cNvSpPr/>
          <p:nvPr/>
        </p:nvSpPr>
        <p:spPr>
          <a:xfrm>
            <a:off x="6278728" y="1527048"/>
            <a:ext cx="1207008" cy="329184"/>
          </a:xfrm>
          <a:prstGeom prst="roundRect">
            <a:avLst>
              <a:gd name="adj" fmla="val 50000"/>
            </a:avLst>
          </a:prstGeom>
          <a:solidFill>
            <a:schemeClr val="accent1"/>
          </a:solidFill>
          <a:ln/>
        </p:spPr>
      </p:sp>
      <p:sp>
        <p:nvSpPr>
          <p:cNvPr id="25" name="Text 115"/>
          <p:cNvSpPr txBox="1"/>
          <p:nvPr/>
        </p:nvSpPr>
        <p:spPr>
          <a:xfrm>
            <a:off x="6278728" y="152704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1894–95</a:t>
            </a:r>
            <a:endParaRPr lang="en-US" sz="1300" dirty="0"/>
          </a:p>
        </p:txBody>
      </p:sp>
      <p:sp>
        <p:nvSpPr>
          <p:cNvPr id="26" name="Text 116"/>
          <p:cNvSpPr txBox="1"/>
          <p:nvPr/>
        </p:nvSpPr>
        <p:spPr>
          <a:xfrm>
            <a:off x="7650328" y="1508760"/>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Sino-Japanese War</a:t>
            </a:r>
            <a:r>
              <a:rPr lang="en-US" sz="1500" dirty="0">
                <a:solidFill>
                  <a:schemeClr val="tx1"/>
                </a:solidFill>
              </a:rPr>
              <a:t>; China loses Taiwan and Korea</a:t>
            </a:r>
            <a:endParaRPr lang="en-US" sz="1500" dirty="0"/>
          </a:p>
        </p:txBody>
      </p:sp>
      <p:sp>
        <p:nvSpPr>
          <p:cNvPr id="27" name="Connector 117"/>
          <p:cNvSpPr/>
          <p:nvPr/>
        </p:nvSpPr>
        <p:spPr>
          <a:xfrm>
            <a:off x="6882232" y="2606040"/>
            <a:ext cx="0" cy="420624"/>
          </a:xfrm>
          <a:prstGeom prst="line">
            <a:avLst/>
          </a:prstGeom>
          <a:noFill/>
          <a:ln w="15875">
            <a:solidFill>
              <a:schemeClr val="accent1"/>
            </a:solidFill>
            <a:prstDash val="solid"/>
          </a:ln>
        </p:spPr>
      </p:sp>
      <p:sp>
        <p:nvSpPr>
          <p:cNvPr id="28" name="Date pill 118"/>
          <p:cNvSpPr/>
          <p:nvPr/>
        </p:nvSpPr>
        <p:spPr>
          <a:xfrm>
            <a:off x="6278728" y="2276856"/>
            <a:ext cx="1207008" cy="329184"/>
          </a:xfrm>
          <a:prstGeom prst="roundRect">
            <a:avLst>
              <a:gd name="adj" fmla="val 50000"/>
            </a:avLst>
          </a:prstGeom>
          <a:solidFill>
            <a:schemeClr val="accent1"/>
          </a:solidFill>
          <a:ln/>
        </p:spPr>
      </p:sp>
      <p:sp>
        <p:nvSpPr>
          <p:cNvPr id="29" name="Text 119"/>
          <p:cNvSpPr txBox="1"/>
          <p:nvPr/>
        </p:nvSpPr>
        <p:spPr>
          <a:xfrm>
            <a:off x="6278728" y="2276856"/>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1896</a:t>
            </a:r>
            <a:endParaRPr lang="en-US" sz="1300" dirty="0"/>
          </a:p>
        </p:txBody>
      </p:sp>
      <p:sp>
        <p:nvSpPr>
          <p:cNvPr id="30" name="Text 120"/>
          <p:cNvSpPr txBox="1"/>
          <p:nvPr/>
        </p:nvSpPr>
        <p:spPr>
          <a:xfrm>
            <a:off x="7650328" y="2258568"/>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Battle of Adwa</a:t>
            </a:r>
            <a:r>
              <a:rPr lang="en-US" sz="1500" dirty="0">
                <a:solidFill>
                  <a:schemeClr val="tx1"/>
                </a:solidFill>
              </a:rPr>
              <a:t>: Ethiopia defeats Italy</a:t>
            </a:r>
            <a:endParaRPr lang="en-US" sz="1500" dirty="0"/>
          </a:p>
        </p:txBody>
      </p:sp>
      <p:sp>
        <p:nvSpPr>
          <p:cNvPr id="31" name="Connector 121"/>
          <p:cNvSpPr/>
          <p:nvPr/>
        </p:nvSpPr>
        <p:spPr>
          <a:xfrm>
            <a:off x="6882232" y="3355848"/>
            <a:ext cx="0" cy="420624"/>
          </a:xfrm>
          <a:prstGeom prst="line">
            <a:avLst/>
          </a:prstGeom>
          <a:noFill/>
          <a:ln w="15875">
            <a:solidFill>
              <a:schemeClr val="accent1"/>
            </a:solidFill>
            <a:prstDash val="solid"/>
          </a:ln>
        </p:spPr>
      </p:sp>
      <p:sp>
        <p:nvSpPr>
          <p:cNvPr id="32" name="Date pill 122"/>
          <p:cNvSpPr/>
          <p:nvPr/>
        </p:nvSpPr>
        <p:spPr>
          <a:xfrm>
            <a:off x="6278728" y="3026664"/>
            <a:ext cx="1207008" cy="329184"/>
          </a:xfrm>
          <a:prstGeom prst="roundRect">
            <a:avLst>
              <a:gd name="adj" fmla="val 50000"/>
            </a:avLst>
          </a:prstGeom>
          <a:solidFill>
            <a:schemeClr val="accent1"/>
          </a:solidFill>
          <a:ln/>
        </p:spPr>
      </p:sp>
      <p:sp>
        <p:nvSpPr>
          <p:cNvPr id="33" name="Text 123"/>
          <p:cNvSpPr txBox="1"/>
          <p:nvPr/>
        </p:nvSpPr>
        <p:spPr>
          <a:xfrm>
            <a:off x="6278728" y="3026664"/>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1897–98</a:t>
            </a:r>
            <a:endParaRPr lang="en-US" sz="1300" dirty="0"/>
          </a:p>
        </p:txBody>
      </p:sp>
      <p:sp>
        <p:nvSpPr>
          <p:cNvPr id="34" name="Text 124"/>
          <p:cNvSpPr txBox="1"/>
          <p:nvPr/>
        </p:nvSpPr>
        <p:spPr>
          <a:xfrm>
            <a:off x="7650328" y="3008376"/>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Scramble for concessions</a:t>
            </a:r>
            <a:r>
              <a:rPr lang="en-US" sz="1500" dirty="0">
                <a:solidFill>
                  <a:schemeClr val="tx1"/>
                </a:solidFill>
              </a:rPr>
              <a:t> in China begins</a:t>
            </a:r>
            <a:endParaRPr lang="en-US" sz="1500" dirty="0"/>
          </a:p>
        </p:txBody>
      </p:sp>
      <p:sp>
        <p:nvSpPr>
          <p:cNvPr id="35" name="Connector 125"/>
          <p:cNvSpPr/>
          <p:nvPr/>
        </p:nvSpPr>
        <p:spPr>
          <a:xfrm>
            <a:off x="6882232" y="4105656"/>
            <a:ext cx="0" cy="420624"/>
          </a:xfrm>
          <a:prstGeom prst="line">
            <a:avLst/>
          </a:prstGeom>
          <a:noFill/>
          <a:ln w="15875">
            <a:solidFill>
              <a:schemeClr val="accent1"/>
            </a:solidFill>
            <a:prstDash val="solid"/>
          </a:ln>
        </p:spPr>
      </p:sp>
      <p:sp>
        <p:nvSpPr>
          <p:cNvPr id="36" name="Date pill 126"/>
          <p:cNvSpPr/>
          <p:nvPr/>
        </p:nvSpPr>
        <p:spPr>
          <a:xfrm>
            <a:off x="6278728" y="3776472"/>
            <a:ext cx="1207008" cy="329184"/>
          </a:xfrm>
          <a:prstGeom prst="roundRect">
            <a:avLst>
              <a:gd name="adj" fmla="val 50000"/>
            </a:avLst>
          </a:prstGeom>
          <a:solidFill>
            <a:schemeClr val="accent1"/>
          </a:solidFill>
          <a:ln/>
        </p:spPr>
      </p:sp>
      <p:sp>
        <p:nvSpPr>
          <p:cNvPr id="37" name="Text 127"/>
          <p:cNvSpPr txBox="1"/>
          <p:nvPr/>
        </p:nvSpPr>
        <p:spPr>
          <a:xfrm>
            <a:off x="6278728" y="3776472"/>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1898</a:t>
            </a:r>
            <a:endParaRPr lang="en-US" sz="1300" dirty="0"/>
          </a:p>
        </p:txBody>
      </p:sp>
      <p:sp>
        <p:nvSpPr>
          <p:cNvPr id="38" name="Text 128"/>
          <p:cNvSpPr txBox="1"/>
          <p:nvPr/>
        </p:nvSpPr>
        <p:spPr>
          <a:xfrm>
            <a:off x="7650328" y="3758184"/>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Fashoda Crisis</a:t>
            </a:r>
            <a:r>
              <a:rPr lang="en-US" sz="1500" dirty="0">
                <a:solidFill>
                  <a:schemeClr val="tx1"/>
                </a:solidFill>
              </a:rPr>
              <a:t>; </a:t>
            </a:r>
            <a:r>
              <a:rPr lang="en-US" sz="1500" b="1" dirty="0">
                <a:solidFill>
                  <a:schemeClr val="tx1"/>
                </a:solidFill>
              </a:rPr>
              <a:t>Spanish–American War</a:t>
            </a:r>
            <a:r>
              <a:rPr lang="en-US" sz="1500" dirty="0">
                <a:solidFill>
                  <a:schemeClr val="tx1"/>
                </a:solidFill>
              </a:rPr>
              <a:t>; USA annexes Hawaii</a:t>
            </a:r>
            <a:endParaRPr lang="en-US" sz="1500" dirty="0"/>
          </a:p>
        </p:txBody>
      </p:sp>
      <p:sp>
        <p:nvSpPr>
          <p:cNvPr id="39" name="Date pill 129"/>
          <p:cNvSpPr/>
          <p:nvPr/>
        </p:nvSpPr>
        <p:spPr>
          <a:xfrm>
            <a:off x="6278728" y="4526280"/>
            <a:ext cx="1207008" cy="329184"/>
          </a:xfrm>
          <a:prstGeom prst="roundRect">
            <a:avLst>
              <a:gd name="adj" fmla="val 50000"/>
            </a:avLst>
          </a:prstGeom>
          <a:solidFill>
            <a:schemeClr val="accent1"/>
          </a:solidFill>
          <a:ln/>
        </p:spPr>
      </p:sp>
      <p:sp>
        <p:nvSpPr>
          <p:cNvPr id="40" name="Text 130"/>
          <p:cNvSpPr txBox="1"/>
          <p:nvPr/>
        </p:nvSpPr>
        <p:spPr>
          <a:xfrm>
            <a:off x="6278728" y="4526280"/>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1898</a:t>
            </a:r>
            <a:endParaRPr lang="en-US" sz="1300" dirty="0"/>
          </a:p>
        </p:txBody>
      </p:sp>
      <p:sp>
        <p:nvSpPr>
          <p:cNvPr id="41" name="Text 131"/>
          <p:cNvSpPr txBox="1"/>
          <p:nvPr/>
        </p:nvSpPr>
        <p:spPr>
          <a:xfrm>
            <a:off x="7650328" y="4507992"/>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Omdurman</a:t>
            </a:r>
            <a:r>
              <a:rPr lang="en-US" sz="1500" dirty="0">
                <a:solidFill>
                  <a:schemeClr val="tx1"/>
                </a:solidFill>
              </a:rPr>
              <a:t>: Britain reconquers Sudan with Maxim guns</a:t>
            </a:r>
            <a:endParaRPr lang="en-US" sz="1500" dirty="0"/>
          </a:p>
        </p:txBody>
      </p:sp>
      <p:sp>
        <p:nvSpPr>
          <p:cNvPr id="42" name="Callout 132"/>
          <p:cNvSpPr/>
          <p:nvPr/>
        </p:nvSpPr>
        <p:spPr>
          <a:xfrm>
            <a:off x="548640" y="5550408"/>
            <a:ext cx="11094415" cy="713232"/>
          </a:xfrm>
          <a:prstGeom prst="roundRect">
            <a:avLst>
              <a:gd name="adj" fmla="val 12821"/>
            </a:avLst>
          </a:prstGeom>
          <a:solidFill>
            <a:schemeClr val="accent4">
              <a:alpha val="20000"/>
            </a:schemeClr>
          </a:solidFill>
          <a:ln/>
        </p:spPr>
      </p:sp>
      <p:sp>
        <p:nvSpPr>
          <p:cNvPr id="43" name="Callout label 133"/>
          <p:cNvSpPr/>
          <p:nvPr/>
        </p:nvSpPr>
        <p:spPr>
          <a:xfrm>
            <a:off x="731520" y="5751576"/>
            <a:ext cx="1190135" cy="310896"/>
          </a:xfrm>
          <a:prstGeom prst="roundRect">
            <a:avLst>
              <a:gd name="adj" fmla="val 50000"/>
            </a:avLst>
          </a:prstGeom>
          <a:solidFill>
            <a:schemeClr val="accent4"/>
          </a:solidFill>
          <a:ln/>
        </p:spPr>
      </p:sp>
      <p:sp>
        <p:nvSpPr>
          <p:cNvPr id="44" name="Text 134"/>
          <p:cNvSpPr txBox="1"/>
          <p:nvPr/>
        </p:nvSpPr>
        <p:spPr>
          <a:xfrm>
            <a:off x="731520" y="5751576"/>
            <a:ext cx="1190135"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BIG PICTURE</a:t>
            </a:r>
            <a:endParaRPr lang="en-US" sz="1200" dirty="0"/>
          </a:p>
        </p:txBody>
      </p:sp>
      <p:sp>
        <p:nvSpPr>
          <p:cNvPr id="45" name="Text 135"/>
          <p:cNvSpPr txBox="1"/>
          <p:nvPr/>
        </p:nvSpPr>
        <p:spPr>
          <a:xfrm>
            <a:off x="2104535" y="5623560"/>
            <a:ext cx="9355640"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Most of Africa was seized in just 20 years (c.1880–1900) — while Japan and the USA rose as new imperial powers.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13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TIMELINE (2 OF 2)</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dates, 1899–1918</a:t>
            </a:r>
            <a:endParaRPr lang="en-US" sz="3400" dirty="0"/>
          </a:p>
        </p:txBody>
      </p:sp>
      <p:sp>
        <p:nvSpPr>
          <p:cNvPr id="4" name="Connector 137"/>
          <p:cNvSpPr/>
          <p:nvPr/>
        </p:nvSpPr>
        <p:spPr>
          <a:xfrm>
            <a:off x="1152144" y="1856232"/>
            <a:ext cx="0" cy="420624"/>
          </a:xfrm>
          <a:prstGeom prst="line">
            <a:avLst/>
          </a:prstGeom>
          <a:noFill/>
          <a:ln w="15875">
            <a:solidFill>
              <a:schemeClr val="accent1"/>
            </a:solidFill>
            <a:prstDash val="solid"/>
          </a:ln>
        </p:spPr>
      </p:sp>
      <p:sp>
        <p:nvSpPr>
          <p:cNvPr id="5" name="Date pill 138"/>
          <p:cNvSpPr/>
          <p:nvPr/>
        </p:nvSpPr>
        <p:spPr>
          <a:xfrm>
            <a:off x="548640" y="1527048"/>
            <a:ext cx="1207008" cy="329184"/>
          </a:xfrm>
          <a:prstGeom prst="roundRect">
            <a:avLst>
              <a:gd name="adj" fmla="val 50000"/>
            </a:avLst>
          </a:prstGeom>
          <a:solidFill>
            <a:schemeClr val="accent1"/>
          </a:solidFill>
          <a:ln/>
        </p:spPr>
      </p:sp>
      <p:sp>
        <p:nvSpPr>
          <p:cNvPr id="6" name="Text 139"/>
          <p:cNvSpPr txBox="1"/>
          <p:nvPr/>
        </p:nvSpPr>
        <p:spPr>
          <a:xfrm>
            <a:off x="548640" y="152704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1899</a:t>
            </a:r>
            <a:endParaRPr lang="en-US" sz="1300" dirty="0"/>
          </a:p>
        </p:txBody>
      </p:sp>
      <p:sp>
        <p:nvSpPr>
          <p:cNvPr id="7" name="Text 140"/>
          <p:cNvSpPr txBox="1"/>
          <p:nvPr/>
        </p:nvSpPr>
        <p:spPr>
          <a:xfrm>
            <a:off x="1920240" y="1508760"/>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Open Door Notes</a:t>
            </a:r>
            <a:r>
              <a:rPr lang="en-US" sz="1500" dirty="0">
                <a:solidFill>
                  <a:schemeClr val="tx1"/>
                </a:solidFill>
              </a:rPr>
              <a:t> (USA); </a:t>
            </a:r>
            <a:r>
              <a:rPr lang="en-US" sz="1500" b="1" dirty="0">
                <a:solidFill>
                  <a:schemeClr val="tx1"/>
                </a:solidFill>
              </a:rPr>
              <a:t>Boer War</a:t>
            </a:r>
            <a:r>
              <a:rPr lang="en-US" sz="1500" dirty="0">
                <a:solidFill>
                  <a:schemeClr val="tx1"/>
                </a:solidFill>
              </a:rPr>
              <a:t> begins (to 1902)</a:t>
            </a:r>
            <a:endParaRPr lang="en-US" sz="1500" dirty="0"/>
          </a:p>
        </p:txBody>
      </p:sp>
      <p:sp>
        <p:nvSpPr>
          <p:cNvPr id="8" name="Connector 141"/>
          <p:cNvSpPr/>
          <p:nvPr/>
        </p:nvSpPr>
        <p:spPr>
          <a:xfrm>
            <a:off x="1152144" y="2606040"/>
            <a:ext cx="0" cy="420624"/>
          </a:xfrm>
          <a:prstGeom prst="line">
            <a:avLst/>
          </a:prstGeom>
          <a:noFill/>
          <a:ln w="15875">
            <a:solidFill>
              <a:schemeClr val="accent1"/>
            </a:solidFill>
            <a:prstDash val="solid"/>
          </a:ln>
        </p:spPr>
      </p:sp>
      <p:sp>
        <p:nvSpPr>
          <p:cNvPr id="9" name="Date pill 142"/>
          <p:cNvSpPr/>
          <p:nvPr/>
        </p:nvSpPr>
        <p:spPr>
          <a:xfrm>
            <a:off x="548640" y="2276856"/>
            <a:ext cx="1207008" cy="329184"/>
          </a:xfrm>
          <a:prstGeom prst="roundRect">
            <a:avLst>
              <a:gd name="adj" fmla="val 50000"/>
            </a:avLst>
          </a:prstGeom>
          <a:solidFill>
            <a:schemeClr val="accent1"/>
          </a:solidFill>
          <a:ln/>
        </p:spPr>
      </p:sp>
      <p:sp>
        <p:nvSpPr>
          <p:cNvPr id="10" name="Text 143"/>
          <p:cNvSpPr txBox="1"/>
          <p:nvPr/>
        </p:nvSpPr>
        <p:spPr>
          <a:xfrm>
            <a:off x="548640" y="2276856"/>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1900</a:t>
            </a:r>
            <a:endParaRPr lang="en-US" sz="1300" dirty="0"/>
          </a:p>
        </p:txBody>
      </p:sp>
      <p:sp>
        <p:nvSpPr>
          <p:cNvPr id="11" name="Text 144"/>
          <p:cNvSpPr txBox="1"/>
          <p:nvPr/>
        </p:nvSpPr>
        <p:spPr>
          <a:xfrm>
            <a:off x="1920240" y="2258568"/>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Boxer Rebellion</a:t>
            </a:r>
            <a:r>
              <a:rPr lang="en-US" sz="1500" dirty="0">
                <a:solidFill>
                  <a:schemeClr val="tx1"/>
                </a:solidFill>
              </a:rPr>
              <a:t>: siege of the Beijing legations</a:t>
            </a:r>
            <a:endParaRPr lang="en-US" sz="1500" dirty="0"/>
          </a:p>
        </p:txBody>
      </p:sp>
      <p:sp>
        <p:nvSpPr>
          <p:cNvPr id="12" name="Connector 145"/>
          <p:cNvSpPr/>
          <p:nvPr/>
        </p:nvSpPr>
        <p:spPr>
          <a:xfrm>
            <a:off x="1152144" y="3355848"/>
            <a:ext cx="0" cy="420624"/>
          </a:xfrm>
          <a:prstGeom prst="line">
            <a:avLst/>
          </a:prstGeom>
          <a:noFill/>
          <a:ln w="15875">
            <a:solidFill>
              <a:schemeClr val="accent1"/>
            </a:solidFill>
            <a:prstDash val="solid"/>
          </a:ln>
        </p:spPr>
      </p:sp>
      <p:sp>
        <p:nvSpPr>
          <p:cNvPr id="13" name="Date pill 146"/>
          <p:cNvSpPr/>
          <p:nvPr/>
        </p:nvSpPr>
        <p:spPr>
          <a:xfrm>
            <a:off x="548640" y="3026664"/>
            <a:ext cx="1207008" cy="329184"/>
          </a:xfrm>
          <a:prstGeom prst="roundRect">
            <a:avLst>
              <a:gd name="adj" fmla="val 50000"/>
            </a:avLst>
          </a:prstGeom>
          <a:solidFill>
            <a:schemeClr val="accent1"/>
          </a:solidFill>
          <a:ln/>
        </p:spPr>
      </p:sp>
      <p:sp>
        <p:nvSpPr>
          <p:cNvPr id="14" name="Text 147"/>
          <p:cNvSpPr txBox="1"/>
          <p:nvPr/>
        </p:nvSpPr>
        <p:spPr>
          <a:xfrm>
            <a:off x="548640" y="3026664"/>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1902</a:t>
            </a:r>
            <a:endParaRPr lang="en-US" sz="1300" dirty="0"/>
          </a:p>
        </p:txBody>
      </p:sp>
      <p:sp>
        <p:nvSpPr>
          <p:cNvPr id="15" name="Text 148"/>
          <p:cNvSpPr txBox="1"/>
          <p:nvPr/>
        </p:nvSpPr>
        <p:spPr>
          <a:xfrm>
            <a:off x="1920240" y="3008376"/>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Anglo-Japanese Alliance</a:t>
            </a:r>
            <a:r>
              <a:rPr lang="en-US" sz="1500" dirty="0">
                <a:solidFill>
                  <a:schemeClr val="tx1"/>
                </a:solidFill>
              </a:rPr>
              <a:t> ends British isolation</a:t>
            </a:r>
            <a:endParaRPr lang="en-US" sz="1500" dirty="0"/>
          </a:p>
        </p:txBody>
      </p:sp>
      <p:sp>
        <p:nvSpPr>
          <p:cNvPr id="16" name="Connector 149"/>
          <p:cNvSpPr/>
          <p:nvPr/>
        </p:nvSpPr>
        <p:spPr>
          <a:xfrm>
            <a:off x="1152144" y="4105656"/>
            <a:ext cx="0" cy="420624"/>
          </a:xfrm>
          <a:prstGeom prst="line">
            <a:avLst/>
          </a:prstGeom>
          <a:noFill/>
          <a:ln w="15875">
            <a:solidFill>
              <a:schemeClr val="accent1"/>
            </a:solidFill>
            <a:prstDash val="solid"/>
          </a:ln>
        </p:spPr>
      </p:sp>
      <p:sp>
        <p:nvSpPr>
          <p:cNvPr id="17" name="Date pill 150"/>
          <p:cNvSpPr/>
          <p:nvPr/>
        </p:nvSpPr>
        <p:spPr>
          <a:xfrm>
            <a:off x="548640" y="3776472"/>
            <a:ext cx="1207008" cy="329184"/>
          </a:xfrm>
          <a:prstGeom prst="roundRect">
            <a:avLst>
              <a:gd name="adj" fmla="val 50000"/>
            </a:avLst>
          </a:prstGeom>
          <a:solidFill>
            <a:schemeClr val="accent1"/>
          </a:solidFill>
          <a:ln/>
        </p:spPr>
      </p:sp>
      <p:sp>
        <p:nvSpPr>
          <p:cNvPr id="18" name="Text 151"/>
          <p:cNvSpPr txBox="1"/>
          <p:nvPr/>
        </p:nvSpPr>
        <p:spPr>
          <a:xfrm>
            <a:off x="548640" y="3776472"/>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1904</a:t>
            </a:r>
            <a:endParaRPr lang="en-US" sz="1300" dirty="0"/>
          </a:p>
        </p:txBody>
      </p:sp>
      <p:sp>
        <p:nvSpPr>
          <p:cNvPr id="19" name="Text 152"/>
          <p:cNvSpPr txBox="1"/>
          <p:nvPr/>
        </p:nvSpPr>
        <p:spPr>
          <a:xfrm>
            <a:off x="1920240" y="3758184"/>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Entente Cordiale</a:t>
            </a:r>
            <a:r>
              <a:rPr lang="en-US" sz="1500" dirty="0">
                <a:solidFill>
                  <a:schemeClr val="tx1"/>
                </a:solidFill>
              </a:rPr>
              <a:t>; </a:t>
            </a:r>
            <a:r>
              <a:rPr lang="en-US" sz="1500" b="1" dirty="0">
                <a:solidFill>
                  <a:schemeClr val="tx1"/>
                </a:solidFill>
              </a:rPr>
              <a:t>Roosevelt Corollary</a:t>
            </a:r>
            <a:endParaRPr lang="en-US" sz="1500" dirty="0"/>
          </a:p>
        </p:txBody>
      </p:sp>
      <p:sp>
        <p:nvSpPr>
          <p:cNvPr id="20" name="Date pill 153"/>
          <p:cNvSpPr/>
          <p:nvPr/>
        </p:nvSpPr>
        <p:spPr>
          <a:xfrm>
            <a:off x="548640" y="4526280"/>
            <a:ext cx="1207008" cy="329184"/>
          </a:xfrm>
          <a:prstGeom prst="roundRect">
            <a:avLst>
              <a:gd name="adj" fmla="val 50000"/>
            </a:avLst>
          </a:prstGeom>
          <a:solidFill>
            <a:schemeClr val="accent1"/>
          </a:solidFill>
          <a:ln/>
        </p:spPr>
      </p:sp>
      <p:sp>
        <p:nvSpPr>
          <p:cNvPr id="21" name="Text 154"/>
          <p:cNvSpPr txBox="1"/>
          <p:nvPr/>
        </p:nvSpPr>
        <p:spPr>
          <a:xfrm>
            <a:off x="548640" y="4526280"/>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1904–05</a:t>
            </a:r>
            <a:endParaRPr lang="en-US" sz="1300" dirty="0"/>
          </a:p>
        </p:txBody>
      </p:sp>
      <p:sp>
        <p:nvSpPr>
          <p:cNvPr id="22" name="Text 155"/>
          <p:cNvSpPr txBox="1"/>
          <p:nvPr/>
        </p:nvSpPr>
        <p:spPr>
          <a:xfrm>
            <a:off x="1920240" y="4507992"/>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Russo-Japanese War</a:t>
            </a:r>
            <a:r>
              <a:rPr lang="en-US" sz="1500" dirty="0">
                <a:solidFill>
                  <a:schemeClr val="tx1"/>
                </a:solidFill>
              </a:rPr>
              <a:t>; Treaty of Portsmouth</a:t>
            </a:r>
            <a:endParaRPr lang="en-US" sz="1500" dirty="0"/>
          </a:p>
        </p:txBody>
      </p:sp>
      <p:sp>
        <p:nvSpPr>
          <p:cNvPr id="23" name="Connector 156"/>
          <p:cNvSpPr/>
          <p:nvPr/>
        </p:nvSpPr>
        <p:spPr>
          <a:xfrm>
            <a:off x="6882232" y="1856232"/>
            <a:ext cx="0" cy="420624"/>
          </a:xfrm>
          <a:prstGeom prst="line">
            <a:avLst/>
          </a:prstGeom>
          <a:noFill/>
          <a:ln w="15875">
            <a:solidFill>
              <a:schemeClr val="accent1"/>
            </a:solidFill>
            <a:prstDash val="solid"/>
          </a:ln>
        </p:spPr>
      </p:sp>
      <p:sp>
        <p:nvSpPr>
          <p:cNvPr id="24" name="Date pill 157"/>
          <p:cNvSpPr/>
          <p:nvPr/>
        </p:nvSpPr>
        <p:spPr>
          <a:xfrm>
            <a:off x="6278728" y="1527048"/>
            <a:ext cx="1207008" cy="329184"/>
          </a:xfrm>
          <a:prstGeom prst="roundRect">
            <a:avLst>
              <a:gd name="adj" fmla="val 50000"/>
            </a:avLst>
          </a:prstGeom>
          <a:solidFill>
            <a:schemeClr val="accent1"/>
          </a:solidFill>
          <a:ln/>
        </p:spPr>
      </p:sp>
      <p:sp>
        <p:nvSpPr>
          <p:cNvPr id="25" name="Text 158"/>
          <p:cNvSpPr txBox="1"/>
          <p:nvPr/>
        </p:nvSpPr>
        <p:spPr>
          <a:xfrm>
            <a:off x="6278728" y="152704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1905–06</a:t>
            </a:r>
            <a:endParaRPr lang="en-US" sz="1300" dirty="0"/>
          </a:p>
        </p:txBody>
      </p:sp>
      <p:sp>
        <p:nvSpPr>
          <p:cNvPr id="26" name="Text 159"/>
          <p:cNvSpPr txBox="1"/>
          <p:nvPr/>
        </p:nvSpPr>
        <p:spPr>
          <a:xfrm>
            <a:off x="7650328" y="1508760"/>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First Moroccan Crisis</a:t>
            </a:r>
            <a:r>
              <a:rPr lang="en-US" sz="1500" dirty="0">
                <a:solidFill>
                  <a:schemeClr val="tx1"/>
                </a:solidFill>
              </a:rPr>
              <a:t>; Algeciras Conference</a:t>
            </a:r>
            <a:endParaRPr lang="en-US" sz="1500" dirty="0"/>
          </a:p>
        </p:txBody>
      </p:sp>
      <p:sp>
        <p:nvSpPr>
          <p:cNvPr id="27" name="Connector 160"/>
          <p:cNvSpPr/>
          <p:nvPr/>
        </p:nvSpPr>
        <p:spPr>
          <a:xfrm>
            <a:off x="6882232" y="2606040"/>
            <a:ext cx="0" cy="420624"/>
          </a:xfrm>
          <a:prstGeom prst="line">
            <a:avLst/>
          </a:prstGeom>
          <a:noFill/>
          <a:ln w="15875">
            <a:solidFill>
              <a:schemeClr val="accent1"/>
            </a:solidFill>
            <a:prstDash val="solid"/>
          </a:ln>
        </p:spPr>
      </p:sp>
      <p:sp>
        <p:nvSpPr>
          <p:cNvPr id="28" name="Date pill 161"/>
          <p:cNvSpPr/>
          <p:nvPr/>
        </p:nvSpPr>
        <p:spPr>
          <a:xfrm>
            <a:off x="6278728" y="2276856"/>
            <a:ext cx="1207008" cy="329184"/>
          </a:xfrm>
          <a:prstGeom prst="roundRect">
            <a:avLst>
              <a:gd name="adj" fmla="val 50000"/>
            </a:avLst>
          </a:prstGeom>
          <a:solidFill>
            <a:schemeClr val="accent1"/>
          </a:solidFill>
          <a:ln/>
        </p:spPr>
      </p:sp>
      <p:sp>
        <p:nvSpPr>
          <p:cNvPr id="29" name="Text 162"/>
          <p:cNvSpPr txBox="1"/>
          <p:nvPr/>
        </p:nvSpPr>
        <p:spPr>
          <a:xfrm>
            <a:off x="6278728" y="2276856"/>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1907</a:t>
            </a:r>
            <a:endParaRPr lang="en-US" sz="1300" dirty="0"/>
          </a:p>
        </p:txBody>
      </p:sp>
      <p:sp>
        <p:nvSpPr>
          <p:cNvPr id="30" name="Text 163"/>
          <p:cNvSpPr txBox="1"/>
          <p:nvPr/>
        </p:nvSpPr>
        <p:spPr>
          <a:xfrm>
            <a:off x="7650328" y="2258568"/>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Anglo-Russian Convention</a:t>
            </a:r>
            <a:r>
              <a:rPr lang="en-US" sz="1500" dirty="0">
                <a:solidFill>
                  <a:schemeClr val="tx1"/>
                </a:solidFill>
              </a:rPr>
              <a:t> completes the Triple Entente</a:t>
            </a:r>
            <a:endParaRPr lang="en-US" sz="1500" dirty="0"/>
          </a:p>
        </p:txBody>
      </p:sp>
      <p:sp>
        <p:nvSpPr>
          <p:cNvPr id="31" name="Connector 164"/>
          <p:cNvSpPr/>
          <p:nvPr/>
        </p:nvSpPr>
        <p:spPr>
          <a:xfrm>
            <a:off x="6882232" y="3355848"/>
            <a:ext cx="0" cy="420624"/>
          </a:xfrm>
          <a:prstGeom prst="line">
            <a:avLst/>
          </a:prstGeom>
          <a:noFill/>
          <a:ln w="15875">
            <a:solidFill>
              <a:schemeClr val="accent1"/>
            </a:solidFill>
            <a:prstDash val="solid"/>
          </a:ln>
        </p:spPr>
      </p:sp>
      <p:sp>
        <p:nvSpPr>
          <p:cNvPr id="32" name="Date pill 165"/>
          <p:cNvSpPr/>
          <p:nvPr/>
        </p:nvSpPr>
        <p:spPr>
          <a:xfrm>
            <a:off x="6278728" y="3026664"/>
            <a:ext cx="1207008" cy="329184"/>
          </a:xfrm>
          <a:prstGeom prst="roundRect">
            <a:avLst>
              <a:gd name="adj" fmla="val 50000"/>
            </a:avLst>
          </a:prstGeom>
          <a:solidFill>
            <a:schemeClr val="accent1"/>
          </a:solidFill>
          <a:ln/>
        </p:spPr>
      </p:sp>
      <p:sp>
        <p:nvSpPr>
          <p:cNvPr id="33" name="Text 166"/>
          <p:cNvSpPr txBox="1"/>
          <p:nvPr/>
        </p:nvSpPr>
        <p:spPr>
          <a:xfrm>
            <a:off x="6278728" y="3026664"/>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1910–11</a:t>
            </a:r>
            <a:endParaRPr lang="en-US" sz="1300" dirty="0"/>
          </a:p>
        </p:txBody>
      </p:sp>
      <p:sp>
        <p:nvSpPr>
          <p:cNvPr id="34" name="Text 167"/>
          <p:cNvSpPr txBox="1"/>
          <p:nvPr/>
        </p:nvSpPr>
        <p:spPr>
          <a:xfrm>
            <a:off x="7650328" y="3008376"/>
            <a:ext cx="3992728" cy="71323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Japan </a:t>
            </a:r>
            <a:r>
              <a:rPr lang="en-US" sz="1500" b="1" dirty="0">
                <a:solidFill>
                  <a:schemeClr val="tx1"/>
                </a:solidFill>
              </a:rPr>
              <a:t>annexes Korea</a:t>
            </a:r>
            <a:r>
              <a:rPr lang="en-US" sz="1500" dirty="0">
                <a:solidFill>
                  <a:schemeClr val="tx1"/>
                </a:solidFill>
              </a:rPr>
              <a:t>; </a:t>
            </a:r>
            <a:r>
              <a:rPr lang="en-US" sz="1500" b="1" dirty="0">
                <a:solidFill>
                  <a:schemeClr val="tx1"/>
                </a:solidFill>
              </a:rPr>
              <a:t>Agadir Crisis</a:t>
            </a:r>
            <a:r>
              <a:rPr lang="en-US" sz="1500" dirty="0">
                <a:solidFill>
                  <a:schemeClr val="tx1"/>
                </a:solidFill>
              </a:rPr>
              <a:t>; revolution in China</a:t>
            </a:r>
            <a:endParaRPr lang="en-US" sz="1500" dirty="0"/>
          </a:p>
        </p:txBody>
      </p:sp>
      <p:sp>
        <p:nvSpPr>
          <p:cNvPr id="35" name="Connector 168"/>
          <p:cNvSpPr/>
          <p:nvPr/>
        </p:nvSpPr>
        <p:spPr>
          <a:xfrm>
            <a:off x="6882232" y="4105656"/>
            <a:ext cx="0" cy="420624"/>
          </a:xfrm>
          <a:prstGeom prst="line">
            <a:avLst/>
          </a:prstGeom>
          <a:noFill/>
          <a:ln w="15875">
            <a:solidFill>
              <a:schemeClr val="accent1"/>
            </a:solidFill>
            <a:prstDash val="solid"/>
          </a:ln>
        </p:spPr>
      </p:sp>
      <p:sp>
        <p:nvSpPr>
          <p:cNvPr id="36" name="Date pill 169"/>
          <p:cNvSpPr/>
          <p:nvPr/>
        </p:nvSpPr>
        <p:spPr>
          <a:xfrm>
            <a:off x="6278728" y="3776472"/>
            <a:ext cx="1207008" cy="329184"/>
          </a:xfrm>
          <a:prstGeom prst="roundRect">
            <a:avLst>
              <a:gd name="adj" fmla="val 50000"/>
            </a:avLst>
          </a:prstGeom>
          <a:solidFill>
            <a:schemeClr val="accent1"/>
          </a:solidFill>
          <a:ln/>
        </p:spPr>
      </p:sp>
      <p:sp>
        <p:nvSpPr>
          <p:cNvPr id="37" name="Text 170"/>
          <p:cNvSpPr txBox="1"/>
          <p:nvPr/>
        </p:nvSpPr>
        <p:spPr>
          <a:xfrm>
            <a:off x="6278728" y="3776472"/>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1914–15</a:t>
            </a:r>
            <a:endParaRPr lang="en-US" sz="1300" dirty="0"/>
          </a:p>
        </p:txBody>
      </p:sp>
      <p:sp>
        <p:nvSpPr>
          <p:cNvPr id="38" name="Text 171"/>
          <p:cNvSpPr txBox="1"/>
          <p:nvPr/>
        </p:nvSpPr>
        <p:spPr>
          <a:xfrm>
            <a:off x="7650328" y="3758184"/>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First World War</a:t>
            </a:r>
            <a:r>
              <a:rPr lang="en-US" sz="1500" dirty="0">
                <a:solidFill>
                  <a:schemeClr val="tx1"/>
                </a:solidFill>
              </a:rPr>
              <a:t>; Japan's </a:t>
            </a:r>
            <a:r>
              <a:rPr lang="en-US" sz="1500" b="1" dirty="0">
                <a:solidFill>
                  <a:schemeClr val="tx1"/>
                </a:solidFill>
              </a:rPr>
              <a:t>Twenty-One Demands</a:t>
            </a:r>
            <a:endParaRPr lang="en-US" sz="1500" dirty="0"/>
          </a:p>
        </p:txBody>
      </p:sp>
      <p:sp>
        <p:nvSpPr>
          <p:cNvPr id="39" name="Date pill 172"/>
          <p:cNvSpPr/>
          <p:nvPr/>
        </p:nvSpPr>
        <p:spPr>
          <a:xfrm>
            <a:off x="6278728" y="4526280"/>
            <a:ext cx="1207008" cy="329184"/>
          </a:xfrm>
          <a:prstGeom prst="roundRect">
            <a:avLst>
              <a:gd name="adj" fmla="val 50000"/>
            </a:avLst>
          </a:prstGeom>
          <a:solidFill>
            <a:schemeClr val="accent1"/>
          </a:solidFill>
          <a:ln/>
        </p:spPr>
      </p:sp>
      <p:sp>
        <p:nvSpPr>
          <p:cNvPr id="40" name="Text 173"/>
          <p:cNvSpPr txBox="1"/>
          <p:nvPr/>
        </p:nvSpPr>
        <p:spPr>
          <a:xfrm>
            <a:off x="6278728" y="4526280"/>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1917–18</a:t>
            </a:r>
            <a:endParaRPr lang="en-US" sz="1300" dirty="0"/>
          </a:p>
        </p:txBody>
      </p:sp>
      <p:sp>
        <p:nvSpPr>
          <p:cNvPr id="41" name="Text 174"/>
          <p:cNvSpPr txBox="1"/>
          <p:nvPr/>
        </p:nvSpPr>
        <p:spPr>
          <a:xfrm>
            <a:off x="7650328" y="4507992"/>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USA enters the war</a:t>
            </a:r>
            <a:r>
              <a:rPr lang="en-US" sz="1500" dirty="0">
                <a:solidFill>
                  <a:schemeClr val="tx1"/>
                </a:solidFill>
              </a:rPr>
              <a:t>; Wilson's </a:t>
            </a:r>
            <a:r>
              <a:rPr lang="en-US" sz="1500" b="1" dirty="0">
                <a:solidFill>
                  <a:schemeClr val="tx1"/>
                </a:solidFill>
              </a:rPr>
              <a:t>Fourteen Points</a:t>
            </a:r>
            <a:endParaRPr lang="en-US" sz="1500" dirty="0"/>
          </a:p>
        </p:txBody>
      </p:sp>
      <p:sp>
        <p:nvSpPr>
          <p:cNvPr id="42" name="Callout 175"/>
          <p:cNvSpPr/>
          <p:nvPr/>
        </p:nvSpPr>
        <p:spPr>
          <a:xfrm>
            <a:off x="548640" y="5550408"/>
            <a:ext cx="11094415" cy="713232"/>
          </a:xfrm>
          <a:prstGeom prst="roundRect">
            <a:avLst>
              <a:gd name="adj" fmla="val 12821"/>
            </a:avLst>
          </a:prstGeom>
          <a:solidFill>
            <a:schemeClr val="accent4">
              <a:alpha val="20000"/>
            </a:schemeClr>
          </a:solidFill>
          <a:ln/>
        </p:spPr>
      </p:sp>
      <p:sp>
        <p:nvSpPr>
          <p:cNvPr id="43" name="Callout label 176"/>
          <p:cNvSpPr/>
          <p:nvPr/>
        </p:nvSpPr>
        <p:spPr>
          <a:xfrm>
            <a:off x="731520" y="5751576"/>
            <a:ext cx="1190135" cy="310896"/>
          </a:xfrm>
          <a:prstGeom prst="roundRect">
            <a:avLst>
              <a:gd name="adj" fmla="val 50000"/>
            </a:avLst>
          </a:prstGeom>
          <a:solidFill>
            <a:schemeClr val="accent4"/>
          </a:solidFill>
          <a:ln/>
        </p:spPr>
      </p:sp>
      <p:sp>
        <p:nvSpPr>
          <p:cNvPr id="44" name="Text 177"/>
          <p:cNvSpPr txBox="1"/>
          <p:nvPr/>
        </p:nvSpPr>
        <p:spPr>
          <a:xfrm>
            <a:off x="731520" y="5751576"/>
            <a:ext cx="1190135"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BIG PICTURE</a:t>
            </a:r>
            <a:endParaRPr lang="en-US" sz="1200" dirty="0"/>
          </a:p>
        </p:txBody>
      </p:sp>
      <p:sp>
        <p:nvSpPr>
          <p:cNvPr id="45" name="Text 178"/>
          <p:cNvSpPr txBox="1"/>
          <p:nvPr/>
        </p:nvSpPr>
        <p:spPr>
          <a:xfrm>
            <a:off x="2104535" y="5623560"/>
            <a:ext cx="9355640"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Imperial rivalry was mostly settled by deals (1904, 1907) — but the deals hardened the alliance blocs of 1914.</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17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KQ1 · WHAT CHANGED?</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What was 'New Imperialism'?</a:t>
            </a:r>
            <a:endParaRPr lang="en-US" sz="3400" dirty="0"/>
          </a:p>
        </p:txBody>
      </p:sp>
      <p:sp>
        <p:nvSpPr>
          <p:cNvPr id="4" name="Card 180"/>
          <p:cNvSpPr/>
          <p:nvPr/>
        </p:nvSpPr>
        <p:spPr>
          <a:xfrm>
            <a:off x="548640" y="1481328"/>
            <a:ext cx="5410048" cy="2697480"/>
          </a:xfrm>
          <a:prstGeom prst="roundRect">
            <a:avLst>
              <a:gd name="adj" fmla="val 3390"/>
            </a:avLst>
          </a:prstGeom>
          <a:solidFill>
            <a:schemeClr val="bg2"/>
          </a:solidFill>
          <a:ln/>
        </p:spPr>
      </p:sp>
      <p:sp>
        <p:nvSpPr>
          <p:cNvPr id="5" name="Icon circle 181"/>
          <p:cNvSpPr/>
          <p:nvPr/>
        </p:nvSpPr>
        <p:spPr>
          <a:xfrm>
            <a:off x="731520" y="1664208"/>
            <a:ext cx="475488" cy="475488"/>
          </a:xfrm>
          <a:prstGeom prst="ellipse">
            <a:avLst/>
          </a:prstGeom>
          <a:solidFill>
            <a:schemeClr val="accent1"/>
          </a:solidFill>
          <a:ln/>
        </p:spPr>
      </p:sp>
      <p:pic>
        <p:nvPicPr>
          <p:cNvPr id="6" name="Icon FaShip 182"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83"/>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Before c.1870: 'old' empire</a:t>
            </a:r>
            <a:endParaRPr lang="en-US" sz="1700" dirty="0"/>
          </a:p>
        </p:txBody>
      </p:sp>
      <p:sp>
        <p:nvSpPr>
          <p:cNvPr id="8" name="Text 184"/>
          <p:cNvSpPr txBox="1"/>
          <p:nvPr/>
        </p:nvSpPr>
        <p:spPr>
          <a:xfrm>
            <a:off x="731520" y="2249424"/>
            <a:ext cx="5044288" cy="1746504"/>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Coastal trading posts and forts</a:t>
            </a:r>
            <a:endParaRPr lang="en-US" sz="1800" dirty="0"/>
          </a:p>
          <a:p>
            <a:pPr algn="l" marL="190500" indent="-190500">
              <a:spcAft>
                <a:spcPts val="500"/>
              </a:spcAft>
              <a:buSzPct val="100000"/>
              <a:buChar char="•"/>
            </a:pPr>
            <a:r>
              <a:rPr lang="en-US" sz="1800" dirty="0">
                <a:solidFill>
                  <a:schemeClr val="tx1"/>
                </a:solidFill>
              </a:rPr>
              <a:t>Chartered companies (e.g. East India Company)</a:t>
            </a:r>
            <a:endParaRPr lang="en-US" sz="1800" dirty="0"/>
          </a:p>
          <a:p>
            <a:pPr algn="l" marL="190500" indent="-190500">
              <a:spcAft>
                <a:spcPts val="500"/>
              </a:spcAft>
              <a:buSzPct val="100000"/>
              <a:buChar char="•"/>
            </a:pPr>
            <a:r>
              <a:rPr lang="en-US" sz="1800" dirty="0">
                <a:solidFill>
                  <a:schemeClr val="tx1"/>
                </a:solidFill>
              </a:rPr>
              <a:t>Influence through trade — 'informal empire'</a:t>
            </a:r>
            <a:endParaRPr lang="en-US" sz="1800" dirty="0"/>
          </a:p>
          <a:p>
            <a:pPr algn="l" marL="190500" indent="-190500">
              <a:spcAft>
                <a:spcPts val="500"/>
              </a:spcAft>
              <a:buSzPct val="100000"/>
              <a:buChar char="•"/>
            </a:pPr>
            <a:r>
              <a:rPr lang="en-US" sz="1800" dirty="0">
                <a:solidFill>
                  <a:schemeClr val="tx1"/>
                </a:solidFill>
              </a:rPr>
              <a:t>Africa's interior largely unknown to Europeans</a:t>
            </a:r>
            <a:endParaRPr lang="en-US" sz="1800" dirty="0"/>
          </a:p>
        </p:txBody>
      </p:sp>
      <p:sp>
        <p:nvSpPr>
          <p:cNvPr id="9" name="Card 185"/>
          <p:cNvSpPr/>
          <p:nvPr/>
        </p:nvSpPr>
        <p:spPr>
          <a:xfrm>
            <a:off x="6233008" y="1481328"/>
            <a:ext cx="5410048" cy="2697480"/>
          </a:xfrm>
          <a:prstGeom prst="roundRect">
            <a:avLst>
              <a:gd name="adj" fmla="val 3390"/>
            </a:avLst>
          </a:prstGeom>
          <a:solidFill>
            <a:schemeClr val="accent1">
              <a:alpha val="10000"/>
            </a:schemeClr>
          </a:solidFill>
          <a:ln/>
        </p:spPr>
      </p:sp>
      <p:sp>
        <p:nvSpPr>
          <p:cNvPr id="10" name="Icon circle 186"/>
          <p:cNvSpPr/>
          <p:nvPr/>
        </p:nvSpPr>
        <p:spPr>
          <a:xfrm>
            <a:off x="6415888" y="1664208"/>
            <a:ext cx="475488" cy="475488"/>
          </a:xfrm>
          <a:prstGeom prst="ellipse">
            <a:avLst/>
          </a:prstGeom>
          <a:solidFill>
            <a:schemeClr val="accent1"/>
          </a:solidFill>
          <a:ln/>
        </p:spPr>
      </p:sp>
      <p:pic>
        <p:nvPicPr>
          <p:cNvPr id="11" name="Icon GiCrossedSwords 187"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188"/>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c.1870–1914: 'New Imperialism'</a:t>
            </a:r>
            <a:endParaRPr lang="en-US" sz="1700" dirty="0"/>
          </a:p>
        </p:txBody>
      </p:sp>
      <p:sp>
        <p:nvSpPr>
          <p:cNvPr id="13" name="Text 189"/>
          <p:cNvSpPr txBox="1"/>
          <p:nvPr/>
        </p:nvSpPr>
        <p:spPr>
          <a:xfrm>
            <a:off x="6415888" y="2249424"/>
            <a:ext cx="5044288" cy="1746504"/>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Rapid formal annexation of whole regions</a:t>
            </a:r>
            <a:endParaRPr lang="en-US" sz="1800" dirty="0"/>
          </a:p>
          <a:p>
            <a:pPr algn="l" marL="190500" indent="-190500">
              <a:spcAft>
                <a:spcPts val="500"/>
              </a:spcAft>
              <a:buSzPct val="100000"/>
              <a:buChar char="•"/>
            </a:pPr>
            <a:r>
              <a:rPr lang="en-US" sz="1800" dirty="0">
                <a:solidFill>
                  <a:schemeClr val="tx1"/>
                </a:solidFill>
              </a:rPr>
              <a:t>Led by governments, not just companies</a:t>
            </a:r>
            <a:endParaRPr lang="en-US" sz="1800" dirty="0"/>
          </a:p>
          <a:p>
            <a:pPr algn="l" marL="190500" indent="-190500">
              <a:spcAft>
                <a:spcPts val="500"/>
              </a:spcAft>
              <a:buSzPct val="100000"/>
              <a:buChar char="•"/>
            </a:pPr>
            <a:r>
              <a:rPr lang="en-US" sz="1800" dirty="0">
                <a:solidFill>
                  <a:schemeClr val="tx1"/>
                </a:solidFill>
              </a:rPr>
              <a:t>New players: Germany, Italy, Belgium, USA, Japan</a:t>
            </a:r>
            <a:endParaRPr lang="en-US" sz="1800" dirty="0"/>
          </a:p>
          <a:p>
            <a:pPr algn="l" marL="190500" indent="-190500">
              <a:spcAft>
                <a:spcPts val="500"/>
              </a:spcAft>
              <a:buSzPct val="100000"/>
              <a:buChar char="•"/>
            </a:pPr>
            <a:r>
              <a:rPr lang="en-US" sz="1800" dirty="0">
                <a:solidFill>
                  <a:schemeClr val="tx1"/>
                </a:solidFill>
              </a:rPr>
              <a:t>Fierce rivalry, justified by racial ideas</a:t>
            </a:r>
            <a:endParaRPr lang="en-US" sz="1800" dirty="0"/>
          </a:p>
        </p:txBody>
      </p:sp>
      <p:sp>
        <p:nvSpPr>
          <p:cNvPr id="14" name="Stat card 190"/>
          <p:cNvSpPr/>
          <p:nvPr/>
        </p:nvSpPr>
        <p:spPr>
          <a:xfrm>
            <a:off x="548640" y="4453128"/>
            <a:ext cx="3515258" cy="1810512"/>
          </a:xfrm>
          <a:prstGeom prst="roundRect">
            <a:avLst>
              <a:gd name="adj" fmla="val 5051"/>
            </a:avLst>
          </a:prstGeom>
          <a:solidFill>
            <a:schemeClr val="bg2"/>
          </a:solidFill>
          <a:ln/>
        </p:spPr>
      </p:sp>
      <p:sp>
        <p:nvSpPr>
          <p:cNvPr id="15" name="Text 191"/>
          <p:cNvSpPr txBox="1"/>
          <p:nvPr/>
        </p:nvSpPr>
        <p:spPr>
          <a:xfrm>
            <a:off x="777240" y="4544568"/>
            <a:ext cx="3058058" cy="777240"/>
          </a:xfrm>
          <a:prstGeom prst="rect">
            <a:avLst/>
          </a:prstGeom>
          <a:noFill/>
          <a:ln/>
        </p:spPr>
        <p:txBody>
          <a:bodyPr wrap="square" lIns="0" tIns="0" rIns="0" bIns="0" rtlCol="0" anchor="b"/>
          <a:lstStyle/>
          <a:p>
            <a:pPr algn="l" indent="0" marL="0">
              <a:spcAft>
                <a:spcPts val="600"/>
              </a:spcAft>
              <a:buNone/>
            </a:pPr>
            <a:r>
              <a:rPr lang="en-US" sz="4600" b="1" dirty="0">
                <a:solidFill>
                  <a:schemeClr val="accent1"/>
                </a:solidFill>
                <a:latin typeface="+mj-lt" pitchFamily="34" charset="0"/>
                <a:ea typeface="+mj-lt" pitchFamily="34" charset="-122"/>
                <a:cs typeface="+mj-lt" pitchFamily="34" charset="-120"/>
              </a:rPr>
              <a:t>c.10%</a:t>
            </a:r>
            <a:endParaRPr lang="en-US" sz="4600" dirty="0"/>
          </a:p>
        </p:txBody>
      </p:sp>
      <p:sp>
        <p:nvSpPr>
          <p:cNvPr id="16" name="Text 192"/>
          <p:cNvSpPr txBox="1"/>
          <p:nvPr/>
        </p:nvSpPr>
        <p:spPr>
          <a:xfrm>
            <a:off x="777240" y="5367528"/>
            <a:ext cx="3058058" cy="80467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of Africa under European rule in 1870</a:t>
            </a:r>
            <a:endParaRPr lang="en-US" sz="1500" dirty="0"/>
          </a:p>
        </p:txBody>
      </p:sp>
      <p:sp>
        <p:nvSpPr>
          <p:cNvPr id="17" name="Stat card 193"/>
          <p:cNvSpPr/>
          <p:nvPr/>
        </p:nvSpPr>
        <p:spPr>
          <a:xfrm>
            <a:off x="4338218" y="4453128"/>
            <a:ext cx="3515258" cy="1810512"/>
          </a:xfrm>
          <a:prstGeom prst="roundRect">
            <a:avLst>
              <a:gd name="adj" fmla="val 5051"/>
            </a:avLst>
          </a:prstGeom>
          <a:solidFill>
            <a:schemeClr val="bg2"/>
          </a:solidFill>
          <a:ln/>
        </p:spPr>
      </p:sp>
      <p:sp>
        <p:nvSpPr>
          <p:cNvPr id="18" name="Text 194"/>
          <p:cNvSpPr txBox="1"/>
          <p:nvPr/>
        </p:nvSpPr>
        <p:spPr>
          <a:xfrm>
            <a:off x="4566818" y="4544568"/>
            <a:ext cx="3058058" cy="777240"/>
          </a:xfrm>
          <a:prstGeom prst="rect">
            <a:avLst/>
          </a:prstGeom>
          <a:noFill/>
          <a:ln/>
        </p:spPr>
        <p:txBody>
          <a:bodyPr wrap="square" lIns="0" tIns="0" rIns="0" bIns="0" rtlCol="0" anchor="b"/>
          <a:lstStyle/>
          <a:p>
            <a:pPr algn="l" indent="0" marL="0">
              <a:spcAft>
                <a:spcPts val="600"/>
              </a:spcAft>
              <a:buNone/>
            </a:pPr>
            <a:r>
              <a:rPr lang="en-US" sz="4600" b="1" dirty="0">
                <a:solidFill>
                  <a:schemeClr val="accent1"/>
                </a:solidFill>
                <a:latin typeface="+mj-lt" pitchFamily="34" charset="0"/>
                <a:ea typeface="+mj-lt" pitchFamily="34" charset="-122"/>
                <a:cs typeface="+mj-lt" pitchFamily="34" charset="-120"/>
              </a:rPr>
              <a:t>c.90%</a:t>
            </a:r>
            <a:endParaRPr lang="en-US" sz="4600" dirty="0"/>
          </a:p>
        </p:txBody>
      </p:sp>
      <p:sp>
        <p:nvSpPr>
          <p:cNvPr id="19" name="Text 195"/>
          <p:cNvSpPr txBox="1"/>
          <p:nvPr/>
        </p:nvSpPr>
        <p:spPr>
          <a:xfrm>
            <a:off x="4566818" y="5367528"/>
            <a:ext cx="3058058" cy="80467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of Africa under European rule by 1914</a:t>
            </a:r>
            <a:endParaRPr lang="en-US" sz="1500" dirty="0"/>
          </a:p>
        </p:txBody>
      </p:sp>
      <p:sp>
        <p:nvSpPr>
          <p:cNvPr id="20" name="Stat card 196"/>
          <p:cNvSpPr/>
          <p:nvPr/>
        </p:nvSpPr>
        <p:spPr>
          <a:xfrm>
            <a:off x="8127797" y="4453128"/>
            <a:ext cx="3515258" cy="1810512"/>
          </a:xfrm>
          <a:prstGeom prst="roundRect">
            <a:avLst>
              <a:gd name="adj" fmla="val 5051"/>
            </a:avLst>
          </a:prstGeom>
          <a:solidFill>
            <a:schemeClr val="bg2"/>
          </a:solidFill>
          <a:ln/>
        </p:spPr>
      </p:sp>
      <p:sp>
        <p:nvSpPr>
          <p:cNvPr id="21" name="Text 197"/>
          <p:cNvSpPr txBox="1"/>
          <p:nvPr/>
        </p:nvSpPr>
        <p:spPr>
          <a:xfrm>
            <a:off x="8356397" y="4544568"/>
            <a:ext cx="3058058" cy="777240"/>
          </a:xfrm>
          <a:prstGeom prst="rect">
            <a:avLst/>
          </a:prstGeom>
          <a:noFill/>
          <a:ln/>
        </p:spPr>
        <p:txBody>
          <a:bodyPr wrap="square" lIns="0" tIns="0" rIns="0" bIns="0" rtlCol="0" anchor="b"/>
          <a:lstStyle/>
          <a:p>
            <a:pPr algn="l" indent="0" marL="0">
              <a:spcAft>
                <a:spcPts val="600"/>
              </a:spcAft>
              <a:buNone/>
            </a:pPr>
            <a:r>
              <a:rPr lang="en-US" sz="4600" b="1" dirty="0">
                <a:solidFill>
                  <a:schemeClr val="accent1"/>
                </a:solidFill>
                <a:latin typeface="+mj-lt" pitchFamily="34" charset="0"/>
                <a:ea typeface="+mj-lt" pitchFamily="34" charset="-122"/>
                <a:cs typeface="+mj-lt" pitchFamily="34" charset="-120"/>
              </a:rPr>
              <a:t>2</a:t>
            </a:r>
            <a:endParaRPr lang="en-US" sz="4600" dirty="0"/>
          </a:p>
        </p:txBody>
      </p:sp>
      <p:sp>
        <p:nvSpPr>
          <p:cNvPr id="22" name="Text 198"/>
          <p:cNvSpPr txBox="1"/>
          <p:nvPr/>
        </p:nvSpPr>
        <p:spPr>
          <a:xfrm>
            <a:off x="8356397" y="5367528"/>
            <a:ext cx="3058058" cy="80467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African states still independent in 1914: Ethiopia and Liberia</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19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KQ1 · MOTIVES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build empires? Remember EPIC</a:t>
            </a:r>
            <a:endParaRPr lang="en-US" sz="3400" dirty="0"/>
          </a:p>
        </p:txBody>
      </p:sp>
      <p:sp>
        <p:nvSpPr>
          <p:cNvPr id="4" name="Mnemonic row 200"/>
          <p:cNvSpPr/>
          <p:nvPr/>
        </p:nvSpPr>
        <p:spPr>
          <a:xfrm>
            <a:off x="548640" y="1481328"/>
            <a:ext cx="11094415" cy="852678"/>
          </a:xfrm>
          <a:prstGeom prst="roundRect">
            <a:avLst>
              <a:gd name="adj" fmla="val 8579"/>
            </a:avLst>
          </a:prstGeom>
          <a:solidFill>
            <a:schemeClr val="accent1">
              <a:alpha val="8000"/>
            </a:schemeClr>
          </a:solidFill>
          <a:ln/>
        </p:spPr>
      </p:sp>
      <p:sp>
        <p:nvSpPr>
          <p:cNvPr id="5" name="Letter circle 201"/>
          <p:cNvSpPr/>
          <p:nvPr/>
        </p:nvSpPr>
        <p:spPr>
          <a:xfrm>
            <a:off x="676656" y="1578483"/>
            <a:ext cx="658368" cy="658368"/>
          </a:xfrm>
          <a:prstGeom prst="ellipse">
            <a:avLst/>
          </a:prstGeom>
          <a:solidFill>
            <a:schemeClr val="accent4"/>
          </a:solidFill>
          <a:ln/>
        </p:spPr>
      </p:sp>
      <p:sp>
        <p:nvSpPr>
          <p:cNvPr id="6" name="Text 202"/>
          <p:cNvSpPr txBox="1"/>
          <p:nvPr/>
        </p:nvSpPr>
        <p:spPr>
          <a:xfrm>
            <a:off x="676656" y="1578483"/>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E</a:t>
            </a:r>
            <a:endParaRPr lang="en-US" sz="2800" dirty="0"/>
          </a:p>
        </p:txBody>
      </p:sp>
      <p:sp>
        <p:nvSpPr>
          <p:cNvPr id="7" name="Text 203"/>
          <p:cNvSpPr txBox="1"/>
          <p:nvPr/>
        </p:nvSpPr>
        <p:spPr>
          <a:xfrm>
            <a:off x="1536192" y="1481328"/>
            <a:ext cx="251460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1"/>
                </a:solidFill>
              </a:rPr>
              <a:t>Economic</a:t>
            </a:r>
            <a:endParaRPr lang="en-US" sz="1800" dirty="0"/>
          </a:p>
        </p:txBody>
      </p:sp>
      <p:sp>
        <p:nvSpPr>
          <p:cNvPr id="8" name="Text 204"/>
          <p:cNvSpPr txBox="1"/>
          <p:nvPr/>
        </p:nvSpPr>
        <p:spPr>
          <a:xfrm>
            <a:off x="4142232" y="1517904"/>
            <a:ext cx="731794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New markets, raw materials and places to invest — especially during the Long Depression (1873–96)</a:t>
            </a:r>
            <a:endParaRPr lang="en-US" sz="1500" dirty="0"/>
          </a:p>
        </p:txBody>
      </p:sp>
      <p:sp>
        <p:nvSpPr>
          <p:cNvPr id="9" name="Mnemonic row 205"/>
          <p:cNvSpPr/>
          <p:nvPr/>
        </p:nvSpPr>
        <p:spPr>
          <a:xfrm>
            <a:off x="548640" y="2462022"/>
            <a:ext cx="11094415" cy="852678"/>
          </a:xfrm>
          <a:prstGeom prst="roundRect">
            <a:avLst>
              <a:gd name="adj" fmla="val 8579"/>
            </a:avLst>
          </a:prstGeom>
          <a:solidFill>
            <a:schemeClr val="accent1">
              <a:alpha val="8000"/>
            </a:schemeClr>
          </a:solidFill>
          <a:ln/>
        </p:spPr>
      </p:sp>
      <p:sp>
        <p:nvSpPr>
          <p:cNvPr id="10" name="Letter circle 206"/>
          <p:cNvSpPr/>
          <p:nvPr/>
        </p:nvSpPr>
        <p:spPr>
          <a:xfrm>
            <a:off x="676656" y="2559177"/>
            <a:ext cx="658368" cy="658368"/>
          </a:xfrm>
          <a:prstGeom prst="ellipse">
            <a:avLst/>
          </a:prstGeom>
          <a:solidFill>
            <a:schemeClr val="accent4"/>
          </a:solidFill>
          <a:ln/>
        </p:spPr>
      </p:sp>
      <p:sp>
        <p:nvSpPr>
          <p:cNvPr id="11" name="Text 207"/>
          <p:cNvSpPr txBox="1"/>
          <p:nvPr/>
        </p:nvSpPr>
        <p:spPr>
          <a:xfrm>
            <a:off x="676656" y="2559177"/>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P</a:t>
            </a:r>
            <a:endParaRPr lang="en-US" sz="2800" dirty="0"/>
          </a:p>
        </p:txBody>
      </p:sp>
      <p:sp>
        <p:nvSpPr>
          <p:cNvPr id="12" name="Text 208"/>
          <p:cNvSpPr txBox="1"/>
          <p:nvPr/>
        </p:nvSpPr>
        <p:spPr>
          <a:xfrm>
            <a:off x="1536192" y="2462022"/>
            <a:ext cx="251460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1"/>
                </a:solidFill>
              </a:rPr>
              <a:t>Political &amp; strategic</a:t>
            </a:r>
            <a:endParaRPr lang="en-US" sz="1800" dirty="0"/>
          </a:p>
        </p:txBody>
      </p:sp>
      <p:sp>
        <p:nvSpPr>
          <p:cNvPr id="13" name="Text 209"/>
          <p:cNvSpPr txBox="1"/>
          <p:nvPr/>
        </p:nvSpPr>
        <p:spPr>
          <a:xfrm>
            <a:off x="4142232" y="2498598"/>
            <a:ext cx="731794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National prestige, great-power status, naval bases and protecting key routes such as Suez</a:t>
            </a:r>
            <a:endParaRPr lang="en-US" sz="1500" dirty="0"/>
          </a:p>
        </p:txBody>
      </p:sp>
      <p:sp>
        <p:nvSpPr>
          <p:cNvPr id="14" name="Mnemonic row 210"/>
          <p:cNvSpPr/>
          <p:nvPr/>
        </p:nvSpPr>
        <p:spPr>
          <a:xfrm>
            <a:off x="548640" y="3442716"/>
            <a:ext cx="11094415" cy="852678"/>
          </a:xfrm>
          <a:prstGeom prst="roundRect">
            <a:avLst>
              <a:gd name="adj" fmla="val 8579"/>
            </a:avLst>
          </a:prstGeom>
          <a:solidFill>
            <a:schemeClr val="accent1">
              <a:alpha val="8000"/>
            </a:schemeClr>
          </a:solidFill>
          <a:ln/>
        </p:spPr>
      </p:sp>
      <p:sp>
        <p:nvSpPr>
          <p:cNvPr id="15" name="Letter circle 211"/>
          <p:cNvSpPr/>
          <p:nvPr/>
        </p:nvSpPr>
        <p:spPr>
          <a:xfrm>
            <a:off x="676656" y="3539871"/>
            <a:ext cx="658368" cy="658368"/>
          </a:xfrm>
          <a:prstGeom prst="ellipse">
            <a:avLst/>
          </a:prstGeom>
          <a:solidFill>
            <a:schemeClr val="accent4"/>
          </a:solidFill>
          <a:ln/>
        </p:spPr>
      </p:sp>
      <p:sp>
        <p:nvSpPr>
          <p:cNvPr id="16" name="Text 212"/>
          <p:cNvSpPr txBox="1"/>
          <p:nvPr/>
        </p:nvSpPr>
        <p:spPr>
          <a:xfrm>
            <a:off x="676656" y="3539871"/>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I</a:t>
            </a:r>
            <a:endParaRPr lang="en-US" sz="2800" dirty="0"/>
          </a:p>
        </p:txBody>
      </p:sp>
      <p:sp>
        <p:nvSpPr>
          <p:cNvPr id="17" name="Text 213"/>
          <p:cNvSpPr txBox="1"/>
          <p:nvPr/>
        </p:nvSpPr>
        <p:spPr>
          <a:xfrm>
            <a:off x="1536192" y="3442716"/>
            <a:ext cx="251460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1"/>
                </a:solidFill>
              </a:rPr>
              <a:t>Ideological</a:t>
            </a:r>
            <a:endParaRPr lang="en-US" sz="1800" dirty="0"/>
          </a:p>
        </p:txBody>
      </p:sp>
      <p:sp>
        <p:nvSpPr>
          <p:cNvPr id="18" name="Text 214"/>
          <p:cNvSpPr txBox="1"/>
          <p:nvPr/>
        </p:nvSpPr>
        <p:spPr>
          <a:xfrm>
            <a:off x="4142232" y="3479292"/>
            <a:ext cx="731794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Social Darwinism, the 'civilising mission', Christian missions and popular nationalism</a:t>
            </a:r>
            <a:endParaRPr lang="en-US" sz="1500" dirty="0"/>
          </a:p>
        </p:txBody>
      </p:sp>
      <p:sp>
        <p:nvSpPr>
          <p:cNvPr id="19" name="Mnemonic row 215"/>
          <p:cNvSpPr/>
          <p:nvPr/>
        </p:nvSpPr>
        <p:spPr>
          <a:xfrm>
            <a:off x="548640" y="4423410"/>
            <a:ext cx="11094415" cy="852678"/>
          </a:xfrm>
          <a:prstGeom prst="roundRect">
            <a:avLst>
              <a:gd name="adj" fmla="val 8579"/>
            </a:avLst>
          </a:prstGeom>
          <a:solidFill>
            <a:schemeClr val="accent1">
              <a:alpha val="8000"/>
            </a:schemeClr>
          </a:solidFill>
          <a:ln/>
        </p:spPr>
      </p:sp>
      <p:sp>
        <p:nvSpPr>
          <p:cNvPr id="20" name="Letter circle 216"/>
          <p:cNvSpPr/>
          <p:nvPr/>
        </p:nvSpPr>
        <p:spPr>
          <a:xfrm>
            <a:off x="676656" y="4520565"/>
            <a:ext cx="658368" cy="658368"/>
          </a:xfrm>
          <a:prstGeom prst="ellipse">
            <a:avLst/>
          </a:prstGeom>
          <a:solidFill>
            <a:schemeClr val="accent4"/>
          </a:solidFill>
          <a:ln/>
        </p:spPr>
      </p:sp>
      <p:sp>
        <p:nvSpPr>
          <p:cNvPr id="21" name="Text 217"/>
          <p:cNvSpPr txBox="1"/>
          <p:nvPr/>
        </p:nvSpPr>
        <p:spPr>
          <a:xfrm>
            <a:off x="676656" y="4520565"/>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C</a:t>
            </a:r>
            <a:endParaRPr lang="en-US" sz="2800" dirty="0"/>
          </a:p>
        </p:txBody>
      </p:sp>
      <p:sp>
        <p:nvSpPr>
          <p:cNvPr id="22" name="Text 218"/>
          <p:cNvSpPr txBox="1"/>
          <p:nvPr/>
        </p:nvSpPr>
        <p:spPr>
          <a:xfrm>
            <a:off x="1536192" y="4423410"/>
            <a:ext cx="251460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1"/>
                </a:solidFill>
              </a:rPr>
              <a:t>Capability</a:t>
            </a:r>
            <a:endParaRPr lang="en-US" sz="1800" dirty="0"/>
          </a:p>
        </p:txBody>
      </p:sp>
      <p:sp>
        <p:nvSpPr>
          <p:cNvPr id="23" name="Text 219"/>
          <p:cNvSpPr txBox="1"/>
          <p:nvPr/>
        </p:nvSpPr>
        <p:spPr>
          <a:xfrm>
            <a:off x="4142232" y="4459986"/>
            <a:ext cx="731794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New technology and medicine made conquest cheap: quinine, steamships, railways, the Maxim gun</a:t>
            </a:r>
            <a:endParaRPr lang="en-US" sz="1500" dirty="0"/>
          </a:p>
        </p:txBody>
      </p:sp>
      <p:sp>
        <p:nvSpPr>
          <p:cNvPr id="24" name="Callout 220"/>
          <p:cNvSpPr/>
          <p:nvPr/>
        </p:nvSpPr>
        <p:spPr>
          <a:xfrm>
            <a:off x="548640" y="5550408"/>
            <a:ext cx="11094415" cy="713232"/>
          </a:xfrm>
          <a:prstGeom prst="roundRect">
            <a:avLst>
              <a:gd name="adj" fmla="val 12821"/>
            </a:avLst>
          </a:prstGeom>
          <a:solidFill>
            <a:schemeClr val="accent4">
              <a:alpha val="20000"/>
            </a:schemeClr>
          </a:solidFill>
          <a:ln/>
        </p:spPr>
      </p:sp>
      <p:sp>
        <p:nvSpPr>
          <p:cNvPr id="25" name="Callout label 221"/>
          <p:cNvSpPr/>
          <p:nvPr/>
        </p:nvSpPr>
        <p:spPr>
          <a:xfrm>
            <a:off x="731520" y="5751576"/>
            <a:ext cx="1423870" cy="310896"/>
          </a:xfrm>
          <a:prstGeom prst="roundRect">
            <a:avLst>
              <a:gd name="adj" fmla="val 50000"/>
            </a:avLst>
          </a:prstGeom>
          <a:solidFill>
            <a:schemeClr val="accent4"/>
          </a:solidFill>
          <a:ln/>
        </p:spPr>
      </p:sp>
      <p:sp>
        <p:nvSpPr>
          <p:cNvPr id="26" name="Text 222"/>
          <p:cNvSpPr txBox="1"/>
          <p:nvPr/>
        </p:nvSpPr>
        <p:spPr>
          <a:xfrm>
            <a:off x="731520" y="5751576"/>
            <a:ext cx="1423870"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MEMORY HOOK</a:t>
            </a:r>
            <a:endParaRPr lang="en-US" sz="1200" dirty="0"/>
          </a:p>
        </p:txBody>
      </p:sp>
      <p:sp>
        <p:nvSpPr>
          <p:cNvPr id="27" name="Text 223"/>
          <p:cNvSpPr txBox="1"/>
          <p:nvPr/>
        </p:nvSpPr>
        <p:spPr>
          <a:xfrm>
            <a:off x="2338270" y="5623560"/>
            <a:ext cx="9121906"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Strong answers link motives: e.g. economic rivalry fed national prestige, and new technology made both affordable.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22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KQ1 · MOTIVES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Economic motives</a:t>
            </a:r>
            <a:endParaRPr lang="en-US" sz="3400" dirty="0"/>
          </a:p>
        </p:txBody>
      </p:sp>
      <p:sp>
        <p:nvSpPr>
          <p:cNvPr id="4" name="Card 225"/>
          <p:cNvSpPr/>
          <p:nvPr/>
        </p:nvSpPr>
        <p:spPr>
          <a:xfrm>
            <a:off x="548640" y="1481328"/>
            <a:ext cx="3515258" cy="3794760"/>
          </a:xfrm>
          <a:prstGeom prst="roundRect">
            <a:avLst>
              <a:gd name="adj" fmla="val 2601"/>
            </a:avLst>
          </a:prstGeom>
          <a:solidFill>
            <a:schemeClr val="accent1">
              <a:alpha val="10000"/>
            </a:schemeClr>
          </a:solidFill>
          <a:ln/>
        </p:spPr>
      </p:sp>
      <p:sp>
        <p:nvSpPr>
          <p:cNvPr id="5" name="Icon circle 226"/>
          <p:cNvSpPr/>
          <p:nvPr/>
        </p:nvSpPr>
        <p:spPr>
          <a:xfrm>
            <a:off x="731520" y="1664208"/>
            <a:ext cx="475488" cy="475488"/>
          </a:xfrm>
          <a:prstGeom prst="ellipse">
            <a:avLst/>
          </a:prstGeom>
          <a:solidFill>
            <a:schemeClr val="accent1"/>
          </a:solidFill>
          <a:ln/>
        </p:spPr>
      </p:sp>
      <p:pic>
        <p:nvPicPr>
          <p:cNvPr id="6" name="Icon FaIndustry 227"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28"/>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Markets</a:t>
            </a:r>
            <a:endParaRPr lang="en-US" sz="1700" dirty="0"/>
          </a:p>
        </p:txBody>
      </p:sp>
      <p:sp>
        <p:nvSpPr>
          <p:cNvPr id="8" name="Text 229"/>
          <p:cNvSpPr txBox="1"/>
          <p:nvPr/>
        </p:nvSpPr>
        <p:spPr>
          <a:xfrm>
            <a:off x="731520" y="2249424"/>
            <a:ext cx="3149498" cy="2843784"/>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The Long Depression (1873–96) and rising tariffs (Germany 1879, France 1892) pushed powers to secure protected colonial markets.</a:t>
            </a:r>
            <a:endParaRPr lang="en-US" sz="2000" dirty="0"/>
          </a:p>
        </p:txBody>
      </p:sp>
      <p:sp>
        <p:nvSpPr>
          <p:cNvPr id="9" name="Card 230"/>
          <p:cNvSpPr/>
          <p:nvPr/>
        </p:nvSpPr>
        <p:spPr>
          <a:xfrm>
            <a:off x="4338218" y="1481328"/>
            <a:ext cx="3515258" cy="3794760"/>
          </a:xfrm>
          <a:prstGeom prst="roundRect">
            <a:avLst>
              <a:gd name="adj" fmla="val 2601"/>
            </a:avLst>
          </a:prstGeom>
          <a:solidFill>
            <a:schemeClr val="accent1">
              <a:alpha val="10000"/>
            </a:schemeClr>
          </a:solidFill>
          <a:ln/>
        </p:spPr>
      </p:sp>
      <p:sp>
        <p:nvSpPr>
          <p:cNvPr id="10" name="Icon circle 231"/>
          <p:cNvSpPr/>
          <p:nvPr/>
        </p:nvSpPr>
        <p:spPr>
          <a:xfrm>
            <a:off x="4521098" y="1664208"/>
            <a:ext cx="475488" cy="475488"/>
          </a:xfrm>
          <a:prstGeom prst="ellipse">
            <a:avLst/>
          </a:prstGeom>
          <a:solidFill>
            <a:schemeClr val="accent1"/>
          </a:solidFill>
          <a:ln/>
        </p:spPr>
      </p:sp>
      <p:pic>
        <p:nvPicPr>
          <p:cNvPr id="11" name="Icon GiMineWagon 232"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233"/>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Raw materials</a:t>
            </a:r>
            <a:endParaRPr lang="en-US" sz="1700" dirty="0"/>
          </a:p>
        </p:txBody>
      </p:sp>
      <p:sp>
        <p:nvSpPr>
          <p:cNvPr id="13" name="Text 234"/>
          <p:cNvSpPr txBox="1"/>
          <p:nvPr/>
        </p:nvSpPr>
        <p:spPr>
          <a:xfrm>
            <a:off x="4521098" y="2249424"/>
            <a:ext cx="3149498" cy="2843784"/>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Industry needed rubber, cotton, palm oil and copper. Gold and diamonds made South Africa a prize.</a:t>
            </a:r>
            <a:endParaRPr lang="en-US" sz="2000" dirty="0"/>
          </a:p>
        </p:txBody>
      </p:sp>
      <p:sp>
        <p:nvSpPr>
          <p:cNvPr id="14" name="Card 235"/>
          <p:cNvSpPr/>
          <p:nvPr/>
        </p:nvSpPr>
        <p:spPr>
          <a:xfrm>
            <a:off x="8127797" y="1481328"/>
            <a:ext cx="3515258" cy="3794760"/>
          </a:xfrm>
          <a:prstGeom prst="roundRect">
            <a:avLst>
              <a:gd name="adj" fmla="val 2601"/>
            </a:avLst>
          </a:prstGeom>
          <a:solidFill>
            <a:schemeClr val="accent1">
              <a:alpha val="10000"/>
            </a:schemeClr>
          </a:solidFill>
          <a:ln/>
        </p:spPr>
      </p:sp>
      <p:sp>
        <p:nvSpPr>
          <p:cNvPr id="15" name="Icon circle 236"/>
          <p:cNvSpPr/>
          <p:nvPr/>
        </p:nvSpPr>
        <p:spPr>
          <a:xfrm>
            <a:off x="8310677" y="1664208"/>
            <a:ext cx="475488" cy="475488"/>
          </a:xfrm>
          <a:prstGeom prst="ellipse">
            <a:avLst/>
          </a:prstGeom>
          <a:solidFill>
            <a:schemeClr val="accent1"/>
          </a:solidFill>
          <a:ln/>
        </p:spPr>
      </p:sp>
      <p:pic>
        <p:nvPicPr>
          <p:cNvPr id="16" name="Icon FaCoins 237"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238"/>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Investment</a:t>
            </a:r>
            <a:endParaRPr lang="en-US" sz="1700" dirty="0"/>
          </a:p>
        </p:txBody>
      </p:sp>
      <p:sp>
        <p:nvSpPr>
          <p:cNvPr id="18" name="Text 239"/>
          <p:cNvSpPr txBox="1"/>
          <p:nvPr/>
        </p:nvSpPr>
        <p:spPr>
          <a:xfrm>
            <a:off x="8310677" y="2249424"/>
            <a:ext cx="3149498" cy="2843784"/>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Hobson (1902): surplus capital sought higher returns abroad. Lenin (1916): imperialism was 'the highest stage of capitalism'.</a:t>
            </a:r>
            <a:endParaRPr lang="en-US" sz="2000" dirty="0"/>
          </a:p>
        </p:txBody>
      </p:sp>
      <p:sp>
        <p:nvSpPr>
          <p:cNvPr id="19" name="Callout 240"/>
          <p:cNvSpPr/>
          <p:nvPr/>
        </p:nvSpPr>
        <p:spPr>
          <a:xfrm>
            <a:off x="548640" y="5550408"/>
            <a:ext cx="11094415" cy="713232"/>
          </a:xfrm>
          <a:prstGeom prst="roundRect">
            <a:avLst>
              <a:gd name="adj" fmla="val 12821"/>
            </a:avLst>
          </a:prstGeom>
          <a:solidFill>
            <a:schemeClr val="accent4">
              <a:alpha val="20000"/>
            </a:schemeClr>
          </a:solidFill>
          <a:ln/>
        </p:spPr>
      </p:sp>
      <p:sp>
        <p:nvSpPr>
          <p:cNvPr id="20" name="Callout label 241"/>
          <p:cNvSpPr/>
          <p:nvPr/>
        </p:nvSpPr>
        <p:spPr>
          <a:xfrm>
            <a:off x="731520" y="5751576"/>
            <a:ext cx="687007" cy="310896"/>
          </a:xfrm>
          <a:prstGeom prst="roundRect">
            <a:avLst>
              <a:gd name="adj" fmla="val 50000"/>
            </a:avLst>
          </a:prstGeom>
          <a:solidFill>
            <a:schemeClr val="accent4"/>
          </a:solidFill>
          <a:ln/>
        </p:spPr>
      </p:sp>
      <p:sp>
        <p:nvSpPr>
          <p:cNvPr id="21" name="Text 242"/>
          <p:cNvSpPr txBox="1"/>
          <p:nvPr/>
        </p:nvSpPr>
        <p:spPr>
          <a:xfrm>
            <a:off x="731520" y="5751576"/>
            <a:ext cx="687007"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BUT…</a:t>
            </a:r>
            <a:endParaRPr lang="en-US" sz="1200" dirty="0"/>
          </a:p>
        </p:txBody>
      </p:sp>
      <p:sp>
        <p:nvSpPr>
          <p:cNvPr id="22" name="Text 243"/>
          <p:cNvSpPr txBox="1"/>
          <p:nvPr/>
        </p:nvSpPr>
        <p:spPr>
          <a:xfrm>
            <a:off x="1601407" y="5623560"/>
            <a:ext cx="9858768"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Most European investment went to the USA, Latin America and Europe — not Africa. Many colonies cost more than they earned, so economics alone can't explain the Scramble.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24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KQ1 · MOTIVES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Political and strategic motives</a:t>
            </a:r>
            <a:endParaRPr lang="en-US" sz="3400" dirty="0"/>
          </a:p>
        </p:txBody>
      </p:sp>
      <p:sp>
        <p:nvSpPr>
          <p:cNvPr id="4" name="Card 245"/>
          <p:cNvSpPr/>
          <p:nvPr/>
        </p:nvSpPr>
        <p:spPr>
          <a:xfrm>
            <a:off x="548640" y="1481328"/>
            <a:ext cx="5410048" cy="2253996"/>
          </a:xfrm>
          <a:prstGeom prst="roundRect">
            <a:avLst>
              <a:gd name="adj" fmla="val 4057"/>
            </a:avLst>
          </a:prstGeom>
          <a:solidFill>
            <a:schemeClr val="accent1">
              <a:alpha val="10000"/>
            </a:schemeClr>
          </a:solidFill>
          <a:ln/>
        </p:spPr>
      </p:sp>
      <p:sp>
        <p:nvSpPr>
          <p:cNvPr id="5" name="Icon circle 246"/>
          <p:cNvSpPr/>
          <p:nvPr/>
        </p:nvSpPr>
        <p:spPr>
          <a:xfrm>
            <a:off x="731520" y="1664208"/>
            <a:ext cx="475488" cy="475488"/>
          </a:xfrm>
          <a:prstGeom prst="ellipse">
            <a:avLst/>
          </a:prstGeom>
          <a:solidFill>
            <a:schemeClr val="accent1"/>
          </a:solidFill>
          <a:ln/>
        </p:spPr>
      </p:sp>
      <p:pic>
        <p:nvPicPr>
          <p:cNvPr id="6" name="Icon FaCrown 247"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48"/>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National prestige</a:t>
            </a:r>
            <a:endParaRPr lang="en-US" sz="1700" dirty="0"/>
          </a:p>
        </p:txBody>
      </p:sp>
      <p:sp>
        <p:nvSpPr>
          <p:cNvPr id="8" name="Text 249"/>
          <p:cNvSpPr txBox="1"/>
          <p:nvPr/>
        </p:nvSpPr>
        <p:spPr>
          <a:xfrm>
            <a:off x="731520" y="2249424"/>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Colonies meant great-power status. France sought compensation for its defeat in 1871 — Jules Ferry took Tunisia (1881) and Indochina.</a:t>
            </a:r>
            <a:endParaRPr lang="en-US" sz="2000" dirty="0"/>
          </a:p>
        </p:txBody>
      </p:sp>
      <p:sp>
        <p:nvSpPr>
          <p:cNvPr id="9" name="Card 250"/>
          <p:cNvSpPr/>
          <p:nvPr/>
        </p:nvSpPr>
        <p:spPr>
          <a:xfrm>
            <a:off x="6233008" y="1481328"/>
            <a:ext cx="5410048" cy="2253996"/>
          </a:xfrm>
          <a:prstGeom prst="roundRect">
            <a:avLst>
              <a:gd name="adj" fmla="val 4057"/>
            </a:avLst>
          </a:prstGeom>
          <a:solidFill>
            <a:schemeClr val="accent1">
              <a:alpha val="10000"/>
            </a:schemeClr>
          </a:solidFill>
          <a:ln/>
        </p:spPr>
      </p:sp>
      <p:sp>
        <p:nvSpPr>
          <p:cNvPr id="10" name="Icon circle 251"/>
          <p:cNvSpPr/>
          <p:nvPr/>
        </p:nvSpPr>
        <p:spPr>
          <a:xfrm>
            <a:off x="6415888" y="1664208"/>
            <a:ext cx="475488" cy="475488"/>
          </a:xfrm>
          <a:prstGeom prst="ellipse">
            <a:avLst/>
          </a:prstGeom>
          <a:solidFill>
            <a:schemeClr val="accent1"/>
          </a:solidFill>
          <a:ln/>
        </p:spPr>
      </p:sp>
      <p:pic>
        <p:nvPicPr>
          <p:cNvPr id="11" name="Icon GiBattleship 252"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253"/>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Germany's Weltpolitik</a:t>
            </a:r>
            <a:endParaRPr lang="en-US" sz="1700" dirty="0"/>
          </a:p>
        </p:txBody>
      </p:sp>
      <p:sp>
        <p:nvSpPr>
          <p:cNvPr id="13" name="Text 254"/>
          <p:cNvSpPr txBox="1"/>
          <p:nvPr/>
        </p:nvSpPr>
        <p:spPr>
          <a:xfrm>
            <a:off x="6415888" y="2249424"/>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From 1897 Wilhelm II wanted 'a place in the sun' (Bülow): colonies, a large navy and world-power status.</a:t>
            </a:r>
            <a:endParaRPr lang="en-US" sz="2000" dirty="0"/>
          </a:p>
        </p:txBody>
      </p:sp>
      <p:sp>
        <p:nvSpPr>
          <p:cNvPr id="14" name="Card 255"/>
          <p:cNvSpPr/>
          <p:nvPr/>
        </p:nvSpPr>
        <p:spPr>
          <a:xfrm>
            <a:off x="548640" y="4009644"/>
            <a:ext cx="5410048" cy="2253996"/>
          </a:xfrm>
          <a:prstGeom prst="roundRect">
            <a:avLst>
              <a:gd name="adj" fmla="val 4057"/>
            </a:avLst>
          </a:prstGeom>
          <a:solidFill>
            <a:schemeClr val="accent1">
              <a:alpha val="10000"/>
            </a:schemeClr>
          </a:solidFill>
          <a:ln/>
        </p:spPr>
      </p:sp>
      <p:sp>
        <p:nvSpPr>
          <p:cNvPr id="15" name="Icon circle 256"/>
          <p:cNvSpPr/>
          <p:nvPr/>
        </p:nvSpPr>
        <p:spPr>
          <a:xfrm>
            <a:off x="731520" y="4192524"/>
            <a:ext cx="475488" cy="475488"/>
          </a:xfrm>
          <a:prstGeom prst="ellipse">
            <a:avLst/>
          </a:prstGeom>
          <a:solidFill>
            <a:schemeClr val="accent1"/>
          </a:solidFill>
          <a:ln/>
        </p:spPr>
      </p:sp>
      <p:pic>
        <p:nvPicPr>
          <p:cNvPr id="16" name="Icon FaRoute 257" descr="preencoded.png">    </p:cNvPr>
          <p:cNvPicPr>
            <a:picLocks noChangeAspect="1"/>
          </p:cNvPicPr>
          <p:nvPr/>
        </p:nvPicPr>
        <p:blipFill>
          <a:blip r:embed="rId3"/>
          <a:stretch>
            <a:fillRect/>
          </a:stretch>
        </p:blipFill>
        <p:spPr>
          <a:xfrm>
            <a:off x="836127" y="4297131"/>
            <a:ext cx="266273" cy="266273"/>
          </a:xfrm>
          <a:prstGeom prst="rect">
            <a:avLst/>
          </a:prstGeom>
        </p:spPr>
      </p:pic>
      <p:sp>
        <p:nvSpPr>
          <p:cNvPr id="17" name="Card title 258"/>
          <p:cNvSpPr txBox="1"/>
          <p:nvPr/>
        </p:nvSpPr>
        <p:spPr>
          <a:xfrm>
            <a:off x="1335024" y="4192524"/>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Protecting routes</a:t>
            </a:r>
            <a:endParaRPr lang="en-US" sz="1700" dirty="0"/>
          </a:p>
        </p:txBody>
      </p:sp>
      <p:sp>
        <p:nvSpPr>
          <p:cNvPr id="18" name="Text 259"/>
          <p:cNvSpPr txBox="1"/>
          <p:nvPr/>
        </p:nvSpPr>
        <p:spPr>
          <a:xfrm>
            <a:off x="731520" y="4777740"/>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Britain guarded the route to India: Suez Canal shares (1875), occupation of Egypt (1882) and control of the Cape.</a:t>
            </a:r>
            <a:endParaRPr lang="en-US" sz="2000" dirty="0"/>
          </a:p>
        </p:txBody>
      </p:sp>
      <p:sp>
        <p:nvSpPr>
          <p:cNvPr id="19" name="Card 260"/>
          <p:cNvSpPr/>
          <p:nvPr/>
        </p:nvSpPr>
        <p:spPr>
          <a:xfrm>
            <a:off x="6233008" y="4009644"/>
            <a:ext cx="5410048" cy="2253996"/>
          </a:xfrm>
          <a:prstGeom prst="roundRect">
            <a:avLst>
              <a:gd name="adj" fmla="val 4057"/>
            </a:avLst>
          </a:prstGeom>
          <a:solidFill>
            <a:schemeClr val="accent1">
              <a:alpha val="10000"/>
            </a:schemeClr>
          </a:solidFill>
          <a:ln/>
        </p:spPr>
      </p:sp>
      <p:sp>
        <p:nvSpPr>
          <p:cNvPr id="20" name="Icon circle 261"/>
          <p:cNvSpPr/>
          <p:nvPr/>
        </p:nvSpPr>
        <p:spPr>
          <a:xfrm>
            <a:off x="6415888" y="4192524"/>
            <a:ext cx="475488" cy="475488"/>
          </a:xfrm>
          <a:prstGeom prst="ellipse">
            <a:avLst/>
          </a:prstGeom>
          <a:solidFill>
            <a:schemeClr val="accent1"/>
          </a:solidFill>
          <a:ln/>
        </p:spPr>
      </p:sp>
      <p:pic>
        <p:nvPicPr>
          <p:cNvPr id="21" name="Icon FaFlag 262" descr="preencoded.png">    </p:cNvPr>
          <p:cNvPicPr>
            <a:picLocks noChangeAspect="1"/>
          </p:cNvPicPr>
          <p:nvPr/>
        </p:nvPicPr>
        <p:blipFill>
          <a:blip r:embed="rId4"/>
          <a:stretch>
            <a:fillRect/>
          </a:stretch>
        </p:blipFill>
        <p:spPr>
          <a:xfrm>
            <a:off x="6520495" y="4297131"/>
            <a:ext cx="266273" cy="266273"/>
          </a:xfrm>
          <a:prstGeom prst="rect">
            <a:avLst/>
          </a:prstGeom>
        </p:spPr>
      </p:pic>
      <p:sp>
        <p:nvSpPr>
          <p:cNvPr id="22" name="Card title 263"/>
          <p:cNvSpPr txBox="1"/>
          <p:nvPr/>
        </p:nvSpPr>
        <p:spPr>
          <a:xfrm>
            <a:off x="7019392" y="4192524"/>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Pre-emptive grabs</a:t>
            </a:r>
            <a:endParaRPr lang="en-US" sz="1700" dirty="0"/>
          </a:p>
        </p:txBody>
      </p:sp>
      <p:sp>
        <p:nvSpPr>
          <p:cNvPr id="23" name="Text 264"/>
          <p:cNvSpPr txBox="1"/>
          <p:nvPr/>
        </p:nvSpPr>
        <p:spPr>
          <a:xfrm>
            <a:off x="6415888" y="4777740"/>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Powers seized land simply to stop rivals getting it first — and to gain coaling stations and naval bases.</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265"/>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KQ1 · MOTIVES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Ideas and culture: 'the right to rule'</a:t>
            </a:r>
            <a:endParaRPr lang="en-US" sz="3400" dirty="0"/>
          </a:p>
        </p:txBody>
      </p:sp>
      <p:sp>
        <p:nvSpPr>
          <p:cNvPr id="4" name="Card 266"/>
          <p:cNvSpPr/>
          <p:nvPr/>
        </p:nvSpPr>
        <p:spPr>
          <a:xfrm>
            <a:off x="548640" y="1481328"/>
            <a:ext cx="5410048" cy="2253996"/>
          </a:xfrm>
          <a:prstGeom prst="roundRect">
            <a:avLst>
              <a:gd name="adj" fmla="val 4057"/>
            </a:avLst>
          </a:prstGeom>
          <a:solidFill>
            <a:schemeClr val="accent1">
              <a:alpha val="10000"/>
            </a:schemeClr>
          </a:solidFill>
          <a:ln/>
        </p:spPr>
      </p:sp>
      <p:sp>
        <p:nvSpPr>
          <p:cNvPr id="5" name="Icon circle 267"/>
          <p:cNvSpPr/>
          <p:nvPr/>
        </p:nvSpPr>
        <p:spPr>
          <a:xfrm>
            <a:off x="731520" y="1664208"/>
            <a:ext cx="475488" cy="475488"/>
          </a:xfrm>
          <a:prstGeom prst="ellipse">
            <a:avLst/>
          </a:prstGeom>
          <a:solidFill>
            <a:schemeClr val="accent1"/>
          </a:solidFill>
          <a:ln/>
        </p:spPr>
      </p:sp>
      <p:pic>
        <p:nvPicPr>
          <p:cNvPr id="6" name="Icon FaBrain 268"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69"/>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Social Darwinism</a:t>
            </a:r>
            <a:endParaRPr lang="en-US" sz="1700" dirty="0"/>
          </a:p>
        </p:txBody>
      </p:sp>
      <p:sp>
        <p:nvSpPr>
          <p:cNvPr id="8" name="Text 270"/>
          <p:cNvSpPr txBox="1"/>
          <p:nvPr/>
        </p:nvSpPr>
        <p:spPr>
          <a:xfrm>
            <a:off x="731520" y="2249424"/>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The belief that nations and races competed, and that the 'fittest' had a right to rule others.</a:t>
            </a:r>
            <a:endParaRPr lang="en-US" sz="2000" dirty="0"/>
          </a:p>
        </p:txBody>
      </p:sp>
      <p:sp>
        <p:nvSpPr>
          <p:cNvPr id="9" name="Card 271"/>
          <p:cNvSpPr/>
          <p:nvPr/>
        </p:nvSpPr>
        <p:spPr>
          <a:xfrm>
            <a:off x="6233008" y="1481328"/>
            <a:ext cx="5410048" cy="2253996"/>
          </a:xfrm>
          <a:prstGeom prst="roundRect">
            <a:avLst>
              <a:gd name="adj" fmla="val 4057"/>
            </a:avLst>
          </a:prstGeom>
          <a:solidFill>
            <a:schemeClr val="accent1">
              <a:alpha val="10000"/>
            </a:schemeClr>
          </a:solidFill>
          <a:ln/>
        </p:spPr>
      </p:sp>
      <p:sp>
        <p:nvSpPr>
          <p:cNvPr id="10" name="Icon circle 272"/>
          <p:cNvSpPr/>
          <p:nvPr/>
        </p:nvSpPr>
        <p:spPr>
          <a:xfrm>
            <a:off x="6415888" y="1664208"/>
            <a:ext cx="475488" cy="475488"/>
          </a:xfrm>
          <a:prstGeom prst="ellipse">
            <a:avLst/>
          </a:prstGeom>
          <a:solidFill>
            <a:schemeClr val="accent1"/>
          </a:solidFill>
          <a:ln/>
        </p:spPr>
      </p:sp>
      <p:pic>
        <p:nvPicPr>
          <p:cNvPr id="11" name="Icon FaBookOpen 273"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274"/>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The 'civilising mission'</a:t>
            </a:r>
            <a:endParaRPr lang="en-US" sz="1700" dirty="0"/>
          </a:p>
        </p:txBody>
      </p:sp>
      <p:sp>
        <p:nvSpPr>
          <p:cNvPr id="13" name="Text 275"/>
          <p:cNvSpPr txBox="1"/>
          <p:nvPr/>
        </p:nvSpPr>
        <p:spPr>
          <a:xfrm>
            <a:off x="6415888" y="2249424"/>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A claimed duty to 'civilise' others: France's mission civilisatrice; Kipling's 'The White Man's Burden' (1899).</a:t>
            </a:r>
            <a:endParaRPr lang="en-US" sz="2000" dirty="0"/>
          </a:p>
        </p:txBody>
      </p:sp>
      <p:sp>
        <p:nvSpPr>
          <p:cNvPr id="14" name="Card 276"/>
          <p:cNvSpPr/>
          <p:nvPr/>
        </p:nvSpPr>
        <p:spPr>
          <a:xfrm>
            <a:off x="548640" y="4009644"/>
            <a:ext cx="5410048" cy="2253996"/>
          </a:xfrm>
          <a:prstGeom prst="roundRect">
            <a:avLst>
              <a:gd name="adj" fmla="val 4057"/>
            </a:avLst>
          </a:prstGeom>
          <a:solidFill>
            <a:schemeClr val="accent1">
              <a:alpha val="10000"/>
            </a:schemeClr>
          </a:solidFill>
          <a:ln/>
        </p:spPr>
      </p:sp>
      <p:sp>
        <p:nvSpPr>
          <p:cNvPr id="15" name="Icon circle 277"/>
          <p:cNvSpPr/>
          <p:nvPr/>
        </p:nvSpPr>
        <p:spPr>
          <a:xfrm>
            <a:off x="731520" y="4192524"/>
            <a:ext cx="475488" cy="475488"/>
          </a:xfrm>
          <a:prstGeom prst="ellipse">
            <a:avLst/>
          </a:prstGeom>
          <a:solidFill>
            <a:schemeClr val="accent1"/>
          </a:solidFill>
          <a:ln/>
        </p:spPr>
      </p:sp>
      <p:pic>
        <p:nvPicPr>
          <p:cNvPr id="16" name="Icon FaCross 278" descr="preencoded.png">    </p:cNvPr>
          <p:cNvPicPr>
            <a:picLocks noChangeAspect="1"/>
          </p:cNvPicPr>
          <p:nvPr/>
        </p:nvPicPr>
        <p:blipFill>
          <a:blip r:embed="rId3"/>
          <a:stretch>
            <a:fillRect/>
          </a:stretch>
        </p:blipFill>
        <p:spPr>
          <a:xfrm>
            <a:off x="836127" y="4297131"/>
            <a:ext cx="266273" cy="266273"/>
          </a:xfrm>
          <a:prstGeom prst="rect">
            <a:avLst/>
          </a:prstGeom>
        </p:spPr>
      </p:pic>
      <p:sp>
        <p:nvSpPr>
          <p:cNvPr id="17" name="Card title 279"/>
          <p:cNvSpPr txBox="1"/>
          <p:nvPr/>
        </p:nvSpPr>
        <p:spPr>
          <a:xfrm>
            <a:off x="1335024" y="4192524"/>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Missionaries and explorers</a:t>
            </a:r>
            <a:endParaRPr lang="en-US" sz="1700" dirty="0"/>
          </a:p>
        </p:txBody>
      </p:sp>
      <p:sp>
        <p:nvSpPr>
          <p:cNvPr id="18" name="Text 280"/>
          <p:cNvSpPr txBox="1"/>
          <p:nvPr/>
        </p:nvSpPr>
        <p:spPr>
          <a:xfrm>
            <a:off x="731520" y="4777740"/>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Livingstone's 'Commerce, Christianity and Civilisation'. Explorers such as Stanley made Africa front-page news.</a:t>
            </a:r>
            <a:endParaRPr lang="en-US" sz="2000" dirty="0"/>
          </a:p>
        </p:txBody>
      </p:sp>
      <p:sp>
        <p:nvSpPr>
          <p:cNvPr id="19" name="Card 281"/>
          <p:cNvSpPr/>
          <p:nvPr/>
        </p:nvSpPr>
        <p:spPr>
          <a:xfrm>
            <a:off x="6233008" y="4009644"/>
            <a:ext cx="5410048" cy="2253996"/>
          </a:xfrm>
          <a:prstGeom prst="roundRect">
            <a:avLst>
              <a:gd name="adj" fmla="val 4057"/>
            </a:avLst>
          </a:prstGeom>
          <a:solidFill>
            <a:schemeClr val="accent1">
              <a:alpha val="10000"/>
            </a:schemeClr>
          </a:solidFill>
          <a:ln/>
        </p:spPr>
      </p:sp>
      <p:sp>
        <p:nvSpPr>
          <p:cNvPr id="20" name="Icon circle 282"/>
          <p:cNvSpPr/>
          <p:nvPr/>
        </p:nvSpPr>
        <p:spPr>
          <a:xfrm>
            <a:off x="6415888" y="4192524"/>
            <a:ext cx="475488" cy="475488"/>
          </a:xfrm>
          <a:prstGeom prst="ellipse">
            <a:avLst/>
          </a:prstGeom>
          <a:solidFill>
            <a:schemeClr val="accent1"/>
          </a:solidFill>
          <a:ln/>
        </p:spPr>
      </p:sp>
      <p:pic>
        <p:nvPicPr>
          <p:cNvPr id="21" name="Icon FaNewspaper 283" descr="preencoded.png">    </p:cNvPr>
          <p:cNvPicPr>
            <a:picLocks noChangeAspect="1"/>
          </p:cNvPicPr>
          <p:nvPr/>
        </p:nvPicPr>
        <p:blipFill>
          <a:blip r:embed="rId4"/>
          <a:stretch>
            <a:fillRect/>
          </a:stretch>
        </p:blipFill>
        <p:spPr>
          <a:xfrm>
            <a:off x="6520495" y="4297131"/>
            <a:ext cx="266273" cy="266273"/>
          </a:xfrm>
          <a:prstGeom prst="rect">
            <a:avLst/>
          </a:prstGeom>
        </p:spPr>
      </p:pic>
      <p:sp>
        <p:nvSpPr>
          <p:cNvPr id="22" name="Card title 284"/>
          <p:cNvSpPr txBox="1"/>
          <p:nvPr/>
        </p:nvSpPr>
        <p:spPr>
          <a:xfrm>
            <a:off x="7019392" y="4192524"/>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Popular nationalism</a:t>
            </a:r>
            <a:endParaRPr lang="en-US" sz="1700" dirty="0"/>
          </a:p>
        </p:txBody>
      </p:sp>
      <p:sp>
        <p:nvSpPr>
          <p:cNvPr id="23" name="Text 285"/>
          <p:cNvSpPr txBox="1"/>
          <p:nvPr/>
        </p:nvSpPr>
        <p:spPr>
          <a:xfrm>
            <a:off x="6415888" y="4777740"/>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Mass newspapers and music halls celebrated empire. 'Jingoism' made expansion popular with new voters.</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28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KQ1 · CAPABILITY</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How conquest became cheap</a:t>
            </a:r>
            <a:endParaRPr lang="en-US" sz="3400" dirty="0"/>
          </a:p>
        </p:txBody>
      </p:sp>
      <p:sp>
        <p:nvSpPr>
          <p:cNvPr id="4" name="Icon circle 287"/>
          <p:cNvSpPr/>
          <p:nvPr/>
        </p:nvSpPr>
        <p:spPr>
          <a:xfrm>
            <a:off x="548640" y="1692783"/>
            <a:ext cx="566928" cy="566928"/>
          </a:xfrm>
          <a:prstGeom prst="ellipse">
            <a:avLst/>
          </a:prstGeom>
          <a:solidFill>
            <a:schemeClr val="accent1"/>
          </a:solidFill>
          <a:ln/>
        </p:spPr>
      </p:sp>
      <p:pic>
        <p:nvPicPr>
          <p:cNvPr id="5" name="Icon FaHeartbeat 288" descr="preencoded.png">    </p:cNvPr>
          <p:cNvPicPr>
            <a:picLocks noChangeAspect="1"/>
          </p:cNvPicPr>
          <p:nvPr/>
        </p:nvPicPr>
        <p:blipFill>
          <a:blip r:embed="rId1"/>
          <a:stretch>
            <a:fillRect/>
          </a:stretch>
        </p:blipFill>
        <p:spPr>
          <a:xfrm>
            <a:off x="673364" y="1817507"/>
            <a:ext cx="317480" cy="317480"/>
          </a:xfrm>
          <a:prstGeom prst="rect">
            <a:avLst/>
          </a:prstGeom>
        </p:spPr>
      </p:pic>
      <p:sp>
        <p:nvSpPr>
          <p:cNvPr id="6" name="Text 289"/>
          <p:cNvSpPr txBox="1"/>
          <p:nvPr/>
        </p:nvSpPr>
        <p:spPr>
          <a:xfrm>
            <a:off x="1280160" y="1481328"/>
            <a:ext cx="5303520" cy="347472"/>
          </a:xfrm>
          <a:prstGeom prst="rect">
            <a:avLst/>
          </a:prstGeom>
          <a:noFill/>
          <a:ln/>
        </p:spPr>
        <p:txBody>
          <a:bodyPr wrap="square" lIns="0" tIns="0" rIns="0" bIns="0" rtlCol="0" anchor="b"/>
          <a:lstStyle/>
          <a:p>
            <a:pPr algn="l" indent="0" marL="0">
              <a:spcAft>
                <a:spcPts val="600"/>
              </a:spcAft>
              <a:buNone/>
            </a:pPr>
            <a:r>
              <a:rPr lang="en-US" sz="1700" b="1" dirty="0">
                <a:solidFill>
                  <a:schemeClr val="tx2"/>
                </a:solidFill>
              </a:rPr>
              <a:t>Quinine</a:t>
            </a:r>
            <a:endParaRPr lang="en-US" sz="1700" dirty="0"/>
          </a:p>
        </p:txBody>
      </p:sp>
      <p:sp>
        <p:nvSpPr>
          <p:cNvPr id="7" name="Text 290"/>
          <p:cNvSpPr txBox="1"/>
          <p:nvPr/>
        </p:nvSpPr>
        <p:spPr>
          <a:xfrm>
            <a:off x="1280160" y="1847088"/>
            <a:ext cx="5303520" cy="62407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Protection against malaria made the African interior survivable for Europeans.</a:t>
            </a:r>
            <a:endParaRPr lang="en-US" sz="1500" dirty="0"/>
          </a:p>
        </p:txBody>
      </p:sp>
      <p:sp>
        <p:nvSpPr>
          <p:cNvPr id="8" name="Icon circle 291"/>
          <p:cNvSpPr/>
          <p:nvPr/>
        </p:nvSpPr>
        <p:spPr>
          <a:xfrm>
            <a:off x="548640" y="2956941"/>
            <a:ext cx="566928" cy="566928"/>
          </a:xfrm>
          <a:prstGeom prst="ellipse">
            <a:avLst/>
          </a:prstGeom>
          <a:solidFill>
            <a:schemeClr val="accent1"/>
          </a:solidFill>
          <a:ln/>
        </p:spPr>
      </p:sp>
      <p:pic>
        <p:nvPicPr>
          <p:cNvPr id="9" name="Icon FaShip 292" descr="preencoded.png">    </p:cNvPr>
          <p:cNvPicPr>
            <a:picLocks noChangeAspect="1"/>
          </p:cNvPicPr>
          <p:nvPr/>
        </p:nvPicPr>
        <p:blipFill>
          <a:blip r:embed="rId2"/>
          <a:stretch>
            <a:fillRect/>
          </a:stretch>
        </p:blipFill>
        <p:spPr>
          <a:xfrm>
            <a:off x="673364" y="3081665"/>
            <a:ext cx="317480" cy="317480"/>
          </a:xfrm>
          <a:prstGeom prst="rect">
            <a:avLst/>
          </a:prstGeom>
        </p:spPr>
      </p:pic>
      <p:sp>
        <p:nvSpPr>
          <p:cNvPr id="10" name="Text 293"/>
          <p:cNvSpPr txBox="1"/>
          <p:nvPr/>
        </p:nvSpPr>
        <p:spPr>
          <a:xfrm>
            <a:off x="1280160" y="2745486"/>
            <a:ext cx="5303520" cy="347472"/>
          </a:xfrm>
          <a:prstGeom prst="rect">
            <a:avLst/>
          </a:prstGeom>
          <a:noFill/>
          <a:ln/>
        </p:spPr>
        <p:txBody>
          <a:bodyPr wrap="square" lIns="0" tIns="0" rIns="0" bIns="0" rtlCol="0" anchor="b"/>
          <a:lstStyle/>
          <a:p>
            <a:pPr algn="l" indent="0" marL="0">
              <a:spcAft>
                <a:spcPts val="600"/>
              </a:spcAft>
              <a:buNone/>
            </a:pPr>
            <a:r>
              <a:rPr lang="en-US" sz="1700" b="1" dirty="0">
                <a:solidFill>
                  <a:schemeClr val="tx2"/>
                </a:solidFill>
              </a:rPr>
              <a:t>Steamships &amp; railways</a:t>
            </a:r>
            <a:endParaRPr lang="en-US" sz="1700" dirty="0"/>
          </a:p>
        </p:txBody>
      </p:sp>
      <p:sp>
        <p:nvSpPr>
          <p:cNvPr id="11" name="Text 294"/>
          <p:cNvSpPr txBox="1"/>
          <p:nvPr/>
        </p:nvSpPr>
        <p:spPr>
          <a:xfrm>
            <a:off x="1280160" y="3111246"/>
            <a:ext cx="5303520" cy="62407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Moved troops and goods inland quickly; the Suez Canal cut the journey to Asia.</a:t>
            </a:r>
            <a:endParaRPr lang="en-US" sz="1500" dirty="0"/>
          </a:p>
        </p:txBody>
      </p:sp>
      <p:sp>
        <p:nvSpPr>
          <p:cNvPr id="12" name="Icon circle 295"/>
          <p:cNvSpPr/>
          <p:nvPr/>
        </p:nvSpPr>
        <p:spPr>
          <a:xfrm>
            <a:off x="548640" y="4221099"/>
            <a:ext cx="566928" cy="566928"/>
          </a:xfrm>
          <a:prstGeom prst="ellipse">
            <a:avLst/>
          </a:prstGeom>
          <a:solidFill>
            <a:schemeClr val="accent1"/>
          </a:solidFill>
          <a:ln/>
        </p:spPr>
      </p:sp>
      <p:pic>
        <p:nvPicPr>
          <p:cNvPr id="13" name="Icon FaBroadcastTower 296" descr="preencoded.png">    </p:cNvPr>
          <p:cNvPicPr>
            <a:picLocks noChangeAspect="1"/>
          </p:cNvPicPr>
          <p:nvPr/>
        </p:nvPicPr>
        <p:blipFill>
          <a:blip r:embed="rId3"/>
          <a:stretch>
            <a:fillRect/>
          </a:stretch>
        </p:blipFill>
        <p:spPr>
          <a:xfrm>
            <a:off x="673364" y="4345823"/>
            <a:ext cx="317480" cy="317480"/>
          </a:xfrm>
          <a:prstGeom prst="rect">
            <a:avLst/>
          </a:prstGeom>
        </p:spPr>
      </p:pic>
      <p:sp>
        <p:nvSpPr>
          <p:cNvPr id="14" name="Text 297"/>
          <p:cNvSpPr txBox="1"/>
          <p:nvPr/>
        </p:nvSpPr>
        <p:spPr>
          <a:xfrm>
            <a:off x="1280160" y="4009644"/>
            <a:ext cx="5303520" cy="347472"/>
          </a:xfrm>
          <a:prstGeom prst="rect">
            <a:avLst/>
          </a:prstGeom>
          <a:noFill/>
          <a:ln/>
        </p:spPr>
        <p:txBody>
          <a:bodyPr wrap="square" lIns="0" tIns="0" rIns="0" bIns="0" rtlCol="0" anchor="b"/>
          <a:lstStyle/>
          <a:p>
            <a:pPr algn="l" indent="0" marL="0">
              <a:spcAft>
                <a:spcPts val="600"/>
              </a:spcAft>
              <a:buNone/>
            </a:pPr>
            <a:r>
              <a:rPr lang="en-US" sz="1700" b="1" dirty="0">
                <a:solidFill>
                  <a:schemeClr val="tx2"/>
                </a:solidFill>
              </a:rPr>
              <a:t>Telegraph</a:t>
            </a:r>
            <a:endParaRPr lang="en-US" sz="1700" dirty="0"/>
          </a:p>
        </p:txBody>
      </p:sp>
      <p:sp>
        <p:nvSpPr>
          <p:cNvPr id="15" name="Text 298"/>
          <p:cNvSpPr txBox="1"/>
          <p:nvPr/>
        </p:nvSpPr>
        <p:spPr>
          <a:xfrm>
            <a:off x="1280160" y="4375404"/>
            <a:ext cx="5303520" cy="62407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Fast communication between colonies and capitals.</a:t>
            </a:r>
            <a:endParaRPr lang="en-US" sz="1500" dirty="0"/>
          </a:p>
        </p:txBody>
      </p:sp>
      <p:sp>
        <p:nvSpPr>
          <p:cNvPr id="16" name="Icon circle 299"/>
          <p:cNvSpPr/>
          <p:nvPr/>
        </p:nvSpPr>
        <p:spPr>
          <a:xfrm>
            <a:off x="548640" y="5485257"/>
            <a:ext cx="566928" cy="566928"/>
          </a:xfrm>
          <a:prstGeom prst="ellipse">
            <a:avLst/>
          </a:prstGeom>
          <a:solidFill>
            <a:schemeClr val="accent1"/>
          </a:solidFill>
          <a:ln/>
        </p:spPr>
      </p:sp>
      <p:pic>
        <p:nvPicPr>
          <p:cNvPr id="17" name="Icon GiMachineGun 300" descr="preencoded.png">    </p:cNvPr>
          <p:cNvPicPr>
            <a:picLocks noChangeAspect="1"/>
          </p:cNvPicPr>
          <p:nvPr/>
        </p:nvPicPr>
        <p:blipFill>
          <a:blip r:embed="rId4"/>
          <a:stretch>
            <a:fillRect/>
          </a:stretch>
        </p:blipFill>
        <p:spPr>
          <a:xfrm>
            <a:off x="673364" y="5609981"/>
            <a:ext cx="317480" cy="317480"/>
          </a:xfrm>
          <a:prstGeom prst="rect">
            <a:avLst/>
          </a:prstGeom>
        </p:spPr>
      </p:pic>
      <p:sp>
        <p:nvSpPr>
          <p:cNvPr id="18" name="Text 301"/>
          <p:cNvSpPr txBox="1"/>
          <p:nvPr/>
        </p:nvSpPr>
        <p:spPr>
          <a:xfrm>
            <a:off x="1280160" y="5273802"/>
            <a:ext cx="5303520" cy="347472"/>
          </a:xfrm>
          <a:prstGeom prst="rect">
            <a:avLst/>
          </a:prstGeom>
          <a:noFill/>
          <a:ln/>
        </p:spPr>
        <p:txBody>
          <a:bodyPr wrap="square" lIns="0" tIns="0" rIns="0" bIns="0" rtlCol="0" anchor="b"/>
          <a:lstStyle/>
          <a:p>
            <a:pPr algn="l" indent="0" marL="0">
              <a:spcAft>
                <a:spcPts val="600"/>
              </a:spcAft>
              <a:buNone/>
            </a:pPr>
            <a:r>
              <a:rPr lang="en-US" sz="1700" b="1" dirty="0">
                <a:solidFill>
                  <a:schemeClr val="tx2"/>
                </a:solidFill>
              </a:rPr>
              <a:t>Maxim gun (1884)</a:t>
            </a:r>
            <a:endParaRPr lang="en-US" sz="1700" dirty="0"/>
          </a:p>
        </p:txBody>
      </p:sp>
      <p:sp>
        <p:nvSpPr>
          <p:cNvPr id="19" name="Text 302"/>
          <p:cNvSpPr txBox="1"/>
          <p:nvPr/>
        </p:nvSpPr>
        <p:spPr>
          <a:xfrm>
            <a:off x="1280160" y="5639562"/>
            <a:ext cx="5303520" cy="62407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Breech-loading rifles and machine guns gave Europeans crushing firepower.</a:t>
            </a:r>
            <a:endParaRPr lang="en-US" sz="1500" dirty="0"/>
          </a:p>
        </p:txBody>
      </p:sp>
      <p:sp>
        <p:nvSpPr>
          <p:cNvPr id="20" name="Quote panel 303"/>
          <p:cNvSpPr/>
          <p:nvPr/>
        </p:nvSpPr>
        <p:spPr>
          <a:xfrm>
            <a:off x="6949440" y="1481328"/>
            <a:ext cx="4693615" cy="4782312"/>
          </a:xfrm>
          <a:prstGeom prst="roundRect">
            <a:avLst>
              <a:gd name="adj" fmla="val 1948"/>
            </a:avLst>
          </a:prstGeom>
          <a:solidFill>
            <a:schemeClr val="tx2"/>
          </a:solidFill>
          <a:ln/>
        </p:spPr>
      </p:sp>
      <p:sp>
        <p:nvSpPr>
          <p:cNvPr id="21" name="Text 304"/>
          <p:cNvSpPr txBox="1"/>
          <p:nvPr/>
        </p:nvSpPr>
        <p:spPr>
          <a:xfrm>
            <a:off x="7269480" y="1755648"/>
            <a:ext cx="4053535" cy="365760"/>
          </a:xfrm>
          <a:prstGeom prst="rect">
            <a:avLst/>
          </a:prstGeom>
          <a:noFill/>
          <a:ln/>
        </p:spPr>
        <p:txBody>
          <a:bodyPr wrap="square" lIns="0" tIns="0" rIns="0" bIns="0" rtlCol="0" anchor="t"/>
          <a:lstStyle/>
          <a:p>
            <a:pPr algn="l" indent="0" marL="0">
              <a:spcAft>
                <a:spcPts val="600"/>
              </a:spcAft>
              <a:buNone/>
            </a:pPr>
            <a:r>
              <a:rPr lang="en-US" sz="1500" b="1" dirty="0">
                <a:solidFill>
                  <a:schemeClr val="accent4"/>
                </a:solidFill>
              </a:rPr>
              <a:t>Omdurman, Sudan · 1898</a:t>
            </a:r>
            <a:endParaRPr lang="en-US" sz="1500" dirty="0"/>
          </a:p>
        </p:txBody>
      </p:sp>
      <p:sp>
        <p:nvSpPr>
          <p:cNvPr id="22" name="Text 305"/>
          <p:cNvSpPr txBox="1"/>
          <p:nvPr/>
        </p:nvSpPr>
        <p:spPr>
          <a:xfrm>
            <a:off x="7269480" y="2167128"/>
            <a:ext cx="4053535" cy="868680"/>
          </a:xfrm>
          <a:prstGeom prst="rect">
            <a:avLst/>
          </a:prstGeom>
          <a:noFill/>
          <a:ln/>
        </p:spPr>
        <p:txBody>
          <a:bodyPr wrap="square" lIns="0" tIns="0" rIns="0" bIns="0" rtlCol="0" anchor="ctr"/>
          <a:lstStyle/>
          <a:p>
            <a:pPr algn="l" indent="0" marL="0">
              <a:spcAft>
                <a:spcPts val="600"/>
              </a:spcAft>
              <a:buNone/>
            </a:pPr>
            <a:r>
              <a:rPr lang="en-US" sz="5400" b="1" dirty="0">
                <a:solidFill>
                  <a:schemeClr val="bg1"/>
                </a:solidFill>
                <a:latin typeface="+mj-lt" pitchFamily="34" charset="0"/>
                <a:ea typeface="+mj-lt" pitchFamily="34" charset="-122"/>
                <a:cs typeface="+mj-lt" pitchFamily="34" charset="-120"/>
              </a:rPr>
              <a:t>c.11,000</a:t>
            </a:r>
            <a:endParaRPr lang="en-US" sz="5400" dirty="0"/>
          </a:p>
        </p:txBody>
      </p:sp>
      <p:sp>
        <p:nvSpPr>
          <p:cNvPr id="23" name="Text 306"/>
          <p:cNvSpPr txBox="1"/>
          <p:nvPr/>
        </p:nvSpPr>
        <p:spPr>
          <a:xfrm>
            <a:off x="7269480" y="3081528"/>
            <a:ext cx="4053535" cy="777240"/>
          </a:xfrm>
          <a:prstGeom prst="rect">
            <a:avLst/>
          </a:prstGeom>
          <a:noFill/>
          <a:ln/>
        </p:spPr>
        <p:txBody>
          <a:bodyPr wrap="square" lIns="0" tIns="0" rIns="0" bIns="0" rtlCol="0" anchor="t"/>
          <a:lstStyle/>
          <a:p>
            <a:pPr algn="l" indent="0" marL="0">
              <a:spcAft>
                <a:spcPts val="600"/>
              </a:spcAft>
              <a:buNone/>
            </a:pPr>
            <a:r>
              <a:rPr lang="en-US" sz="1600" dirty="0">
                <a:solidFill>
                  <a:schemeClr val="bg1"/>
                </a:solidFill>
              </a:rPr>
              <a:t>Sudanese killed — against fewer than 50 deaths on the Anglo-Egyptian side.</a:t>
            </a:r>
            <a:endParaRPr lang="en-US" sz="1600" dirty="0"/>
          </a:p>
        </p:txBody>
      </p:sp>
      <p:sp>
        <p:nvSpPr>
          <p:cNvPr id="24" name="Text 307"/>
          <p:cNvSpPr txBox="1"/>
          <p:nvPr/>
        </p:nvSpPr>
        <p:spPr>
          <a:xfrm>
            <a:off x="7269480" y="4087368"/>
            <a:ext cx="4053535" cy="960120"/>
          </a:xfrm>
          <a:prstGeom prst="rect">
            <a:avLst/>
          </a:prstGeom>
          <a:noFill/>
          <a:ln/>
        </p:spPr>
        <p:txBody>
          <a:bodyPr wrap="square" lIns="0" tIns="0" rIns="0" bIns="0" rtlCol="0" anchor="t"/>
          <a:lstStyle/>
          <a:p>
            <a:pPr algn="l" indent="0" marL="0">
              <a:spcAft>
                <a:spcPts val="600"/>
              </a:spcAft>
              <a:buNone/>
            </a:pPr>
            <a:r>
              <a:rPr lang="en-US" sz="1900" i="1" dirty="0">
                <a:solidFill>
                  <a:schemeClr val="bg1"/>
                </a:solidFill>
                <a:latin typeface="+mj-lt" pitchFamily="34" charset="0"/>
                <a:ea typeface="+mj-lt" pitchFamily="34" charset="-122"/>
                <a:cs typeface="+mj-lt" pitchFamily="34" charset="-120"/>
              </a:rPr>
              <a:t>“Whatever happens, we have got</a:t>
            </a:r>
            <a:endParaRPr lang="en-US" sz="1900" dirty="0"/>
          </a:p>
          <a:p>
            <a:pPr algn="l" indent="0" marL="0">
              <a:spcAft>
                <a:spcPts val="600"/>
              </a:spcAft>
              <a:buNone/>
            </a:pPr>
            <a:r>
              <a:rPr lang="en-US" sz="1900" i="1" dirty="0">
                <a:solidFill>
                  <a:schemeClr val="bg1"/>
                </a:solidFill>
                <a:latin typeface="+mj-lt" pitchFamily="34" charset="0"/>
                <a:ea typeface="+mj-lt" pitchFamily="34" charset="-122"/>
                <a:cs typeface="+mj-lt" pitchFamily="34" charset="-120"/>
              </a:rPr>
              <a:t>The Maxim gun, and they have not.”</a:t>
            </a:r>
            <a:endParaRPr lang="en-US" sz="1900" dirty="0"/>
          </a:p>
        </p:txBody>
      </p:sp>
      <p:sp>
        <p:nvSpPr>
          <p:cNvPr id="25" name="Text 308"/>
          <p:cNvSpPr txBox="1"/>
          <p:nvPr/>
        </p:nvSpPr>
        <p:spPr>
          <a:xfrm>
            <a:off x="7269480" y="5093208"/>
            <a:ext cx="4053535" cy="320040"/>
          </a:xfrm>
          <a:prstGeom prst="rect">
            <a:avLst/>
          </a:prstGeom>
          <a:noFill/>
          <a:ln/>
        </p:spPr>
        <p:txBody>
          <a:bodyPr wrap="square" lIns="0" tIns="0" rIns="0" bIns="0" rtlCol="0" anchor="t"/>
          <a:lstStyle/>
          <a:p>
            <a:pPr algn="l" indent="0" marL="0">
              <a:spcAft>
                <a:spcPts val="600"/>
              </a:spcAft>
              <a:buNone/>
            </a:pPr>
            <a:r>
              <a:rPr lang="en-US" sz="1300" dirty="0">
                <a:solidFill>
                  <a:schemeClr val="bg2"/>
                </a:solidFill>
              </a:rPr>
              <a:t>— Hilaire Belloc, The Modern Traveller (1898)</a:t>
            </a:r>
            <a:endParaRPr lang="en-US" sz="1300" dirty="0"/>
          </a:p>
        </p:txBody>
      </p:sp>
      <p:sp>
        <p:nvSpPr>
          <p:cNvPr id="26" name="Text 309"/>
          <p:cNvSpPr txBox="1"/>
          <p:nvPr/>
        </p:nvSpPr>
        <p:spPr>
          <a:xfrm>
            <a:off x="7269480" y="5550408"/>
            <a:ext cx="4053535" cy="594360"/>
          </a:xfrm>
          <a:prstGeom prst="rect">
            <a:avLst/>
          </a:prstGeom>
          <a:noFill/>
          <a:ln/>
        </p:spPr>
        <p:txBody>
          <a:bodyPr wrap="square" lIns="0" tIns="0" rIns="0" bIns="0" rtlCol="0" anchor="t"/>
          <a:lstStyle/>
          <a:p>
            <a:pPr algn="l" indent="0" marL="0">
              <a:spcAft>
                <a:spcPts val="600"/>
              </a:spcAft>
              <a:buNone/>
            </a:pPr>
            <a:r>
              <a:rPr lang="en-US" sz="1500" b="1" dirty="0">
                <a:solidFill>
                  <a:schemeClr val="accent4"/>
                </a:solidFill>
              </a:rPr>
              <a:t>Technology didn't cause imperialism — it made it cheap and fast.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310"/>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KQ1 · SUPPORT AT HOME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Domestic support for empire</a:t>
            </a:r>
            <a:endParaRPr lang="en-US" sz="3400" dirty="0"/>
          </a:p>
        </p:txBody>
      </p:sp>
      <p:sp>
        <p:nvSpPr>
          <p:cNvPr id="4" name="Card 311"/>
          <p:cNvSpPr/>
          <p:nvPr/>
        </p:nvSpPr>
        <p:spPr>
          <a:xfrm>
            <a:off x="548640" y="1481328"/>
            <a:ext cx="3515258" cy="3794760"/>
          </a:xfrm>
          <a:prstGeom prst="roundRect">
            <a:avLst>
              <a:gd name="adj" fmla="val 2601"/>
            </a:avLst>
          </a:prstGeom>
          <a:solidFill>
            <a:schemeClr val="accent1">
              <a:alpha val="10000"/>
            </a:schemeClr>
          </a:solidFill>
          <a:ln/>
        </p:spPr>
      </p:sp>
      <p:sp>
        <p:nvSpPr>
          <p:cNvPr id="5" name="Icon circle 312"/>
          <p:cNvSpPr/>
          <p:nvPr/>
        </p:nvSpPr>
        <p:spPr>
          <a:xfrm>
            <a:off x="731520" y="1664208"/>
            <a:ext cx="475488" cy="475488"/>
          </a:xfrm>
          <a:prstGeom prst="ellipse">
            <a:avLst/>
          </a:prstGeom>
          <a:solidFill>
            <a:schemeClr val="accent1"/>
          </a:solidFill>
          <a:ln/>
        </p:spPr>
      </p:sp>
      <p:pic>
        <p:nvPicPr>
          <p:cNvPr id="6" name="Icon FaCrown 313"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314"/>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900" b="1" dirty="0">
                <a:solidFill>
                  <a:schemeClr val="tx2"/>
                </a:solidFill>
              </a:rPr>
              <a:t>Britain</a:t>
            </a:r>
            <a:endParaRPr lang="en-US" sz="1900" dirty="0"/>
          </a:p>
        </p:txBody>
      </p:sp>
      <p:sp>
        <p:nvSpPr>
          <p:cNvPr id="8" name="Text 315"/>
          <p:cNvSpPr txBox="1"/>
          <p:nvPr/>
        </p:nvSpPr>
        <p:spPr>
          <a:xfrm>
            <a:off x="731520" y="2249424"/>
            <a:ext cx="3149498" cy="2843784"/>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Disraeli's Crystal Palace speech (1872) made empire a Conservative cause</a:t>
            </a:r>
            <a:endParaRPr lang="en-US" sz="1800" dirty="0"/>
          </a:p>
          <a:p>
            <a:pPr algn="l" marL="190500" indent="-190500">
              <a:spcAft>
                <a:spcPts val="500"/>
              </a:spcAft>
              <a:buSzPct val="100000"/>
              <a:buChar char="•"/>
            </a:pPr>
            <a:r>
              <a:rPr lang="en-US" sz="1800" dirty="0">
                <a:solidFill>
                  <a:schemeClr val="tx1"/>
                </a:solidFill>
              </a:rPr>
              <a:t>Primrose League; Daily Mail (1896)</a:t>
            </a:r>
            <a:endParaRPr lang="en-US" sz="1800" dirty="0"/>
          </a:p>
          <a:p>
            <a:pPr algn="l" marL="190500" indent="-190500">
              <a:spcAft>
                <a:spcPts val="500"/>
              </a:spcAft>
              <a:buSzPct val="100000"/>
              <a:buChar char="•"/>
            </a:pPr>
            <a:r>
              <a:rPr lang="en-US" sz="1800" dirty="0">
                <a:solidFill>
                  <a:schemeClr val="tx1"/>
                </a:solidFill>
              </a:rPr>
              <a:t>Jingoism peaked on 'Mafeking night' (1900)</a:t>
            </a:r>
            <a:endParaRPr lang="en-US" sz="1800" dirty="0"/>
          </a:p>
          <a:p>
            <a:pPr algn="l" marL="190500" indent="-190500">
              <a:spcAft>
                <a:spcPts val="500"/>
              </a:spcAft>
              <a:buSzPct val="100000"/>
              <a:buChar char="•"/>
            </a:pPr>
            <a:r>
              <a:rPr lang="en-US" sz="1800" dirty="0">
                <a:solidFill>
                  <a:schemeClr val="tx1"/>
                </a:solidFill>
              </a:rPr>
              <a:t>Critics: Liberals, Hobson; Boer War costs and camps</a:t>
            </a:r>
            <a:endParaRPr lang="en-US" sz="1800" dirty="0"/>
          </a:p>
        </p:txBody>
      </p:sp>
      <p:sp>
        <p:nvSpPr>
          <p:cNvPr id="9" name="Card 316"/>
          <p:cNvSpPr/>
          <p:nvPr/>
        </p:nvSpPr>
        <p:spPr>
          <a:xfrm>
            <a:off x="4338218" y="1481328"/>
            <a:ext cx="3515258" cy="3794760"/>
          </a:xfrm>
          <a:prstGeom prst="roundRect">
            <a:avLst>
              <a:gd name="adj" fmla="val 2601"/>
            </a:avLst>
          </a:prstGeom>
          <a:solidFill>
            <a:schemeClr val="accent1">
              <a:alpha val="10000"/>
            </a:schemeClr>
          </a:solidFill>
          <a:ln/>
        </p:spPr>
      </p:sp>
      <p:sp>
        <p:nvSpPr>
          <p:cNvPr id="10" name="Icon circle 317"/>
          <p:cNvSpPr/>
          <p:nvPr/>
        </p:nvSpPr>
        <p:spPr>
          <a:xfrm>
            <a:off x="4521098" y="1664208"/>
            <a:ext cx="475488" cy="475488"/>
          </a:xfrm>
          <a:prstGeom prst="ellipse">
            <a:avLst/>
          </a:prstGeom>
          <a:solidFill>
            <a:schemeClr val="accent1"/>
          </a:solidFill>
          <a:ln/>
        </p:spPr>
      </p:sp>
      <p:pic>
        <p:nvPicPr>
          <p:cNvPr id="11" name="Icon FaLandmark 318"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319"/>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900" b="1" dirty="0">
                <a:solidFill>
                  <a:schemeClr val="tx2"/>
                </a:solidFill>
              </a:rPr>
              <a:t>France</a:t>
            </a:r>
            <a:endParaRPr lang="en-US" sz="1900" dirty="0"/>
          </a:p>
        </p:txBody>
      </p:sp>
      <p:sp>
        <p:nvSpPr>
          <p:cNvPr id="13" name="Text 320"/>
          <p:cNvSpPr txBox="1"/>
          <p:nvPr/>
        </p:nvSpPr>
        <p:spPr>
          <a:xfrm>
            <a:off x="4521098" y="2249424"/>
            <a:ext cx="3149498" cy="2843784"/>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Small but powerful colonial lobby ('parti colonial')</a:t>
            </a:r>
            <a:endParaRPr lang="en-US" sz="1800" dirty="0"/>
          </a:p>
          <a:p>
            <a:pPr algn="l" marL="190500" indent="-190500">
              <a:spcAft>
                <a:spcPts val="500"/>
              </a:spcAft>
              <a:buSzPct val="100000"/>
              <a:buChar char="•"/>
            </a:pPr>
            <a:r>
              <a:rPr lang="en-US" sz="1800" dirty="0">
                <a:solidFill>
                  <a:schemeClr val="tx1"/>
                </a:solidFill>
              </a:rPr>
              <a:t>Jules Ferry fell in 1885 over losses in Tonkin</a:t>
            </a:r>
            <a:endParaRPr lang="en-US" sz="1800" dirty="0"/>
          </a:p>
          <a:p>
            <a:pPr algn="l" marL="190500" indent="-190500">
              <a:spcAft>
                <a:spcPts val="500"/>
              </a:spcAft>
              <a:buSzPct val="100000"/>
              <a:buChar char="•"/>
            </a:pPr>
            <a:r>
              <a:rPr lang="en-US" sz="1800" dirty="0">
                <a:solidFill>
                  <a:schemeClr val="tx1"/>
                </a:solidFill>
              </a:rPr>
              <a:t>Public opinion mostly indifferent</a:t>
            </a:r>
            <a:endParaRPr lang="en-US" sz="1800" dirty="0"/>
          </a:p>
          <a:p>
            <a:pPr algn="l" marL="190500" indent="-190500">
              <a:spcAft>
                <a:spcPts val="500"/>
              </a:spcAft>
              <a:buSzPct val="100000"/>
              <a:buChar char="•"/>
            </a:pPr>
            <a:r>
              <a:rPr lang="en-US" sz="1800" dirty="0">
                <a:solidFill>
                  <a:schemeClr val="tx1"/>
                </a:solidFill>
              </a:rPr>
              <a:t>Many cared more about Alsace-Lorraine than Africa</a:t>
            </a:r>
            <a:endParaRPr lang="en-US" sz="1800" dirty="0"/>
          </a:p>
        </p:txBody>
      </p:sp>
      <p:sp>
        <p:nvSpPr>
          <p:cNvPr id="14" name="Card 321"/>
          <p:cNvSpPr/>
          <p:nvPr/>
        </p:nvSpPr>
        <p:spPr>
          <a:xfrm>
            <a:off x="8127797" y="1481328"/>
            <a:ext cx="3515258" cy="3794760"/>
          </a:xfrm>
          <a:prstGeom prst="roundRect">
            <a:avLst>
              <a:gd name="adj" fmla="val 2601"/>
            </a:avLst>
          </a:prstGeom>
          <a:solidFill>
            <a:schemeClr val="accent1">
              <a:alpha val="10000"/>
            </a:schemeClr>
          </a:solidFill>
          <a:ln/>
        </p:spPr>
      </p:sp>
      <p:sp>
        <p:nvSpPr>
          <p:cNvPr id="15" name="Icon circle 322"/>
          <p:cNvSpPr/>
          <p:nvPr/>
        </p:nvSpPr>
        <p:spPr>
          <a:xfrm>
            <a:off x="8310677" y="1664208"/>
            <a:ext cx="475488" cy="475488"/>
          </a:xfrm>
          <a:prstGeom prst="ellipse">
            <a:avLst/>
          </a:prstGeom>
          <a:solidFill>
            <a:schemeClr val="accent1"/>
          </a:solidFill>
          <a:ln/>
        </p:spPr>
      </p:sp>
      <p:pic>
        <p:nvPicPr>
          <p:cNvPr id="16" name="Icon GiBattleship 323"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324"/>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900" b="1" dirty="0">
                <a:solidFill>
                  <a:schemeClr val="tx2"/>
                </a:solidFill>
              </a:rPr>
              <a:t>Germany</a:t>
            </a:r>
            <a:endParaRPr lang="en-US" sz="1900" dirty="0"/>
          </a:p>
        </p:txBody>
      </p:sp>
      <p:sp>
        <p:nvSpPr>
          <p:cNvPr id="18" name="Text 325"/>
          <p:cNvSpPr txBox="1"/>
          <p:nvPr/>
        </p:nvSpPr>
        <p:spPr>
          <a:xfrm>
            <a:off x="8310677" y="2249424"/>
            <a:ext cx="3149498" cy="2843784"/>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Bismarck sceptical, yet took colonies in 1884–85</a:t>
            </a:r>
            <a:endParaRPr lang="en-US" sz="1800" dirty="0"/>
          </a:p>
          <a:p>
            <a:pPr algn="l" marL="190500" indent="-190500">
              <a:spcAft>
                <a:spcPts val="500"/>
              </a:spcAft>
              <a:buSzPct val="100000"/>
              <a:buChar char="•"/>
            </a:pPr>
            <a:r>
              <a:rPr lang="en-US" sz="1800" dirty="0">
                <a:solidFill>
                  <a:schemeClr val="tx1"/>
                </a:solidFill>
              </a:rPr>
              <a:t>Colonial Society (1887); Pan-German League (1891)</a:t>
            </a:r>
            <a:endParaRPr lang="en-US" sz="1800" dirty="0"/>
          </a:p>
          <a:p>
            <a:pPr algn="l" marL="190500" indent="-190500">
              <a:spcAft>
                <a:spcPts val="500"/>
              </a:spcAft>
              <a:buSzPct val="100000"/>
              <a:buChar char="•"/>
            </a:pPr>
            <a:r>
              <a:rPr lang="en-US" sz="1800" dirty="0">
                <a:solidFill>
                  <a:schemeClr val="tx1"/>
                </a:solidFill>
              </a:rPr>
              <a:t>Navy League (1898) — a mass pressure group</a:t>
            </a:r>
            <a:endParaRPr lang="en-US" sz="1800" dirty="0"/>
          </a:p>
          <a:p>
            <a:pPr algn="l" marL="190500" indent="-190500">
              <a:spcAft>
                <a:spcPts val="500"/>
              </a:spcAft>
              <a:buSzPct val="100000"/>
              <a:buChar char="•"/>
            </a:pPr>
            <a:r>
              <a:rPr lang="en-US" sz="1800" dirty="0">
                <a:solidFill>
                  <a:schemeClr val="tx1"/>
                </a:solidFill>
              </a:rPr>
              <a:t>Weltpolitik used to rally Germans behind the Kaiser</a:t>
            </a:r>
            <a:endParaRPr lang="en-US" sz="1800" dirty="0"/>
          </a:p>
        </p:txBody>
      </p:sp>
      <p:sp>
        <p:nvSpPr>
          <p:cNvPr id="19" name="Callout 326"/>
          <p:cNvSpPr/>
          <p:nvPr/>
        </p:nvSpPr>
        <p:spPr>
          <a:xfrm>
            <a:off x="548640" y="5550408"/>
            <a:ext cx="11094415" cy="713232"/>
          </a:xfrm>
          <a:prstGeom prst="roundRect">
            <a:avLst>
              <a:gd name="adj" fmla="val 12821"/>
            </a:avLst>
          </a:prstGeom>
          <a:solidFill>
            <a:schemeClr val="accent4">
              <a:alpha val="20000"/>
            </a:schemeClr>
          </a:solidFill>
          <a:ln/>
        </p:spPr>
      </p:sp>
      <p:sp>
        <p:nvSpPr>
          <p:cNvPr id="20" name="Callout label 327"/>
          <p:cNvSpPr/>
          <p:nvPr/>
        </p:nvSpPr>
        <p:spPr>
          <a:xfrm>
            <a:off x="731520" y="5751576"/>
            <a:ext cx="894203" cy="310896"/>
          </a:xfrm>
          <a:prstGeom prst="roundRect">
            <a:avLst>
              <a:gd name="adj" fmla="val 50000"/>
            </a:avLst>
          </a:prstGeom>
          <a:solidFill>
            <a:schemeClr val="accent4"/>
          </a:solidFill>
          <a:ln/>
        </p:spPr>
      </p:sp>
      <p:sp>
        <p:nvSpPr>
          <p:cNvPr id="21" name="Text 328"/>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22" name="Text 329"/>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Pressure groups and the press were loud — but most voters cared about empire only when national pride was at stake.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330"/>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KQ1 · INTERPRETATIONS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imperialism? Four explanations</a:t>
            </a:r>
            <a:endParaRPr lang="en-US" sz="3400" dirty="0"/>
          </a:p>
        </p:txBody>
      </p:sp>
      <p:sp>
        <p:nvSpPr>
          <p:cNvPr id="4" name="Card 331"/>
          <p:cNvSpPr/>
          <p:nvPr/>
        </p:nvSpPr>
        <p:spPr>
          <a:xfrm>
            <a:off x="548640" y="1481328"/>
            <a:ext cx="5410048" cy="1760220"/>
          </a:xfrm>
          <a:prstGeom prst="roundRect">
            <a:avLst>
              <a:gd name="adj" fmla="val 5195"/>
            </a:avLst>
          </a:prstGeom>
          <a:solidFill>
            <a:schemeClr val="accent1">
              <a:alpha val="10000"/>
            </a:schemeClr>
          </a:solidFill>
          <a:ln/>
        </p:spPr>
      </p:sp>
      <p:sp>
        <p:nvSpPr>
          <p:cNvPr id="5" name="Icon circle 332"/>
          <p:cNvSpPr/>
          <p:nvPr/>
        </p:nvSpPr>
        <p:spPr>
          <a:xfrm>
            <a:off x="731520" y="1664208"/>
            <a:ext cx="475488" cy="475488"/>
          </a:xfrm>
          <a:prstGeom prst="ellipse">
            <a:avLst/>
          </a:prstGeom>
          <a:solidFill>
            <a:schemeClr val="accent1"/>
          </a:solidFill>
          <a:ln/>
        </p:spPr>
      </p:sp>
      <p:pic>
        <p:nvPicPr>
          <p:cNvPr id="6" name="Icon FaCoins 333"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334"/>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J.A. Hobson (1902)</a:t>
            </a:r>
            <a:endParaRPr lang="en-US" sz="1700" dirty="0"/>
          </a:p>
        </p:txBody>
      </p:sp>
      <p:sp>
        <p:nvSpPr>
          <p:cNvPr id="8" name="Text 335"/>
          <p:cNvSpPr txBox="1"/>
          <p:nvPr/>
        </p:nvSpPr>
        <p:spPr>
          <a:xfrm>
            <a:off x="731520" y="2249424"/>
            <a:ext cx="5044288" cy="809244"/>
          </a:xfrm>
          <a:prstGeom prst="rect">
            <a:avLst/>
          </a:prstGeom>
          <a:noFill/>
          <a:ln/>
        </p:spPr>
        <p:txBody>
          <a:bodyPr wrap="square" lIns="0" tIns="0" rIns="0" bIns="0" rtlCol="0" anchor="t"/>
          <a:lstStyle/>
          <a:p>
            <a:pPr algn="l" indent="0" marL="0">
              <a:spcAft>
                <a:spcPts val="500"/>
              </a:spcAft>
              <a:buNone/>
            </a:pPr>
            <a:r>
              <a:rPr lang="en-US" sz="1700" b="1" dirty="0">
                <a:solidFill>
                  <a:schemeClr val="tx1"/>
                </a:solidFill>
              </a:rPr>
              <a:t>Economic:</a:t>
            </a:r>
            <a:r>
              <a:rPr lang="en-US" sz="1700" dirty="0">
                <a:solidFill>
                  <a:schemeClr val="tx1"/>
                </a:solidFill>
              </a:rPr>
              <a:t> capitalists with surplus money pushed governments to grab colonies to invest in. Written by a critic after the Boer War.</a:t>
            </a:r>
            <a:endParaRPr lang="en-US" sz="1700" dirty="0"/>
          </a:p>
        </p:txBody>
      </p:sp>
      <p:sp>
        <p:nvSpPr>
          <p:cNvPr id="9" name="Card 336"/>
          <p:cNvSpPr/>
          <p:nvPr/>
        </p:nvSpPr>
        <p:spPr>
          <a:xfrm>
            <a:off x="6233008" y="1481328"/>
            <a:ext cx="5410048" cy="1760220"/>
          </a:xfrm>
          <a:prstGeom prst="roundRect">
            <a:avLst>
              <a:gd name="adj" fmla="val 5195"/>
            </a:avLst>
          </a:prstGeom>
          <a:solidFill>
            <a:schemeClr val="accent1">
              <a:alpha val="10000"/>
            </a:schemeClr>
          </a:solidFill>
          <a:ln/>
        </p:spPr>
      </p:sp>
      <p:sp>
        <p:nvSpPr>
          <p:cNvPr id="10" name="Icon circle 337"/>
          <p:cNvSpPr/>
          <p:nvPr/>
        </p:nvSpPr>
        <p:spPr>
          <a:xfrm>
            <a:off x="6415888" y="1664208"/>
            <a:ext cx="475488" cy="475488"/>
          </a:xfrm>
          <a:prstGeom prst="ellipse">
            <a:avLst/>
          </a:prstGeom>
          <a:solidFill>
            <a:schemeClr val="accent1"/>
          </a:solidFill>
          <a:ln/>
        </p:spPr>
      </p:sp>
      <p:pic>
        <p:nvPicPr>
          <p:cNvPr id="11" name="Icon FaIndustry 338"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339"/>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Lenin (1916)</a:t>
            </a:r>
            <a:endParaRPr lang="en-US" sz="1700" dirty="0"/>
          </a:p>
        </p:txBody>
      </p:sp>
      <p:sp>
        <p:nvSpPr>
          <p:cNvPr id="13" name="Text 340"/>
          <p:cNvSpPr txBox="1"/>
          <p:nvPr/>
        </p:nvSpPr>
        <p:spPr>
          <a:xfrm>
            <a:off x="6415888" y="2249424"/>
            <a:ext cx="5044288" cy="809244"/>
          </a:xfrm>
          <a:prstGeom prst="rect">
            <a:avLst/>
          </a:prstGeom>
          <a:noFill/>
          <a:ln/>
        </p:spPr>
        <p:txBody>
          <a:bodyPr wrap="square" lIns="0" tIns="0" rIns="0" bIns="0" rtlCol="0" anchor="t"/>
          <a:lstStyle/>
          <a:p>
            <a:pPr algn="l" indent="0" marL="0">
              <a:spcAft>
                <a:spcPts val="500"/>
              </a:spcAft>
              <a:buNone/>
            </a:pPr>
            <a:r>
              <a:rPr lang="en-US" sz="1700" b="1" dirty="0">
                <a:solidFill>
                  <a:schemeClr val="tx1"/>
                </a:solidFill>
              </a:rPr>
              <a:t>Marxist:</a:t>
            </a:r>
            <a:r>
              <a:rPr lang="en-US" sz="1700" dirty="0">
                <a:solidFill>
                  <a:schemeClr val="tx1"/>
                </a:solidFill>
              </a:rPr>
              <a:t> imperialism was 'the highest stage of capitalism' — monopolies competing for markets led to war.</a:t>
            </a:r>
            <a:endParaRPr lang="en-US" sz="1700" dirty="0"/>
          </a:p>
        </p:txBody>
      </p:sp>
      <p:sp>
        <p:nvSpPr>
          <p:cNvPr id="14" name="Card 341"/>
          <p:cNvSpPr/>
          <p:nvPr/>
        </p:nvSpPr>
        <p:spPr>
          <a:xfrm>
            <a:off x="548640" y="3515868"/>
            <a:ext cx="5410048" cy="1760220"/>
          </a:xfrm>
          <a:prstGeom prst="roundRect">
            <a:avLst>
              <a:gd name="adj" fmla="val 5195"/>
            </a:avLst>
          </a:prstGeom>
          <a:solidFill>
            <a:schemeClr val="accent1">
              <a:alpha val="10000"/>
            </a:schemeClr>
          </a:solidFill>
          <a:ln/>
        </p:spPr>
      </p:sp>
      <p:sp>
        <p:nvSpPr>
          <p:cNvPr id="15" name="Icon circle 342"/>
          <p:cNvSpPr/>
          <p:nvPr/>
        </p:nvSpPr>
        <p:spPr>
          <a:xfrm>
            <a:off x="731520" y="3698748"/>
            <a:ext cx="475488" cy="475488"/>
          </a:xfrm>
          <a:prstGeom prst="ellipse">
            <a:avLst/>
          </a:prstGeom>
          <a:solidFill>
            <a:schemeClr val="accent1"/>
          </a:solidFill>
          <a:ln/>
        </p:spPr>
      </p:sp>
      <p:pic>
        <p:nvPicPr>
          <p:cNvPr id="16" name="Icon FaCompass 343" descr="preencoded.png">    </p:cNvPr>
          <p:cNvPicPr>
            <a:picLocks noChangeAspect="1"/>
          </p:cNvPicPr>
          <p:nvPr/>
        </p:nvPicPr>
        <p:blipFill>
          <a:blip r:embed="rId3"/>
          <a:stretch>
            <a:fillRect/>
          </a:stretch>
        </p:blipFill>
        <p:spPr>
          <a:xfrm>
            <a:off x="836127" y="3803355"/>
            <a:ext cx="266273" cy="266273"/>
          </a:xfrm>
          <a:prstGeom prst="rect">
            <a:avLst/>
          </a:prstGeom>
        </p:spPr>
      </p:pic>
      <p:sp>
        <p:nvSpPr>
          <p:cNvPr id="17" name="Card title 344"/>
          <p:cNvSpPr txBox="1"/>
          <p:nvPr/>
        </p:nvSpPr>
        <p:spPr>
          <a:xfrm>
            <a:off x="1335024"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Robinson &amp; Gallagher (1961)</a:t>
            </a:r>
            <a:endParaRPr lang="en-US" sz="1700" dirty="0"/>
          </a:p>
        </p:txBody>
      </p:sp>
      <p:sp>
        <p:nvSpPr>
          <p:cNvPr id="18" name="Text 345"/>
          <p:cNvSpPr txBox="1"/>
          <p:nvPr/>
        </p:nvSpPr>
        <p:spPr>
          <a:xfrm>
            <a:off x="731520" y="4283964"/>
            <a:ext cx="5044288" cy="809244"/>
          </a:xfrm>
          <a:prstGeom prst="rect">
            <a:avLst/>
          </a:prstGeom>
          <a:noFill/>
          <a:ln/>
        </p:spPr>
        <p:txBody>
          <a:bodyPr wrap="square" lIns="0" tIns="0" rIns="0" bIns="0" rtlCol="0" anchor="t"/>
          <a:lstStyle/>
          <a:p>
            <a:pPr algn="l" indent="0" marL="0">
              <a:spcAft>
                <a:spcPts val="500"/>
              </a:spcAft>
              <a:buNone/>
            </a:pPr>
            <a:r>
              <a:rPr lang="en-US" sz="1700" b="1" dirty="0">
                <a:solidFill>
                  <a:schemeClr val="tx1"/>
                </a:solidFill>
              </a:rPr>
              <a:t>Strategic / 'peripheral':</a:t>
            </a:r>
            <a:r>
              <a:rPr lang="en-US" sz="1700" dirty="0">
                <a:solidFill>
                  <a:schemeClr val="tx1"/>
                </a:solidFill>
              </a:rPr>
              <a:t> local crises (e.g. Egypt, 1882) dragged Britain in to protect the route to India.</a:t>
            </a:r>
            <a:endParaRPr lang="en-US" sz="1700" dirty="0"/>
          </a:p>
        </p:txBody>
      </p:sp>
      <p:sp>
        <p:nvSpPr>
          <p:cNvPr id="19" name="Card 346"/>
          <p:cNvSpPr/>
          <p:nvPr/>
        </p:nvSpPr>
        <p:spPr>
          <a:xfrm>
            <a:off x="6233008" y="3515868"/>
            <a:ext cx="5410048" cy="1760220"/>
          </a:xfrm>
          <a:prstGeom prst="roundRect">
            <a:avLst>
              <a:gd name="adj" fmla="val 5195"/>
            </a:avLst>
          </a:prstGeom>
          <a:solidFill>
            <a:schemeClr val="accent1">
              <a:alpha val="10000"/>
            </a:schemeClr>
          </a:solidFill>
          <a:ln/>
        </p:spPr>
      </p:sp>
      <p:sp>
        <p:nvSpPr>
          <p:cNvPr id="20" name="Icon circle 347"/>
          <p:cNvSpPr/>
          <p:nvPr/>
        </p:nvSpPr>
        <p:spPr>
          <a:xfrm>
            <a:off x="6415888" y="3698748"/>
            <a:ext cx="475488" cy="475488"/>
          </a:xfrm>
          <a:prstGeom prst="ellipse">
            <a:avLst/>
          </a:prstGeom>
          <a:solidFill>
            <a:schemeClr val="accent1"/>
          </a:solidFill>
          <a:ln/>
        </p:spPr>
      </p:sp>
      <p:pic>
        <p:nvPicPr>
          <p:cNvPr id="21" name="Icon FaUsers 348" descr="preencoded.png">    </p:cNvPr>
          <p:cNvPicPr>
            <a:picLocks noChangeAspect="1"/>
          </p:cNvPicPr>
          <p:nvPr/>
        </p:nvPicPr>
        <p:blipFill>
          <a:blip r:embed="rId4"/>
          <a:stretch>
            <a:fillRect/>
          </a:stretch>
        </p:blipFill>
        <p:spPr>
          <a:xfrm>
            <a:off x="6520495" y="3803355"/>
            <a:ext cx="266273" cy="266273"/>
          </a:xfrm>
          <a:prstGeom prst="rect">
            <a:avLst/>
          </a:prstGeom>
        </p:spPr>
      </p:pic>
      <p:sp>
        <p:nvSpPr>
          <p:cNvPr id="22" name="Card title 349"/>
          <p:cNvSpPr txBox="1"/>
          <p:nvPr/>
        </p:nvSpPr>
        <p:spPr>
          <a:xfrm>
            <a:off x="7019392"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Hans-Ulrich Wehler (1969)</a:t>
            </a:r>
            <a:endParaRPr lang="en-US" sz="1700" dirty="0"/>
          </a:p>
        </p:txBody>
      </p:sp>
      <p:sp>
        <p:nvSpPr>
          <p:cNvPr id="23" name="Text 350"/>
          <p:cNvSpPr txBox="1"/>
          <p:nvPr/>
        </p:nvSpPr>
        <p:spPr>
          <a:xfrm>
            <a:off x="6415888" y="4283964"/>
            <a:ext cx="5044288" cy="809244"/>
          </a:xfrm>
          <a:prstGeom prst="rect">
            <a:avLst/>
          </a:prstGeom>
          <a:noFill/>
          <a:ln/>
        </p:spPr>
        <p:txBody>
          <a:bodyPr wrap="square" lIns="0" tIns="0" rIns="0" bIns="0" rtlCol="0" anchor="t"/>
          <a:lstStyle/>
          <a:p>
            <a:pPr algn="l" indent="0" marL="0">
              <a:spcAft>
                <a:spcPts val="500"/>
              </a:spcAft>
              <a:buNone/>
            </a:pPr>
            <a:r>
              <a:rPr lang="en-US" sz="1700" b="1" dirty="0">
                <a:solidFill>
                  <a:schemeClr val="tx1"/>
                </a:solidFill>
              </a:rPr>
              <a:t>'Social imperialism':</a:t>
            </a:r>
            <a:r>
              <a:rPr lang="en-US" sz="1700" dirty="0">
                <a:solidFill>
                  <a:schemeClr val="tx1"/>
                </a:solidFill>
              </a:rPr>
              <a:t> German elites used empire to distract voters from problems at home.</a:t>
            </a:r>
            <a:endParaRPr lang="en-US" sz="1700" dirty="0"/>
          </a:p>
        </p:txBody>
      </p:sp>
      <p:sp>
        <p:nvSpPr>
          <p:cNvPr id="24" name="Callout 351"/>
          <p:cNvSpPr/>
          <p:nvPr/>
        </p:nvSpPr>
        <p:spPr>
          <a:xfrm>
            <a:off x="548640" y="5550408"/>
            <a:ext cx="11094415" cy="713232"/>
          </a:xfrm>
          <a:prstGeom prst="roundRect">
            <a:avLst>
              <a:gd name="adj" fmla="val 12821"/>
            </a:avLst>
          </a:prstGeom>
          <a:solidFill>
            <a:schemeClr val="accent4">
              <a:alpha val="20000"/>
            </a:schemeClr>
          </a:solidFill>
          <a:ln/>
        </p:spPr>
      </p:sp>
      <p:sp>
        <p:nvSpPr>
          <p:cNvPr id="25" name="Callout label 352"/>
          <p:cNvSpPr/>
          <p:nvPr/>
        </p:nvSpPr>
        <p:spPr>
          <a:xfrm>
            <a:off x="731520" y="5751576"/>
            <a:ext cx="977581" cy="310896"/>
          </a:xfrm>
          <a:prstGeom prst="roundRect">
            <a:avLst>
              <a:gd name="adj" fmla="val 50000"/>
            </a:avLst>
          </a:prstGeom>
          <a:solidFill>
            <a:schemeClr val="accent4"/>
          </a:solidFill>
          <a:ln/>
        </p:spPr>
      </p:sp>
      <p:sp>
        <p:nvSpPr>
          <p:cNvPr id="26" name="Text 353"/>
          <p:cNvSpPr txBox="1"/>
          <p:nvPr/>
        </p:nvSpPr>
        <p:spPr>
          <a:xfrm>
            <a:off x="731520" y="5751576"/>
            <a:ext cx="97758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EXAM TIP</a:t>
            </a:r>
            <a:endParaRPr lang="en-US" sz="1200" dirty="0"/>
          </a:p>
        </p:txBody>
      </p:sp>
      <p:sp>
        <p:nvSpPr>
          <p:cNvPr id="27" name="Text 354"/>
          <p:cNvSpPr txBox="1"/>
          <p:nvPr/>
        </p:nvSpPr>
        <p:spPr>
          <a:xfrm>
            <a:off x="1891981" y="5623560"/>
            <a:ext cx="956819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In Paper 1, use these to test sources: does a source stress one motive? Who wrote it, and why might they?</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355"/>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KQ2 · THE SCRAMBLE FOR AFRICA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Who took what in Africa?</a:t>
            </a:r>
            <a:endParaRPr lang="en-US" sz="3400" dirty="0"/>
          </a:p>
        </p:txBody>
      </p:sp>
      <p:graphicFrame>
        <p:nvGraphicFramePr>
          <p:cNvPr id="17" name="Table 356"/>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463040"/>
                <a:gridCol w="5394960"/>
                <a:gridCol w="4236415"/>
              </a:tblGrid>
              <a:tr h="384048">
                <a:tc>
                  <a:txBody>
                    <a:bodyPr/>
                    <a:lstStyle/>
                    <a:p>
                      <a:pPr indent="0" marL="0">
                        <a:buNone/>
                      </a:pPr>
                      <a:r>
                        <a:rPr lang="en-US" sz="1500" b="1" dirty="0">
                          <a:solidFill>
                            <a:schemeClr val="bg1"/>
                          </a:solidFill>
                        </a:rPr>
                        <a:t>Power</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Main gains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Watch out for</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r>
              <a:tr h="638137">
                <a:tc>
                  <a:txBody>
                    <a:bodyPr/>
                    <a:lstStyle/>
                    <a:p>
                      <a:pPr algn="l" indent="0" marL="0">
                        <a:buNone/>
                      </a:pPr>
                      <a:r>
                        <a:rPr lang="en-US" sz="1500" b="1" dirty="0">
                          <a:solidFill>
                            <a:schemeClr val="tx1"/>
                          </a:solidFill>
                        </a:rPr>
                        <a:t>Britain</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Egypt (1882), Sudan (1898), Nigeria, Kenya, Uganda, Rhodesia, South Africa</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Rhodes's 'Cape to Cairo' dream; Boer War (1899–1902)</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638137">
                <a:tc>
                  <a:txBody>
                    <a:bodyPr/>
                    <a:lstStyle/>
                    <a:p>
                      <a:pPr algn="l" indent="0" marL="0">
                        <a:buNone/>
                      </a:pPr>
                      <a:r>
                        <a:rPr lang="en-US" sz="1500" b="1" dirty="0">
                          <a:solidFill>
                            <a:schemeClr val="tx1"/>
                          </a:solidFill>
                        </a:rPr>
                        <a:t>France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Tunisia (1881), most of West &amp; Equatorial Africa, Madagascar (1896), Morocco (1912)</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Largest area (much of it Sahara)</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638137">
                <a:tc>
                  <a:txBody>
                    <a:bodyPr/>
                    <a:lstStyle/>
                    <a:p>
                      <a:pPr algn="l" indent="0" marL="0">
                        <a:buNone/>
                      </a:pPr>
                      <a:r>
                        <a:rPr lang="en-US" sz="1500" b="1" dirty="0">
                          <a:solidFill>
                            <a:schemeClr val="tx1"/>
                          </a:solidFill>
                        </a:rPr>
                        <a:t>Germany</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South West Africa, Togo, Cameroon, German East Africa (all 1884–85)</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Herero and Nama genocide (1904–08)</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638137">
                <a:tc>
                  <a:txBody>
                    <a:bodyPr/>
                    <a:lstStyle/>
                    <a:p>
                      <a:pPr algn="l" indent="0" marL="0">
                        <a:buNone/>
                      </a:pPr>
                      <a:r>
                        <a:rPr lang="en-US" sz="1500" b="1" dirty="0">
                          <a:solidFill>
                            <a:schemeClr val="tx1"/>
                          </a:solidFill>
                        </a:rPr>
                        <a:t>Belgium</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Congo Free State: Leopold II's personal colony (1885), Belgian state colony from 1908</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Brutal rubber regime; millions died</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429082">
                <a:tc>
                  <a:txBody>
                    <a:bodyPr/>
                    <a:lstStyle/>
                    <a:p>
                      <a:pPr algn="l" indent="0" marL="0">
                        <a:buNone/>
                      </a:pPr>
                      <a:r>
                        <a:rPr lang="en-US" sz="1500" b="1" dirty="0">
                          <a:solidFill>
                            <a:schemeClr val="tx1"/>
                          </a:solidFill>
                        </a:rPr>
                        <a:t>Italy</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Eritrea, Italian Somaliland, Libya (1911–12)</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Defeated by Ethiopia at Adwa (1896)</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429082">
                <a:tc>
                  <a:txBody>
                    <a:bodyPr/>
                    <a:lstStyle/>
                    <a:p>
                      <a:pPr algn="l" indent="0" marL="0">
                        <a:buNone/>
                      </a:pPr>
                      <a:r>
                        <a:rPr lang="en-US" sz="1500" b="1" dirty="0">
                          <a:solidFill>
                            <a:schemeClr val="tx1"/>
                          </a:solidFill>
                        </a:rPr>
                        <a:t>Portugal</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Angola and Mozambique (older colonies pushed inland)</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Older, weaker empire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sp>
        <p:nvSpPr>
          <p:cNvPr id="5" name="Callout 357"/>
          <p:cNvSpPr/>
          <p:nvPr/>
        </p:nvSpPr>
        <p:spPr>
          <a:xfrm>
            <a:off x="548640" y="5550408"/>
            <a:ext cx="11094415" cy="713232"/>
          </a:xfrm>
          <a:prstGeom prst="roundRect">
            <a:avLst>
              <a:gd name="adj" fmla="val 12821"/>
            </a:avLst>
          </a:prstGeom>
          <a:solidFill>
            <a:schemeClr val="accent4">
              <a:alpha val="20000"/>
            </a:schemeClr>
          </a:solidFill>
          <a:ln/>
        </p:spPr>
      </p:sp>
      <p:sp>
        <p:nvSpPr>
          <p:cNvPr id="6" name="Callout label 358"/>
          <p:cNvSpPr/>
          <p:nvPr/>
        </p:nvSpPr>
        <p:spPr>
          <a:xfrm>
            <a:off x="731520" y="5751576"/>
            <a:ext cx="1045034" cy="310896"/>
          </a:xfrm>
          <a:prstGeom prst="roundRect">
            <a:avLst>
              <a:gd name="adj" fmla="val 50000"/>
            </a:avLst>
          </a:prstGeom>
          <a:solidFill>
            <a:schemeClr val="accent4"/>
          </a:solidFill>
          <a:ln/>
        </p:spPr>
      </p:sp>
      <p:sp>
        <p:nvSpPr>
          <p:cNvPr id="7" name="Text 359"/>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8" name="Text 360"/>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By 1914 only Ethiopia and Liberia were independent. Borders were drawn in Europe with little regard for African peoples.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36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KQ2 · MANAGING RIVALRY</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Berlin Conference, 1884–85</a:t>
            </a:r>
            <a:endParaRPr lang="en-US" sz="3400" dirty="0"/>
          </a:p>
        </p:txBody>
      </p:sp>
      <p:sp>
        <p:nvSpPr>
          <p:cNvPr id="4" name="Card 362"/>
          <p:cNvSpPr/>
          <p:nvPr/>
        </p:nvSpPr>
        <p:spPr>
          <a:xfrm>
            <a:off x="548640" y="1481328"/>
            <a:ext cx="4023360" cy="4782312"/>
          </a:xfrm>
          <a:prstGeom prst="roundRect">
            <a:avLst>
              <a:gd name="adj" fmla="val 2273"/>
            </a:avLst>
          </a:prstGeom>
          <a:solidFill>
            <a:schemeClr val="accent1">
              <a:alpha val="10000"/>
            </a:schemeClr>
          </a:solidFill>
          <a:ln/>
        </p:spPr>
      </p:sp>
      <p:sp>
        <p:nvSpPr>
          <p:cNvPr id="5" name="Icon circle 363"/>
          <p:cNvSpPr/>
          <p:nvPr/>
        </p:nvSpPr>
        <p:spPr>
          <a:xfrm>
            <a:off x="731520" y="1664208"/>
            <a:ext cx="475488" cy="475488"/>
          </a:xfrm>
          <a:prstGeom prst="ellipse">
            <a:avLst/>
          </a:prstGeom>
          <a:solidFill>
            <a:schemeClr val="accent1"/>
          </a:solidFill>
          <a:ln/>
        </p:spPr>
      </p:sp>
      <p:pic>
        <p:nvPicPr>
          <p:cNvPr id="6" name="Icon FaHandshake 364"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365"/>
          <p:cNvSpPr txBox="1"/>
          <p:nvPr/>
        </p:nvSpPr>
        <p:spPr>
          <a:xfrm>
            <a:off x="1335024" y="1664208"/>
            <a:ext cx="3054096"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Who and why?</a:t>
            </a:r>
            <a:endParaRPr lang="en-US" sz="1700" dirty="0"/>
          </a:p>
        </p:txBody>
      </p:sp>
      <p:sp>
        <p:nvSpPr>
          <p:cNvPr id="8" name="Text 366"/>
          <p:cNvSpPr txBox="1"/>
          <p:nvPr/>
        </p:nvSpPr>
        <p:spPr>
          <a:xfrm>
            <a:off x="731520" y="2249424"/>
            <a:ext cx="3657600" cy="3831336"/>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Called by </a:t>
            </a:r>
            <a:r>
              <a:rPr lang="en-US" sz="1800" b="1" dirty="0">
                <a:solidFill>
                  <a:schemeClr val="tx1"/>
                </a:solidFill>
              </a:rPr>
              <a:t>Bismarck</a:t>
            </a:r>
            <a:r>
              <a:rPr lang="en-US" sz="1800" dirty="0">
                <a:solidFill>
                  <a:schemeClr val="tx1"/>
                </a:solidFill>
              </a:rPr>
              <a:t>, backed by France's Jules Ferry</a:t>
            </a:r>
            <a:endParaRPr lang="en-US" sz="1800" dirty="0"/>
          </a:p>
          <a:p>
            <a:pPr algn="l" marL="190500" indent="-190500">
              <a:spcAft>
                <a:spcPts val="500"/>
              </a:spcAft>
              <a:buSzPct val="100000"/>
              <a:buChar char="•"/>
            </a:pPr>
            <a:r>
              <a:rPr lang="en-US" sz="1800" b="1" dirty="0">
                <a:solidFill>
                  <a:schemeClr val="tx1"/>
                </a:solidFill>
              </a:rPr>
              <a:t>14 states</a:t>
            </a:r>
            <a:r>
              <a:rPr lang="en-US" sz="1800" dirty="0">
                <a:solidFill>
                  <a:schemeClr val="tx1"/>
                </a:solidFill>
              </a:rPr>
              <a:t> attended — no Africans were invited</a:t>
            </a:r>
            <a:endParaRPr lang="en-US" sz="1800" dirty="0"/>
          </a:p>
          <a:p>
            <a:pPr algn="l" marL="190500" indent="-190500">
              <a:spcAft>
                <a:spcPts val="500"/>
              </a:spcAft>
              <a:buSzPct val="100000"/>
              <a:buChar char="•"/>
            </a:pPr>
            <a:r>
              <a:rPr lang="en-US" sz="1800" dirty="0">
                <a:solidFill>
                  <a:schemeClr val="tx1"/>
                </a:solidFill>
              </a:rPr>
              <a:t>Triggered by rivalry over the </a:t>
            </a:r>
            <a:r>
              <a:rPr lang="en-US" sz="1800" b="1" dirty="0">
                <a:solidFill>
                  <a:schemeClr val="tx1"/>
                </a:solidFill>
              </a:rPr>
              <a:t>Congo</a:t>
            </a:r>
            <a:r>
              <a:rPr lang="en-US" sz="1800" dirty="0">
                <a:solidFill>
                  <a:schemeClr val="tx1"/>
                </a:solidFill>
              </a:rPr>
              <a:t> basin</a:t>
            </a:r>
            <a:endParaRPr lang="en-US" sz="1800" dirty="0"/>
          </a:p>
          <a:p>
            <a:pPr algn="l" marL="190500" indent="-190500">
              <a:spcAft>
                <a:spcPts val="500"/>
              </a:spcAft>
              <a:buSzPct val="100000"/>
              <a:buChar char="•"/>
            </a:pPr>
            <a:r>
              <a:rPr lang="en-US" sz="1800" dirty="0">
                <a:solidFill>
                  <a:schemeClr val="tx1"/>
                </a:solidFill>
              </a:rPr>
              <a:t>Aim: avoid war between Europeans while dividing Africa</a:t>
            </a:r>
            <a:endParaRPr lang="en-US" sz="1800" dirty="0"/>
          </a:p>
        </p:txBody>
      </p:sp>
      <p:sp>
        <p:nvSpPr>
          <p:cNvPr id="9" name="Text 367"/>
          <p:cNvSpPr txBox="1"/>
          <p:nvPr/>
        </p:nvSpPr>
        <p:spPr>
          <a:xfrm>
            <a:off x="4846320" y="1481328"/>
            <a:ext cx="6796735" cy="365760"/>
          </a:xfrm>
          <a:prstGeom prst="rect">
            <a:avLst/>
          </a:prstGeom>
          <a:noFill/>
          <a:ln/>
        </p:spPr>
        <p:txBody>
          <a:bodyPr wrap="square" lIns="0" tIns="0" rIns="0" bIns="0" rtlCol="0" anchor="t"/>
          <a:lstStyle/>
          <a:p>
            <a:pPr algn="l" indent="0" marL="0">
              <a:spcAft>
                <a:spcPts val="600"/>
              </a:spcAft>
              <a:buNone/>
            </a:pPr>
            <a:r>
              <a:rPr lang="en-US" sz="1800" b="1" dirty="0">
                <a:solidFill>
                  <a:schemeClr val="accent1"/>
                </a:solidFill>
              </a:rPr>
              <a:t>What it agreed</a:t>
            </a:r>
            <a:endParaRPr lang="en-US" sz="1800" dirty="0"/>
          </a:p>
        </p:txBody>
      </p:sp>
      <p:sp>
        <p:nvSpPr>
          <p:cNvPr id="10" name="Number 368"/>
          <p:cNvSpPr/>
          <p:nvPr/>
        </p:nvSpPr>
        <p:spPr>
          <a:xfrm>
            <a:off x="4846320" y="1975104"/>
            <a:ext cx="329184" cy="329184"/>
          </a:xfrm>
          <a:prstGeom prst="ellipse">
            <a:avLst/>
          </a:prstGeom>
          <a:solidFill>
            <a:schemeClr val="accent1"/>
          </a:solidFill>
          <a:ln/>
        </p:spPr>
      </p:sp>
      <p:sp>
        <p:nvSpPr>
          <p:cNvPr id="11" name="Text 369"/>
          <p:cNvSpPr txBox="1"/>
          <p:nvPr/>
        </p:nvSpPr>
        <p:spPr>
          <a:xfrm>
            <a:off x="4846320" y="1975104"/>
            <a:ext cx="329184"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a:t>
            </a:r>
            <a:endParaRPr lang="en-US" sz="1300" dirty="0"/>
          </a:p>
        </p:txBody>
      </p:sp>
      <p:sp>
        <p:nvSpPr>
          <p:cNvPr id="12" name="Text 370"/>
          <p:cNvSpPr txBox="1"/>
          <p:nvPr/>
        </p:nvSpPr>
        <p:spPr>
          <a:xfrm>
            <a:off x="5303520" y="1938528"/>
            <a:ext cx="6339535" cy="40233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Free trade and navigation on the Congo and Niger rivers</a:t>
            </a:r>
            <a:endParaRPr lang="en-US" sz="1500" dirty="0"/>
          </a:p>
        </p:txBody>
      </p:sp>
      <p:sp>
        <p:nvSpPr>
          <p:cNvPr id="13" name="Number 371"/>
          <p:cNvSpPr/>
          <p:nvPr/>
        </p:nvSpPr>
        <p:spPr>
          <a:xfrm>
            <a:off x="4846320" y="2432304"/>
            <a:ext cx="329184" cy="329184"/>
          </a:xfrm>
          <a:prstGeom prst="ellipse">
            <a:avLst/>
          </a:prstGeom>
          <a:solidFill>
            <a:schemeClr val="accent1"/>
          </a:solidFill>
          <a:ln/>
        </p:spPr>
      </p:sp>
      <p:sp>
        <p:nvSpPr>
          <p:cNvPr id="14" name="Text 372"/>
          <p:cNvSpPr txBox="1"/>
          <p:nvPr/>
        </p:nvSpPr>
        <p:spPr>
          <a:xfrm>
            <a:off x="4846320" y="2432304"/>
            <a:ext cx="329184"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2</a:t>
            </a:r>
            <a:endParaRPr lang="en-US" sz="1300" dirty="0"/>
          </a:p>
        </p:txBody>
      </p:sp>
      <p:sp>
        <p:nvSpPr>
          <p:cNvPr id="15" name="Text 373"/>
          <p:cNvSpPr txBox="1"/>
          <p:nvPr/>
        </p:nvSpPr>
        <p:spPr>
          <a:xfrm>
            <a:off x="5303520" y="2395728"/>
            <a:ext cx="6339535" cy="40233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Recognised Leopold II's Congo Free State</a:t>
            </a:r>
            <a:endParaRPr lang="en-US" sz="1500" dirty="0"/>
          </a:p>
        </p:txBody>
      </p:sp>
      <p:sp>
        <p:nvSpPr>
          <p:cNvPr id="16" name="Number 374"/>
          <p:cNvSpPr/>
          <p:nvPr/>
        </p:nvSpPr>
        <p:spPr>
          <a:xfrm>
            <a:off x="4846320" y="2889504"/>
            <a:ext cx="329184" cy="329184"/>
          </a:xfrm>
          <a:prstGeom prst="ellipse">
            <a:avLst/>
          </a:prstGeom>
          <a:solidFill>
            <a:schemeClr val="accent1"/>
          </a:solidFill>
          <a:ln/>
        </p:spPr>
      </p:sp>
      <p:sp>
        <p:nvSpPr>
          <p:cNvPr id="17" name="Text 375"/>
          <p:cNvSpPr txBox="1"/>
          <p:nvPr/>
        </p:nvSpPr>
        <p:spPr>
          <a:xfrm>
            <a:off x="4846320" y="2889504"/>
            <a:ext cx="329184"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3</a:t>
            </a:r>
            <a:endParaRPr lang="en-US" sz="1300" dirty="0"/>
          </a:p>
        </p:txBody>
      </p:sp>
      <p:sp>
        <p:nvSpPr>
          <p:cNvPr id="18" name="Text 376"/>
          <p:cNvSpPr txBox="1"/>
          <p:nvPr/>
        </p:nvSpPr>
        <p:spPr>
          <a:xfrm>
            <a:off x="5303520" y="2852928"/>
            <a:ext cx="6339535" cy="40233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'Effective occupation': new coastal claims needed real control</a:t>
            </a:r>
            <a:endParaRPr lang="en-US" sz="1500" dirty="0"/>
          </a:p>
        </p:txBody>
      </p:sp>
      <p:sp>
        <p:nvSpPr>
          <p:cNvPr id="19" name="Number 377"/>
          <p:cNvSpPr/>
          <p:nvPr/>
        </p:nvSpPr>
        <p:spPr>
          <a:xfrm>
            <a:off x="4846320" y="3346704"/>
            <a:ext cx="329184" cy="329184"/>
          </a:xfrm>
          <a:prstGeom prst="ellipse">
            <a:avLst/>
          </a:prstGeom>
          <a:solidFill>
            <a:schemeClr val="accent1"/>
          </a:solidFill>
          <a:ln/>
        </p:spPr>
      </p:sp>
      <p:sp>
        <p:nvSpPr>
          <p:cNvPr id="20" name="Text 378"/>
          <p:cNvSpPr txBox="1"/>
          <p:nvPr/>
        </p:nvSpPr>
        <p:spPr>
          <a:xfrm>
            <a:off x="4846320" y="3346704"/>
            <a:ext cx="329184"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4</a:t>
            </a:r>
            <a:endParaRPr lang="en-US" sz="1300" dirty="0"/>
          </a:p>
        </p:txBody>
      </p:sp>
      <p:sp>
        <p:nvSpPr>
          <p:cNvPr id="21" name="Text 379"/>
          <p:cNvSpPr txBox="1"/>
          <p:nvPr/>
        </p:nvSpPr>
        <p:spPr>
          <a:xfrm>
            <a:off x="5303520" y="3310128"/>
            <a:ext cx="6339535" cy="40233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Powers must notify each other of new claims</a:t>
            </a:r>
            <a:endParaRPr lang="en-US" sz="1500" dirty="0"/>
          </a:p>
        </p:txBody>
      </p:sp>
      <p:sp>
        <p:nvSpPr>
          <p:cNvPr id="22" name="Number 380"/>
          <p:cNvSpPr/>
          <p:nvPr/>
        </p:nvSpPr>
        <p:spPr>
          <a:xfrm>
            <a:off x="4846320" y="3803904"/>
            <a:ext cx="329184" cy="329184"/>
          </a:xfrm>
          <a:prstGeom prst="ellipse">
            <a:avLst/>
          </a:prstGeom>
          <a:solidFill>
            <a:schemeClr val="accent1"/>
          </a:solidFill>
          <a:ln/>
        </p:spPr>
      </p:sp>
      <p:sp>
        <p:nvSpPr>
          <p:cNvPr id="23" name="Text 381"/>
          <p:cNvSpPr txBox="1"/>
          <p:nvPr/>
        </p:nvSpPr>
        <p:spPr>
          <a:xfrm>
            <a:off x="4846320" y="3803904"/>
            <a:ext cx="329184"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5</a:t>
            </a:r>
            <a:endParaRPr lang="en-US" sz="1300" dirty="0"/>
          </a:p>
        </p:txBody>
      </p:sp>
      <p:sp>
        <p:nvSpPr>
          <p:cNvPr id="24" name="Text 382"/>
          <p:cNvSpPr txBox="1"/>
          <p:nvPr/>
        </p:nvSpPr>
        <p:spPr>
          <a:xfrm>
            <a:off x="5303520" y="3767328"/>
            <a:ext cx="6339535" cy="40233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Promises to end the slave trade (rarely enforced)</a:t>
            </a:r>
            <a:endParaRPr lang="en-US" sz="1500" dirty="0"/>
          </a:p>
        </p:txBody>
      </p:sp>
      <p:sp>
        <p:nvSpPr>
          <p:cNvPr id="25" name="Card 383"/>
          <p:cNvSpPr/>
          <p:nvPr/>
        </p:nvSpPr>
        <p:spPr>
          <a:xfrm>
            <a:off x="4846320" y="4361688"/>
            <a:ext cx="3261208" cy="1901952"/>
          </a:xfrm>
          <a:prstGeom prst="roundRect">
            <a:avLst>
              <a:gd name="adj" fmla="val 4808"/>
            </a:avLst>
          </a:prstGeom>
          <a:solidFill>
            <a:schemeClr val="accent2">
              <a:alpha val="12000"/>
            </a:schemeClr>
          </a:solidFill>
          <a:ln/>
        </p:spPr>
      </p:sp>
      <p:sp>
        <p:nvSpPr>
          <p:cNvPr id="26" name="Card title 384"/>
          <p:cNvSpPr txBox="1"/>
          <p:nvPr/>
        </p:nvSpPr>
        <p:spPr>
          <a:xfrm>
            <a:off x="5029200" y="4544568"/>
            <a:ext cx="2895448" cy="475488"/>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Cooperation</a:t>
            </a:r>
            <a:endParaRPr lang="en-US" sz="1600" dirty="0"/>
          </a:p>
        </p:txBody>
      </p:sp>
      <p:sp>
        <p:nvSpPr>
          <p:cNvPr id="27" name="Text 385"/>
          <p:cNvSpPr txBox="1"/>
          <p:nvPr/>
        </p:nvSpPr>
        <p:spPr>
          <a:xfrm>
            <a:off x="5029200" y="5129784"/>
            <a:ext cx="2895448" cy="95097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Showed imperial rivalry could be managed by diplomacy, not war.</a:t>
            </a:r>
            <a:endParaRPr lang="en-US" sz="1800" dirty="0"/>
          </a:p>
        </p:txBody>
      </p:sp>
      <p:sp>
        <p:nvSpPr>
          <p:cNvPr id="28" name="Card 386"/>
          <p:cNvSpPr/>
          <p:nvPr/>
        </p:nvSpPr>
        <p:spPr>
          <a:xfrm>
            <a:off x="8381848" y="4361688"/>
            <a:ext cx="3261208" cy="1901952"/>
          </a:xfrm>
          <a:prstGeom prst="roundRect">
            <a:avLst>
              <a:gd name="adj" fmla="val 4808"/>
            </a:avLst>
          </a:prstGeom>
          <a:solidFill>
            <a:schemeClr val="accent1">
              <a:alpha val="10000"/>
            </a:schemeClr>
          </a:solidFill>
          <a:ln/>
        </p:spPr>
      </p:sp>
      <p:sp>
        <p:nvSpPr>
          <p:cNvPr id="29" name="Card title 387"/>
          <p:cNvSpPr txBox="1"/>
          <p:nvPr/>
        </p:nvSpPr>
        <p:spPr>
          <a:xfrm>
            <a:off x="8564728" y="4544568"/>
            <a:ext cx="2895448" cy="475488"/>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Consequences</a:t>
            </a:r>
            <a:endParaRPr lang="en-US" sz="1600" dirty="0"/>
          </a:p>
        </p:txBody>
      </p:sp>
      <p:sp>
        <p:nvSpPr>
          <p:cNvPr id="30" name="Text 388"/>
          <p:cNvSpPr txBox="1"/>
          <p:nvPr/>
        </p:nvSpPr>
        <p:spPr>
          <a:xfrm>
            <a:off x="8564728" y="5129784"/>
            <a:ext cx="2895448" cy="95097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Sped up the Scramble ('paper partition'); borders ignored African peoples.</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38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KQ2 · IMPERIAL CRISES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Flashpoints between the powers</a:t>
            </a:r>
            <a:endParaRPr lang="en-US" sz="3400" dirty="0"/>
          </a:p>
        </p:txBody>
      </p:sp>
      <p:sp>
        <p:nvSpPr>
          <p:cNvPr id="4" name="Crisis row 390"/>
          <p:cNvSpPr/>
          <p:nvPr/>
        </p:nvSpPr>
        <p:spPr>
          <a:xfrm>
            <a:off x="548640" y="1481328"/>
            <a:ext cx="11094415" cy="868680"/>
          </a:xfrm>
          <a:prstGeom prst="roundRect">
            <a:avLst>
              <a:gd name="adj" fmla="val 8421"/>
            </a:avLst>
          </a:prstGeom>
          <a:solidFill>
            <a:schemeClr val="accent1">
              <a:alpha val="8000"/>
            </a:schemeClr>
          </a:solidFill>
          <a:ln/>
        </p:spPr>
      </p:sp>
      <p:sp>
        <p:nvSpPr>
          <p:cNvPr id="5" name="Date pill 391"/>
          <p:cNvSpPr/>
          <p:nvPr/>
        </p:nvSpPr>
        <p:spPr>
          <a:xfrm>
            <a:off x="685800" y="1732788"/>
            <a:ext cx="1234440" cy="365760"/>
          </a:xfrm>
          <a:prstGeom prst="roundRect">
            <a:avLst>
              <a:gd name="adj" fmla="val 50000"/>
            </a:avLst>
          </a:prstGeom>
          <a:solidFill>
            <a:schemeClr val="accent1"/>
          </a:solidFill>
          <a:ln/>
        </p:spPr>
      </p:sp>
      <p:sp>
        <p:nvSpPr>
          <p:cNvPr id="6" name="Text 392"/>
          <p:cNvSpPr txBox="1"/>
          <p:nvPr/>
        </p:nvSpPr>
        <p:spPr>
          <a:xfrm>
            <a:off x="685800" y="1732788"/>
            <a:ext cx="1234440" cy="365760"/>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1896</a:t>
            </a:r>
            <a:endParaRPr lang="en-US" sz="1300" dirty="0"/>
          </a:p>
        </p:txBody>
      </p:sp>
      <p:sp>
        <p:nvSpPr>
          <p:cNvPr id="7" name="Text 393"/>
          <p:cNvSpPr txBox="1"/>
          <p:nvPr/>
        </p:nvSpPr>
        <p:spPr>
          <a:xfrm>
            <a:off x="2057400" y="1481328"/>
            <a:ext cx="2057400" cy="868680"/>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Kruger Telegram</a:t>
            </a:r>
            <a:endParaRPr lang="en-US" sz="1600" dirty="0"/>
          </a:p>
        </p:txBody>
      </p:sp>
      <p:sp>
        <p:nvSpPr>
          <p:cNvPr id="8" name="Text 394"/>
          <p:cNvSpPr txBox="1"/>
          <p:nvPr/>
        </p:nvSpPr>
        <p:spPr>
          <a:xfrm>
            <a:off x="4160520" y="1481328"/>
            <a:ext cx="3886200" cy="868680"/>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Wilhelm II congratulated the Boers on defeating the Jameson Raid.</a:t>
            </a:r>
            <a:endParaRPr lang="en-US" sz="1400" dirty="0"/>
          </a:p>
        </p:txBody>
      </p:sp>
      <p:sp>
        <p:nvSpPr>
          <p:cNvPr id="9" name="Text 395"/>
          <p:cNvSpPr txBox="1"/>
          <p:nvPr/>
        </p:nvSpPr>
        <p:spPr>
          <a:xfrm>
            <a:off x="8183880" y="1481328"/>
            <a:ext cx="3322015" cy="868680"/>
          </a:xfrm>
          <a:prstGeom prst="rect">
            <a:avLst/>
          </a:prstGeom>
          <a:noFill/>
          <a:ln/>
        </p:spPr>
        <p:txBody>
          <a:bodyPr wrap="square" lIns="0" tIns="0" rIns="0" bIns="0" rtlCol="0" anchor="ctr"/>
          <a:lstStyle/>
          <a:p>
            <a:pPr algn="l" indent="0" marL="0">
              <a:spcAft>
                <a:spcPts val="600"/>
              </a:spcAft>
              <a:buNone/>
            </a:pPr>
            <a:r>
              <a:rPr lang="en-US" sz="1400" b="1" dirty="0">
                <a:solidFill>
                  <a:schemeClr val="accent1"/>
                </a:solidFill>
              </a:rPr>
              <a:t>→ Fury in Britain; Anglo-German distrust</a:t>
            </a:r>
            <a:endParaRPr lang="en-US" sz="1400" dirty="0"/>
          </a:p>
        </p:txBody>
      </p:sp>
      <p:sp>
        <p:nvSpPr>
          <p:cNvPr id="10" name="Crisis row 396"/>
          <p:cNvSpPr/>
          <p:nvPr/>
        </p:nvSpPr>
        <p:spPr>
          <a:xfrm>
            <a:off x="548640" y="2459736"/>
            <a:ext cx="11094415" cy="868680"/>
          </a:xfrm>
          <a:prstGeom prst="roundRect">
            <a:avLst>
              <a:gd name="adj" fmla="val 8421"/>
            </a:avLst>
          </a:prstGeom>
          <a:solidFill>
            <a:schemeClr val="bg2"/>
          </a:solidFill>
          <a:ln/>
        </p:spPr>
      </p:sp>
      <p:sp>
        <p:nvSpPr>
          <p:cNvPr id="11" name="Date pill 397"/>
          <p:cNvSpPr/>
          <p:nvPr/>
        </p:nvSpPr>
        <p:spPr>
          <a:xfrm>
            <a:off x="685800" y="2711196"/>
            <a:ext cx="1234440" cy="365760"/>
          </a:xfrm>
          <a:prstGeom prst="roundRect">
            <a:avLst>
              <a:gd name="adj" fmla="val 50000"/>
            </a:avLst>
          </a:prstGeom>
          <a:solidFill>
            <a:schemeClr val="accent1"/>
          </a:solidFill>
          <a:ln/>
        </p:spPr>
      </p:sp>
      <p:sp>
        <p:nvSpPr>
          <p:cNvPr id="12" name="Text 398"/>
          <p:cNvSpPr txBox="1"/>
          <p:nvPr/>
        </p:nvSpPr>
        <p:spPr>
          <a:xfrm>
            <a:off x="685800" y="2711196"/>
            <a:ext cx="1234440" cy="365760"/>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1898</a:t>
            </a:r>
            <a:endParaRPr lang="en-US" sz="1300" dirty="0"/>
          </a:p>
        </p:txBody>
      </p:sp>
      <p:sp>
        <p:nvSpPr>
          <p:cNvPr id="13" name="Text 399"/>
          <p:cNvSpPr txBox="1"/>
          <p:nvPr/>
        </p:nvSpPr>
        <p:spPr>
          <a:xfrm>
            <a:off x="2057400" y="2459736"/>
            <a:ext cx="2057400" cy="868680"/>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Fashoda</a:t>
            </a:r>
            <a:endParaRPr lang="en-US" sz="1600" dirty="0"/>
          </a:p>
        </p:txBody>
      </p:sp>
      <p:sp>
        <p:nvSpPr>
          <p:cNvPr id="14" name="Text 400"/>
          <p:cNvSpPr txBox="1"/>
          <p:nvPr/>
        </p:nvSpPr>
        <p:spPr>
          <a:xfrm>
            <a:off x="4160520" y="2459736"/>
            <a:ext cx="3886200" cy="868680"/>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Kitchener's and Marchand's forces met on the Nile in Sudan.</a:t>
            </a:r>
            <a:endParaRPr lang="en-US" sz="1400" dirty="0"/>
          </a:p>
        </p:txBody>
      </p:sp>
      <p:sp>
        <p:nvSpPr>
          <p:cNvPr id="15" name="Text 401"/>
          <p:cNvSpPr txBox="1"/>
          <p:nvPr/>
        </p:nvSpPr>
        <p:spPr>
          <a:xfrm>
            <a:off x="8183880" y="2459736"/>
            <a:ext cx="3322015" cy="868680"/>
          </a:xfrm>
          <a:prstGeom prst="rect">
            <a:avLst/>
          </a:prstGeom>
          <a:noFill/>
          <a:ln/>
        </p:spPr>
        <p:txBody>
          <a:bodyPr wrap="square" lIns="0" tIns="0" rIns="0" bIns="0" rtlCol="0" anchor="ctr"/>
          <a:lstStyle/>
          <a:p>
            <a:pPr algn="l" indent="0" marL="0">
              <a:spcAft>
                <a:spcPts val="600"/>
              </a:spcAft>
              <a:buNone/>
            </a:pPr>
            <a:r>
              <a:rPr lang="en-US" sz="1400" b="1" dirty="0">
                <a:solidFill>
                  <a:schemeClr val="accent1"/>
                </a:solidFill>
              </a:rPr>
              <a:t>→ France backed down; paved the way to the Entente (1904)</a:t>
            </a:r>
            <a:endParaRPr lang="en-US" sz="1400" dirty="0"/>
          </a:p>
        </p:txBody>
      </p:sp>
      <p:sp>
        <p:nvSpPr>
          <p:cNvPr id="16" name="Crisis row 402"/>
          <p:cNvSpPr/>
          <p:nvPr/>
        </p:nvSpPr>
        <p:spPr>
          <a:xfrm>
            <a:off x="548640" y="3438144"/>
            <a:ext cx="11094415" cy="868680"/>
          </a:xfrm>
          <a:prstGeom prst="roundRect">
            <a:avLst>
              <a:gd name="adj" fmla="val 8421"/>
            </a:avLst>
          </a:prstGeom>
          <a:solidFill>
            <a:schemeClr val="accent1">
              <a:alpha val="8000"/>
            </a:schemeClr>
          </a:solidFill>
          <a:ln/>
        </p:spPr>
      </p:sp>
      <p:sp>
        <p:nvSpPr>
          <p:cNvPr id="17" name="Date pill 403"/>
          <p:cNvSpPr/>
          <p:nvPr/>
        </p:nvSpPr>
        <p:spPr>
          <a:xfrm>
            <a:off x="685800" y="3689604"/>
            <a:ext cx="1234440" cy="365760"/>
          </a:xfrm>
          <a:prstGeom prst="roundRect">
            <a:avLst>
              <a:gd name="adj" fmla="val 50000"/>
            </a:avLst>
          </a:prstGeom>
          <a:solidFill>
            <a:schemeClr val="accent1"/>
          </a:solidFill>
          <a:ln/>
        </p:spPr>
      </p:sp>
      <p:sp>
        <p:nvSpPr>
          <p:cNvPr id="18" name="Text 404"/>
          <p:cNvSpPr txBox="1"/>
          <p:nvPr/>
        </p:nvSpPr>
        <p:spPr>
          <a:xfrm>
            <a:off x="685800" y="3689604"/>
            <a:ext cx="1234440" cy="365760"/>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1899–1902</a:t>
            </a:r>
            <a:endParaRPr lang="en-US" sz="1300" dirty="0"/>
          </a:p>
        </p:txBody>
      </p:sp>
      <p:sp>
        <p:nvSpPr>
          <p:cNvPr id="19" name="Text 405"/>
          <p:cNvSpPr txBox="1"/>
          <p:nvPr/>
        </p:nvSpPr>
        <p:spPr>
          <a:xfrm>
            <a:off x="2057400" y="3438144"/>
            <a:ext cx="2057400" cy="868680"/>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Boer War</a:t>
            </a:r>
            <a:endParaRPr lang="en-US" sz="1600" dirty="0"/>
          </a:p>
        </p:txBody>
      </p:sp>
      <p:sp>
        <p:nvSpPr>
          <p:cNvPr id="20" name="Text 406"/>
          <p:cNvSpPr txBox="1"/>
          <p:nvPr/>
        </p:nvSpPr>
        <p:spPr>
          <a:xfrm>
            <a:off x="4160520" y="3438144"/>
            <a:ext cx="3886200" cy="868680"/>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Britain needed c.450,000 troops to defeat the Boer republics.</a:t>
            </a:r>
            <a:endParaRPr lang="en-US" sz="1400" dirty="0"/>
          </a:p>
        </p:txBody>
      </p:sp>
      <p:sp>
        <p:nvSpPr>
          <p:cNvPr id="21" name="Text 407"/>
          <p:cNvSpPr txBox="1"/>
          <p:nvPr/>
        </p:nvSpPr>
        <p:spPr>
          <a:xfrm>
            <a:off x="8183880" y="3438144"/>
            <a:ext cx="3322015" cy="868680"/>
          </a:xfrm>
          <a:prstGeom prst="rect">
            <a:avLst/>
          </a:prstGeom>
          <a:noFill/>
          <a:ln/>
        </p:spPr>
        <p:txBody>
          <a:bodyPr wrap="square" lIns="0" tIns="0" rIns="0" bIns="0" rtlCol="0" anchor="ctr"/>
          <a:lstStyle/>
          <a:p>
            <a:pPr algn="l" indent="0" marL="0">
              <a:spcAft>
                <a:spcPts val="600"/>
              </a:spcAft>
              <a:buNone/>
            </a:pPr>
            <a:r>
              <a:rPr lang="en-US" sz="1400" b="1" dirty="0">
                <a:solidFill>
                  <a:schemeClr val="accent1"/>
                </a:solidFill>
              </a:rPr>
              <a:t>→ Exposed British isolation; Europe sided with the Boers</a:t>
            </a:r>
            <a:endParaRPr lang="en-US" sz="1400" dirty="0"/>
          </a:p>
        </p:txBody>
      </p:sp>
      <p:sp>
        <p:nvSpPr>
          <p:cNvPr id="22" name="Crisis row 408"/>
          <p:cNvSpPr/>
          <p:nvPr/>
        </p:nvSpPr>
        <p:spPr>
          <a:xfrm>
            <a:off x="548640" y="4416552"/>
            <a:ext cx="11094415" cy="868680"/>
          </a:xfrm>
          <a:prstGeom prst="roundRect">
            <a:avLst>
              <a:gd name="adj" fmla="val 8421"/>
            </a:avLst>
          </a:prstGeom>
          <a:solidFill>
            <a:schemeClr val="bg2"/>
          </a:solidFill>
          <a:ln/>
        </p:spPr>
      </p:sp>
      <p:sp>
        <p:nvSpPr>
          <p:cNvPr id="23" name="Date pill 409"/>
          <p:cNvSpPr/>
          <p:nvPr/>
        </p:nvSpPr>
        <p:spPr>
          <a:xfrm>
            <a:off x="685800" y="4668012"/>
            <a:ext cx="1234440" cy="365760"/>
          </a:xfrm>
          <a:prstGeom prst="roundRect">
            <a:avLst>
              <a:gd name="adj" fmla="val 50000"/>
            </a:avLst>
          </a:prstGeom>
          <a:solidFill>
            <a:schemeClr val="accent1"/>
          </a:solidFill>
          <a:ln/>
        </p:spPr>
      </p:sp>
      <p:sp>
        <p:nvSpPr>
          <p:cNvPr id="24" name="Text 410"/>
          <p:cNvSpPr txBox="1"/>
          <p:nvPr/>
        </p:nvSpPr>
        <p:spPr>
          <a:xfrm>
            <a:off x="685800" y="4668012"/>
            <a:ext cx="1234440" cy="365760"/>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1905–06</a:t>
            </a:r>
            <a:endParaRPr lang="en-US" sz="1300" dirty="0"/>
          </a:p>
        </p:txBody>
      </p:sp>
      <p:sp>
        <p:nvSpPr>
          <p:cNvPr id="25" name="Text 411"/>
          <p:cNvSpPr txBox="1"/>
          <p:nvPr/>
        </p:nvSpPr>
        <p:spPr>
          <a:xfrm>
            <a:off x="2057400" y="4416552"/>
            <a:ext cx="2057400" cy="868680"/>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1st Moroccan Crisis</a:t>
            </a:r>
            <a:endParaRPr lang="en-US" sz="1600" dirty="0"/>
          </a:p>
        </p:txBody>
      </p:sp>
      <p:sp>
        <p:nvSpPr>
          <p:cNvPr id="26" name="Text 412"/>
          <p:cNvSpPr txBox="1"/>
          <p:nvPr/>
        </p:nvSpPr>
        <p:spPr>
          <a:xfrm>
            <a:off x="4160520" y="4416552"/>
            <a:ext cx="3886200" cy="868680"/>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Wilhelm II at Tangier challenged France's hold on Morocco.</a:t>
            </a:r>
            <a:endParaRPr lang="en-US" sz="1400" dirty="0"/>
          </a:p>
        </p:txBody>
      </p:sp>
      <p:sp>
        <p:nvSpPr>
          <p:cNvPr id="27" name="Text 413"/>
          <p:cNvSpPr txBox="1"/>
          <p:nvPr/>
        </p:nvSpPr>
        <p:spPr>
          <a:xfrm>
            <a:off x="8183880" y="4416552"/>
            <a:ext cx="3322015" cy="868680"/>
          </a:xfrm>
          <a:prstGeom prst="rect">
            <a:avLst/>
          </a:prstGeom>
          <a:noFill/>
          <a:ln/>
        </p:spPr>
        <p:txBody>
          <a:bodyPr wrap="square" lIns="0" tIns="0" rIns="0" bIns="0" rtlCol="0" anchor="ctr"/>
          <a:lstStyle/>
          <a:p>
            <a:pPr algn="l" indent="0" marL="0">
              <a:spcAft>
                <a:spcPts val="600"/>
              </a:spcAft>
              <a:buNone/>
            </a:pPr>
            <a:r>
              <a:rPr lang="en-US" sz="1400" b="1" dirty="0">
                <a:solidFill>
                  <a:schemeClr val="accent1"/>
                </a:solidFill>
              </a:rPr>
              <a:t>→ Algeciras Conference backed France; Germany isolated</a:t>
            </a:r>
            <a:endParaRPr lang="en-US" sz="1400" dirty="0"/>
          </a:p>
        </p:txBody>
      </p:sp>
      <p:sp>
        <p:nvSpPr>
          <p:cNvPr id="28" name="Crisis row 414"/>
          <p:cNvSpPr/>
          <p:nvPr/>
        </p:nvSpPr>
        <p:spPr>
          <a:xfrm>
            <a:off x="548640" y="5394960"/>
            <a:ext cx="11094415" cy="868680"/>
          </a:xfrm>
          <a:prstGeom prst="roundRect">
            <a:avLst>
              <a:gd name="adj" fmla="val 8421"/>
            </a:avLst>
          </a:prstGeom>
          <a:solidFill>
            <a:schemeClr val="accent1">
              <a:alpha val="8000"/>
            </a:schemeClr>
          </a:solidFill>
          <a:ln/>
        </p:spPr>
      </p:sp>
      <p:sp>
        <p:nvSpPr>
          <p:cNvPr id="29" name="Date pill 415"/>
          <p:cNvSpPr/>
          <p:nvPr/>
        </p:nvSpPr>
        <p:spPr>
          <a:xfrm>
            <a:off x="685800" y="5646420"/>
            <a:ext cx="1234440" cy="365760"/>
          </a:xfrm>
          <a:prstGeom prst="roundRect">
            <a:avLst>
              <a:gd name="adj" fmla="val 50000"/>
            </a:avLst>
          </a:prstGeom>
          <a:solidFill>
            <a:schemeClr val="accent1"/>
          </a:solidFill>
          <a:ln/>
        </p:spPr>
      </p:sp>
      <p:sp>
        <p:nvSpPr>
          <p:cNvPr id="30" name="Text 416"/>
          <p:cNvSpPr txBox="1"/>
          <p:nvPr/>
        </p:nvSpPr>
        <p:spPr>
          <a:xfrm>
            <a:off x="685800" y="5646420"/>
            <a:ext cx="1234440" cy="365760"/>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1911</a:t>
            </a:r>
            <a:endParaRPr lang="en-US" sz="1300" dirty="0"/>
          </a:p>
        </p:txBody>
      </p:sp>
      <p:sp>
        <p:nvSpPr>
          <p:cNvPr id="31" name="Text 417"/>
          <p:cNvSpPr txBox="1"/>
          <p:nvPr/>
        </p:nvSpPr>
        <p:spPr>
          <a:xfrm>
            <a:off x="2057400" y="5394960"/>
            <a:ext cx="2057400" cy="868680"/>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Agadir Crisis</a:t>
            </a:r>
            <a:endParaRPr lang="en-US" sz="1600" dirty="0"/>
          </a:p>
        </p:txBody>
      </p:sp>
      <p:sp>
        <p:nvSpPr>
          <p:cNvPr id="32" name="Text 418"/>
          <p:cNvSpPr txBox="1"/>
          <p:nvPr/>
        </p:nvSpPr>
        <p:spPr>
          <a:xfrm>
            <a:off x="4160520" y="5394960"/>
            <a:ext cx="3886200" cy="868680"/>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German gunboat Panther sent to Morocco to force concessions.</a:t>
            </a:r>
            <a:endParaRPr lang="en-US" sz="1400" dirty="0"/>
          </a:p>
        </p:txBody>
      </p:sp>
      <p:sp>
        <p:nvSpPr>
          <p:cNvPr id="33" name="Text 419"/>
          <p:cNvSpPr txBox="1"/>
          <p:nvPr/>
        </p:nvSpPr>
        <p:spPr>
          <a:xfrm>
            <a:off x="8183880" y="5394960"/>
            <a:ext cx="3322015" cy="868680"/>
          </a:xfrm>
          <a:prstGeom prst="rect">
            <a:avLst/>
          </a:prstGeom>
          <a:noFill/>
          <a:ln/>
        </p:spPr>
        <p:txBody>
          <a:bodyPr wrap="square" lIns="0" tIns="0" rIns="0" bIns="0" rtlCol="0" anchor="ctr"/>
          <a:lstStyle/>
          <a:p>
            <a:pPr algn="l" indent="0" marL="0">
              <a:spcAft>
                <a:spcPts val="600"/>
              </a:spcAft>
              <a:buNone/>
            </a:pPr>
            <a:r>
              <a:rPr lang="en-US" sz="1400" b="1" dirty="0">
                <a:solidFill>
                  <a:schemeClr val="accent1"/>
                </a:solidFill>
              </a:rPr>
              <a:t>→ Germany got part of French Congo; Britain backed France</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420"/>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KQ2 · ALLIANCES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From 'splendid isolation' to the Entente</a:t>
            </a:r>
            <a:endParaRPr lang="en-US" sz="3400" dirty="0"/>
          </a:p>
        </p:txBody>
      </p:sp>
      <p:sp>
        <p:nvSpPr>
          <p:cNvPr id="4" name="Step 421"/>
          <p:cNvSpPr/>
          <p:nvPr/>
        </p:nvSpPr>
        <p:spPr>
          <a:xfrm>
            <a:off x="548640" y="1481328"/>
            <a:ext cx="2485568" cy="2423160"/>
          </a:xfrm>
          <a:prstGeom prst="roundRect">
            <a:avLst>
              <a:gd name="adj" fmla="val 3774"/>
            </a:avLst>
          </a:prstGeom>
          <a:solidFill>
            <a:schemeClr val="accent1">
              <a:alpha val="10000"/>
            </a:schemeClr>
          </a:solidFill>
          <a:ln/>
        </p:spPr>
      </p:sp>
      <p:sp>
        <p:nvSpPr>
          <p:cNvPr id="5" name="Step number 422"/>
          <p:cNvSpPr/>
          <p:nvPr/>
        </p:nvSpPr>
        <p:spPr>
          <a:xfrm>
            <a:off x="713232" y="1645920"/>
            <a:ext cx="420624" cy="420624"/>
          </a:xfrm>
          <a:prstGeom prst="ellipse">
            <a:avLst/>
          </a:prstGeom>
          <a:solidFill>
            <a:schemeClr val="accent1"/>
          </a:solidFill>
          <a:ln/>
        </p:spPr>
      </p:sp>
      <p:sp>
        <p:nvSpPr>
          <p:cNvPr id="6" name="Text 423"/>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1890s</a:t>
            </a:r>
            <a:endParaRPr lang="en-US" sz="1100" dirty="0"/>
          </a:p>
        </p:txBody>
      </p:sp>
      <p:sp>
        <p:nvSpPr>
          <p:cNvPr id="7" name="Text 424"/>
          <p:cNvSpPr txBox="1"/>
          <p:nvPr/>
        </p:nvSpPr>
        <p:spPr>
          <a:xfrm>
            <a:off x="1243584"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Splendid isolation</a:t>
            </a:r>
            <a:endParaRPr lang="en-US" sz="1600" dirty="0"/>
          </a:p>
        </p:txBody>
      </p:sp>
      <p:sp>
        <p:nvSpPr>
          <p:cNvPr id="8" name="Text 425"/>
          <p:cNvSpPr txBox="1"/>
          <p:nvPr/>
        </p:nvSpPr>
        <p:spPr>
          <a:xfrm>
            <a:off x="713232" y="2176272"/>
            <a:ext cx="2156384" cy="15910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Britain avoids alliances; rivals France in Africa and Russia in Asia.</a:t>
            </a:r>
            <a:endParaRPr lang="en-US" sz="1800" dirty="0"/>
          </a:p>
        </p:txBody>
      </p:sp>
      <p:sp>
        <p:nvSpPr>
          <p:cNvPr id="9" name="Arrow 426"/>
          <p:cNvSpPr/>
          <p:nvPr/>
        </p:nvSpPr>
        <p:spPr>
          <a:xfrm>
            <a:off x="3098216" y="2546604"/>
            <a:ext cx="256032" cy="292608"/>
          </a:xfrm>
          <a:prstGeom prst="chevron">
            <a:avLst/>
          </a:prstGeom>
          <a:solidFill>
            <a:schemeClr val="accent1"/>
          </a:solidFill>
          <a:ln/>
        </p:spPr>
      </p:sp>
      <p:sp>
        <p:nvSpPr>
          <p:cNvPr id="10" name="Step 427"/>
          <p:cNvSpPr/>
          <p:nvPr/>
        </p:nvSpPr>
        <p:spPr>
          <a:xfrm>
            <a:off x="3418256" y="1481328"/>
            <a:ext cx="2485568" cy="2423160"/>
          </a:xfrm>
          <a:prstGeom prst="roundRect">
            <a:avLst>
              <a:gd name="adj" fmla="val 3774"/>
            </a:avLst>
          </a:prstGeom>
          <a:solidFill>
            <a:schemeClr val="accent1">
              <a:alpha val="10000"/>
            </a:schemeClr>
          </a:solidFill>
          <a:ln/>
        </p:spPr>
      </p:sp>
      <p:sp>
        <p:nvSpPr>
          <p:cNvPr id="11" name="Step number 428"/>
          <p:cNvSpPr/>
          <p:nvPr/>
        </p:nvSpPr>
        <p:spPr>
          <a:xfrm>
            <a:off x="3582848" y="1645920"/>
            <a:ext cx="420624" cy="420624"/>
          </a:xfrm>
          <a:prstGeom prst="ellipse">
            <a:avLst/>
          </a:prstGeom>
          <a:solidFill>
            <a:schemeClr val="accent1"/>
          </a:solidFill>
          <a:ln/>
        </p:spPr>
      </p:sp>
      <p:sp>
        <p:nvSpPr>
          <p:cNvPr id="12" name="Text 429"/>
          <p:cNvSpPr txBox="1"/>
          <p:nvPr/>
        </p:nvSpPr>
        <p:spPr>
          <a:xfrm>
            <a:off x="3582848"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1902</a:t>
            </a:r>
            <a:endParaRPr lang="en-US" sz="1100" dirty="0"/>
          </a:p>
        </p:txBody>
      </p:sp>
      <p:sp>
        <p:nvSpPr>
          <p:cNvPr id="13" name="Text 430"/>
          <p:cNvSpPr txBox="1"/>
          <p:nvPr/>
        </p:nvSpPr>
        <p:spPr>
          <a:xfrm>
            <a:off x="4113200" y="1645920"/>
            <a:ext cx="1662608" cy="496092"/>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Anglo-Japanese Alliance</a:t>
            </a:r>
            <a:endParaRPr lang="en-US" sz="1600" dirty="0"/>
          </a:p>
        </p:txBody>
      </p:sp>
      <p:sp>
        <p:nvSpPr>
          <p:cNvPr id="14" name="Text 431"/>
          <p:cNvSpPr txBox="1"/>
          <p:nvPr/>
        </p:nvSpPr>
        <p:spPr>
          <a:xfrm>
            <a:off x="3582848" y="2251740"/>
            <a:ext cx="2156384" cy="1515588"/>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Contains Russia in East Asia; Britain's first ally.</a:t>
            </a:r>
            <a:endParaRPr lang="en-US" sz="1800" dirty="0"/>
          </a:p>
        </p:txBody>
      </p:sp>
      <p:sp>
        <p:nvSpPr>
          <p:cNvPr id="15" name="Arrow 432"/>
          <p:cNvSpPr/>
          <p:nvPr/>
        </p:nvSpPr>
        <p:spPr>
          <a:xfrm>
            <a:off x="5967832" y="2546604"/>
            <a:ext cx="256032" cy="292608"/>
          </a:xfrm>
          <a:prstGeom prst="chevron">
            <a:avLst/>
          </a:prstGeom>
          <a:solidFill>
            <a:schemeClr val="accent1"/>
          </a:solidFill>
          <a:ln/>
        </p:spPr>
      </p:sp>
      <p:sp>
        <p:nvSpPr>
          <p:cNvPr id="16" name="Step 433"/>
          <p:cNvSpPr/>
          <p:nvPr/>
        </p:nvSpPr>
        <p:spPr>
          <a:xfrm>
            <a:off x="6287872" y="1481328"/>
            <a:ext cx="2485568" cy="2423160"/>
          </a:xfrm>
          <a:prstGeom prst="roundRect">
            <a:avLst>
              <a:gd name="adj" fmla="val 3774"/>
            </a:avLst>
          </a:prstGeom>
          <a:solidFill>
            <a:schemeClr val="accent1">
              <a:alpha val="10000"/>
            </a:schemeClr>
          </a:solidFill>
          <a:ln/>
        </p:spPr>
      </p:sp>
      <p:sp>
        <p:nvSpPr>
          <p:cNvPr id="17" name="Step number 434"/>
          <p:cNvSpPr/>
          <p:nvPr/>
        </p:nvSpPr>
        <p:spPr>
          <a:xfrm>
            <a:off x="6452464" y="1645920"/>
            <a:ext cx="420624" cy="420624"/>
          </a:xfrm>
          <a:prstGeom prst="ellipse">
            <a:avLst/>
          </a:prstGeom>
          <a:solidFill>
            <a:schemeClr val="accent1"/>
          </a:solidFill>
          <a:ln/>
        </p:spPr>
      </p:sp>
      <p:sp>
        <p:nvSpPr>
          <p:cNvPr id="18" name="Text 435"/>
          <p:cNvSpPr txBox="1"/>
          <p:nvPr/>
        </p:nvSpPr>
        <p:spPr>
          <a:xfrm>
            <a:off x="6452464"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1904</a:t>
            </a:r>
            <a:endParaRPr lang="en-US" sz="1100" dirty="0"/>
          </a:p>
        </p:txBody>
      </p:sp>
      <p:sp>
        <p:nvSpPr>
          <p:cNvPr id="19" name="Text 436"/>
          <p:cNvSpPr txBox="1"/>
          <p:nvPr/>
        </p:nvSpPr>
        <p:spPr>
          <a:xfrm>
            <a:off x="6982816"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Entente Cordiale</a:t>
            </a:r>
            <a:endParaRPr lang="en-US" sz="1600" dirty="0"/>
          </a:p>
        </p:txBody>
      </p:sp>
      <p:sp>
        <p:nvSpPr>
          <p:cNvPr id="20" name="Text 437"/>
          <p:cNvSpPr txBox="1"/>
          <p:nvPr/>
        </p:nvSpPr>
        <p:spPr>
          <a:xfrm>
            <a:off x="6452464" y="2176272"/>
            <a:ext cx="2156384" cy="15910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Colonial swap: Egypt for Britain, Morocco for France.</a:t>
            </a:r>
            <a:endParaRPr lang="en-US" sz="1800" dirty="0"/>
          </a:p>
        </p:txBody>
      </p:sp>
      <p:sp>
        <p:nvSpPr>
          <p:cNvPr id="21" name="Arrow 438"/>
          <p:cNvSpPr/>
          <p:nvPr/>
        </p:nvSpPr>
        <p:spPr>
          <a:xfrm>
            <a:off x="8837447" y="2546604"/>
            <a:ext cx="256032" cy="292608"/>
          </a:xfrm>
          <a:prstGeom prst="chevron">
            <a:avLst/>
          </a:prstGeom>
          <a:solidFill>
            <a:schemeClr val="accent1"/>
          </a:solidFill>
          <a:ln/>
        </p:spPr>
      </p:sp>
      <p:sp>
        <p:nvSpPr>
          <p:cNvPr id="22" name="Step 439"/>
          <p:cNvSpPr/>
          <p:nvPr/>
        </p:nvSpPr>
        <p:spPr>
          <a:xfrm>
            <a:off x="9157487" y="1481328"/>
            <a:ext cx="2485568" cy="2423160"/>
          </a:xfrm>
          <a:prstGeom prst="roundRect">
            <a:avLst>
              <a:gd name="adj" fmla="val 3774"/>
            </a:avLst>
          </a:prstGeom>
          <a:solidFill>
            <a:schemeClr val="accent1">
              <a:alpha val="10000"/>
            </a:schemeClr>
          </a:solidFill>
          <a:ln/>
        </p:spPr>
      </p:sp>
      <p:sp>
        <p:nvSpPr>
          <p:cNvPr id="23" name="Step number 440"/>
          <p:cNvSpPr/>
          <p:nvPr/>
        </p:nvSpPr>
        <p:spPr>
          <a:xfrm>
            <a:off x="9322079" y="1645920"/>
            <a:ext cx="420624" cy="420624"/>
          </a:xfrm>
          <a:prstGeom prst="ellipse">
            <a:avLst/>
          </a:prstGeom>
          <a:solidFill>
            <a:schemeClr val="accent1"/>
          </a:solidFill>
          <a:ln/>
        </p:spPr>
      </p:sp>
      <p:sp>
        <p:nvSpPr>
          <p:cNvPr id="24" name="Text 441"/>
          <p:cNvSpPr txBox="1"/>
          <p:nvPr/>
        </p:nvSpPr>
        <p:spPr>
          <a:xfrm>
            <a:off x="9322079"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1907</a:t>
            </a:r>
            <a:endParaRPr lang="en-US" sz="1100" dirty="0"/>
          </a:p>
        </p:txBody>
      </p:sp>
      <p:sp>
        <p:nvSpPr>
          <p:cNvPr id="25" name="Text 442"/>
          <p:cNvSpPr txBox="1"/>
          <p:nvPr/>
        </p:nvSpPr>
        <p:spPr>
          <a:xfrm>
            <a:off x="9852431" y="1645920"/>
            <a:ext cx="1662608" cy="496092"/>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Anglo-Russian Convention</a:t>
            </a:r>
            <a:endParaRPr lang="en-US" sz="1600" dirty="0"/>
          </a:p>
        </p:txBody>
      </p:sp>
      <p:sp>
        <p:nvSpPr>
          <p:cNvPr id="26" name="Text 443"/>
          <p:cNvSpPr txBox="1"/>
          <p:nvPr/>
        </p:nvSpPr>
        <p:spPr>
          <a:xfrm>
            <a:off x="9322079" y="2251740"/>
            <a:ext cx="2156384" cy="1515588"/>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Persia divided; Afghanistan and Tibet settled.</a:t>
            </a:r>
            <a:endParaRPr lang="en-US" sz="1800" dirty="0"/>
          </a:p>
        </p:txBody>
      </p:sp>
      <p:sp>
        <p:nvSpPr>
          <p:cNvPr id="27" name="Card 444"/>
          <p:cNvSpPr/>
          <p:nvPr/>
        </p:nvSpPr>
        <p:spPr>
          <a:xfrm>
            <a:off x="548640" y="4178808"/>
            <a:ext cx="5410048" cy="2084832"/>
          </a:xfrm>
          <a:prstGeom prst="roundRect">
            <a:avLst>
              <a:gd name="adj" fmla="val 4386"/>
            </a:avLst>
          </a:prstGeom>
          <a:solidFill>
            <a:schemeClr val="accent1">
              <a:alpha val="10000"/>
            </a:schemeClr>
          </a:solidFill>
          <a:ln/>
        </p:spPr>
      </p:sp>
      <p:sp>
        <p:nvSpPr>
          <p:cNvPr id="28" name="Icon circle 445"/>
          <p:cNvSpPr/>
          <p:nvPr/>
        </p:nvSpPr>
        <p:spPr>
          <a:xfrm>
            <a:off x="731520" y="4361688"/>
            <a:ext cx="475488" cy="475488"/>
          </a:xfrm>
          <a:prstGeom prst="ellipse">
            <a:avLst/>
          </a:prstGeom>
          <a:solidFill>
            <a:schemeClr val="accent1"/>
          </a:solidFill>
          <a:ln/>
        </p:spPr>
      </p:sp>
      <p:pic>
        <p:nvPicPr>
          <p:cNvPr id="29" name="Icon FaHandshake 446" descr="preencoded.png">    </p:cNvPr>
          <p:cNvPicPr>
            <a:picLocks noChangeAspect="1"/>
          </p:cNvPicPr>
          <p:nvPr/>
        </p:nvPicPr>
        <p:blipFill>
          <a:blip r:embed="rId1"/>
          <a:stretch>
            <a:fillRect/>
          </a:stretch>
        </p:blipFill>
        <p:spPr>
          <a:xfrm>
            <a:off x="836127" y="4466295"/>
            <a:ext cx="266273" cy="266273"/>
          </a:xfrm>
          <a:prstGeom prst="rect">
            <a:avLst/>
          </a:prstGeom>
        </p:spPr>
      </p:pic>
      <p:sp>
        <p:nvSpPr>
          <p:cNvPr id="30" name="Card title 447"/>
          <p:cNvSpPr txBox="1"/>
          <p:nvPr/>
        </p:nvSpPr>
        <p:spPr>
          <a:xfrm>
            <a:off x="1335024" y="436168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Rivalry settled by deals</a:t>
            </a:r>
            <a:endParaRPr lang="en-US" sz="1700" dirty="0"/>
          </a:p>
        </p:txBody>
      </p:sp>
      <p:sp>
        <p:nvSpPr>
          <p:cNvPr id="31" name="Text 448"/>
          <p:cNvSpPr txBox="1"/>
          <p:nvPr/>
        </p:nvSpPr>
        <p:spPr>
          <a:xfrm>
            <a:off x="731520" y="4946904"/>
            <a:ext cx="5044288" cy="113385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Most imperial quarrels ended in bargains, not wars — imperialism could produce cooperation.</a:t>
            </a:r>
            <a:endParaRPr lang="en-US" sz="1800" dirty="0"/>
          </a:p>
        </p:txBody>
      </p:sp>
      <p:sp>
        <p:nvSpPr>
          <p:cNvPr id="32" name="Card 449"/>
          <p:cNvSpPr/>
          <p:nvPr/>
        </p:nvSpPr>
        <p:spPr>
          <a:xfrm>
            <a:off x="6233008" y="4178808"/>
            <a:ext cx="5410048" cy="2084832"/>
          </a:xfrm>
          <a:prstGeom prst="roundRect">
            <a:avLst>
              <a:gd name="adj" fmla="val 4386"/>
            </a:avLst>
          </a:prstGeom>
          <a:solidFill>
            <a:schemeClr val="accent1">
              <a:alpha val="10000"/>
            </a:schemeClr>
          </a:solidFill>
          <a:ln/>
        </p:spPr>
      </p:sp>
      <p:sp>
        <p:nvSpPr>
          <p:cNvPr id="33" name="Icon circle 450"/>
          <p:cNvSpPr/>
          <p:nvPr/>
        </p:nvSpPr>
        <p:spPr>
          <a:xfrm>
            <a:off x="6415888" y="4361688"/>
            <a:ext cx="475488" cy="475488"/>
          </a:xfrm>
          <a:prstGeom prst="ellipse">
            <a:avLst/>
          </a:prstGeom>
          <a:solidFill>
            <a:schemeClr val="accent1"/>
          </a:solidFill>
          <a:ln/>
        </p:spPr>
      </p:sp>
      <p:pic>
        <p:nvPicPr>
          <p:cNvPr id="34" name="Icon GiBattleship 451" descr="preencoded.png">    </p:cNvPr>
          <p:cNvPicPr>
            <a:picLocks noChangeAspect="1"/>
          </p:cNvPicPr>
          <p:nvPr/>
        </p:nvPicPr>
        <p:blipFill>
          <a:blip r:embed="rId2"/>
          <a:stretch>
            <a:fillRect/>
          </a:stretch>
        </p:blipFill>
        <p:spPr>
          <a:xfrm>
            <a:off x="6520495" y="4466295"/>
            <a:ext cx="266273" cy="266273"/>
          </a:xfrm>
          <a:prstGeom prst="rect">
            <a:avLst/>
          </a:prstGeom>
        </p:spPr>
      </p:pic>
      <p:sp>
        <p:nvSpPr>
          <p:cNvPr id="35" name="Card title 452"/>
          <p:cNvSpPr txBox="1"/>
          <p:nvPr/>
        </p:nvSpPr>
        <p:spPr>
          <a:xfrm>
            <a:off x="7019392" y="436168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…but Germany felt 'encircled'</a:t>
            </a:r>
            <a:endParaRPr lang="en-US" sz="1700" dirty="0"/>
          </a:p>
        </p:txBody>
      </p:sp>
      <p:sp>
        <p:nvSpPr>
          <p:cNvPr id="36" name="Text 453"/>
          <p:cNvSpPr txBox="1"/>
          <p:nvPr/>
        </p:nvSpPr>
        <p:spPr>
          <a:xfrm>
            <a:off x="6415888" y="4946904"/>
            <a:ext cx="5044288" cy="113385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Weltpolitik and Tirpitz's Navy Laws (1898, 1900) sparked a naval race after HMS Dreadnought (1906).</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45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KQ2 · CHINA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'Slicing the Chinese melon'</a:t>
            </a:r>
            <a:endParaRPr lang="en-US" sz="3400" dirty="0"/>
          </a:p>
        </p:txBody>
      </p:sp>
      <p:sp>
        <p:nvSpPr>
          <p:cNvPr id="4" name="Card 455"/>
          <p:cNvSpPr/>
          <p:nvPr/>
        </p:nvSpPr>
        <p:spPr>
          <a:xfrm>
            <a:off x="548640" y="1481328"/>
            <a:ext cx="5410048" cy="3794760"/>
          </a:xfrm>
          <a:prstGeom prst="roundRect">
            <a:avLst>
              <a:gd name="adj" fmla="val 2410"/>
            </a:avLst>
          </a:prstGeom>
          <a:solidFill>
            <a:schemeClr val="bg2"/>
          </a:solidFill>
          <a:ln/>
        </p:spPr>
      </p:sp>
      <p:sp>
        <p:nvSpPr>
          <p:cNvPr id="5" name="Icon circle 456"/>
          <p:cNvSpPr/>
          <p:nvPr/>
        </p:nvSpPr>
        <p:spPr>
          <a:xfrm>
            <a:off x="731520" y="1664208"/>
            <a:ext cx="475488" cy="475488"/>
          </a:xfrm>
          <a:prstGeom prst="ellipse">
            <a:avLst/>
          </a:prstGeom>
          <a:solidFill>
            <a:schemeClr val="accent1"/>
          </a:solidFill>
          <a:ln/>
        </p:spPr>
      </p:sp>
      <p:pic>
        <p:nvPicPr>
          <p:cNvPr id="6" name="Icon GiPagoda 457"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458"/>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Why China was vulnerable</a:t>
            </a:r>
            <a:endParaRPr lang="en-US" sz="1700" dirty="0"/>
          </a:p>
        </p:txBody>
      </p:sp>
      <p:sp>
        <p:nvSpPr>
          <p:cNvPr id="8" name="Text 459"/>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1700" dirty="0">
                <a:solidFill>
                  <a:schemeClr val="tx1"/>
                </a:solidFill>
              </a:rPr>
              <a:t>Opium Wars (1839–42, 1856–60) forced unequal treaties, treaty ports and foreign legal privileges</a:t>
            </a:r>
            <a:endParaRPr lang="en-US" sz="1700" dirty="0"/>
          </a:p>
          <a:p>
            <a:pPr algn="l" marL="190500" indent="-190500">
              <a:spcAft>
                <a:spcPts val="800"/>
              </a:spcAft>
              <a:buSzPct val="100000"/>
              <a:buChar char="•"/>
            </a:pPr>
            <a:r>
              <a:rPr lang="en-US" sz="1700" dirty="0">
                <a:solidFill>
                  <a:schemeClr val="tx1"/>
                </a:solidFill>
              </a:rPr>
              <a:t>Qing dynasty weak, divided and short of money</a:t>
            </a:r>
            <a:endParaRPr lang="en-US" sz="1700" dirty="0"/>
          </a:p>
          <a:p>
            <a:pPr algn="l" marL="190500" indent="-190500">
              <a:spcAft>
                <a:spcPts val="800"/>
              </a:spcAft>
              <a:buSzPct val="100000"/>
              <a:buChar char="•"/>
            </a:pPr>
            <a:r>
              <a:rPr lang="en-US" sz="1700" dirty="0">
                <a:solidFill>
                  <a:schemeClr val="tx1"/>
                </a:solidFill>
              </a:rPr>
              <a:t>Defeat by Japan (1895) exposed China's weakness</a:t>
            </a:r>
            <a:endParaRPr lang="en-US" sz="1700" dirty="0"/>
          </a:p>
          <a:p>
            <a:pPr algn="l" marL="190500" indent="-190500">
              <a:spcAft>
                <a:spcPts val="800"/>
              </a:spcAft>
              <a:buSzPct val="100000"/>
              <a:buChar char="•"/>
            </a:pPr>
            <a:r>
              <a:rPr lang="en-US" sz="1700" dirty="0">
                <a:solidFill>
                  <a:schemeClr val="tx1"/>
                </a:solidFill>
              </a:rPr>
              <a:t>Powers rushed for leases, railways and 'spheres of influence'</a:t>
            </a:r>
            <a:endParaRPr lang="en-US" sz="1700" dirty="0"/>
          </a:p>
        </p:txBody>
      </p:sp>
      <p:sp>
        <p:nvSpPr>
          <p:cNvPr id="9" name="Card 460"/>
          <p:cNvSpPr/>
          <p:nvPr/>
        </p:nvSpPr>
        <p:spPr>
          <a:xfrm>
            <a:off x="6233008" y="1481328"/>
            <a:ext cx="5410048" cy="3794760"/>
          </a:xfrm>
          <a:prstGeom prst="roundRect">
            <a:avLst>
              <a:gd name="adj" fmla="val 2410"/>
            </a:avLst>
          </a:prstGeom>
          <a:solidFill>
            <a:schemeClr val="accent1">
              <a:alpha val="10000"/>
            </a:schemeClr>
          </a:solidFill>
          <a:ln/>
        </p:spPr>
      </p:sp>
      <p:sp>
        <p:nvSpPr>
          <p:cNvPr id="10" name="Icon circle 461"/>
          <p:cNvSpPr/>
          <p:nvPr/>
        </p:nvSpPr>
        <p:spPr>
          <a:xfrm>
            <a:off x="6415888" y="1664208"/>
            <a:ext cx="475488" cy="475488"/>
          </a:xfrm>
          <a:prstGeom prst="ellipse">
            <a:avLst/>
          </a:prstGeom>
          <a:solidFill>
            <a:schemeClr val="accent1"/>
          </a:solidFill>
          <a:ln/>
        </p:spPr>
      </p:sp>
      <p:pic>
        <p:nvPicPr>
          <p:cNvPr id="11" name="Icon GiTreasureMap 462"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463"/>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The scramble for concessions, 1897–99</a:t>
            </a:r>
            <a:endParaRPr lang="en-US" sz="1700" dirty="0"/>
          </a:p>
        </p:txBody>
      </p:sp>
      <p:sp>
        <p:nvSpPr>
          <p:cNvPr id="13" name="Text 464"/>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1700" b="1" dirty="0">
                <a:solidFill>
                  <a:schemeClr val="tx1"/>
                </a:solidFill>
              </a:rPr>
              <a:t>Germany:</a:t>
            </a:r>
            <a:r>
              <a:rPr lang="en-US" sz="1700" dirty="0">
                <a:solidFill>
                  <a:schemeClr val="tx1"/>
                </a:solidFill>
              </a:rPr>
              <a:t> Jiaozhou Bay (Qingdao), Shandong — after two missionaries were killed (1897)</a:t>
            </a:r>
            <a:endParaRPr lang="en-US" sz="1700" dirty="0"/>
          </a:p>
          <a:p>
            <a:pPr algn="l" marL="190500" indent="-190500">
              <a:spcAft>
                <a:spcPts val="800"/>
              </a:spcAft>
              <a:buSzPct val="100000"/>
              <a:buChar char="•"/>
            </a:pPr>
            <a:r>
              <a:rPr lang="en-US" sz="1700" b="1" dirty="0">
                <a:solidFill>
                  <a:schemeClr val="tx1"/>
                </a:solidFill>
              </a:rPr>
              <a:t>Russia:</a:t>
            </a:r>
            <a:r>
              <a:rPr lang="en-US" sz="1700" dirty="0">
                <a:solidFill>
                  <a:schemeClr val="tx1"/>
                </a:solidFill>
              </a:rPr>
              <a:t> Port Arthur lease (1898) and Manchurian railways</a:t>
            </a:r>
            <a:endParaRPr lang="en-US" sz="1700" dirty="0"/>
          </a:p>
          <a:p>
            <a:pPr algn="l" marL="190500" indent="-190500">
              <a:spcAft>
                <a:spcPts val="800"/>
              </a:spcAft>
              <a:buSzPct val="100000"/>
              <a:buChar char="•"/>
            </a:pPr>
            <a:r>
              <a:rPr lang="en-US" sz="1700" b="1" dirty="0">
                <a:solidFill>
                  <a:schemeClr val="tx1"/>
                </a:solidFill>
              </a:rPr>
              <a:t>Britain:</a:t>
            </a:r>
            <a:r>
              <a:rPr lang="en-US" sz="1700" dirty="0">
                <a:solidFill>
                  <a:schemeClr val="tx1"/>
                </a:solidFill>
              </a:rPr>
              <a:t> Weihaiwei; Hong Kong's New Territories (99-year lease)</a:t>
            </a:r>
            <a:endParaRPr lang="en-US" sz="1700" dirty="0"/>
          </a:p>
          <a:p>
            <a:pPr algn="l" marL="190500" indent="-190500">
              <a:spcAft>
                <a:spcPts val="800"/>
              </a:spcAft>
              <a:buSzPct val="100000"/>
              <a:buChar char="•"/>
            </a:pPr>
            <a:r>
              <a:rPr lang="en-US" sz="1700" b="1" dirty="0">
                <a:solidFill>
                  <a:schemeClr val="tx1"/>
                </a:solidFill>
              </a:rPr>
              <a:t>France:</a:t>
            </a:r>
            <a:r>
              <a:rPr lang="en-US" sz="1700" dirty="0">
                <a:solidFill>
                  <a:schemeClr val="tx1"/>
                </a:solidFill>
              </a:rPr>
              <a:t> Guangzhouwan · </a:t>
            </a:r>
            <a:r>
              <a:rPr lang="en-US" sz="1700" b="1" dirty="0">
                <a:solidFill>
                  <a:schemeClr val="tx1"/>
                </a:solidFill>
              </a:rPr>
              <a:t>Japan:</a:t>
            </a:r>
            <a:r>
              <a:rPr lang="en-US" sz="1700" dirty="0">
                <a:solidFill>
                  <a:schemeClr val="tx1"/>
                </a:solidFill>
              </a:rPr>
              <a:t> Taiwan (1895), Fujian sphere</a:t>
            </a:r>
            <a:endParaRPr lang="en-US" sz="1700" dirty="0"/>
          </a:p>
          <a:p>
            <a:pPr algn="l" marL="190500" indent="-190500">
              <a:spcAft>
                <a:spcPts val="800"/>
              </a:spcAft>
              <a:buSzPct val="100000"/>
              <a:buChar char="•"/>
            </a:pPr>
            <a:r>
              <a:rPr lang="en-US" sz="1700" b="1" dirty="0">
                <a:solidFill>
                  <a:schemeClr val="tx1"/>
                </a:solidFill>
              </a:rPr>
              <a:t>USA:</a:t>
            </a:r>
            <a:r>
              <a:rPr lang="en-US" sz="1700" dirty="0">
                <a:solidFill>
                  <a:schemeClr val="tx1"/>
                </a:solidFill>
              </a:rPr>
              <a:t> no sphere — demanded an 'Open Door' instead</a:t>
            </a:r>
            <a:endParaRPr lang="en-US" sz="1700" dirty="0"/>
          </a:p>
        </p:txBody>
      </p:sp>
      <p:sp>
        <p:nvSpPr>
          <p:cNvPr id="14" name="Callout 465"/>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466"/>
          <p:cNvSpPr/>
          <p:nvPr/>
        </p:nvSpPr>
        <p:spPr>
          <a:xfrm>
            <a:off x="731520" y="5751576"/>
            <a:ext cx="894203" cy="310896"/>
          </a:xfrm>
          <a:prstGeom prst="roundRect">
            <a:avLst>
              <a:gd name="adj" fmla="val 50000"/>
            </a:avLst>
          </a:prstGeom>
          <a:solidFill>
            <a:schemeClr val="accent4"/>
          </a:solidFill>
          <a:ln/>
        </p:spPr>
      </p:sp>
      <p:sp>
        <p:nvSpPr>
          <p:cNvPr id="16" name="Text 467"/>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17" name="Text 468"/>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China was never formally partitioned — rivalry between the powers, and the US Open Door, kept it nominally independent.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46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KQ2 · CHINA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Boxer Rebellion, 1899–1901</a:t>
            </a:r>
            <a:endParaRPr lang="en-US" sz="3400" dirty="0"/>
          </a:p>
        </p:txBody>
      </p:sp>
      <p:sp>
        <p:nvSpPr>
          <p:cNvPr id="4" name="Step 470"/>
          <p:cNvSpPr/>
          <p:nvPr/>
        </p:nvSpPr>
        <p:spPr>
          <a:xfrm>
            <a:off x="548640" y="1481328"/>
            <a:ext cx="2485568" cy="3794760"/>
          </a:xfrm>
          <a:prstGeom prst="roundRect">
            <a:avLst>
              <a:gd name="adj" fmla="val 3679"/>
            </a:avLst>
          </a:prstGeom>
          <a:solidFill>
            <a:schemeClr val="accent1">
              <a:alpha val="10000"/>
            </a:schemeClr>
          </a:solidFill>
          <a:ln/>
        </p:spPr>
      </p:sp>
      <p:sp>
        <p:nvSpPr>
          <p:cNvPr id="5" name="Step number 471"/>
          <p:cNvSpPr/>
          <p:nvPr/>
        </p:nvSpPr>
        <p:spPr>
          <a:xfrm>
            <a:off x="713232" y="1645920"/>
            <a:ext cx="420624" cy="420624"/>
          </a:xfrm>
          <a:prstGeom prst="ellipse">
            <a:avLst/>
          </a:prstGeom>
          <a:solidFill>
            <a:schemeClr val="accent1"/>
          </a:solidFill>
          <a:ln/>
        </p:spPr>
      </p:sp>
      <p:sp>
        <p:nvSpPr>
          <p:cNvPr id="6" name="Text 472"/>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473"/>
          <p:cNvSpPr txBox="1"/>
          <p:nvPr/>
        </p:nvSpPr>
        <p:spPr>
          <a:xfrm>
            <a:off x="1243584"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Causes</a:t>
            </a:r>
            <a:endParaRPr lang="en-US" sz="1600" dirty="0"/>
          </a:p>
        </p:txBody>
      </p:sp>
      <p:sp>
        <p:nvSpPr>
          <p:cNvPr id="8" name="Text 474"/>
          <p:cNvSpPr txBox="1"/>
          <p:nvPr/>
        </p:nvSpPr>
        <p:spPr>
          <a:xfrm>
            <a:off x="713232"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Drought and floods</a:t>
            </a:r>
            <a:endParaRPr lang="en-US" sz="1800" dirty="0"/>
          </a:p>
          <a:p>
            <a:pPr algn="l" marL="190500" indent="-190500">
              <a:spcAft>
                <a:spcPts val="400"/>
              </a:spcAft>
              <a:buSzPct val="100000"/>
              <a:buChar char="•"/>
            </a:pPr>
            <a:r>
              <a:rPr lang="en-US" sz="1800" dirty="0">
                <a:solidFill>
                  <a:schemeClr val="tx1"/>
                </a:solidFill>
              </a:rPr>
              <a:t>Anger at missionaries, foreign railways and concessions</a:t>
            </a:r>
            <a:endParaRPr lang="en-US" sz="1800" dirty="0"/>
          </a:p>
          <a:p>
            <a:pPr algn="l" marL="190500" indent="-190500">
              <a:spcAft>
                <a:spcPts val="400"/>
              </a:spcAft>
              <a:buSzPct val="100000"/>
              <a:buChar char="•"/>
            </a:pPr>
            <a:r>
              <a:rPr lang="en-US" sz="1800" dirty="0">
                <a:solidFill>
                  <a:schemeClr val="tx1"/>
                </a:solidFill>
              </a:rPr>
              <a:t>Slogan: 'Support the Qing, destroy the foreign'</a:t>
            </a:r>
            <a:endParaRPr lang="en-US" sz="1800" dirty="0"/>
          </a:p>
        </p:txBody>
      </p:sp>
      <p:sp>
        <p:nvSpPr>
          <p:cNvPr id="9" name="Arrow 475"/>
          <p:cNvSpPr/>
          <p:nvPr/>
        </p:nvSpPr>
        <p:spPr>
          <a:xfrm>
            <a:off x="3098216" y="3232404"/>
            <a:ext cx="256032" cy="292608"/>
          </a:xfrm>
          <a:prstGeom prst="chevron">
            <a:avLst/>
          </a:prstGeom>
          <a:solidFill>
            <a:schemeClr val="accent1"/>
          </a:solidFill>
          <a:ln/>
        </p:spPr>
      </p:sp>
      <p:sp>
        <p:nvSpPr>
          <p:cNvPr id="10" name="Step 476"/>
          <p:cNvSpPr/>
          <p:nvPr/>
        </p:nvSpPr>
        <p:spPr>
          <a:xfrm>
            <a:off x="3418256" y="1481328"/>
            <a:ext cx="2485568" cy="3794760"/>
          </a:xfrm>
          <a:prstGeom prst="roundRect">
            <a:avLst>
              <a:gd name="adj" fmla="val 3679"/>
            </a:avLst>
          </a:prstGeom>
          <a:solidFill>
            <a:schemeClr val="accent1">
              <a:alpha val="10000"/>
            </a:schemeClr>
          </a:solidFill>
          <a:ln/>
        </p:spPr>
      </p:sp>
      <p:sp>
        <p:nvSpPr>
          <p:cNvPr id="11" name="Step number 477"/>
          <p:cNvSpPr/>
          <p:nvPr/>
        </p:nvSpPr>
        <p:spPr>
          <a:xfrm>
            <a:off x="3582848" y="1645920"/>
            <a:ext cx="420624" cy="420624"/>
          </a:xfrm>
          <a:prstGeom prst="ellipse">
            <a:avLst/>
          </a:prstGeom>
          <a:solidFill>
            <a:schemeClr val="accent1"/>
          </a:solidFill>
          <a:ln/>
        </p:spPr>
      </p:sp>
      <p:sp>
        <p:nvSpPr>
          <p:cNvPr id="12" name="Text 478"/>
          <p:cNvSpPr txBox="1"/>
          <p:nvPr/>
        </p:nvSpPr>
        <p:spPr>
          <a:xfrm>
            <a:off x="3582848"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479"/>
          <p:cNvSpPr txBox="1"/>
          <p:nvPr/>
        </p:nvSpPr>
        <p:spPr>
          <a:xfrm>
            <a:off x="4113200"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Events</a:t>
            </a:r>
            <a:endParaRPr lang="en-US" sz="1600" dirty="0"/>
          </a:p>
        </p:txBody>
      </p:sp>
      <p:sp>
        <p:nvSpPr>
          <p:cNvPr id="14" name="Text 480"/>
          <p:cNvSpPr txBox="1"/>
          <p:nvPr/>
        </p:nvSpPr>
        <p:spPr>
          <a:xfrm>
            <a:off x="3582848"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Boxers kill missionaries and Chinese Christians</a:t>
            </a:r>
            <a:endParaRPr lang="en-US" sz="1800" dirty="0"/>
          </a:p>
          <a:p>
            <a:pPr algn="l" marL="190500" indent="-190500">
              <a:spcAft>
                <a:spcPts val="400"/>
              </a:spcAft>
              <a:buSzPct val="100000"/>
              <a:buChar char="•"/>
            </a:pPr>
            <a:r>
              <a:rPr lang="en-US" sz="1800" dirty="0">
                <a:solidFill>
                  <a:schemeClr val="tx1"/>
                </a:solidFill>
              </a:rPr>
              <a:t>Siege of the Beijing legations (June–Aug 1900)</a:t>
            </a:r>
            <a:endParaRPr lang="en-US" sz="1800" dirty="0"/>
          </a:p>
          <a:p>
            <a:pPr algn="l" marL="190500" indent="-190500">
              <a:spcAft>
                <a:spcPts val="400"/>
              </a:spcAft>
              <a:buSzPct val="100000"/>
              <a:buChar char="•"/>
            </a:pPr>
            <a:r>
              <a:rPr lang="en-US" sz="1800" dirty="0">
                <a:solidFill>
                  <a:schemeClr val="tx1"/>
                </a:solidFill>
              </a:rPr>
              <a:t>Empress Dowager Cixi backs the Boxers</a:t>
            </a:r>
            <a:endParaRPr lang="en-US" sz="1800" dirty="0"/>
          </a:p>
        </p:txBody>
      </p:sp>
      <p:sp>
        <p:nvSpPr>
          <p:cNvPr id="15" name="Arrow 481"/>
          <p:cNvSpPr/>
          <p:nvPr/>
        </p:nvSpPr>
        <p:spPr>
          <a:xfrm>
            <a:off x="5967832" y="3232404"/>
            <a:ext cx="256032" cy="292608"/>
          </a:xfrm>
          <a:prstGeom prst="chevron">
            <a:avLst/>
          </a:prstGeom>
          <a:solidFill>
            <a:schemeClr val="accent1"/>
          </a:solidFill>
          <a:ln/>
        </p:spPr>
      </p:sp>
      <p:sp>
        <p:nvSpPr>
          <p:cNvPr id="16" name="Step 482"/>
          <p:cNvSpPr/>
          <p:nvPr/>
        </p:nvSpPr>
        <p:spPr>
          <a:xfrm>
            <a:off x="6287872" y="1481328"/>
            <a:ext cx="2485568" cy="3794760"/>
          </a:xfrm>
          <a:prstGeom prst="roundRect">
            <a:avLst>
              <a:gd name="adj" fmla="val 3679"/>
            </a:avLst>
          </a:prstGeom>
          <a:solidFill>
            <a:schemeClr val="accent1">
              <a:alpha val="10000"/>
            </a:schemeClr>
          </a:solidFill>
          <a:ln/>
        </p:spPr>
      </p:sp>
      <p:sp>
        <p:nvSpPr>
          <p:cNvPr id="17" name="Step number 483"/>
          <p:cNvSpPr/>
          <p:nvPr/>
        </p:nvSpPr>
        <p:spPr>
          <a:xfrm>
            <a:off x="6452464" y="1645920"/>
            <a:ext cx="420624" cy="420624"/>
          </a:xfrm>
          <a:prstGeom prst="ellipse">
            <a:avLst/>
          </a:prstGeom>
          <a:solidFill>
            <a:schemeClr val="accent1"/>
          </a:solidFill>
          <a:ln/>
        </p:spPr>
      </p:sp>
      <p:sp>
        <p:nvSpPr>
          <p:cNvPr id="18" name="Text 484"/>
          <p:cNvSpPr txBox="1"/>
          <p:nvPr/>
        </p:nvSpPr>
        <p:spPr>
          <a:xfrm>
            <a:off x="6452464"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485"/>
          <p:cNvSpPr txBox="1"/>
          <p:nvPr/>
        </p:nvSpPr>
        <p:spPr>
          <a:xfrm>
            <a:off x="6982816"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Outcome</a:t>
            </a:r>
            <a:endParaRPr lang="en-US" sz="1600" dirty="0"/>
          </a:p>
        </p:txBody>
      </p:sp>
      <p:sp>
        <p:nvSpPr>
          <p:cNvPr id="20" name="Text 486"/>
          <p:cNvSpPr txBox="1"/>
          <p:nvPr/>
        </p:nvSpPr>
        <p:spPr>
          <a:xfrm>
            <a:off x="6452464"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Eight-Nation Alliance (incl. Japan &amp; USA) relieves Beijing</a:t>
            </a:r>
            <a:endParaRPr lang="en-US" sz="1800" dirty="0"/>
          </a:p>
          <a:p>
            <a:pPr algn="l" marL="190500" indent="-190500">
              <a:spcAft>
                <a:spcPts val="400"/>
              </a:spcAft>
              <a:buSzPct val="100000"/>
              <a:buChar char="•"/>
            </a:pPr>
            <a:r>
              <a:rPr lang="en-US" sz="1800" dirty="0">
                <a:solidFill>
                  <a:schemeClr val="tx1"/>
                </a:solidFill>
              </a:rPr>
              <a:t>Boxer Protocol (1901): 450 million taels indemnity; foreign troops in Beijing</a:t>
            </a:r>
            <a:endParaRPr lang="en-US" sz="1800" dirty="0"/>
          </a:p>
        </p:txBody>
      </p:sp>
      <p:sp>
        <p:nvSpPr>
          <p:cNvPr id="21" name="Arrow 487"/>
          <p:cNvSpPr/>
          <p:nvPr/>
        </p:nvSpPr>
        <p:spPr>
          <a:xfrm>
            <a:off x="8837447" y="3232404"/>
            <a:ext cx="256032" cy="292608"/>
          </a:xfrm>
          <a:prstGeom prst="chevron">
            <a:avLst/>
          </a:prstGeom>
          <a:solidFill>
            <a:schemeClr val="accent1"/>
          </a:solidFill>
          <a:ln/>
        </p:spPr>
      </p:sp>
      <p:sp>
        <p:nvSpPr>
          <p:cNvPr id="22" name="Step 488"/>
          <p:cNvSpPr/>
          <p:nvPr/>
        </p:nvSpPr>
        <p:spPr>
          <a:xfrm>
            <a:off x="9157487" y="1481328"/>
            <a:ext cx="2485568" cy="3794760"/>
          </a:xfrm>
          <a:prstGeom prst="roundRect">
            <a:avLst>
              <a:gd name="adj" fmla="val 3679"/>
            </a:avLst>
          </a:prstGeom>
          <a:solidFill>
            <a:schemeClr val="accent1">
              <a:alpha val="10000"/>
            </a:schemeClr>
          </a:solidFill>
          <a:ln/>
        </p:spPr>
      </p:sp>
      <p:sp>
        <p:nvSpPr>
          <p:cNvPr id="23" name="Step number 489"/>
          <p:cNvSpPr/>
          <p:nvPr/>
        </p:nvSpPr>
        <p:spPr>
          <a:xfrm>
            <a:off x="9322079" y="1645920"/>
            <a:ext cx="420624" cy="420624"/>
          </a:xfrm>
          <a:prstGeom prst="ellipse">
            <a:avLst/>
          </a:prstGeom>
          <a:solidFill>
            <a:schemeClr val="accent1"/>
          </a:solidFill>
          <a:ln/>
        </p:spPr>
      </p:sp>
      <p:sp>
        <p:nvSpPr>
          <p:cNvPr id="24" name="Text 490"/>
          <p:cNvSpPr txBox="1"/>
          <p:nvPr/>
        </p:nvSpPr>
        <p:spPr>
          <a:xfrm>
            <a:off x="9322079"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4</a:t>
            </a:r>
            <a:endParaRPr lang="en-US" sz="1600" dirty="0"/>
          </a:p>
        </p:txBody>
      </p:sp>
      <p:sp>
        <p:nvSpPr>
          <p:cNvPr id="25" name="Text 491"/>
          <p:cNvSpPr txBox="1"/>
          <p:nvPr/>
        </p:nvSpPr>
        <p:spPr>
          <a:xfrm>
            <a:off x="9852431"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Impact</a:t>
            </a:r>
            <a:endParaRPr lang="en-US" sz="1600" dirty="0"/>
          </a:p>
        </p:txBody>
      </p:sp>
      <p:sp>
        <p:nvSpPr>
          <p:cNvPr id="26" name="Text 492"/>
          <p:cNvSpPr txBox="1"/>
          <p:nvPr/>
        </p:nvSpPr>
        <p:spPr>
          <a:xfrm>
            <a:off x="9322079"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Rare cooperation between rival empires</a:t>
            </a:r>
            <a:endParaRPr lang="en-US" sz="1800" dirty="0"/>
          </a:p>
          <a:p>
            <a:pPr algn="l" marL="190500" indent="-190500">
              <a:spcAft>
                <a:spcPts val="400"/>
              </a:spcAft>
              <a:buSzPct val="100000"/>
              <a:buChar char="•"/>
            </a:pPr>
            <a:r>
              <a:rPr lang="en-US" sz="1800" dirty="0">
                <a:solidFill>
                  <a:schemeClr val="tx1"/>
                </a:solidFill>
              </a:rPr>
              <a:t>Russia stays in Manchuria → alarms Japan &amp; Britain</a:t>
            </a:r>
            <a:endParaRPr lang="en-US" sz="1800" dirty="0"/>
          </a:p>
          <a:p>
            <a:pPr algn="l" marL="190500" indent="-190500">
              <a:spcAft>
                <a:spcPts val="400"/>
              </a:spcAft>
              <a:buSzPct val="100000"/>
              <a:buChar char="•"/>
            </a:pPr>
            <a:r>
              <a:rPr lang="en-US" sz="1800" dirty="0">
                <a:solidFill>
                  <a:schemeClr val="tx1"/>
                </a:solidFill>
              </a:rPr>
              <a:t>Qing discredited → revolution (1911)</a:t>
            </a:r>
            <a:endParaRPr lang="en-US" sz="1800" dirty="0"/>
          </a:p>
        </p:txBody>
      </p:sp>
      <p:sp>
        <p:nvSpPr>
          <p:cNvPr id="27" name="Callout 493"/>
          <p:cNvSpPr/>
          <p:nvPr/>
        </p:nvSpPr>
        <p:spPr>
          <a:xfrm>
            <a:off x="548640" y="5550408"/>
            <a:ext cx="11094415" cy="713232"/>
          </a:xfrm>
          <a:prstGeom prst="roundRect">
            <a:avLst>
              <a:gd name="adj" fmla="val 12821"/>
            </a:avLst>
          </a:prstGeom>
          <a:solidFill>
            <a:schemeClr val="accent4">
              <a:alpha val="20000"/>
            </a:schemeClr>
          </a:solidFill>
          <a:ln/>
        </p:spPr>
      </p:sp>
      <p:sp>
        <p:nvSpPr>
          <p:cNvPr id="28" name="Callout label 494"/>
          <p:cNvSpPr/>
          <p:nvPr/>
        </p:nvSpPr>
        <p:spPr>
          <a:xfrm>
            <a:off x="731520" y="5751576"/>
            <a:ext cx="1044331" cy="310896"/>
          </a:xfrm>
          <a:prstGeom prst="roundRect">
            <a:avLst>
              <a:gd name="adj" fmla="val 50000"/>
            </a:avLst>
          </a:prstGeom>
          <a:solidFill>
            <a:schemeClr val="accent4"/>
          </a:solidFill>
          <a:ln/>
        </p:spPr>
      </p:sp>
      <p:sp>
        <p:nvSpPr>
          <p:cNvPr id="29" name="Text 495"/>
          <p:cNvSpPr txBox="1"/>
          <p:nvPr/>
        </p:nvSpPr>
        <p:spPr>
          <a:xfrm>
            <a:off x="731520" y="5751576"/>
            <a:ext cx="104433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SO WHAT?</a:t>
            </a:r>
            <a:endParaRPr lang="en-US" sz="1200" dirty="0"/>
          </a:p>
        </p:txBody>
      </p:sp>
      <p:sp>
        <p:nvSpPr>
          <p:cNvPr id="30" name="Text 496"/>
          <p:cNvSpPr txBox="1"/>
          <p:nvPr/>
        </p:nvSpPr>
        <p:spPr>
          <a:xfrm>
            <a:off x="1958731" y="5623560"/>
            <a:ext cx="9501445"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Russia's occupation of Manchuria led directly to the Anglo-Japanese Alliance (1902) and the Russo-Japanese War (1904–05).</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49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KQ3 · JAPAN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Japan modernises: the Meiji era</a:t>
            </a:r>
            <a:endParaRPr lang="en-US" sz="3400" dirty="0"/>
          </a:p>
        </p:txBody>
      </p:sp>
      <p:sp>
        <p:nvSpPr>
          <p:cNvPr id="4" name="Card 498"/>
          <p:cNvSpPr/>
          <p:nvPr/>
        </p:nvSpPr>
        <p:spPr>
          <a:xfrm>
            <a:off x="548640" y="1481328"/>
            <a:ext cx="3515258" cy="1760220"/>
          </a:xfrm>
          <a:prstGeom prst="roundRect">
            <a:avLst>
              <a:gd name="adj" fmla="val 5195"/>
            </a:avLst>
          </a:prstGeom>
          <a:solidFill>
            <a:schemeClr val="accent1">
              <a:alpha val="10000"/>
            </a:schemeClr>
          </a:solidFill>
          <a:ln/>
        </p:spPr>
      </p:sp>
      <p:sp>
        <p:nvSpPr>
          <p:cNvPr id="5" name="Icon circle 499"/>
          <p:cNvSpPr/>
          <p:nvPr/>
        </p:nvSpPr>
        <p:spPr>
          <a:xfrm>
            <a:off x="731520" y="1664208"/>
            <a:ext cx="475488" cy="475488"/>
          </a:xfrm>
          <a:prstGeom prst="ellipse">
            <a:avLst/>
          </a:prstGeom>
          <a:solidFill>
            <a:schemeClr val="accent1"/>
          </a:solidFill>
          <a:ln/>
        </p:spPr>
      </p:sp>
      <p:pic>
        <p:nvPicPr>
          <p:cNvPr id="6" name="Icon FaShip 500"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501"/>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Forced open</a:t>
            </a:r>
            <a:endParaRPr lang="en-US" sz="1600" dirty="0"/>
          </a:p>
        </p:txBody>
      </p:sp>
      <p:sp>
        <p:nvSpPr>
          <p:cNvPr id="8" name="Text 502"/>
          <p:cNvSpPr txBox="1"/>
          <p:nvPr/>
        </p:nvSpPr>
        <p:spPr>
          <a:xfrm>
            <a:off x="731520"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US Commodore Perry's 'black ships' (1853–54) forced unequal treaties on Japan.</a:t>
            </a:r>
            <a:endParaRPr lang="en-US" sz="1700" dirty="0"/>
          </a:p>
        </p:txBody>
      </p:sp>
      <p:sp>
        <p:nvSpPr>
          <p:cNvPr id="9" name="Card 503"/>
          <p:cNvSpPr/>
          <p:nvPr/>
        </p:nvSpPr>
        <p:spPr>
          <a:xfrm>
            <a:off x="4338218" y="1481328"/>
            <a:ext cx="3515258" cy="1760220"/>
          </a:xfrm>
          <a:prstGeom prst="roundRect">
            <a:avLst>
              <a:gd name="adj" fmla="val 5195"/>
            </a:avLst>
          </a:prstGeom>
          <a:solidFill>
            <a:schemeClr val="accent1">
              <a:alpha val="10000"/>
            </a:schemeClr>
          </a:solidFill>
          <a:ln/>
        </p:spPr>
      </p:sp>
      <p:sp>
        <p:nvSpPr>
          <p:cNvPr id="10" name="Icon circle 504"/>
          <p:cNvSpPr/>
          <p:nvPr/>
        </p:nvSpPr>
        <p:spPr>
          <a:xfrm>
            <a:off x="4521098" y="1664208"/>
            <a:ext cx="475488" cy="475488"/>
          </a:xfrm>
          <a:prstGeom prst="ellipse">
            <a:avLst/>
          </a:prstGeom>
          <a:solidFill>
            <a:schemeClr val="accent1"/>
          </a:solidFill>
          <a:ln/>
        </p:spPr>
      </p:sp>
      <p:pic>
        <p:nvPicPr>
          <p:cNvPr id="11" name="Icon GiCrown 505"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506"/>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Meiji Restoration, 1868</a:t>
            </a:r>
            <a:endParaRPr lang="en-US" sz="1600" dirty="0"/>
          </a:p>
        </p:txBody>
      </p:sp>
      <p:sp>
        <p:nvSpPr>
          <p:cNvPr id="13" name="Text 507"/>
          <p:cNvSpPr txBox="1"/>
          <p:nvPr/>
        </p:nvSpPr>
        <p:spPr>
          <a:xfrm>
            <a:off x="4521098"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Reformers restored the emperor's power. Slogan: 'Rich country, strong army'.</a:t>
            </a:r>
            <a:endParaRPr lang="en-US" sz="1700" dirty="0"/>
          </a:p>
        </p:txBody>
      </p:sp>
      <p:sp>
        <p:nvSpPr>
          <p:cNvPr id="14" name="Card 508"/>
          <p:cNvSpPr/>
          <p:nvPr/>
        </p:nvSpPr>
        <p:spPr>
          <a:xfrm>
            <a:off x="8127797" y="1481328"/>
            <a:ext cx="3515258" cy="1760220"/>
          </a:xfrm>
          <a:prstGeom prst="roundRect">
            <a:avLst>
              <a:gd name="adj" fmla="val 5195"/>
            </a:avLst>
          </a:prstGeom>
          <a:solidFill>
            <a:schemeClr val="accent1">
              <a:alpha val="10000"/>
            </a:schemeClr>
          </a:solidFill>
          <a:ln/>
        </p:spPr>
      </p:sp>
      <p:sp>
        <p:nvSpPr>
          <p:cNvPr id="15" name="Icon circle 509"/>
          <p:cNvSpPr/>
          <p:nvPr/>
        </p:nvSpPr>
        <p:spPr>
          <a:xfrm>
            <a:off x="8310677" y="1664208"/>
            <a:ext cx="475488" cy="475488"/>
          </a:xfrm>
          <a:prstGeom prst="ellipse">
            <a:avLst/>
          </a:prstGeom>
          <a:solidFill>
            <a:schemeClr val="accent1"/>
          </a:solidFill>
          <a:ln/>
        </p:spPr>
      </p:sp>
      <p:pic>
        <p:nvPicPr>
          <p:cNvPr id="16" name="Icon FaLandmark 510"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511"/>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End of feudalism</a:t>
            </a:r>
            <a:endParaRPr lang="en-US" sz="1600" dirty="0"/>
          </a:p>
        </p:txBody>
      </p:sp>
      <p:sp>
        <p:nvSpPr>
          <p:cNvPr id="18" name="Text 512"/>
          <p:cNvSpPr txBox="1"/>
          <p:nvPr/>
        </p:nvSpPr>
        <p:spPr>
          <a:xfrm>
            <a:off x="8310677"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Domains abolished (1871); samurai lost their privileges; a central state was built.</a:t>
            </a:r>
            <a:endParaRPr lang="en-US" sz="1700" dirty="0"/>
          </a:p>
        </p:txBody>
      </p:sp>
      <p:sp>
        <p:nvSpPr>
          <p:cNvPr id="19" name="Card 513"/>
          <p:cNvSpPr/>
          <p:nvPr/>
        </p:nvSpPr>
        <p:spPr>
          <a:xfrm>
            <a:off x="548640" y="3515868"/>
            <a:ext cx="3515258" cy="1760220"/>
          </a:xfrm>
          <a:prstGeom prst="roundRect">
            <a:avLst>
              <a:gd name="adj" fmla="val 5195"/>
            </a:avLst>
          </a:prstGeom>
          <a:solidFill>
            <a:schemeClr val="accent1">
              <a:alpha val="10000"/>
            </a:schemeClr>
          </a:solidFill>
          <a:ln/>
        </p:spPr>
      </p:sp>
      <p:sp>
        <p:nvSpPr>
          <p:cNvPr id="20" name="Icon circle 514"/>
          <p:cNvSpPr/>
          <p:nvPr/>
        </p:nvSpPr>
        <p:spPr>
          <a:xfrm>
            <a:off x="731520" y="3698748"/>
            <a:ext cx="475488" cy="475488"/>
          </a:xfrm>
          <a:prstGeom prst="ellipse">
            <a:avLst/>
          </a:prstGeom>
          <a:solidFill>
            <a:schemeClr val="accent1"/>
          </a:solidFill>
          <a:ln/>
        </p:spPr>
      </p:sp>
      <p:pic>
        <p:nvPicPr>
          <p:cNvPr id="21" name="Icon GiSamuraiHelmet 515" descr="preencoded.png">    </p:cNvPr>
          <p:cNvPicPr>
            <a:picLocks noChangeAspect="1"/>
          </p:cNvPicPr>
          <p:nvPr/>
        </p:nvPicPr>
        <p:blipFill>
          <a:blip r:embed="rId4"/>
          <a:stretch>
            <a:fillRect/>
          </a:stretch>
        </p:blipFill>
        <p:spPr>
          <a:xfrm>
            <a:off x="836127" y="3803355"/>
            <a:ext cx="266273" cy="266273"/>
          </a:xfrm>
          <a:prstGeom prst="rect">
            <a:avLst/>
          </a:prstGeom>
        </p:spPr>
      </p:pic>
      <p:sp>
        <p:nvSpPr>
          <p:cNvPr id="22" name="Card title 516"/>
          <p:cNvSpPr txBox="1"/>
          <p:nvPr/>
        </p:nvSpPr>
        <p:spPr>
          <a:xfrm>
            <a:off x="1335024"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Modern army and navy</a:t>
            </a:r>
            <a:endParaRPr lang="en-US" sz="1600" dirty="0"/>
          </a:p>
        </p:txBody>
      </p:sp>
      <p:sp>
        <p:nvSpPr>
          <p:cNvPr id="23" name="Text 517"/>
          <p:cNvSpPr txBox="1"/>
          <p:nvPr/>
        </p:nvSpPr>
        <p:spPr>
          <a:xfrm>
            <a:off x="731520"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Conscription (1873); a Prussian-style army and a British-style navy.</a:t>
            </a:r>
            <a:endParaRPr lang="en-US" sz="1700" dirty="0"/>
          </a:p>
        </p:txBody>
      </p:sp>
      <p:sp>
        <p:nvSpPr>
          <p:cNvPr id="24" name="Card 518"/>
          <p:cNvSpPr/>
          <p:nvPr/>
        </p:nvSpPr>
        <p:spPr>
          <a:xfrm>
            <a:off x="4338218" y="3515868"/>
            <a:ext cx="3515258" cy="1760220"/>
          </a:xfrm>
          <a:prstGeom prst="roundRect">
            <a:avLst>
              <a:gd name="adj" fmla="val 5195"/>
            </a:avLst>
          </a:prstGeom>
          <a:solidFill>
            <a:schemeClr val="accent1">
              <a:alpha val="10000"/>
            </a:schemeClr>
          </a:solidFill>
          <a:ln/>
        </p:spPr>
      </p:sp>
      <p:sp>
        <p:nvSpPr>
          <p:cNvPr id="25" name="Icon circle 519"/>
          <p:cNvSpPr/>
          <p:nvPr/>
        </p:nvSpPr>
        <p:spPr>
          <a:xfrm>
            <a:off x="4521098" y="3698748"/>
            <a:ext cx="475488" cy="475488"/>
          </a:xfrm>
          <a:prstGeom prst="ellipse">
            <a:avLst/>
          </a:prstGeom>
          <a:solidFill>
            <a:schemeClr val="accent1"/>
          </a:solidFill>
          <a:ln/>
        </p:spPr>
      </p:sp>
      <p:pic>
        <p:nvPicPr>
          <p:cNvPr id="26" name="Icon FaIndustry 520" descr="preencoded.png">    </p:cNvPr>
          <p:cNvPicPr>
            <a:picLocks noChangeAspect="1"/>
          </p:cNvPicPr>
          <p:nvPr/>
        </p:nvPicPr>
        <p:blipFill>
          <a:blip r:embed="rId5"/>
          <a:stretch>
            <a:fillRect/>
          </a:stretch>
        </p:blipFill>
        <p:spPr>
          <a:xfrm>
            <a:off x="4625706" y="3803355"/>
            <a:ext cx="266273" cy="266273"/>
          </a:xfrm>
          <a:prstGeom prst="rect">
            <a:avLst/>
          </a:prstGeom>
        </p:spPr>
      </p:pic>
      <p:sp>
        <p:nvSpPr>
          <p:cNvPr id="27" name="Card title 521"/>
          <p:cNvSpPr txBox="1"/>
          <p:nvPr/>
        </p:nvSpPr>
        <p:spPr>
          <a:xfrm>
            <a:off x="5124602"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Industry and schools</a:t>
            </a:r>
            <a:endParaRPr lang="en-US" sz="1600" dirty="0"/>
          </a:p>
        </p:txBody>
      </p:sp>
      <p:sp>
        <p:nvSpPr>
          <p:cNvPr id="28" name="Text 522"/>
          <p:cNvSpPr txBox="1"/>
          <p:nvPr/>
        </p:nvSpPr>
        <p:spPr>
          <a:xfrm>
            <a:off x="4521098"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Railways from 1872, state factories, Yawata steelworks (1901), mass education.</a:t>
            </a:r>
            <a:endParaRPr lang="en-US" sz="1700" dirty="0"/>
          </a:p>
        </p:txBody>
      </p:sp>
      <p:sp>
        <p:nvSpPr>
          <p:cNvPr id="29" name="Card 523"/>
          <p:cNvSpPr/>
          <p:nvPr/>
        </p:nvSpPr>
        <p:spPr>
          <a:xfrm>
            <a:off x="8127797" y="3515868"/>
            <a:ext cx="3515258" cy="1760220"/>
          </a:xfrm>
          <a:prstGeom prst="roundRect">
            <a:avLst>
              <a:gd name="adj" fmla="val 5195"/>
            </a:avLst>
          </a:prstGeom>
          <a:solidFill>
            <a:schemeClr val="accent1">
              <a:alpha val="10000"/>
            </a:schemeClr>
          </a:solidFill>
          <a:ln/>
        </p:spPr>
      </p:sp>
      <p:sp>
        <p:nvSpPr>
          <p:cNvPr id="30" name="Icon circle 524"/>
          <p:cNvSpPr/>
          <p:nvPr/>
        </p:nvSpPr>
        <p:spPr>
          <a:xfrm>
            <a:off x="8310677" y="3698748"/>
            <a:ext cx="475488" cy="475488"/>
          </a:xfrm>
          <a:prstGeom prst="ellipse">
            <a:avLst/>
          </a:prstGeom>
          <a:solidFill>
            <a:schemeClr val="accent1"/>
          </a:solidFill>
          <a:ln/>
        </p:spPr>
      </p:sp>
      <p:pic>
        <p:nvPicPr>
          <p:cNvPr id="31" name="Icon FaFileSignature 525" descr="preencoded.png">    </p:cNvPr>
          <p:cNvPicPr>
            <a:picLocks noChangeAspect="1"/>
          </p:cNvPicPr>
          <p:nvPr/>
        </p:nvPicPr>
        <p:blipFill>
          <a:blip r:embed="rId6"/>
          <a:stretch>
            <a:fillRect/>
          </a:stretch>
        </p:blipFill>
        <p:spPr>
          <a:xfrm>
            <a:off x="8415284" y="3803355"/>
            <a:ext cx="266273" cy="266273"/>
          </a:xfrm>
          <a:prstGeom prst="rect">
            <a:avLst/>
          </a:prstGeom>
        </p:spPr>
      </p:pic>
      <p:sp>
        <p:nvSpPr>
          <p:cNvPr id="32" name="Card title 526"/>
          <p:cNvSpPr txBox="1"/>
          <p:nvPr/>
        </p:nvSpPr>
        <p:spPr>
          <a:xfrm>
            <a:off x="8914181"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Constitution, 1889</a:t>
            </a:r>
            <a:endParaRPr lang="en-US" sz="1600" dirty="0"/>
          </a:p>
        </p:txBody>
      </p:sp>
      <p:sp>
        <p:nvSpPr>
          <p:cNvPr id="33" name="Text 527"/>
          <p:cNvSpPr txBox="1"/>
          <p:nvPr/>
        </p:nvSpPr>
        <p:spPr>
          <a:xfrm>
            <a:off x="8310677"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Prussian-style: emperor sovereign, an elected Diet, army answerable to the emperor.</a:t>
            </a:r>
            <a:endParaRPr lang="en-US" sz="1700" dirty="0"/>
          </a:p>
        </p:txBody>
      </p:sp>
      <p:sp>
        <p:nvSpPr>
          <p:cNvPr id="34" name="Callout 528"/>
          <p:cNvSpPr/>
          <p:nvPr/>
        </p:nvSpPr>
        <p:spPr>
          <a:xfrm>
            <a:off x="548640" y="5550408"/>
            <a:ext cx="11094415" cy="713232"/>
          </a:xfrm>
          <a:prstGeom prst="roundRect">
            <a:avLst>
              <a:gd name="adj" fmla="val 12821"/>
            </a:avLst>
          </a:prstGeom>
          <a:solidFill>
            <a:schemeClr val="accent4">
              <a:alpha val="20000"/>
            </a:schemeClr>
          </a:solidFill>
          <a:ln/>
        </p:spPr>
      </p:sp>
      <p:sp>
        <p:nvSpPr>
          <p:cNvPr id="35" name="Callout label 529"/>
          <p:cNvSpPr/>
          <p:nvPr/>
        </p:nvSpPr>
        <p:spPr>
          <a:xfrm>
            <a:off x="731520" y="5751576"/>
            <a:ext cx="675175" cy="310896"/>
          </a:xfrm>
          <a:prstGeom prst="roundRect">
            <a:avLst>
              <a:gd name="adj" fmla="val 50000"/>
            </a:avLst>
          </a:prstGeom>
          <a:solidFill>
            <a:schemeClr val="accent4"/>
          </a:solidFill>
          <a:ln/>
        </p:spPr>
      </p:sp>
      <p:sp>
        <p:nvSpPr>
          <p:cNvPr id="36" name="Text 530"/>
          <p:cNvSpPr txBox="1"/>
          <p:nvPr/>
        </p:nvSpPr>
        <p:spPr>
          <a:xfrm>
            <a:off x="731520" y="5751576"/>
            <a:ext cx="675175"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GOAL</a:t>
            </a:r>
            <a:endParaRPr lang="en-US" sz="1200" dirty="0"/>
          </a:p>
        </p:txBody>
      </p:sp>
      <p:sp>
        <p:nvSpPr>
          <p:cNvPr id="37" name="Text 531"/>
          <p:cNvSpPr txBox="1"/>
          <p:nvPr/>
        </p:nvSpPr>
        <p:spPr>
          <a:xfrm>
            <a:off x="1589575" y="5623560"/>
            <a:ext cx="9870600"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Equality with the West: Britain agreed to end its unequal treaty in 1894, and Japan won full tariff control by 1911.</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53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KQ3 · JAPAN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did Japan expand?</a:t>
            </a:r>
            <a:endParaRPr lang="en-US" sz="3400" dirty="0"/>
          </a:p>
        </p:txBody>
      </p:sp>
      <p:sp>
        <p:nvSpPr>
          <p:cNvPr id="4" name="Reason row 533"/>
          <p:cNvSpPr/>
          <p:nvPr/>
        </p:nvSpPr>
        <p:spPr>
          <a:xfrm>
            <a:off x="548640" y="1481328"/>
            <a:ext cx="6675120" cy="824789"/>
          </a:xfrm>
          <a:prstGeom prst="roundRect">
            <a:avLst>
              <a:gd name="adj" fmla="val 8869"/>
            </a:avLst>
          </a:prstGeom>
          <a:solidFill>
            <a:schemeClr val="accent1">
              <a:alpha val="8000"/>
            </a:schemeClr>
          </a:solidFill>
          <a:ln/>
        </p:spPr>
      </p:sp>
      <p:sp>
        <p:nvSpPr>
          <p:cNvPr id="5" name="Icon circle 534"/>
          <p:cNvSpPr/>
          <p:nvPr/>
        </p:nvSpPr>
        <p:spPr>
          <a:xfrm>
            <a:off x="685800" y="1655978"/>
            <a:ext cx="475488" cy="475488"/>
          </a:xfrm>
          <a:prstGeom prst="ellipse">
            <a:avLst/>
          </a:prstGeom>
          <a:solidFill>
            <a:schemeClr val="accent1"/>
          </a:solidFill>
          <a:ln/>
        </p:spPr>
      </p:sp>
      <p:pic>
        <p:nvPicPr>
          <p:cNvPr id="6" name="Icon FaShieldAlt 535" descr="preencoded.png">    </p:cNvPr>
          <p:cNvPicPr>
            <a:picLocks noChangeAspect="1"/>
          </p:cNvPicPr>
          <p:nvPr/>
        </p:nvPicPr>
        <p:blipFill>
          <a:blip r:embed="rId1"/>
          <a:stretch>
            <a:fillRect/>
          </a:stretch>
        </p:blipFill>
        <p:spPr>
          <a:xfrm>
            <a:off x="790407" y="1760586"/>
            <a:ext cx="266273" cy="266273"/>
          </a:xfrm>
          <a:prstGeom prst="rect">
            <a:avLst/>
          </a:prstGeom>
        </p:spPr>
      </p:pic>
      <p:sp>
        <p:nvSpPr>
          <p:cNvPr id="7" name="Text 536"/>
          <p:cNvSpPr txBox="1"/>
          <p:nvPr/>
        </p:nvSpPr>
        <p:spPr>
          <a:xfrm>
            <a:off x="1325880" y="1481328"/>
            <a:ext cx="1463040" cy="824789"/>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Security</a:t>
            </a:r>
            <a:endParaRPr lang="en-US" sz="1700" dirty="0"/>
          </a:p>
        </p:txBody>
      </p:sp>
      <p:sp>
        <p:nvSpPr>
          <p:cNvPr id="8" name="Text 537"/>
          <p:cNvSpPr txBox="1"/>
          <p:nvPr/>
        </p:nvSpPr>
        <p:spPr>
          <a:xfrm>
            <a:off x="2788920" y="1481328"/>
            <a:ext cx="4297680" cy="824789"/>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Control Korea before Russia or China could use it against Japan.</a:t>
            </a:r>
            <a:endParaRPr lang="en-US" sz="1500" dirty="0"/>
          </a:p>
        </p:txBody>
      </p:sp>
      <p:sp>
        <p:nvSpPr>
          <p:cNvPr id="9" name="Reason row 538"/>
          <p:cNvSpPr/>
          <p:nvPr/>
        </p:nvSpPr>
        <p:spPr>
          <a:xfrm>
            <a:off x="548640" y="2470709"/>
            <a:ext cx="6675120" cy="824789"/>
          </a:xfrm>
          <a:prstGeom prst="roundRect">
            <a:avLst>
              <a:gd name="adj" fmla="val 8869"/>
            </a:avLst>
          </a:prstGeom>
          <a:solidFill>
            <a:schemeClr val="accent1">
              <a:alpha val="8000"/>
            </a:schemeClr>
          </a:solidFill>
          <a:ln/>
        </p:spPr>
      </p:sp>
      <p:sp>
        <p:nvSpPr>
          <p:cNvPr id="10" name="Icon circle 539"/>
          <p:cNvSpPr/>
          <p:nvPr/>
        </p:nvSpPr>
        <p:spPr>
          <a:xfrm>
            <a:off x="685800" y="2645359"/>
            <a:ext cx="475488" cy="475488"/>
          </a:xfrm>
          <a:prstGeom prst="ellipse">
            <a:avLst/>
          </a:prstGeom>
          <a:solidFill>
            <a:schemeClr val="accent1"/>
          </a:solidFill>
          <a:ln/>
        </p:spPr>
      </p:sp>
      <p:pic>
        <p:nvPicPr>
          <p:cNvPr id="11" name="Icon GiMineWagon 540" descr="preencoded.png">    </p:cNvPr>
          <p:cNvPicPr>
            <a:picLocks noChangeAspect="1"/>
          </p:cNvPicPr>
          <p:nvPr/>
        </p:nvPicPr>
        <p:blipFill>
          <a:blip r:embed="rId2"/>
          <a:stretch>
            <a:fillRect/>
          </a:stretch>
        </p:blipFill>
        <p:spPr>
          <a:xfrm>
            <a:off x="790407" y="2749967"/>
            <a:ext cx="266273" cy="266273"/>
          </a:xfrm>
          <a:prstGeom prst="rect">
            <a:avLst/>
          </a:prstGeom>
        </p:spPr>
      </p:pic>
      <p:sp>
        <p:nvSpPr>
          <p:cNvPr id="12" name="Text 541"/>
          <p:cNvSpPr txBox="1"/>
          <p:nvPr/>
        </p:nvSpPr>
        <p:spPr>
          <a:xfrm>
            <a:off x="1325880" y="2470709"/>
            <a:ext cx="1463040" cy="824789"/>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Resources</a:t>
            </a:r>
            <a:endParaRPr lang="en-US" sz="1700" dirty="0"/>
          </a:p>
        </p:txBody>
      </p:sp>
      <p:sp>
        <p:nvSpPr>
          <p:cNvPr id="13" name="Text 542"/>
          <p:cNvSpPr txBox="1"/>
          <p:nvPr/>
        </p:nvSpPr>
        <p:spPr>
          <a:xfrm>
            <a:off x="2788920" y="2470709"/>
            <a:ext cx="4297680" cy="824789"/>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Few natural resources: needed coal, iron and food from abroad.</a:t>
            </a:r>
            <a:endParaRPr lang="en-US" sz="1500" dirty="0"/>
          </a:p>
        </p:txBody>
      </p:sp>
      <p:sp>
        <p:nvSpPr>
          <p:cNvPr id="14" name="Reason row 543"/>
          <p:cNvSpPr/>
          <p:nvPr/>
        </p:nvSpPr>
        <p:spPr>
          <a:xfrm>
            <a:off x="548640" y="3460090"/>
            <a:ext cx="6675120" cy="824789"/>
          </a:xfrm>
          <a:prstGeom prst="roundRect">
            <a:avLst>
              <a:gd name="adj" fmla="val 8869"/>
            </a:avLst>
          </a:prstGeom>
          <a:solidFill>
            <a:schemeClr val="accent1">
              <a:alpha val="8000"/>
            </a:schemeClr>
          </a:solidFill>
          <a:ln/>
        </p:spPr>
      </p:sp>
      <p:sp>
        <p:nvSpPr>
          <p:cNvPr id="15" name="Icon circle 544"/>
          <p:cNvSpPr/>
          <p:nvPr/>
        </p:nvSpPr>
        <p:spPr>
          <a:xfrm>
            <a:off x="685800" y="3634740"/>
            <a:ext cx="475488" cy="475488"/>
          </a:xfrm>
          <a:prstGeom prst="ellipse">
            <a:avLst/>
          </a:prstGeom>
          <a:solidFill>
            <a:schemeClr val="accent1"/>
          </a:solidFill>
          <a:ln/>
        </p:spPr>
      </p:sp>
      <p:pic>
        <p:nvPicPr>
          <p:cNvPr id="16" name="Icon FaTrophy 545" descr="preencoded.png">    </p:cNvPr>
          <p:cNvPicPr>
            <a:picLocks noChangeAspect="1"/>
          </p:cNvPicPr>
          <p:nvPr/>
        </p:nvPicPr>
        <p:blipFill>
          <a:blip r:embed="rId3"/>
          <a:stretch>
            <a:fillRect/>
          </a:stretch>
        </p:blipFill>
        <p:spPr>
          <a:xfrm>
            <a:off x="790407" y="3739347"/>
            <a:ext cx="266273" cy="266273"/>
          </a:xfrm>
          <a:prstGeom prst="rect">
            <a:avLst/>
          </a:prstGeom>
        </p:spPr>
      </p:pic>
      <p:sp>
        <p:nvSpPr>
          <p:cNvPr id="17" name="Text 546"/>
          <p:cNvSpPr txBox="1"/>
          <p:nvPr/>
        </p:nvSpPr>
        <p:spPr>
          <a:xfrm>
            <a:off x="1325880" y="3460090"/>
            <a:ext cx="1463040" cy="824789"/>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Status</a:t>
            </a:r>
            <a:endParaRPr lang="en-US" sz="1700" dirty="0"/>
          </a:p>
        </p:txBody>
      </p:sp>
      <p:sp>
        <p:nvSpPr>
          <p:cNvPr id="18" name="Text 547"/>
          <p:cNvSpPr txBox="1"/>
          <p:nvPr/>
        </p:nvSpPr>
        <p:spPr>
          <a:xfrm>
            <a:off x="2788920" y="3460090"/>
            <a:ext cx="4297680" cy="824789"/>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Prove equality with the West — and avoid China's fate.</a:t>
            </a:r>
            <a:endParaRPr lang="en-US" sz="1500" dirty="0"/>
          </a:p>
        </p:txBody>
      </p:sp>
      <p:sp>
        <p:nvSpPr>
          <p:cNvPr id="19" name="Reason row 548"/>
          <p:cNvSpPr/>
          <p:nvPr/>
        </p:nvSpPr>
        <p:spPr>
          <a:xfrm>
            <a:off x="548640" y="4449470"/>
            <a:ext cx="6675120" cy="824789"/>
          </a:xfrm>
          <a:prstGeom prst="roundRect">
            <a:avLst>
              <a:gd name="adj" fmla="val 8869"/>
            </a:avLst>
          </a:prstGeom>
          <a:solidFill>
            <a:schemeClr val="accent1">
              <a:alpha val="8000"/>
            </a:schemeClr>
          </a:solidFill>
          <a:ln/>
        </p:spPr>
      </p:sp>
      <p:sp>
        <p:nvSpPr>
          <p:cNvPr id="20" name="Icon circle 549"/>
          <p:cNvSpPr/>
          <p:nvPr/>
        </p:nvSpPr>
        <p:spPr>
          <a:xfrm>
            <a:off x="685800" y="4624121"/>
            <a:ext cx="475488" cy="475488"/>
          </a:xfrm>
          <a:prstGeom prst="ellipse">
            <a:avLst/>
          </a:prstGeom>
          <a:solidFill>
            <a:schemeClr val="accent1"/>
          </a:solidFill>
          <a:ln/>
        </p:spPr>
      </p:sp>
      <p:pic>
        <p:nvPicPr>
          <p:cNvPr id="21" name="Icon FaIndustry 550" descr="preencoded.png">    </p:cNvPr>
          <p:cNvPicPr>
            <a:picLocks noChangeAspect="1"/>
          </p:cNvPicPr>
          <p:nvPr/>
        </p:nvPicPr>
        <p:blipFill>
          <a:blip r:embed="rId4"/>
          <a:stretch>
            <a:fillRect/>
          </a:stretch>
        </p:blipFill>
        <p:spPr>
          <a:xfrm>
            <a:off x="790407" y="4728728"/>
            <a:ext cx="266273" cy="266273"/>
          </a:xfrm>
          <a:prstGeom prst="rect">
            <a:avLst/>
          </a:prstGeom>
        </p:spPr>
      </p:pic>
      <p:sp>
        <p:nvSpPr>
          <p:cNvPr id="22" name="Text 551"/>
          <p:cNvSpPr txBox="1"/>
          <p:nvPr/>
        </p:nvSpPr>
        <p:spPr>
          <a:xfrm>
            <a:off x="1325880" y="4449470"/>
            <a:ext cx="1463040" cy="824789"/>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Economy</a:t>
            </a:r>
            <a:endParaRPr lang="en-US" sz="1700" dirty="0"/>
          </a:p>
        </p:txBody>
      </p:sp>
      <p:sp>
        <p:nvSpPr>
          <p:cNvPr id="23" name="Text 552"/>
          <p:cNvSpPr txBox="1"/>
          <p:nvPr/>
        </p:nvSpPr>
        <p:spPr>
          <a:xfrm>
            <a:off x="2788920" y="4449470"/>
            <a:ext cx="4297680" cy="824789"/>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Markets for new industries; land for a fast-growing population.</a:t>
            </a:r>
            <a:endParaRPr lang="en-US" sz="1500" dirty="0"/>
          </a:p>
        </p:txBody>
      </p:sp>
      <p:sp>
        <p:nvSpPr>
          <p:cNvPr id="24" name="Reason row 553"/>
          <p:cNvSpPr/>
          <p:nvPr/>
        </p:nvSpPr>
        <p:spPr>
          <a:xfrm>
            <a:off x="548640" y="5438851"/>
            <a:ext cx="6675120" cy="824789"/>
          </a:xfrm>
          <a:prstGeom prst="roundRect">
            <a:avLst>
              <a:gd name="adj" fmla="val 8869"/>
            </a:avLst>
          </a:prstGeom>
          <a:solidFill>
            <a:schemeClr val="accent1">
              <a:alpha val="8000"/>
            </a:schemeClr>
          </a:solidFill>
          <a:ln/>
        </p:spPr>
      </p:sp>
      <p:sp>
        <p:nvSpPr>
          <p:cNvPr id="25" name="Icon circle 554"/>
          <p:cNvSpPr/>
          <p:nvPr/>
        </p:nvSpPr>
        <p:spPr>
          <a:xfrm>
            <a:off x="685800" y="5613502"/>
            <a:ext cx="475488" cy="475488"/>
          </a:xfrm>
          <a:prstGeom prst="ellipse">
            <a:avLst/>
          </a:prstGeom>
          <a:solidFill>
            <a:schemeClr val="accent1"/>
          </a:solidFill>
          <a:ln/>
        </p:spPr>
      </p:sp>
      <p:pic>
        <p:nvPicPr>
          <p:cNvPr id="26" name="Icon FaFlag 555" descr="preencoded.png">    </p:cNvPr>
          <p:cNvPicPr>
            <a:picLocks noChangeAspect="1"/>
          </p:cNvPicPr>
          <p:nvPr/>
        </p:nvPicPr>
        <p:blipFill>
          <a:blip r:embed="rId5"/>
          <a:stretch>
            <a:fillRect/>
          </a:stretch>
        </p:blipFill>
        <p:spPr>
          <a:xfrm>
            <a:off x="790407" y="5718109"/>
            <a:ext cx="266273" cy="266273"/>
          </a:xfrm>
          <a:prstGeom prst="rect">
            <a:avLst/>
          </a:prstGeom>
        </p:spPr>
      </p:pic>
      <p:sp>
        <p:nvSpPr>
          <p:cNvPr id="27" name="Text 556"/>
          <p:cNvSpPr txBox="1"/>
          <p:nvPr/>
        </p:nvSpPr>
        <p:spPr>
          <a:xfrm>
            <a:off x="1325880" y="5438851"/>
            <a:ext cx="1463040" cy="824789"/>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Nationalism</a:t>
            </a:r>
            <a:endParaRPr lang="en-US" sz="1700" dirty="0"/>
          </a:p>
        </p:txBody>
      </p:sp>
      <p:sp>
        <p:nvSpPr>
          <p:cNvPr id="28" name="Text 557"/>
          <p:cNvSpPr txBox="1"/>
          <p:nvPr/>
        </p:nvSpPr>
        <p:spPr>
          <a:xfrm>
            <a:off x="2788920" y="5438851"/>
            <a:ext cx="4297680" cy="824789"/>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Victories made the army popular and powerful in politics.</a:t>
            </a:r>
            <a:endParaRPr lang="en-US" sz="1500" dirty="0"/>
          </a:p>
        </p:txBody>
      </p:sp>
      <p:sp>
        <p:nvSpPr>
          <p:cNvPr id="29" name="Quote panel 558"/>
          <p:cNvSpPr/>
          <p:nvPr/>
        </p:nvSpPr>
        <p:spPr>
          <a:xfrm>
            <a:off x="7543800" y="1481328"/>
            <a:ext cx="4099255" cy="4782312"/>
          </a:xfrm>
          <a:prstGeom prst="roundRect">
            <a:avLst>
              <a:gd name="adj" fmla="val 2231"/>
            </a:avLst>
          </a:prstGeom>
          <a:solidFill>
            <a:schemeClr val="tx2"/>
          </a:solidFill>
          <a:ln/>
        </p:spPr>
      </p:sp>
      <p:sp>
        <p:nvSpPr>
          <p:cNvPr id="30" name="Text 559"/>
          <p:cNvSpPr txBox="1"/>
          <p:nvPr/>
        </p:nvSpPr>
        <p:spPr>
          <a:xfrm>
            <a:off x="7863840" y="1847088"/>
            <a:ext cx="3459175" cy="1463040"/>
          </a:xfrm>
          <a:prstGeom prst="rect">
            <a:avLst/>
          </a:prstGeom>
          <a:noFill/>
          <a:ln/>
        </p:spPr>
        <p:txBody>
          <a:bodyPr wrap="square" lIns="0" tIns="0" rIns="0" bIns="0" rtlCol="0" anchor="t"/>
          <a:lstStyle/>
          <a:p>
            <a:pPr algn="l" indent="0" marL="0">
              <a:spcAft>
                <a:spcPts val="600"/>
              </a:spcAft>
              <a:buNone/>
            </a:pPr>
            <a:r>
              <a:rPr lang="en-US" sz="2400" i="1" dirty="0">
                <a:solidFill>
                  <a:schemeClr val="bg1"/>
                </a:solidFill>
                <a:latin typeface="+mj-lt" pitchFamily="34" charset="0"/>
                <a:ea typeface="+mj-lt" pitchFamily="34" charset="-122"/>
                <a:cs typeface="+mj-lt" pitchFamily="34" charset="-120"/>
              </a:rPr>
              <a:t>“Korea is a dagger pointed at the heart of Japan.”</a:t>
            </a:r>
            <a:endParaRPr lang="en-US" sz="2400" dirty="0"/>
          </a:p>
        </p:txBody>
      </p:sp>
      <p:sp>
        <p:nvSpPr>
          <p:cNvPr id="31" name="Text 560"/>
          <p:cNvSpPr txBox="1"/>
          <p:nvPr/>
        </p:nvSpPr>
        <p:spPr>
          <a:xfrm>
            <a:off x="7863840" y="3355848"/>
            <a:ext cx="3459175" cy="548640"/>
          </a:xfrm>
          <a:prstGeom prst="rect">
            <a:avLst/>
          </a:prstGeom>
          <a:noFill/>
          <a:ln/>
        </p:spPr>
        <p:txBody>
          <a:bodyPr wrap="square" lIns="0" tIns="0" rIns="0" bIns="0" rtlCol="0" anchor="t"/>
          <a:lstStyle/>
          <a:p>
            <a:pPr algn="l" indent="0" marL="0">
              <a:spcAft>
                <a:spcPts val="600"/>
              </a:spcAft>
              <a:buNone/>
            </a:pPr>
            <a:r>
              <a:rPr lang="en-US" sz="1300" dirty="0">
                <a:solidFill>
                  <a:schemeClr val="bg2"/>
                </a:solidFill>
              </a:rPr>
              <a:t>— Major Jakob Meckel, Prussian adviser to the Japanese army (1880s)</a:t>
            </a:r>
            <a:endParaRPr lang="en-US" sz="1300" dirty="0"/>
          </a:p>
        </p:txBody>
      </p:sp>
      <p:sp>
        <p:nvSpPr>
          <p:cNvPr id="32" name="Text 561"/>
          <p:cNvSpPr txBox="1"/>
          <p:nvPr/>
        </p:nvSpPr>
        <p:spPr>
          <a:xfrm>
            <a:off x="7863840" y="4498848"/>
            <a:ext cx="3459175" cy="1097280"/>
          </a:xfrm>
          <a:prstGeom prst="rect">
            <a:avLst/>
          </a:prstGeom>
          <a:noFill/>
          <a:ln/>
        </p:spPr>
        <p:txBody>
          <a:bodyPr wrap="square" lIns="0" tIns="0" rIns="0" bIns="0" rtlCol="0" anchor="t"/>
          <a:lstStyle/>
          <a:p>
            <a:pPr algn="l" indent="0" marL="0">
              <a:spcAft>
                <a:spcPts val="600"/>
              </a:spcAft>
              <a:buNone/>
            </a:pPr>
            <a:r>
              <a:rPr lang="en-US" sz="1700" b="1" dirty="0">
                <a:solidFill>
                  <a:schemeClr val="accent4"/>
                </a:solidFill>
              </a:rPr>
              <a:t>Key idea: Japan copied Western imperialism to avoid becoming a Western colony.</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56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KQ3 · JAPAN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Sino-Japanese War, 1894–95</a:t>
            </a:r>
            <a:endParaRPr lang="en-US" sz="3400" dirty="0"/>
          </a:p>
        </p:txBody>
      </p:sp>
      <p:sp>
        <p:nvSpPr>
          <p:cNvPr id="4" name="Step 563"/>
          <p:cNvSpPr/>
          <p:nvPr/>
        </p:nvSpPr>
        <p:spPr>
          <a:xfrm>
            <a:off x="548640" y="1481328"/>
            <a:ext cx="2485568" cy="3794760"/>
          </a:xfrm>
          <a:prstGeom prst="roundRect">
            <a:avLst>
              <a:gd name="adj" fmla="val 3679"/>
            </a:avLst>
          </a:prstGeom>
          <a:solidFill>
            <a:schemeClr val="accent1">
              <a:alpha val="10000"/>
            </a:schemeClr>
          </a:solidFill>
          <a:ln/>
        </p:spPr>
      </p:sp>
      <p:sp>
        <p:nvSpPr>
          <p:cNvPr id="5" name="Step number 564"/>
          <p:cNvSpPr/>
          <p:nvPr/>
        </p:nvSpPr>
        <p:spPr>
          <a:xfrm>
            <a:off x="713232" y="1645920"/>
            <a:ext cx="420624" cy="420624"/>
          </a:xfrm>
          <a:prstGeom prst="ellipse">
            <a:avLst/>
          </a:prstGeom>
          <a:solidFill>
            <a:schemeClr val="accent1"/>
          </a:solidFill>
          <a:ln/>
        </p:spPr>
      </p:sp>
      <p:sp>
        <p:nvSpPr>
          <p:cNvPr id="6" name="Text 565"/>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566"/>
          <p:cNvSpPr txBox="1"/>
          <p:nvPr/>
        </p:nvSpPr>
        <p:spPr>
          <a:xfrm>
            <a:off x="1243584"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Cause</a:t>
            </a:r>
            <a:endParaRPr lang="en-US" sz="1600" dirty="0"/>
          </a:p>
        </p:txBody>
      </p:sp>
      <p:sp>
        <p:nvSpPr>
          <p:cNvPr id="8" name="Text 567"/>
          <p:cNvSpPr txBox="1"/>
          <p:nvPr/>
        </p:nvSpPr>
        <p:spPr>
          <a:xfrm>
            <a:off x="713232"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Rivalry over Korea</a:t>
            </a:r>
            <a:endParaRPr lang="en-US" sz="1800" dirty="0"/>
          </a:p>
          <a:p>
            <a:pPr algn="l" marL="190500" indent="-190500">
              <a:spcAft>
                <a:spcPts val="400"/>
              </a:spcAft>
              <a:buSzPct val="100000"/>
              <a:buChar char="•"/>
            </a:pPr>
            <a:r>
              <a:rPr lang="en-US" sz="1800" dirty="0">
                <a:solidFill>
                  <a:schemeClr val="tx1"/>
                </a:solidFill>
              </a:rPr>
              <a:t>The Tonghak rebellion (1894) brought Chinese and Japanese troops in</a:t>
            </a:r>
            <a:endParaRPr lang="en-US" sz="1800" dirty="0"/>
          </a:p>
        </p:txBody>
      </p:sp>
      <p:sp>
        <p:nvSpPr>
          <p:cNvPr id="9" name="Arrow 568"/>
          <p:cNvSpPr/>
          <p:nvPr/>
        </p:nvSpPr>
        <p:spPr>
          <a:xfrm>
            <a:off x="3098216" y="3232404"/>
            <a:ext cx="256032" cy="292608"/>
          </a:xfrm>
          <a:prstGeom prst="chevron">
            <a:avLst/>
          </a:prstGeom>
          <a:solidFill>
            <a:schemeClr val="accent1"/>
          </a:solidFill>
          <a:ln/>
        </p:spPr>
      </p:sp>
      <p:sp>
        <p:nvSpPr>
          <p:cNvPr id="10" name="Step 569"/>
          <p:cNvSpPr/>
          <p:nvPr/>
        </p:nvSpPr>
        <p:spPr>
          <a:xfrm>
            <a:off x="3418256" y="1481328"/>
            <a:ext cx="2485568" cy="3794760"/>
          </a:xfrm>
          <a:prstGeom prst="roundRect">
            <a:avLst>
              <a:gd name="adj" fmla="val 3679"/>
            </a:avLst>
          </a:prstGeom>
          <a:solidFill>
            <a:schemeClr val="accent1">
              <a:alpha val="10000"/>
            </a:schemeClr>
          </a:solidFill>
          <a:ln/>
        </p:spPr>
      </p:sp>
      <p:sp>
        <p:nvSpPr>
          <p:cNvPr id="11" name="Step number 570"/>
          <p:cNvSpPr/>
          <p:nvPr/>
        </p:nvSpPr>
        <p:spPr>
          <a:xfrm>
            <a:off x="3582848" y="1645920"/>
            <a:ext cx="420624" cy="420624"/>
          </a:xfrm>
          <a:prstGeom prst="ellipse">
            <a:avLst/>
          </a:prstGeom>
          <a:solidFill>
            <a:schemeClr val="accent1"/>
          </a:solidFill>
          <a:ln/>
        </p:spPr>
      </p:sp>
      <p:sp>
        <p:nvSpPr>
          <p:cNvPr id="12" name="Text 571"/>
          <p:cNvSpPr txBox="1"/>
          <p:nvPr/>
        </p:nvSpPr>
        <p:spPr>
          <a:xfrm>
            <a:off x="3582848"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572"/>
          <p:cNvSpPr txBox="1"/>
          <p:nvPr/>
        </p:nvSpPr>
        <p:spPr>
          <a:xfrm>
            <a:off x="4113200"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War</a:t>
            </a:r>
            <a:endParaRPr lang="en-US" sz="1600" dirty="0"/>
          </a:p>
        </p:txBody>
      </p:sp>
      <p:sp>
        <p:nvSpPr>
          <p:cNvPr id="14" name="Text 573"/>
          <p:cNvSpPr txBox="1"/>
          <p:nvPr/>
        </p:nvSpPr>
        <p:spPr>
          <a:xfrm>
            <a:off x="3582848"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Japan's modern forces won fast</a:t>
            </a:r>
            <a:endParaRPr lang="en-US" sz="1800" dirty="0"/>
          </a:p>
          <a:p>
            <a:pPr algn="l" marL="190500" indent="-190500">
              <a:spcAft>
                <a:spcPts val="400"/>
              </a:spcAft>
              <a:buSzPct val="100000"/>
              <a:buChar char="•"/>
            </a:pPr>
            <a:r>
              <a:rPr lang="en-US" sz="1800" dirty="0">
                <a:solidFill>
                  <a:schemeClr val="tx1"/>
                </a:solidFill>
              </a:rPr>
              <a:t>Battle of the Yalu (Sept 1894); Port Arthur and Weihaiwei captured</a:t>
            </a:r>
            <a:endParaRPr lang="en-US" sz="1800" dirty="0"/>
          </a:p>
        </p:txBody>
      </p:sp>
      <p:sp>
        <p:nvSpPr>
          <p:cNvPr id="15" name="Arrow 574"/>
          <p:cNvSpPr/>
          <p:nvPr/>
        </p:nvSpPr>
        <p:spPr>
          <a:xfrm>
            <a:off x="5967832" y="3232404"/>
            <a:ext cx="256032" cy="292608"/>
          </a:xfrm>
          <a:prstGeom prst="chevron">
            <a:avLst/>
          </a:prstGeom>
          <a:solidFill>
            <a:schemeClr val="accent1"/>
          </a:solidFill>
          <a:ln/>
        </p:spPr>
      </p:sp>
      <p:sp>
        <p:nvSpPr>
          <p:cNvPr id="16" name="Step 575"/>
          <p:cNvSpPr/>
          <p:nvPr/>
        </p:nvSpPr>
        <p:spPr>
          <a:xfrm>
            <a:off x="6287872" y="1481328"/>
            <a:ext cx="2485568" cy="3794760"/>
          </a:xfrm>
          <a:prstGeom prst="roundRect">
            <a:avLst>
              <a:gd name="adj" fmla="val 3679"/>
            </a:avLst>
          </a:prstGeom>
          <a:solidFill>
            <a:schemeClr val="accent1">
              <a:alpha val="10000"/>
            </a:schemeClr>
          </a:solidFill>
          <a:ln/>
        </p:spPr>
      </p:sp>
      <p:sp>
        <p:nvSpPr>
          <p:cNvPr id="17" name="Step number 576"/>
          <p:cNvSpPr/>
          <p:nvPr/>
        </p:nvSpPr>
        <p:spPr>
          <a:xfrm>
            <a:off x="6452464" y="1645920"/>
            <a:ext cx="420624" cy="420624"/>
          </a:xfrm>
          <a:prstGeom prst="ellipse">
            <a:avLst/>
          </a:prstGeom>
          <a:solidFill>
            <a:schemeClr val="accent1"/>
          </a:solidFill>
          <a:ln/>
        </p:spPr>
      </p:sp>
      <p:sp>
        <p:nvSpPr>
          <p:cNvPr id="18" name="Text 577"/>
          <p:cNvSpPr txBox="1"/>
          <p:nvPr/>
        </p:nvSpPr>
        <p:spPr>
          <a:xfrm>
            <a:off x="6452464"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578"/>
          <p:cNvSpPr txBox="1"/>
          <p:nvPr/>
        </p:nvSpPr>
        <p:spPr>
          <a:xfrm>
            <a:off x="6982816" y="1645920"/>
            <a:ext cx="1662608" cy="496092"/>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Treaty of Shimonoseki (1895)</a:t>
            </a:r>
            <a:endParaRPr lang="en-US" sz="1600" dirty="0"/>
          </a:p>
        </p:txBody>
      </p:sp>
      <p:sp>
        <p:nvSpPr>
          <p:cNvPr id="20" name="Text 579"/>
          <p:cNvSpPr txBox="1"/>
          <p:nvPr/>
        </p:nvSpPr>
        <p:spPr>
          <a:xfrm>
            <a:off x="6452464" y="2251740"/>
            <a:ext cx="2156384" cy="2887188"/>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Korea 'independent' of China</a:t>
            </a:r>
            <a:endParaRPr lang="en-US" sz="1800" dirty="0"/>
          </a:p>
          <a:p>
            <a:pPr algn="l" marL="190500" indent="-190500">
              <a:spcAft>
                <a:spcPts val="400"/>
              </a:spcAft>
              <a:buSzPct val="100000"/>
              <a:buChar char="•"/>
            </a:pPr>
            <a:r>
              <a:rPr lang="en-US" sz="1800" dirty="0">
                <a:solidFill>
                  <a:schemeClr val="tx1"/>
                </a:solidFill>
              </a:rPr>
              <a:t>Japan gains Taiwan, the Pescadores and Liaodong</a:t>
            </a:r>
            <a:endParaRPr lang="en-US" sz="1800" dirty="0"/>
          </a:p>
          <a:p>
            <a:pPr algn="l" marL="190500" indent="-190500">
              <a:spcAft>
                <a:spcPts val="400"/>
              </a:spcAft>
              <a:buSzPct val="100000"/>
              <a:buChar char="•"/>
            </a:pPr>
            <a:r>
              <a:rPr lang="en-US" sz="1800" dirty="0">
                <a:solidFill>
                  <a:schemeClr val="tx1"/>
                </a:solidFill>
              </a:rPr>
              <a:t>Indemnity of 200 million taels</a:t>
            </a:r>
            <a:endParaRPr lang="en-US" sz="1800" dirty="0"/>
          </a:p>
        </p:txBody>
      </p:sp>
      <p:sp>
        <p:nvSpPr>
          <p:cNvPr id="21" name="Arrow 580"/>
          <p:cNvSpPr/>
          <p:nvPr/>
        </p:nvSpPr>
        <p:spPr>
          <a:xfrm>
            <a:off x="8837447" y="3232404"/>
            <a:ext cx="256032" cy="292608"/>
          </a:xfrm>
          <a:prstGeom prst="chevron">
            <a:avLst/>
          </a:prstGeom>
          <a:solidFill>
            <a:schemeClr val="accent1"/>
          </a:solidFill>
          <a:ln/>
        </p:spPr>
      </p:sp>
      <p:sp>
        <p:nvSpPr>
          <p:cNvPr id="22" name="Step 581"/>
          <p:cNvSpPr/>
          <p:nvPr/>
        </p:nvSpPr>
        <p:spPr>
          <a:xfrm>
            <a:off x="9157487" y="1481328"/>
            <a:ext cx="2485568" cy="3794760"/>
          </a:xfrm>
          <a:prstGeom prst="roundRect">
            <a:avLst>
              <a:gd name="adj" fmla="val 3679"/>
            </a:avLst>
          </a:prstGeom>
          <a:solidFill>
            <a:schemeClr val="accent1">
              <a:alpha val="10000"/>
            </a:schemeClr>
          </a:solidFill>
          <a:ln/>
        </p:spPr>
      </p:sp>
      <p:sp>
        <p:nvSpPr>
          <p:cNvPr id="23" name="Step number 582"/>
          <p:cNvSpPr/>
          <p:nvPr/>
        </p:nvSpPr>
        <p:spPr>
          <a:xfrm>
            <a:off x="9322079" y="1645920"/>
            <a:ext cx="420624" cy="420624"/>
          </a:xfrm>
          <a:prstGeom prst="ellipse">
            <a:avLst/>
          </a:prstGeom>
          <a:solidFill>
            <a:schemeClr val="accent1"/>
          </a:solidFill>
          <a:ln/>
        </p:spPr>
      </p:sp>
      <p:sp>
        <p:nvSpPr>
          <p:cNvPr id="24" name="Text 583"/>
          <p:cNvSpPr txBox="1"/>
          <p:nvPr/>
        </p:nvSpPr>
        <p:spPr>
          <a:xfrm>
            <a:off x="9322079"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4</a:t>
            </a:r>
            <a:endParaRPr lang="en-US" sz="1600" dirty="0"/>
          </a:p>
        </p:txBody>
      </p:sp>
      <p:sp>
        <p:nvSpPr>
          <p:cNvPr id="25" name="Text 584"/>
          <p:cNvSpPr txBox="1"/>
          <p:nvPr/>
        </p:nvSpPr>
        <p:spPr>
          <a:xfrm>
            <a:off x="9852431"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Triple Intervention</a:t>
            </a:r>
            <a:endParaRPr lang="en-US" sz="1600" dirty="0"/>
          </a:p>
        </p:txBody>
      </p:sp>
      <p:sp>
        <p:nvSpPr>
          <p:cNvPr id="26" name="Text 585"/>
          <p:cNvSpPr txBox="1"/>
          <p:nvPr/>
        </p:nvSpPr>
        <p:spPr>
          <a:xfrm>
            <a:off x="9322079"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Russia, France and Germany force Japan to return Liaodong</a:t>
            </a:r>
            <a:endParaRPr lang="en-US" sz="1800" dirty="0"/>
          </a:p>
          <a:p>
            <a:pPr algn="l" marL="190500" indent="-190500">
              <a:spcAft>
                <a:spcPts val="400"/>
              </a:spcAft>
              <a:buSzPct val="100000"/>
              <a:buChar char="•"/>
            </a:pPr>
            <a:r>
              <a:rPr lang="en-US" sz="1800" dirty="0">
                <a:solidFill>
                  <a:schemeClr val="tx1"/>
                </a:solidFill>
              </a:rPr>
              <a:t>Russia then leases Port Arthur itself (1898)</a:t>
            </a:r>
            <a:endParaRPr lang="en-US" sz="1800" dirty="0"/>
          </a:p>
        </p:txBody>
      </p:sp>
      <p:sp>
        <p:nvSpPr>
          <p:cNvPr id="27" name="Callout 586"/>
          <p:cNvSpPr/>
          <p:nvPr/>
        </p:nvSpPr>
        <p:spPr>
          <a:xfrm>
            <a:off x="548640" y="5550408"/>
            <a:ext cx="11094415" cy="713232"/>
          </a:xfrm>
          <a:prstGeom prst="roundRect">
            <a:avLst>
              <a:gd name="adj" fmla="val 12821"/>
            </a:avLst>
          </a:prstGeom>
          <a:solidFill>
            <a:schemeClr val="accent4">
              <a:alpha val="20000"/>
            </a:schemeClr>
          </a:solidFill>
          <a:ln/>
        </p:spPr>
      </p:sp>
      <p:sp>
        <p:nvSpPr>
          <p:cNvPr id="28" name="Callout label 587"/>
          <p:cNvSpPr/>
          <p:nvPr/>
        </p:nvSpPr>
        <p:spPr>
          <a:xfrm>
            <a:off x="731520" y="5751576"/>
            <a:ext cx="843568" cy="310896"/>
          </a:xfrm>
          <a:prstGeom prst="roundRect">
            <a:avLst>
              <a:gd name="adj" fmla="val 50000"/>
            </a:avLst>
          </a:prstGeom>
          <a:solidFill>
            <a:schemeClr val="accent4"/>
          </a:solidFill>
          <a:ln/>
        </p:spPr>
      </p:sp>
      <p:sp>
        <p:nvSpPr>
          <p:cNvPr id="29" name="Text 588"/>
          <p:cNvSpPr txBox="1"/>
          <p:nvPr/>
        </p:nvSpPr>
        <p:spPr>
          <a:xfrm>
            <a:off x="731520" y="5751576"/>
            <a:ext cx="843568"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IMPACT</a:t>
            </a:r>
            <a:endParaRPr lang="en-US" sz="1200" dirty="0"/>
          </a:p>
        </p:txBody>
      </p:sp>
      <p:sp>
        <p:nvSpPr>
          <p:cNvPr id="30" name="Text 589"/>
          <p:cNvSpPr txBox="1"/>
          <p:nvPr/>
        </p:nvSpPr>
        <p:spPr>
          <a:xfrm>
            <a:off x="1757968" y="5623560"/>
            <a:ext cx="9702207"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China's weakness was exposed (the scramble for concessions followed) — and Japan's humiliation fed a desire for revenge on Russia.</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590"/>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KQ3 · JAPAN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Anglo-Japanese Alliance, 1902</a:t>
            </a:r>
            <a:endParaRPr lang="en-US" sz="3400" dirty="0"/>
          </a:p>
        </p:txBody>
      </p:sp>
      <p:sp>
        <p:nvSpPr>
          <p:cNvPr id="4" name="Card 591"/>
          <p:cNvSpPr/>
          <p:nvPr/>
        </p:nvSpPr>
        <p:spPr>
          <a:xfrm>
            <a:off x="548640" y="1481328"/>
            <a:ext cx="5410048" cy="3794760"/>
          </a:xfrm>
          <a:prstGeom prst="roundRect">
            <a:avLst>
              <a:gd name="adj" fmla="val 2410"/>
            </a:avLst>
          </a:prstGeom>
          <a:solidFill>
            <a:schemeClr val="bg2"/>
          </a:solidFill>
          <a:ln/>
        </p:spPr>
      </p:sp>
      <p:sp>
        <p:nvSpPr>
          <p:cNvPr id="5" name="Icon circle 592"/>
          <p:cNvSpPr/>
          <p:nvPr/>
        </p:nvSpPr>
        <p:spPr>
          <a:xfrm>
            <a:off x="731520" y="1664208"/>
            <a:ext cx="475488" cy="475488"/>
          </a:xfrm>
          <a:prstGeom prst="ellipse">
            <a:avLst/>
          </a:prstGeom>
          <a:solidFill>
            <a:schemeClr val="accent1"/>
          </a:solidFill>
          <a:ln/>
        </p:spPr>
      </p:sp>
      <p:pic>
        <p:nvPicPr>
          <p:cNvPr id="6" name="Icon FaCrown 593"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594"/>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Why Britain wanted it</a:t>
            </a:r>
            <a:endParaRPr lang="en-US" sz="1700" dirty="0"/>
          </a:p>
        </p:txBody>
      </p:sp>
      <p:sp>
        <p:nvSpPr>
          <p:cNvPr id="8" name="Text 595"/>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Feared Russian expansion in China and towards India</a:t>
            </a:r>
            <a:endParaRPr lang="en-US" sz="2000" dirty="0"/>
          </a:p>
          <a:p>
            <a:pPr algn="l" marL="190500" indent="-190500">
              <a:spcAft>
                <a:spcPts val="800"/>
              </a:spcAft>
              <a:buSzPct val="100000"/>
              <a:buChar char="•"/>
            </a:pPr>
            <a:r>
              <a:rPr lang="en-US" sz="2000" dirty="0">
                <a:solidFill>
                  <a:schemeClr val="tx1"/>
                </a:solidFill>
              </a:rPr>
              <a:t>The Boer War exposed Britain's isolation</a:t>
            </a:r>
            <a:endParaRPr lang="en-US" sz="2000" dirty="0"/>
          </a:p>
          <a:p>
            <a:pPr algn="l" marL="190500" indent="-190500">
              <a:spcAft>
                <a:spcPts val="800"/>
              </a:spcAft>
              <a:buSzPct val="100000"/>
              <a:buChar char="•"/>
            </a:pPr>
            <a:r>
              <a:rPr lang="en-US" sz="2000" dirty="0">
                <a:solidFill>
                  <a:schemeClr val="tx1"/>
                </a:solidFill>
              </a:rPr>
              <a:t>Navy overstretched — needed a partner in the Pacific</a:t>
            </a:r>
            <a:endParaRPr lang="en-US" sz="2000" dirty="0"/>
          </a:p>
        </p:txBody>
      </p:sp>
      <p:sp>
        <p:nvSpPr>
          <p:cNvPr id="9" name="Card 596"/>
          <p:cNvSpPr/>
          <p:nvPr/>
        </p:nvSpPr>
        <p:spPr>
          <a:xfrm>
            <a:off x="6233008" y="1481328"/>
            <a:ext cx="5410048" cy="3794760"/>
          </a:xfrm>
          <a:prstGeom prst="roundRect">
            <a:avLst>
              <a:gd name="adj" fmla="val 2410"/>
            </a:avLst>
          </a:prstGeom>
          <a:solidFill>
            <a:schemeClr val="accent1">
              <a:alpha val="10000"/>
            </a:schemeClr>
          </a:solidFill>
          <a:ln/>
        </p:spPr>
      </p:sp>
      <p:sp>
        <p:nvSpPr>
          <p:cNvPr id="10" name="Icon circle 597"/>
          <p:cNvSpPr/>
          <p:nvPr/>
        </p:nvSpPr>
        <p:spPr>
          <a:xfrm>
            <a:off x="6415888" y="1664208"/>
            <a:ext cx="475488" cy="475488"/>
          </a:xfrm>
          <a:prstGeom prst="ellipse">
            <a:avLst/>
          </a:prstGeom>
          <a:solidFill>
            <a:schemeClr val="accent1"/>
          </a:solidFill>
          <a:ln/>
        </p:spPr>
      </p:sp>
      <p:pic>
        <p:nvPicPr>
          <p:cNvPr id="11" name="Icon GiJapan 598"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599"/>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Why Japan wanted it</a:t>
            </a:r>
            <a:endParaRPr lang="en-US" sz="1700" dirty="0"/>
          </a:p>
        </p:txBody>
      </p:sp>
      <p:sp>
        <p:nvSpPr>
          <p:cNvPr id="13" name="Text 600"/>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Needed an ally against Russia</a:t>
            </a:r>
            <a:endParaRPr lang="en-US" sz="2000" dirty="0"/>
          </a:p>
          <a:p>
            <a:pPr algn="l" marL="190500" indent="-190500">
              <a:spcAft>
                <a:spcPts val="800"/>
              </a:spcAft>
              <a:buSzPct val="100000"/>
              <a:buChar char="•"/>
            </a:pPr>
            <a:r>
              <a:rPr lang="en-US" sz="2000" dirty="0">
                <a:solidFill>
                  <a:schemeClr val="tx1"/>
                </a:solidFill>
              </a:rPr>
              <a:t>Avoid another Triple Intervention: if a third power joined Russia, Britain would fight too</a:t>
            </a:r>
            <a:endParaRPr lang="en-US" sz="2000" dirty="0"/>
          </a:p>
          <a:p>
            <a:pPr algn="l" marL="190500" indent="-190500">
              <a:spcAft>
                <a:spcPts val="800"/>
              </a:spcAft>
              <a:buSzPct val="100000"/>
              <a:buChar char="•"/>
            </a:pPr>
            <a:r>
              <a:rPr lang="en-US" sz="2000" dirty="0">
                <a:solidFill>
                  <a:schemeClr val="tx1"/>
                </a:solidFill>
              </a:rPr>
              <a:t>Recognition as an equal great power</a:t>
            </a:r>
            <a:endParaRPr lang="en-US" sz="2000" dirty="0"/>
          </a:p>
        </p:txBody>
      </p:sp>
      <p:sp>
        <p:nvSpPr>
          <p:cNvPr id="14" name="Callout 601"/>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602"/>
          <p:cNvSpPr/>
          <p:nvPr/>
        </p:nvSpPr>
        <p:spPr>
          <a:xfrm>
            <a:off x="731520" y="5751576"/>
            <a:ext cx="1295763" cy="310896"/>
          </a:xfrm>
          <a:prstGeom prst="roundRect">
            <a:avLst>
              <a:gd name="adj" fmla="val 50000"/>
            </a:avLst>
          </a:prstGeom>
          <a:solidFill>
            <a:schemeClr val="accent4"/>
          </a:solidFill>
          <a:ln/>
        </p:spPr>
      </p:sp>
      <p:sp>
        <p:nvSpPr>
          <p:cNvPr id="16" name="Text 603"/>
          <p:cNvSpPr txBox="1"/>
          <p:nvPr/>
        </p:nvSpPr>
        <p:spPr>
          <a:xfrm>
            <a:off x="731520" y="5751576"/>
            <a:ext cx="129576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SIGNIFICANCE</a:t>
            </a:r>
            <a:endParaRPr lang="en-US" sz="1200" dirty="0"/>
          </a:p>
        </p:txBody>
      </p:sp>
      <p:sp>
        <p:nvSpPr>
          <p:cNvPr id="17" name="Text 604"/>
          <p:cNvSpPr txBox="1"/>
          <p:nvPr/>
        </p:nvSpPr>
        <p:spPr>
          <a:xfrm>
            <a:off x="2210163" y="5623560"/>
            <a:ext cx="9250013"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First alliance between a European great power and an Asian state as equals. It let Japan fight Russia in 1904 without fear of others joining in.</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605"/>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KQ3 · JAPAN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Russo-Japanese War, 1904–05</a:t>
            </a:r>
            <a:endParaRPr lang="en-US" sz="3400" dirty="0"/>
          </a:p>
        </p:txBody>
      </p:sp>
      <p:sp>
        <p:nvSpPr>
          <p:cNvPr id="4" name="Connector 606"/>
          <p:cNvSpPr/>
          <p:nvPr/>
        </p:nvSpPr>
        <p:spPr>
          <a:xfrm>
            <a:off x="1143000" y="1856232"/>
            <a:ext cx="0" cy="854964"/>
          </a:xfrm>
          <a:prstGeom prst="line">
            <a:avLst/>
          </a:prstGeom>
          <a:noFill/>
          <a:ln w="15875">
            <a:solidFill>
              <a:schemeClr val="accent1"/>
            </a:solidFill>
            <a:prstDash val="solid"/>
          </a:ln>
        </p:spPr>
      </p:sp>
      <p:sp>
        <p:nvSpPr>
          <p:cNvPr id="5" name="Date pill 607"/>
          <p:cNvSpPr/>
          <p:nvPr/>
        </p:nvSpPr>
        <p:spPr>
          <a:xfrm>
            <a:off x="548640" y="1527048"/>
            <a:ext cx="1188720" cy="329184"/>
          </a:xfrm>
          <a:prstGeom prst="roundRect">
            <a:avLst>
              <a:gd name="adj" fmla="val 50000"/>
            </a:avLst>
          </a:prstGeom>
          <a:solidFill>
            <a:schemeClr val="accent1"/>
          </a:solidFill>
          <a:ln/>
        </p:spPr>
      </p:sp>
      <p:sp>
        <p:nvSpPr>
          <p:cNvPr id="6" name="Text 608"/>
          <p:cNvSpPr txBox="1"/>
          <p:nvPr/>
        </p:nvSpPr>
        <p:spPr>
          <a:xfrm>
            <a:off x="548640" y="1527048"/>
            <a:ext cx="11887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Feb 1904</a:t>
            </a:r>
            <a:endParaRPr lang="en-US" sz="1300" dirty="0"/>
          </a:p>
        </p:txBody>
      </p:sp>
      <p:sp>
        <p:nvSpPr>
          <p:cNvPr id="7" name="Text 609"/>
          <p:cNvSpPr txBox="1"/>
          <p:nvPr/>
        </p:nvSpPr>
        <p:spPr>
          <a:xfrm>
            <a:off x="1901952" y="1508760"/>
            <a:ext cx="2852928" cy="114757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Surprise attack on the Russian fleet at Port Arthur</a:t>
            </a:r>
            <a:endParaRPr lang="en-US" sz="1500" dirty="0"/>
          </a:p>
        </p:txBody>
      </p:sp>
      <p:sp>
        <p:nvSpPr>
          <p:cNvPr id="8" name="Connector 610"/>
          <p:cNvSpPr/>
          <p:nvPr/>
        </p:nvSpPr>
        <p:spPr>
          <a:xfrm>
            <a:off x="1143000" y="3040380"/>
            <a:ext cx="0" cy="854964"/>
          </a:xfrm>
          <a:prstGeom prst="line">
            <a:avLst/>
          </a:prstGeom>
          <a:noFill/>
          <a:ln w="15875">
            <a:solidFill>
              <a:schemeClr val="accent1"/>
            </a:solidFill>
            <a:prstDash val="solid"/>
          </a:ln>
        </p:spPr>
      </p:sp>
      <p:sp>
        <p:nvSpPr>
          <p:cNvPr id="9" name="Date pill 611"/>
          <p:cNvSpPr/>
          <p:nvPr/>
        </p:nvSpPr>
        <p:spPr>
          <a:xfrm>
            <a:off x="548640" y="2711196"/>
            <a:ext cx="1188720" cy="329184"/>
          </a:xfrm>
          <a:prstGeom prst="roundRect">
            <a:avLst>
              <a:gd name="adj" fmla="val 50000"/>
            </a:avLst>
          </a:prstGeom>
          <a:solidFill>
            <a:schemeClr val="accent1"/>
          </a:solidFill>
          <a:ln/>
        </p:spPr>
      </p:sp>
      <p:sp>
        <p:nvSpPr>
          <p:cNvPr id="10" name="Text 612"/>
          <p:cNvSpPr txBox="1"/>
          <p:nvPr/>
        </p:nvSpPr>
        <p:spPr>
          <a:xfrm>
            <a:off x="548640" y="2711196"/>
            <a:ext cx="11887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Jan 1905</a:t>
            </a:r>
            <a:endParaRPr lang="en-US" sz="1300" dirty="0"/>
          </a:p>
        </p:txBody>
      </p:sp>
      <p:sp>
        <p:nvSpPr>
          <p:cNvPr id="11" name="Text 613"/>
          <p:cNvSpPr txBox="1"/>
          <p:nvPr/>
        </p:nvSpPr>
        <p:spPr>
          <a:xfrm>
            <a:off x="1901952" y="2692908"/>
            <a:ext cx="2852928" cy="114757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Port Arthur falls after a long siege</a:t>
            </a:r>
            <a:endParaRPr lang="en-US" sz="1500" dirty="0"/>
          </a:p>
        </p:txBody>
      </p:sp>
      <p:sp>
        <p:nvSpPr>
          <p:cNvPr id="12" name="Connector 614"/>
          <p:cNvSpPr/>
          <p:nvPr/>
        </p:nvSpPr>
        <p:spPr>
          <a:xfrm>
            <a:off x="1143000" y="4224528"/>
            <a:ext cx="0" cy="854964"/>
          </a:xfrm>
          <a:prstGeom prst="line">
            <a:avLst/>
          </a:prstGeom>
          <a:noFill/>
          <a:ln w="15875">
            <a:solidFill>
              <a:schemeClr val="accent1"/>
            </a:solidFill>
            <a:prstDash val="solid"/>
          </a:ln>
        </p:spPr>
      </p:sp>
      <p:sp>
        <p:nvSpPr>
          <p:cNvPr id="13" name="Date pill 615"/>
          <p:cNvSpPr/>
          <p:nvPr/>
        </p:nvSpPr>
        <p:spPr>
          <a:xfrm>
            <a:off x="548640" y="3895344"/>
            <a:ext cx="1188720" cy="329184"/>
          </a:xfrm>
          <a:prstGeom prst="roundRect">
            <a:avLst>
              <a:gd name="adj" fmla="val 50000"/>
            </a:avLst>
          </a:prstGeom>
          <a:solidFill>
            <a:schemeClr val="accent1"/>
          </a:solidFill>
          <a:ln/>
        </p:spPr>
      </p:sp>
      <p:sp>
        <p:nvSpPr>
          <p:cNvPr id="14" name="Text 616"/>
          <p:cNvSpPr txBox="1"/>
          <p:nvPr/>
        </p:nvSpPr>
        <p:spPr>
          <a:xfrm>
            <a:off x="548640" y="3895344"/>
            <a:ext cx="11887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Mar 1905</a:t>
            </a:r>
            <a:endParaRPr lang="en-US" sz="1300" dirty="0"/>
          </a:p>
        </p:txBody>
      </p:sp>
      <p:sp>
        <p:nvSpPr>
          <p:cNvPr id="15" name="Text 617"/>
          <p:cNvSpPr txBox="1"/>
          <p:nvPr/>
        </p:nvSpPr>
        <p:spPr>
          <a:xfrm>
            <a:off x="1901952" y="3877056"/>
            <a:ext cx="2852928" cy="114757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Mukden: a huge land battle won by Japan</a:t>
            </a:r>
            <a:endParaRPr lang="en-US" sz="1500" dirty="0"/>
          </a:p>
        </p:txBody>
      </p:sp>
      <p:sp>
        <p:nvSpPr>
          <p:cNvPr id="16" name="Date pill 618"/>
          <p:cNvSpPr/>
          <p:nvPr/>
        </p:nvSpPr>
        <p:spPr>
          <a:xfrm>
            <a:off x="548640" y="5079492"/>
            <a:ext cx="1188720" cy="329184"/>
          </a:xfrm>
          <a:prstGeom prst="roundRect">
            <a:avLst>
              <a:gd name="adj" fmla="val 50000"/>
            </a:avLst>
          </a:prstGeom>
          <a:solidFill>
            <a:schemeClr val="accent1"/>
          </a:solidFill>
          <a:ln/>
        </p:spPr>
      </p:sp>
      <p:sp>
        <p:nvSpPr>
          <p:cNvPr id="17" name="Text 619"/>
          <p:cNvSpPr txBox="1"/>
          <p:nvPr/>
        </p:nvSpPr>
        <p:spPr>
          <a:xfrm>
            <a:off x="548640" y="5079492"/>
            <a:ext cx="11887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May 1905</a:t>
            </a:r>
            <a:endParaRPr lang="en-US" sz="1300" dirty="0"/>
          </a:p>
        </p:txBody>
      </p:sp>
      <p:sp>
        <p:nvSpPr>
          <p:cNvPr id="18" name="Text 620"/>
          <p:cNvSpPr txBox="1"/>
          <p:nvPr/>
        </p:nvSpPr>
        <p:spPr>
          <a:xfrm>
            <a:off x="1901952" y="5061204"/>
            <a:ext cx="2852928" cy="114757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Tsushima: Russia's Baltic Fleet destroyed</a:t>
            </a:r>
            <a:endParaRPr lang="en-US" sz="1500" dirty="0"/>
          </a:p>
        </p:txBody>
      </p:sp>
      <p:sp>
        <p:nvSpPr>
          <p:cNvPr id="19" name="Card 621"/>
          <p:cNvSpPr/>
          <p:nvPr/>
        </p:nvSpPr>
        <p:spPr>
          <a:xfrm>
            <a:off x="5029200" y="1481328"/>
            <a:ext cx="6613855" cy="1472184"/>
          </a:xfrm>
          <a:prstGeom prst="roundRect">
            <a:avLst>
              <a:gd name="adj" fmla="val 6211"/>
            </a:avLst>
          </a:prstGeom>
          <a:solidFill>
            <a:schemeClr val="accent1">
              <a:alpha val="10000"/>
            </a:schemeClr>
          </a:solidFill>
          <a:ln/>
        </p:spPr>
      </p:sp>
      <p:sp>
        <p:nvSpPr>
          <p:cNvPr id="20" name="Icon circle 622"/>
          <p:cNvSpPr/>
          <p:nvPr/>
        </p:nvSpPr>
        <p:spPr>
          <a:xfrm>
            <a:off x="5175504" y="1627632"/>
            <a:ext cx="402336" cy="402336"/>
          </a:xfrm>
          <a:prstGeom prst="ellipse">
            <a:avLst/>
          </a:prstGeom>
          <a:solidFill>
            <a:schemeClr val="accent1"/>
          </a:solidFill>
          <a:ln/>
        </p:spPr>
      </p:sp>
      <p:pic>
        <p:nvPicPr>
          <p:cNvPr id="21" name="Icon FaExclamationTriangle 623" descr="preencoded.png">    </p:cNvPr>
          <p:cNvPicPr>
            <a:picLocks noChangeAspect="1"/>
          </p:cNvPicPr>
          <p:nvPr/>
        </p:nvPicPr>
        <p:blipFill>
          <a:blip r:embed="rId1"/>
          <a:stretch>
            <a:fillRect/>
          </a:stretch>
        </p:blipFill>
        <p:spPr>
          <a:xfrm>
            <a:off x="5264018" y="1716146"/>
            <a:ext cx="225308" cy="225308"/>
          </a:xfrm>
          <a:prstGeom prst="rect">
            <a:avLst/>
          </a:prstGeom>
        </p:spPr>
      </p:pic>
      <p:sp>
        <p:nvSpPr>
          <p:cNvPr id="22" name="Card title 624"/>
          <p:cNvSpPr txBox="1"/>
          <p:nvPr/>
        </p:nvSpPr>
        <p:spPr>
          <a:xfrm>
            <a:off x="5705856" y="1627632"/>
            <a:ext cx="579089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Causes</a:t>
            </a:r>
            <a:endParaRPr lang="en-US" sz="1600" dirty="0"/>
          </a:p>
        </p:txBody>
      </p:sp>
      <p:sp>
        <p:nvSpPr>
          <p:cNvPr id="23" name="Text 625"/>
          <p:cNvSpPr txBox="1"/>
          <p:nvPr/>
        </p:nvSpPr>
        <p:spPr>
          <a:xfrm>
            <a:off x="5175504" y="2139696"/>
            <a:ext cx="6321247" cy="667512"/>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Russia stayed in Manchuria after the Boxer Rebellion and pushed into Korea; talks failed.</a:t>
            </a:r>
            <a:endParaRPr lang="en-US" sz="1800" dirty="0"/>
          </a:p>
        </p:txBody>
      </p:sp>
      <p:sp>
        <p:nvSpPr>
          <p:cNvPr id="24" name="Card 626"/>
          <p:cNvSpPr/>
          <p:nvPr/>
        </p:nvSpPr>
        <p:spPr>
          <a:xfrm>
            <a:off x="5029200" y="3136392"/>
            <a:ext cx="6613855" cy="1472184"/>
          </a:xfrm>
          <a:prstGeom prst="roundRect">
            <a:avLst>
              <a:gd name="adj" fmla="val 6211"/>
            </a:avLst>
          </a:prstGeom>
          <a:solidFill>
            <a:schemeClr val="accent1">
              <a:alpha val="10000"/>
            </a:schemeClr>
          </a:solidFill>
          <a:ln/>
        </p:spPr>
      </p:sp>
      <p:sp>
        <p:nvSpPr>
          <p:cNvPr id="25" name="Icon circle 627"/>
          <p:cNvSpPr/>
          <p:nvPr/>
        </p:nvSpPr>
        <p:spPr>
          <a:xfrm>
            <a:off x="5175504" y="3282696"/>
            <a:ext cx="402336" cy="402336"/>
          </a:xfrm>
          <a:prstGeom prst="ellipse">
            <a:avLst/>
          </a:prstGeom>
          <a:solidFill>
            <a:schemeClr val="accent1"/>
          </a:solidFill>
          <a:ln/>
        </p:spPr>
      </p:sp>
      <p:pic>
        <p:nvPicPr>
          <p:cNvPr id="26" name="Icon FaFileSignature 628" descr="preencoded.png">    </p:cNvPr>
          <p:cNvPicPr>
            <a:picLocks noChangeAspect="1"/>
          </p:cNvPicPr>
          <p:nvPr/>
        </p:nvPicPr>
        <p:blipFill>
          <a:blip r:embed="rId2"/>
          <a:stretch>
            <a:fillRect/>
          </a:stretch>
        </p:blipFill>
        <p:spPr>
          <a:xfrm>
            <a:off x="5264018" y="3371210"/>
            <a:ext cx="225308" cy="225308"/>
          </a:xfrm>
          <a:prstGeom prst="rect">
            <a:avLst/>
          </a:prstGeom>
        </p:spPr>
      </p:pic>
      <p:sp>
        <p:nvSpPr>
          <p:cNvPr id="27" name="Card title 629"/>
          <p:cNvSpPr txBox="1"/>
          <p:nvPr/>
        </p:nvSpPr>
        <p:spPr>
          <a:xfrm>
            <a:off x="5705856" y="3282696"/>
            <a:ext cx="579089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Treaty of Portsmouth (Sept 1905)</a:t>
            </a:r>
            <a:endParaRPr lang="en-US" sz="1600" dirty="0"/>
          </a:p>
        </p:txBody>
      </p:sp>
      <p:sp>
        <p:nvSpPr>
          <p:cNvPr id="28" name="Text 630"/>
          <p:cNvSpPr txBox="1"/>
          <p:nvPr/>
        </p:nvSpPr>
        <p:spPr>
          <a:xfrm>
            <a:off x="5175504" y="3794760"/>
            <a:ext cx="6321247" cy="667512"/>
          </a:xfrm>
          <a:prstGeom prst="rect">
            <a:avLst/>
          </a:prstGeom>
          <a:noFill/>
          <a:ln/>
        </p:spPr>
        <p:txBody>
          <a:bodyPr wrap="square" lIns="0" tIns="0" rIns="0" bIns="0" rtlCol="0" anchor="t"/>
          <a:lstStyle/>
          <a:p>
            <a:pPr algn="l" indent="0" marL="0">
              <a:spcAft>
                <a:spcPts val="500"/>
              </a:spcAft>
              <a:buNone/>
            </a:pPr>
            <a:r>
              <a:rPr lang="en-US" sz="1400" dirty="0">
                <a:solidFill>
                  <a:schemeClr val="tx1"/>
                </a:solidFill>
              </a:rPr>
              <a:t>Mediated by Theodore Roosevelt. Japan gained Port Arthur, the South Manchurian Railway and southern Sakhalin; Korea in its sphere. No indemnity → riots in Tokyo.</a:t>
            </a:r>
            <a:endParaRPr lang="en-US" sz="1400" dirty="0"/>
          </a:p>
        </p:txBody>
      </p:sp>
      <p:sp>
        <p:nvSpPr>
          <p:cNvPr id="29" name="Card 631"/>
          <p:cNvSpPr/>
          <p:nvPr/>
        </p:nvSpPr>
        <p:spPr>
          <a:xfrm>
            <a:off x="5029200" y="4791456"/>
            <a:ext cx="6613855" cy="1472184"/>
          </a:xfrm>
          <a:prstGeom prst="roundRect">
            <a:avLst>
              <a:gd name="adj" fmla="val 6211"/>
            </a:avLst>
          </a:prstGeom>
          <a:solidFill>
            <a:schemeClr val="accent1">
              <a:alpha val="10000"/>
            </a:schemeClr>
          </a:solidFill>
          <a:ln/>
        </p:spPr>
      </p:sp>
      <p:sp>
        <p:nvSpPr>
          <p:cNvPr id="30" name="Icon circle 632"/>
          <p:cNvSpPr/>
          <p:nvPr/>
        </p:nvSpPr>
        <p:spPr>
          <a:xfrm>
            <a:off x="5175504" y="4937760"/>
            <a:ext cx="402336" cy="402336"/>
          </a:xfrm>
          <a:prstGeom prst="ellipse">
            <a:avLst/>
          </a:prstGeom>
          <a:solidFill>
            <a:schemeClr val="accent1"/>
          </a:solidFill>
          <a:ln/>
        </p:spPr>
      </p:sp>
      <p:pic>
        <p:nvPicPr>
          <p:cNvPr id="31" name="Icon FaStar 633" descr="preencoded.png">    </p:cNvPr>
          <p:cNvPicPr>
            <a:picLocks noChangeAspect="1"/>
          </p:cNvPicPr>
          <p:nvPr/>
        </p:nvPicPr>
        <p:blipFill>
          <a:blip r:embed="rId3"/>
          <a:stretch>
            <a:fillRect/>
          </a:stretch>
        </p:blipFill>
        <p:spPr>
          <a:xfrm>
            <a:off x="5264018" y="5026274"/>
            <a:ext cx="225308" cy="225308"/>
          </a:xfrm>
          <a:prstGeom prst="rect">
            <a:avLst/>
          </a:prstGeom>
        </p:spPr>
      </p:pic>
      <p:sp>
        <p:nvSpPr>
          <p:cNvPr id="32" name="Card title 634"/>
          <p:cNvSpPr txBox="1"/>
          <p:nvPr/>
        </p:nvSpPr>
        <p:spPr>
          <a:xfrm>
            <a:off x="5705856" y="4937760"/>
            <a:ext cx="579089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Significance</a:t>
            </a:r>
            <a:endParaRPr lang="en-US" sz="1600" dirty="0"/>
          </a:p>
        </p:txBody>
      </p:sp>
      <p:sp>
        <p:nvSpPr>
          <p:cNvPr id="33" name="Text 635"/>
          <p:cNvSpPr txBox="1"/>
          <p:nvPr/>
        </p:nvSpPr>
        <p:spPr>
          <a:xfrm>
            <a:off x="5175504" y="5449824"/>
            <a:ext cx="6321247" cy="667512"/>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First modern Asian victory over a European power. Sparked Russia's 1905 Revolution and turned Russia back towards the Balkans.</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63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KQ3 · JAPAN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Japan's empire grows, 1905–18</a:t>
            </a:r>
            <a:endParaRPr lang="en-US" sz="3400" dirty="0"/>
          </a:p>
        </p:txBody>
      </p:sp>
      <p:sp>
        <p:nvSpPr>
          <p:cNvPr id="4" name="Connector 637"/>
          <p:cNvSpPr/>
          <p:nvPr/>
        </p:nvSpPr>
        <p:spPr>
          <a:xfrm>
            <a:off x="1097280" y="1856232"/>
            <a:ext cx="0" cy="206393"/>
          </a:xfrm>
          <a:prstGeom prst="line">
            <a:avLst/>
          </a:prstGeom>
          <a:noFill/>
          <a:ln w="15875">
            <a:solidFill>
              <a:schemeClr val="accent1"/>
            </a:solidFill>
            <a:prstDash val="solid"/>
          </a:ln>
        </p:spPr>
      </p:sp>
      <p:sp>
        <p:nvSpPr>
          <p:cNvPr id="5" name="Date pill 638"/>
          <p:cNvSpPr/>
          <p:nvPr/>
        </p:nvSpPr>
        <p:spPr>
          <a:xfrm>
            <a:off x="548640" y="1527048"/>
            <a:ext cx="1097280" cy="329184"/>
          </a:xfrm>
          <a:prstGeom prst="roundRect">
            <a:avLst>
              <a:gd name="adj" fmla="val 50000"/>
            </a:avLst>
          </a:prstGeom>
          <a:solidFill>
            <a:schemeClr val="accent1"/>
          </a:solidFill>
          <a:ln/>
        </p:spPr>
      </p:sp>
      <p:sp>
        <p:nvSpPr>
          <p:cNvPr id="6" name="Text 639"/>
          <p:cNvSpPr txBox="1"/>
          <p:nvPr/>
        </p:nvSpPr>
        <p:spPr>
          <a:xfrm>
            <a:off x="548640" y="1527048"/>
            <a:ext cx="10972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1905</a:t>
            </a:r>
            <a:endParaRPr lang="en-US" sz="1300" dirty="0"/>
          </a:p>
        </p:txBody>
      </p:sp>
      <p:sp>
        <p:nvSpPr>
          <p:cNvPr id="7" name="Text 640"/>
          <p:cNvSpPr txBox="1"/>
          <p:nvPr/>
        </p:nvSpPr>
        <p:spPr>
          <a:xfrm>
            <a:off x="1810512" y="1508760"/>
            <a:ext cx="9832543" cy="499001"/>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Korea becomes a Japanese </a:t>
            </a:r>
            <a:r>
              <a:rPr lang="en-US" sz="1600" b="1" dirty="0">
                <a:solidFill>
                  <a:schemeClr val="tx1"/>
                </a:solidFill>
              </a:rPr>
              <a:t>protectorate</a:t>
            </a:r>
            <a:endParaRPr lang="en-US" sz="1600" dirty="0"/>
          </a:p>
        </p:txBody>
      </p:sp>
      <p:sp>
        <p:nvSpPr>
          <p:cNvPr id="8" name="Connector 641"/>
          <p:cNvSpPr/>
          <p:nvPr/>
        </p:nvSpPr>
        <p:spPr>
          <a:xfrm>
            <a:off x="1097280" y="2391809"/>
            <a:ext cx="0" cy="206393"/>
          </a:xfrm>
          <a:prstGeom prst="line">
            <a:avLst/>
          </a:prstGeom>
          <a:noFill/>
          <a:ln w="15875">
            <a:solidFill>
              <a:schemeClr val="accent1"/>
            </a:solidFill>
            <a:prstDash val="solid"/>
          </a:ln>
        </p:spPr>
      </p:sp>
      <p:sp>
        <p:nvSpPr>
          <p:cNvPr id="9" name="Date pill 642"/>
          <p:cNvSpPr/>
          <p:nvPr/>
        </p:nvSpPr>
        <p:spPr>
          <a:xfrm>
            <a:off x="548640" y="2062625"/>
            <a:ext cx="1097280" cy="329184"/>
          </a:xfrm>
          <a:prstGeom prst="roundRect">
            <a:avLst>
              <a:gd name="adj" fmla="val 50000"/>
            </a:avLst>
          </a:prstGeom>
          <a:solidFill>
            <a:schemeClr val="accent1"/>
          </a:solidFill>
          <a:ln/>
        </p:spPr>
      </p:sp>
      <p:sp>
        <p:nvSpPr>
          <p:cNvPr id="10" name="Text 643"/>
          <p:cNvSpPr txBox="1"/>
          <p:nvPr/>
        </p:nvSpPr>
        <p:spPr>
          <a:xfrm>
            <a:off x="548640" y="2062625"/>
            <a:ext cx="10972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1907</a:t>
            </a:r>
            <a:endParaRPr lang="en-US" sz="1300" dirty="0"/>
          </a:p>
        </p:txBody>
      </p:sp>
      <p:sp>
        <p:nvSpPr>
          <p:cNvPr id="11" name="Text 644"/>
          <p:cNvSpPr txBox="1"/>
          <p:nvPr/>
        </p:nvSpPr>
        <p:spPr>
          <a:xfrm>
            <a:off x="1810512" y="2044337"/>
            <a:ext cx="9832543" cy="499001"/>
          </a:xfrm>
          <a:prstGeom prst="rect">
            <a:avLst/>
          </a:prstGeom>
          <a:noFill/>
          <a:ln/>
        </p:spPr>
        <p:txBody>
          <a:bodyPr wrap="square" lIns="0" tIns="0" rIns="0" bIns="0" rtlCol="0" anchor="t"/>
          <a:lstStyle/>
          <a:p>
            <a:pPr algn="l" indent="0" marL="0">
              <a:spcAft>
                <a:spcPts val="600"/>
              </a:spcAft>
              <a:buNone/>
            </a:pPr>
            <a:r>
              <a:rPr lang="en-US" sz="1600" b="1" dirty="0">
                <a:solidFill>
                  <a:schemeClr val="tx1"/>
                </a:solidFill>
              </a:rPr>
              <a:t>'Gentlemen's Agreement'</a:t>
            </a:r>
            <a:r>
              <a:rPr lang="en-US" sz="1600" dirty="0">
                <a:solidFill>
                  <a:schemeClr val="tx1"/>
                </a:solidFill>
              </a:rPr>
              <a:t> limits Japanese migration to the USA</a:t>
            </a:r>
            <a:endParaRPr lang="en-US" sz="1600" dirty="0"/>
          </a:p>
        </p:txBody>
      </p:sp>
      <p:sp>
        <p:nvSpPr>
          <p:cNvPr id="12" name="Connector 645"/>
          <p:cNvSpPr/>
          <p:nvPr/>
        </p:nvSpPr>
        <p:spPr>
          <a:xfrm>
            <a:off x="1097280" y="2927386"/>
            <a:ext cx="0" cy="206393"/>
          </a:xfrm>
          <a:prstGeom prst="line">
            <a:avLst/>
          </a:prstGeom>
          <a:noFill/>
          <a:ln w="15875">
            <a:solidFill>
              <a:schemeClr val="accent1"/>
            </a:solidFill>
            <a:prstDash val="solid"/>
          </a:ln>
        </p:spPr>
      </p:sp>
      <p:sp>
        <p:nvSpPr>
          <p:cNvPr id="13" name="Date pill 646"/>
          <p:cNvSpPr/>
          <p:nvPr/>
        </p:nvSpPr>
        <p:spPr>
          <a:xfrm>
            <a:off x="548640" y="2598202"/>
            <a:ext cx="1097280" cy="329184"/>
          </a:xfrm>
          <a:prstGeom prst="roundRect">
            <a:avLst>
              <a:gd name="adj" fmla="val 50000"/>
            </a:avLst>
          </a:prstGeom>
          <a:solidFill>
            <a:schemeClr val="accent1"/>
          </a:solidFill>
          <a:ln/>
        </p:spPr>
      </p:sp>
      <p:sp>
        <p:nvSpPr>
          <p:cNvPr id="14" name="Text 647"/>
          <p:cNvSpPr txBox="1"/>
          <p:nvPr/>
        </p:nvSpPr>
        <p:spPr>
          <a:xfrm>
            <a:off x="548640" y="2598202"/>
            <a:ext cx="10972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1910</a:t>
            </a:r>
            <a:endParaRPr lang="en-US" sz="1300" dirty="0"/>
          </a:p>
        </p:txBody>
      </p:sp>
      <p:sp>
        <p:nvSpPr>
          <p:cNvPr id="15" name="Text 648"/>
          <p:cNvSpPr txBox="1"/>
          <p:nvPr/>
        </p:nvSpPr>
        <p:spPr>
          <a:xfrm>
            <a:off x="1810512" y="2579914"/>
            <a:ext cx="9832543" cy="499001"/>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Japan </a:t>
            </a:r>
            <a:r>
              <a:rPr lang="en-US" sz="1600" b="1" dirty="0">
                <a:solidFill>
                  <a:schemeClr val="tx1"/>
                </a:solidFill>
              </a:rPr>
              <a:t>annexes Korea</a:t>
            </a:r>
            <a:endParaRPr lang="en-US" sz="1600" dirty="0"/>
          </a:p>
        </p:txBody>
      </p:sp>
      <p:sp>
        <p:nvSpPr>
          <p:cNvPr id="16" name="Connector 649"/>
          <p:cNvSpPr/>
          <p:nvPr/>
        </p:nvSpPr>
        <p:spPr>
          <a:xfrm>
            <a:off x="1097280" y="3462963"/>
            <a:ext cx="0" cy="206393"/>
          </a:xfrm>
          <a:prstGeom prst="line">
            <a:avLst/>
          </a:prstGeom>
          <a:noFill/>
          <a:ln w="15875">
            <a:solidFill>
              <a:schemeClr val="accent1"/>
            </a:solidFill>
            <a:prstDash val="solid"/>
          </a:ln>
        </p:spPr>
      </p:sp>
      <p:sp>
        <p:nvSpPr>
          <p:cNvPr id="17" name="Date pill 650"/>
          <p:cNvSpPr/>
          <p:nvPr/>
        </p:nvSpPr>
        <p:spPr>
          <a:xfrm>
            <a:off x="548640" y="3133779"/>
            <a:ext cx="1097280" cy="329184"/>
          </a:xfrm>
          <a:prstGeom prst="roundRect">
            <a:avLst>
              <a:gd name="adj" fmla="val 50000"/>
            </a:avLst>
          </a:prstGeom>
          <a:solidFill>
            <a:schemeClr val="accent1"/>
          </a:solidFill>
          <a:ln/>
        </p:spPr>
      </p:sp>
      <p:sp>
        <p:nvSpPr>
          <p:cNvPr id="18" name="Text 651"/>
          <p:cNvSpPr txBox="1"/>
          <p:nvPr/>
        </p:nvSpPr>
        <p:spPr>
          <a:xfrm>
            <a:off x="548640" y="3133779"/>
            <a:ext cx="10972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1914</a:t>
            </a:r>
            <a:endParaRPr lang="en-US" sz="1300" dirty="0"/>
          </a:p>
        </p:txBody>
      </p:sp>
      <p:sp>
        <p:nvSpPr>
          <p:cNvPr id="19" name="Text 652"/>
          <p:cNvSpPr txBox="1"/>
          <p:nvPr/>
        </p:nvSpPr>
        <p:spPr>
          <a:xfrm>
            <a:off x="1810512" y="3115491"/>
            <a:ext cx="9832543" cy="499001"/>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Joins the Allies; seizes </a:t>
            </a:r>
            <a:r>
              <a:rPr lang="en-US" sz="1600" b="1" dirty="0">
                <a:solidFill>
                  <a:schemeClr val="tx1"/>
                </a:solidFill>
              </a:rPr>
              <a:t>German Qingdao (Shandong)</a:t>
            </a:r>
            <a:r>
              <a:rPr lang="en-US" sz="1600" dirty="0">
                <a:solidFill>
                  <a:schemeClr val="tx1"/>
                </a:solidFill>
              </a:rPr>
              <a:t> and Pacific islands</a:t>
            </a:r>
            <a:endParaRPr lang="en-US" sz="1600" dirty="0"/>
          </a:p>
        </p:txBody>
      </p:sp>
      <p:sp>
        <p:nvSpPr>
          <p:cNvPr id="20" name="Connector 653"/>
          <p:cNvSpPr/>
          <p:nvPr/>
        </p:nvSpPr>
        <p:spPr>
          <a:xfrm>
            <a:off x="1097280" y="3998541"/>
            <a:ext cx="0" cy="206393"/>
          </a:xfrm>
          <a:prstGeom prst="line">
            <a:avLst/>
          </a:prstGeom>
          <a:noFill/>
          <a:ln w="15875">
            <a:solidFill>
              <a:schemeClr val="accent1"/>
            </a:solidFill>
            <a:prstDash val="solid"/>
          </a:ln>
        </p:spPr>
      </p:sp>
      <p:sp>
        <p:nvSpPr>
          <p:cNvPr id="21" name="Date pill 654"/>
          <p:cNvSpPr/>
          <p:nvPr/>
        </p:nvSpPr>
        <p:spPr>
          <a:xfrm>
            <a:off x="548640" y="3669357"/>
            <a:ext cx="1097280" cy="329184"/>
          </a:xfrm>
          <a:prstGeom prst="roundRect">
            <a:avLst>
              <a:gd name="adj" fmla="val 50000"/>
            </a:avLst>
          </a:prstGeom>
          <a:solidFill>
            <a:schemeClr val="accent1"/>
          </a:solidFill>
          <a:ln/>
        </p:spPr>
      </p:sp>
      <p:sp>
        <p:nvSpPr>
          <p:cNvPr id="22" name="Text 655"/>
          <p:cNvSpPr txBox="1"/>
          <p:nvPr/>
        </p:nvSpPr>
        <p:spPr>
          <a:xfrm>
            <a:off x="548640" y="3669357"/>
            <a:ext cx="10972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1915</a:t>
            </a:r>
            <a:endParaRPr lang="en-US" sz="1300" dirty="0"/>
          </a:p>
        </p:txBody>
      </p:sp>
      <p:sp>
        <p:nvSpPr>
          <p:cNvPr id="23" name="Text 656"/>
          <p:cNvSpPr txBox="1"/>
          <p:nvPr/>
        </p:nvSpPr>
        <p:spPr>
          <a:xfrm>
            <a:off x="1810512" y="3651069"/>
            <a:ext cx="9832543" cy="499001"/>
          </a:xfrm>
          <a:prstGeom prst="rect">
            <a:avLst/>
          </a:prstGeom>
          <a:noFill/>
          <a:ln/>
        </p:spPr>
        <p:txBody>
          <a:bodyPr wrap="square" lIns="0" tIns="0" rIns="0" bIns="0" rtlCol="0" anchor="t"/>
          <a:lstStyle/>
          <a:p>
            <a:pPr algn="l" indent="0" marL="0">
              <a:spcAft>
                <a:spcPts val="600"/>
              </a:spcAft>
              <a:buNone/>
            </a:pPr>
            <a:r>
              <a:rPr lang="en-US" sz="1600" b="1" dirty="0">
                <a:solidFill>
                  <a:schemeClr val="tx1"/>
                </a:solidFill>
              </a:rPr>
              <a:t>Twenty-One Demands</a:t>
            </a:r>
            <a:r>
              <a:rPr lang="en-US" sz="1600" dirty="0">
                <a:solidFill>
                  <a:schemeClr val="tx1"/>
                </a:solidFill>
              </a:rPr>
              <a:t> on China; Yuan Shikai accepts most of them</a:t>
            </a:r>
            <a:endParaRPr lang="en-US" sz="1600" dirty="0"/>
          </a:p>
        </p:txBody>
      </p:sp>
      <p:sp>
        <p:nvSpPr>
          <p:cNvPr id="24" name="Connector 657"/>
          <p:cNvSpPr/>
          <p:nvPr/>
        </p:nvSpPr>
        <p:spPr>
          <a:xfrm>
            <a:off x="1097280" y="4534118"/>
            <a:ext cx="0" cy="206393"/>
          </a:xfrm>
          <a:prstGeom prst="line">
            <a:avLst/>
          </a:prstGeom>
          <a:noFill/>
          <a:ln w="15875">
            <a:solidFill>
              <a:schemeClr val="accent1"/>
            </a:solidFill>
            <a:prstDash val="solid"/>
          </a:ln>
        </p:spPr>
      </p:sp>
      <p:sp>
        <p:nvSpPr>
          <p:cNvPr id="25" name="Date pill 658"/>
          <p:cNvSpPr/>
          <p:nvPr/>
        </p:nvSpPr>
        <p:spPr>
          <a:xfrm>
            <a:off x="548640" y="4204934"/>
            <a:ext cx="1097280" cy="329184"/>
          </a:xfrm>
          <a:prstGeom prst="roundRect">
            <a:avLst>
              <a:gd name="adj" fmla="val 50000"/>
            </a:avLst>
          </a:prstGeom>
          <a:solidFill>
            <a:schemeClr val="accent1"/>
          </a:solidFill>
          <a:ln/>
        </p:spPr>
      </p:sp>
      <p:sp>
        <p:nvSpPr>
          <p:cNvPr id="26" name="Text 659"/>
          <p:cNvSpPr txBox="1"/>
          <p:nvPr/>
        </p:nvSpPr>
        <p:spPr>
          <a:xfrm>
            <a:off x="548640" y="4204934"/>
            <a:ext cx="10972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1917</a:t>
            </a:r>
            <a:endParaRPr lang="en-US" sz="1300" dirty="0"/>
          </a:p>
        </p:txBody>
      </p:sp>
      <p:sp>
        <p:nvSpPr>
          <p:cNvPr id="27" name="Text 660"/>
          <p:cNvSpPr txBox="1"/>
          <p:nvPr/>
        </p:nvSpPr>
        <p:spPr>
          <a:xfrm>
            <a:off x="1810512" y="4186646"/>
            <a:ext cx="9832543" cy="499001"/>
          </a:xfrm>
          <a:prstGeom prst="rect">
            <a:avLst/>
          </a:prstGeom>
          <a:noFill/>
          <a:ln/>
        </p:spPr>
        <p:txBody>
          <a:bodyPr wrap="square" lIns="0" tIns="0" rIns="0" bIns="0" rtlCol="0" anchor="t"/>
          <a:lstStyle/>
          <a:p>
            <a:pPr algn="l" indent="0" marL="0">
              <a:spcAft>
                <a:spcPts val="600"/>
              </a:spcAft>
              <a:buNone/>
            </a:pPr>
            <a:r>
              <a:rPr lang="en-US" sz="1600" b="1" dirty="0">
                <a:solidFill>
                  <a:schemeClr val="tx1"/>
                </a:solidFill>
              </a:rPr>
              <a:t>Lansing–Ishii Agreement</a:t>
            </a:r>
            <a:r>
              <a:rPr lang="en-US" sz="1600" dirty="0">
                <a:solidFill>
                  <a:schemeClr val="tx1"/>
                </a:solidFill>
              </a:rPr>
              <a:t>: USA accepts Japan's 'special interests' in China</a:t>
            </a:r>
            <a:endParaRPr lang="en-US" sz="1600" dirty="0"/>
          </a:p>
        </p:txBody>
      </p:sp>
      <p:sp>
        <p:nvSpPr>
          <p:cNvPr id="28" name="Date pill 661"/>
          <p:cNvSpPr/>
          <p:nvPr/>
        </p:nvSpPr>
        <p:spPr>
          <a:xfrm>
            <a:off x="548640" y="4740511"/>
            <a:ext cx="1097280" cy="329184"/>
          </a:xfrm>
          <a:prstGeom prst="roundRect">
            <a:avLst>
              <a:gd name="adj" fmla="val 50000"/>
            </a:avLst>
          </a:prstGeom>
          <a:solidFill>
            <a:schemeClr val="accent1"/>
          </a:solidFill>
          <a:ln/>
        </p:spPr>
      </p:sp>
      <p:sp>
        <p:nvSpPr>
          <p:cNvPr id="29" name="Text 662"/>
          <p:cNvSpPr txBox="1"/>
          <p:nvPr/>
        </p:nvSpPr>
        <p:spPr>
          <a:xfrm>
            <a:off x="548640" y="4740511"/>
            <a:ext cx="10972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1918</a:t>
            </a:r>
            <a:endParaRPr lang="en-US" sz="1300" dirty="0"/>
          </a:p>
        </p:txBody>
      </p:sp>
      <p:sp>
        <p:nvSpPr>
          <p:cNvPr id="30" name="Text 663"/>
          <p:cNvSpPr txBox="1"/>
          <p:nvPr/>
        </p:nvSpPr>
        <p:spPr>
          <a:xfrm>
            <a:off x="1810512" y="4722223"/>
            <a:ext cx="9832543" cy="499001"/>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Japanese troops join the Allied </a:t>
            </a:r>
            <a:r>
              <a:rPr lang="en-US" sz="1600" b="1" dirty="0">
                <a:solidFill>
                  <a:schemeClr val="tx1"/>
                </a:solidFill>
              </a:rPr>
              <a:t>intervention in Siberia</a:t>
            </a:r>
            <a:endParaRPr lang="en-US" sz="1600" dirty="0"/>
          </a:p>
        </p:txBody>
      </p:sp>
      <p:sp>
        <p:nvSpPr>
          <p:cNvPr id="31" name="Callout 664"/>
          <p:cNvSpPr/>
          <p:nvPr/>
        </p:nvSpPr>
        <p:spPr>
          <a:xfrm>
            <a:off x="548640" y="5550408"/>
            <a:ext cx="11094415" cy="713232"/>
          </a:xfrm>
          <a:prstGeom prst="roundRect">
            <a:avLst>
              <a:gd name="adj" fmla="val 12821"/>
            </a:avLst>
          </a:prstGeom>
          <a:solidFill>
            <a:schemeClr val="accent4">
              <a:alpha val="20000"/>
            </a:schemeClr>
          </a:solidFill>
          <a:ln/>
        </p:spPr>
      </p:sp>
      <p:sp>
        <p:nvSpPr>
          <p:cNvPr id="32" name="Callout label 665"/>
          <p:cNvSpPr/>
          <p:nvPr/>
        </p:nvSpPr>
        <p:spPr>
          <a:xfrm>
            <a:off x="731520" y="5751576"/>
            <a:ext cx="1044331" cy="310896"/>
          </a:xfrm>
          <a:prstGeom prst="roundRect">
            <a:avLst>
              <a:gd name="adj" fmla="val 50000"/>
            </a:avLst>
          </a:prstGeom>
          <a:solidFill>
            <a:schemeClr val="accent4"/>
          </a:solidFill>
          <a:ln/>
        </p:spPr>
      </p:sp>
      <p:sp>
        <p:nvSpPr>
          <p:cNvPr id="33" name="Text 666"/>
          <p:cNvSpPr txBox="1"/>
          <p:nvPr/>
        </p:nvSpPr>
        <p:spPr>
          <a:xfrm>
            <a:off x="731520" y="5751576"/>
            <a:ext cx="104433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SO WHAT?</a:t>
            </a:r>
            <a:endParaRPr lang="en-US" sz="1200" dirty="0"/>
          </a:p>
        </p:txBody>
      </p:sp>
      <p:sp>
        <p:nvSpPr>
          <p:cNvPr id="34" name="Text 667"/>
          <p:cNvSpPr txBox="1"/>
          <p:nvPr/>
        </p:nvSpPr>
        <p:spPr>
          <a:xfrm>
            <a:off x="1958731" y="5623560"/>
            <a:ext cx="9501445"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By 1918 Japan dominated East Asia — booming from the war, but clashing with Chinese nationalism and the US Open Door.</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66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KQ3 · JAPAN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Japan's rise: impact on international relations</a:t>
            </a:r>
            <a:endParaRPr lang="en-US" sz="3400" dirty="0"/>
          </a:p>
        </p:txBody>
      </p:sp>
      <p:sp>
        <p:nvSpPr>
          <p:cNvPr id="4" name="Card 669"/>
          <p:cNvSpPr/>
          <p:nvPr/>
        </p:nvSpPr>
        <p:spPr>
          <a:xfrm>
            <a:off x="548640" y="1481328"/>
            <a:ext cx="5410048" cy="2253996"/>
          </a:xfrm>
          <a:prstGeom prst="roundRect">
            <a:avLst>
              <a:gd name="adj" fmla="val 4057"/>
            </a:avLst>
          </a:prstGeom>
          <a:solidFill>
            <a:schemeClr val="accent1">
              <a:alpha val="10000"/>
            </a:schemeClr>
          </a:solidFill>
          <a:ln/>
        </p:spPr>
      </p:sp>
      <p:sp>
        <p:nvSpPr>
          <p:cNvPr id="5" name="Icon circle 670"/>
          <p:cNvSpPr/>
          <p:nvPr/>
        </p:nvSpPr>
        <p:spPr>
          <a:xfrm>
            <a:off x="731520" y="1664208"/>
            <a:ext cx="475488" cy="475488"/>
          </a:xfrm>
          <a:prstGeom prst="ellipse">
            <a:avLst/>
          </a:prstGeom>
          <a:solidFill>
            <a:schemeClr val="accent1"/>
          </a:solidFill>
          <a:ln/>
        </p:spPr>
      </p:sp>
      <p:pic>
        <p:nvPicPr>
          <p:cNvPr id="6" name="Icon GiEarthAsiaOceania 671"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672"/>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Balance of power in Asia</a:t>
            </a:r>
            <a:endParaRPr lang="en-US" sz="1700" dirty="0"/>
          </a:p>
        </p:txBody>
      </p:sp>
      <p:sp>
        <p:nvSpPr>
          <p:cNvPr id="8" name="Text 673"/>
          <p:cNvSpPr txBox="1"/>
          <p:nvPr/>
        </p:nvSpPr>
        <p:spPr>
          <a:xfrm>
            <a:off x="731520" y="2249424"/>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Japan replaced China as Asia's leading power and checked Russian expansion in the Far East.</a:t>
            </a:r>
            <a:endParaRPr lang="en-US" sz="2000" dirty="0"/>
          </a:p>
        </p:txBody>
      </p:sp>
      <p:sp>
        <p:nvSpPr>
          <p:cNvPr id="9" name="Card 674"/>
          <p:cNvSpPr/>
          <p:nvPr/>
        </p:nvSpPr>
        <p:spPr>
          <a:xfrm>
            <a:off x="6233008" y="1481328"/>
            <a:ext cx="5410048" cy="2253996"/>
          </a:xfrm>
          <a:prstGeom prst="roundRect">
            <a:avLst>
              <a:gd name="adj" fmla="val 4057"/>
            </a:avLst>
          </a:prstGeom>
          <a:solidFill>
            <a:schemeClr val="accent1">
              <a:alpha val="10000"/>
            </a:schemeClr>
          </a:solidFill>
          <a:ln/>
        </p:spPr>
      </p:sp>
      <p:sp>
        <p:nvSpPr>
          <p:cNvPr id="10" name="Icon circle 675"/>
          <p:cNvSpPr/>
          <p:nvPr/>
        </p:nvSpPr>
        <p:spPr>
          <a:xfrm>
            <a:off x="6415888" y="1664208"/>
            <a:ext cx="475488" cy="475488"/>
          </a:xfrm>
          <a:prstGeom prst="ellipse">
            <a:avLst/>
          </a:prstGeom>
          <a:solidFill>
            <a:schemeClr val="accent1"/>
          </a:solidFill>
          <a:ln/>
        </p:spPr>
      </p:sp>
      <p:pic>
        <p:nvPicPr>
          <p:cNvPr id="11" name="Icon FaGlobeEurope 676"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677"/>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Knock-on effect in Europe</a:t>
            </a:r>
            <a:endParaRPr lang="en-US" sz="1700" dirty="0"/>
          </a:p>
        </p:txBody>
      </p:sp>
      <p:sp>
        <p:nvSpPr>
          <p:cNvPr id="13" name="Text 678"/>
          <p:cNvSpPr txBox="1"/>
          <p:nvPr/>
        </p:nvSpPr>
        <p:spPr>
          <a:xfrm>
            <a:off x="6415888" y="2249424"/>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Defeated in Asia, Russia turned to the Balkans — raising tension with Austria-Hungary before 1914.</a:t>
            </a:r>
            <a:endParaRPr lang="en-US" sz="2000" dirty="0"/>
          </a:p>
        </p:txBody>
      </p:sp>
      <p:sp>
        <p:nvSpPr>
          <p:cNvPr id="14" name="Card 679"/>
          <p:cNvSpPr/>
          <p:nvPr/>
        </p:nvSpPr>
        <p:spPr>
          <a:xfrm>
            <a:off x="548640" y="4009644"/>
            <a:ext cx="5410048" cy="2253996"/>
          </a:xfrm>
          <a:prstGeom prst="roundRect">
            <a:avLst>
              <a:gd name="adj" fmla="val 4057"/>
            </a:avLst>
          </a:prstGeom>
          <a:solidFill>
            <a:schemeClr val="accent1">
              <a:alpha val="10000"/>
            </a:schemeClr>
          </a:solidFill>
          <a:ln/>
        </p:spPr>
      </p:sp>
      <p:sp>
        <p:nvSpPr>
          <p:cNvPr id="15" name="Icon circle 680"/>
          <p:cNvSpPr/>
          <p:nvPr/>
        </p:nvSpPr>
        <p:spPr>
          <a:xfrm>
            <a:off x="731520" y="4192524"/>
            <a:ext cx="475488" cy="475488"/>
          </a:xfrm>
          <a:prstGeom prst="ellipse">
            <a:avLst/>
          </a:prstGeom>
          <a:solidFill>
            <a:schemeClr val="accent1"/>
          </a:solidFill>
          <a:ln/>
        </p:spPr>
      </p:sp>
      <p:pic>
        <p:nvPicPr>
          <p:cNvPr id="16" name="Icon GiBattleship 681" descr="preencoded.png">    </p:cNvPr>
          <p:cNvPicPr>
            <a:picLocks noChangeAspect="1"/>
          </p:cNvPicPr>
          <p:nvPr/>
        </p:nvPicPr>
        <p:blipFill>
          <a:blip r:embed="rId3"/>
          <a:stretch>
            <a:fillRect/>
          </a:stretch>
        </p:blipFill>
        <p:spPr>
          <a:xfrm>
            <a:off x="836127" y="4297131"/>
            <a:ext cx="266273" cy="266273"/>
          </a:xfrm>
          <a:prstGeom prst="rect">
            <a:avLst/>
          </a:prstGeom>
        </p:spPr>
      </p:pic>
      <p:sp>
        <p:nvSpPr>
          <p:cNvPr id="17" name="Card title 682"/>
          <p:cNvSpPr txBox="1"/>
          <p:nvPr/>
        </p:nvSpPr>
        <p:spPr>
          <a:xfrm>
            <a:off x="1335024" y="4192524"/>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Britain</a:t>
            </a:r>
            <a:endParaRPr lang="en-US" sz="1700" dirty="0"/>
          </a:p>
        </p:txBody>
      </p:sp>
      <p:sp>
        <p:nvSpPr>
          <p:cNvPr id="18" name="Text 683"/>
          <p:cNvSpPr txBox="1"/>
          <p:nvPr/>
        </p:nvSpPr>
        <p:spPr>
          <a:xfrm>
            <a:off x="731520" y="4777740"/>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The alliance let Britain bring warships home from the Pacific to face Germany's growing navy.</a:t>
            </a:r>
            <a:endParaRPr lang="en-US" sz="2000" dirty="0"/>
          </a:p>
        </p:txBody>
      </p:sp>
      <p:sp>
        <p:nvSpPr>
          <p:cNvPr id="19" name="Card 684"/>
          <p:cNvSpPr/>
          <p:nvPr/>
        </p:nvSpPr>
        <p:spPr>
          <a:xfrm>
            <a:off x="6233008" y="4009644"/>
            <a:ext cx="5410048" cy="2253996"/>
          </a:xfrm>
          <a:prstGeom prst="roundRect">
            <a:avLst>
              <a:gd name="adj" fmla="val 4057"/>
            </a:avLst>
          </a:prstGeom>
          <a:solidFill>
            <a:schemeClr val="accent1">
              <a:alpha val="10000"/>
            </a:schemeClr>
          </a:solidFill>
          <a:ln/>
        </p:spPr>
      </p:sp>
      <p:sp>
        <p:nvSpPr>
          <p:cNvPr id="20" name="Icon circle 685"/>
          <p:cNvSpPr/>
          <p:nvPr/>
        </p:nvSpPr>
        <p:spPr>
          <a:xfrm>
            <a:off x="6415888" y="4192524"/>
            <a:ext cx="475488" cy="475488"/>
          </a:xfrm>
          <a:prstGeom prst="ellipse">
            <a:avLst/>
          </a:prstGeom>
          <a:solidFill>
            <a:schemeClr val="accent1"/>
          </a:solidFill>
          <a:ln/>
        </p:spPr>
      </p:sp>
      <p:pic>
        <p:nvPicPr>
          <p:cNvPr id="21" name="Icon FaFlagUsa 686" descr="preencoded.png">    </p:cNvPr>
          <p:cNvPicPr>
            <a:picLocks noChangeAspect="1"/>
          </p:cNvPicPr>
          <p:nvPr/>
        </p:nvPicPr>
        <p:blipFill>
          <a:blip r:embed="rId4"/>
          <a:stretch>
            <a:fillRect/>
          </a:stretch>
        </p:blipFill>
        <p:spPr>
          <a:xfrm>
            <a:off x="6520495" y="4297131"/>
            <a:ext cx="266273" cy="266273"/>
          </a:xfrm>
          <a:prstGeom prst="rect">
            <a:avLst/>
          </a:prstGeom>
        </p:spPr>
      </p:pic>
      <p:sp>
        <p:nvSpPr>
          <p:cNvPr id="22" name="Card title 687"/>
          <p:cNvSpPr txBox="1"/>
          <p:nvPr/>
        </p:nvSpPr>
        <p:spPr>
          <a:xfrm>
            <a:off x="7019392" y="4192524"/>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USA and China</a:t>
            </a:r>
            <a:endParaRPr lang="en-US" sz="1700" dirty="0"/>
          </a:p>
        </p:txBody>
      </p:sp>
      <p:sp>
        <p:nvSpPr>
          <p:cNvPr id="23" name="Text 688"/>
          <p:cNvSpPr txBox="1"/>
          <p:nvPr/>
        </p:nvSpPr>
        <p:spPr>
          <a:xfrm>
            <a:off x="6415888" y="4777740"/>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Rivalry with the USA over the Pacific and immigration; Japanese demands fuelled Chinese nationalism.</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68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KQ4 · USA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did the USA look outward?</a:t>
            </a:r>
            <a:endParaRPr lang="en-US" sz="3400" dirty="0"/>
          </a:p>
        </p:txBody>
      </p:sp>
      <p:sp>
        <p:nvSpPr>
          <p:cNvPr id="4" name="Card 690"/>
          <p:cNvSpPr/>
          <p:nvPr/>
        </p:nvSpPr>
        <p:spPr>
          <a:xfrm>
            <a:off x="548640" y="1481328"/>
            <a:ext cx="3515258" cy="2253996"/>
          </a:xfrm>
          <a:prstGeom prst="roundRect">
            <a:avLst>
              <a:gd name="adj" fmla="val 4057"/>
            </a:avLst>
          </a:prstGeom>
          <a:solidFill>
            <a:schemeClr val="accent1">
              <a:alpha val="10000"/>
            </a:schemeClr>
          </a:solidFill>
          <a:ln/>
        </p:spPr>
      </p:sp>
      <p:sp>
        <p:nvSpPr>
          <p:cNvPr id="5" name="Icon circle 691"/>
          <p:cNvSpPr/>
          <p:nvPr/>
        </p:nvSpPr>
        <p:spPr>
          <a:xfrm>
            <a:off x="731520" y="1664208"/>
            <a:ext cx="475488" cy="475488"/>
          </a:xfrm>
          <a:prstGeom prst="ellipse">
            <a:avLst/>
          </a:prstGeom>
          <a:solidFill>
            <a:schemeClr val="accent1"/>
          </a:solidFill>
          <a:ln/>
        </p:spPr>
      </p:sp>
      <p:pic>
        <p:nvPicPr>
          <p:cNvPr id="6" name="Icon FaIndustry 692"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693"/>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Industrial giant</a:t>
            </a:r>
            <a:endParaRPr lang="en-US" sz="1600" dirty="0"/>
          </a:p>
        </p:txBody>
      </p:sp>
      <p:sp>
        <p:nvSpPr>
          <p:cNvPr id="8" name="Text 694"/>
          <p:cNvSpPr txBox="1"/>
          <p:nvPr/>
        </p:nvSpPr>
        <p:spPr>
          <a:xfrm>
            <a:off x="731520"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World's largest industrial economy by c.1900. The depression of 1893 made new markets urgent.</a:t>
            </a:r>
            <a:endParaRPr lang="en-US" sz="2000" dirty="0"/>
          </a:p>
        </p:txBody>
      </p:sp>
      <p:sp>
        <p:nvSpPr>
          <p:cNvPr id="9" name="Card 695"/>
          <p:cNvSpPr/>
          <p:nvPr/>
        </p:nvSpPr>
        <p:spPr>
          <a:xfrm>
            <a:off x="4338218" y="1481328"/>
            <a:ext cx="3515258" cy="2253996"/>
          </a:xfrm>
          <a:prstGeom prst="roundRect">
            <a:avLst>
              <a:gd name="adj" fmla="val 4057"/>
            </a:avLst>
          </a:prstGeom>
          <a:solidFill>
            <a:schemeClr val="accent1">
              <a:alpha val="10000"/>
            </a:schemeClr>
          </a:solidFill>
          <a:ln/>
        </p:spPr>
      </p:sp>
      <p:sp>
        <p:nvSpPr>
          <p:cNvPr id="10" name="Icon circle 696"/>
          <p:cNvSpPr/>
          <p:nvPr/>
        </p:nvSpPr>
        <p:spPr>
          <a:xfrm>
            <a:off x="4521098" y="1664208"/>
            <a:ext cx="475488" cy="475488"/>
          </a:xfrm>
          <a:prstGeom prst="ellipse">
            <a:avLst/>
          </a:prstGeom>
          <a:solidFill>
            <a:schemeClr val="accent1"/>
          </a:solidFill>
          <a:ln/>
        </p:spPr>
      </p:sp>
      <p:pic>
        <p:nvPicPr>
          <p:cNvPr id="11" name="Icon FaMapMarkedAlt 697"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698"/>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'Closed' frontier</a:t>
            </a:r>
            <a:endParaRPr lang="en-US" sz="1600" dirty="0"/>
          </a:p>
        </p:txBody>
      </p:sp>
      <p:sp>
        <p:nvSpPr>
          <p:cNvPr id="13" name="Text 699"/>
          <p:cNvSpPr txBox="1"/>
          <p:nvPr/>
        </p:nvSpPr>
        <p:spPr>
          <a:xfrm>
            <a:off x="4521098"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The 1890 census said the frontier was gone; Turner (1893) argued expansion needed new outlets.</a:t>
            </a:r>
            <a:endParaRPr lang="en-US" sz="2000" dirty="0"/>
          </a:p>
        </p:txBody>
      </p:sp>
      <p:sp>
        <p:nvSpPr>
          <p:cNvPr id="14" name="Card 700"/>
          <p:cNvSpPr/>
          <p:nvPr/>
        </p:nvSpPr>
        <p:spPr>
          <a:xfrm>
            <a:off x="8127797" y="1481328"/>
            <a:ext cx="3515258" cy="2253996"/>
          </a:xfrm>
          <a:prstGeom prst="roundRect">
            <a:avLst>
              <a:gd name="adj" fmla="val 4057"/>
            </a:avLst>
          </a:prstGeom>
          <a:solidFill>
            <a:schemeClr val="accent1">
              <a:alpha val="10000"/>
            </a:schemeClr>
          </a:solidFill>
          <a:ln/>
        </p:spPr>
      </p:sp>
      <p:sp>
        <p:nvSpPr>
          <p:cNvPr id="15" name="Icon circle 701"/>
          <p:cNvSpPr/>
          <p:nvPr/>
        </p:nvSpPr>
        <p:spPr>
          <a:xfrm>
            <a:off x="8310677" y="1664208"/>
            <a:ext cx="475488" cy="475488"/>
          </a:xfrm>
          <a:prstGeom prst="ellipse">
            <a:avLst/>
          </a:prstGeom>
          <a:solidFill>
            <a:schemeClr val="accent1"/>
          </a:solidFill>
          <a:ln/>
        </p:spPr>
      </p:sp>
      <p:pic>
        <p:nvPicPr>
          <p:cNvPr id="16" name="Icon GiBattleship 702"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703"/>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Sea power</a:t>
            </a:r>
            <a:endParaRPr lang="en-US" sz="1600" dirty="0"/>
          </a:p>
        </p:txBody>
      </p:sp>
      <p:sp>
        <p:nvSpPr>
          <p:cNvPr id="18" name="Text 704"/>
          <p:cNvSpPr txBox="1"/>
          <p:nvPr/>
        </p:nvSpPr>
        <p:spPr>
          <a:xfrm>
            <a:off x="8310677"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Mahan's The Influence of Sea Power upon History (1890): a big navy, bases and a canal.</a:t>
            </a:r>
            <a:endParaRPr lang="en-US" sz="2000" dirty="0"/>
          </a:p>
        </p:txBody>
      </p:sp>
      <p:sp>
        <p:nvSpPr>
          <p:cNvPr id="19" name="Card 705"/>
          <p:cNvSpPr/>
          <p:nvPr/>
        </p:nvSpPr>
        <p:spPr>
          <a:xfrm>
            <a:off x="548640" y="4009644"/>
            <a:ext cx="3515258" cy="2253996"/>
          </a:xfrm>
          <a:prstGeom prst="roundRect">
            <a:avLst>
              <a:gd name="adj" fmla="val 4057"/>
            </a:avLst>
          </a:prstGeom>
          <a:solidFill>
            <a:schemeClr val="accent1">
              <a:alpha val="10000"/>
            </a:schemeClr>
          </a:solidFill>
          <a:ln/>
        </p:spPr>
      </p:sp>
      <p:sp>
        <p:nvSpPr>
          <p:cNvPr id="20" name="Icon circle 706"/>
          <p:cNvSpPr/>
          <p:nvPr/>
        </p:nvSpPr>
        <p:spPr>
          <a:xfrm>
            <a:off x="731520" y="4192524"/>
            <a:ext cx="475488" cy="475488"/>
          </a:xfrm>
          <a:prstGeom prst="ellipse">
            <a:avLst/>
          </a:prstGeom>
          <a:solidFill>
            <a:schemeClr val="accent1"/>
          </a:solidFill>
          <a:ln/>
        </p:spPr>
      </p:sp>
      <p:pic>
        <p:nvPicPr>
          <p:cNvPr id="21" name="Icon FaBookOpen 707"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2" name="Card title 708"/>
          <p:cNvSpPr txBox="1"/>
          <p:nvPr/>
        </p:nvSpPr>
        <p:spPr>
          <a:xfrm>
            <a:off x="1335024"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Ideas</a:t>
            </a:r>
            <a:endParaRPr lang="en-US" sz="1600" dirty="0"/>
          </a:p>
        </p:txBody>
      </p:sp>
      <p:sp>
        <p:nvSpPr>
          <p:cNvPr id="23" name="Text 709"/>
          <p:cNvSpPr txBox="1"/>
          <p:nvPr/>
        </p:nvSpPr>
        <p:spPr>
          <a:xfrm>
            <a:off x="731520"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Manifest Destiny, Social Darwinism and missionary zeal — but also a strong anti-imperialist tradition.</a:t>
            </a:r>
            <a:endParaRPr lang="en-US" sz="2000" dirty="0"/>
          </a:p>
        </p:txBody>
      </p:sp>
      <p:sp>
        <p:nvSpPr>
          <p:cNvPr id="24" name="Card 710"/>
          <p:cNvSpPr/>
          <p:nvPr/>
        </p:nvSpPr>
        <p:spPr>
          <a:xfrm>
            <a:off x="4338218" y="4009644"/>
            <a:ext cx="3515258" cy="2253996"/>
          </a:xfrm>
          <a:prstGeom prst="roundRect">
            <a:avLst>
              <a:gd name="adj" fmla="val 4057"/>
            </a:avLst>
          </a:prstGeom>
          <a:solidFill>
            <a:schemeClr val="accent1">
              <a:alpha val="10000"/>
            </a:schemeClr>
          </a:solidFill>
          <a:ln/>
        </p:spPr>
      </p:sp>
      <p:sp>
        <p:nvSpPr>
          <p:cNvPr id="25" name="Icon circle 711"/>
          <p:cNvSpPr/>
          <p:nvPr/>
        </p:nvSpPr>
        <p:spPr>
          <a:xfrm>
            <a:off x="4521098" y="4192524"/>
            <a:ext cx="475488" cy="475488"/>
          </a:xfrm>
          <a:prstGeom prst="ellipse">
            <a:avLst/>
          </a:prstGeom>
          <a:solidFill>
            <a:schemeClr val="accent1"/>
          </a:solidFill>
          <a:ln/>
        </p:spPr>
      </p:sp>
      <p:pic>
        <p:nvPicPr>
          <p:cNvPr id="26" name="Icon FaGlobeAmericas 712"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27" name="Card title 713"/>
          <p:cNvSpPr txBox="1"/>
          <p:nvPr/>
        </p:nvSpPr>
        <p:spPr>
          <a:xfrm>
            <a:off x="5124602"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Monroe Doctrine (1823)</a:t>
            </a:r>
            <a:endParaRPr lang="en-US" sz="1600" dirty="0"/>
          </a:p>
        </p:txBody>
      </p:sp>
      <p:sp>
        <p:nvSpPr>
          <p:cNvPr id="28" name="Text 714"/>
          <p:cNvSpPr txBox="1"/>
          <p:nvPr/>
        </p:nvSpPr>
        <p:spPr>
          <a:xfrm>
            <a:off x="4521098"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Europe must keep out of the Americas — the basis for US dominance of the hemisphere.</a:t>
            </a:r>
            <a:endParaRPr lang="en-US" sz="2000" dirty="0"/>
          </a:p>
        </p:txBody>
      </p:sp>
      <p:sp>
        <p:nvSpPr>
          <p:cNvPr id="29" name="Card 715"/>
          <p:cNvSpPr/>
          <p:nvPr/>
        </p:nvSpPr>
        <p:spPr>
          <a:xfrm>
            <a:off x="8127797" y="4009644"/>
            <a:ext cx="3515258" cy="2253996"/>
          </a:xfrm>
          <a:prstGeom prst="roundRect">
            <a:avLst>
              <a:gd name="adj" fmla="val 4057"/>
            </a:avLst>
          </a:prstGeom>
          <a:solidFill>
            <a:schemeClr val="accent1">
              <a:alpha val="10000"/>
            </a:schemeClr>
          </a:solidFill>
          <a:ln/>
        </p:spPr>
      </p:sp>
      <p:sp>
        <p:nvSpPr>
          <p:cNvPr id="30" name="Icon circle 716"/>
          <p:cNvSpPr/>
          <p:nvPr/>
        </p:nvSpPr>
        <p:spPr>
          <a:xfrm>
            <a:off x="8310677" y="4192524"/>
            <a:ext cx="475488" cy="475488"/>
          </a:xfrm>
          <a:prstGeom prst="ellipse">
            <a:avLst/>
          </a:prstGeom>
          <a:solidFill>
            <a:schemeClr val="accent1"/>
          </a:solidFill>
          <a:ln/>
        </p:spPr>
      </p:sp>
      <p:pic>
        <p:nvPicPr>
          <p:cNvPr id="31" name="Icon FaShieldAlt 717"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2" name="Card title 718"/>
          <p:cNvSpPr txBox="1"/>
          <p:nvPr/>
        </p:nvSpPr>
        <p:spPr>
          <a:xfrm>
            <a:off x="8914181"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Isolationism</a:t>
            </a:r>
            <a:endParaRPr lang="en-US" sz="1600" dirty="0"/>
          </a:p>
        </p:txBody>
      </p:sp>
      <p:sp>
        <p:nvSpPr>
          <p:cNvPr id="33" name="Text 719"/>
          <p:cNvSpPr txBox="1"/>
          <p:nvPr/>
        </p:nvSpPr>
        <p:spPr>
          <a:xfrm>
            <a:off x="8310677"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Meant avoiding European alliances — not avoiding expansion in the Americas and Pacific.</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720"/>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KQ4 · USA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Spanish–American War, 1898</a:t>
            </a:r>
            <a:endParaRPr lang="en-US" sz="3400" dirty="0"/>
          </a:p>
        </p:txBody>
      </p:sp>
      <p:sp>
        <p:nvSpPr>
          <p:cNvPr id="4" name="Step 721"/>
          <p:cNvSpPr/>
          <p:nvPr/>
        </p:nvSpPr>
        <p:spPr>
          <a:xfrm>
            <a:off x="548640" y="1481328"/>
            <a:ext cx="2485568" cy="3794760"/>
          </a:xfrm>
          <a:prstGeom prst="roundRect">
            <a:avLst>
              <a:gd name="adj" fmla="val 3679"/>
            </a:avLst>
          </a:prstGeom>
          <a:solidFill>
            <a:schemeClr val="accent1">
              <a:alpha val="10000"/>
            </a:schemeClr>
          </a:solidFill>
          <a:ln/>
        </p:spPr>
      </p:sp>
      <p:sp>
        <p:nvSpPr>
          <p:cNvPr id="5" name="Step number 722"/>
          <p:cNvSpPr/>
          <p:nvPr/>
        </p:nvSpPr>
        <p:spPr>
          <a:xfrm>
            <a:off x="713232" y="1645920"/>
            <a:ext cx="420624" cy="420624"/>
          </a:xfrm>
          <a:prstGeom prst="ellipse">
            <a:avLst/>
          </a:prstGeom>
          <a:solidFill>
            <a:schemeClr val="accent1"/>
          </a:solidFill>
          <a:ln/>
        </p:spPr>
      </p:sp>
      <p:sp>
        <p:nvSpPr>
          <p:cNvPr id="6" name="Text 723"/>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724"/>
          <p:cNvSpPr txBox="1"/>
          <p:nvPr/>
        </p:nvSpPr>
        <p:spPr>
          <a:xfrm>
            <a:off x="1243584"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Causes</a:t>
            </a:r>
            <a:endParaRPr lang="en-US" sz="1600" dirty="0"/>
          </a:p>
        </p:txBody>
      </p:sp>
      <p:sp>
        <p:nvSpPr>
          <p:cNvPr id="8" name="Text 725"/>
          <p:cNvSpPr txBox="1"/>
          <p:nvPr/>
        </p:nvSpPr>
        <p:spPr>
          <a:xfrm>
            <a:off x="713232"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700" dirty="0">
                <a:solidFill>
                  <a:schemeClr val="tx1"/>
                </a:solidFill>
              </a:rPr>
              <a:t>Cuban revolt (1895) and brutal Spanish camps</a:t>
            </a:r>
            <a:endParaRPr lang="en-US" sz="1700" dirty="0"/>
          </a:p>
          <a:p>
            <a:pPr algn="l" marL="190500" indent="-190500">
              <a:spcAft>
                <a:spcPts val="400"/>
              </a:spcAft>
              <a:buSzPct val="100000"/>
              <a:buChar char="•"/>
            </a:pPr>
            <a:r>
              <a:rPr lang="en-US" sz="1700" dirty="0">
                <a:solidFill>
                  <a:schemeClr val="tx1"/>
                </a:solidFill>
              </a:rPr>
              <a:t>'Yellow press' (Hearst, Pulitzer)</a:t>
            </a:r>
            <a:endParaRPr lang="en-US" sz="1700" dirty="0"/>
          </a:p>
          <a:p>
            <a:pPr algn="l" marL="190500" indent="-190500">
              <a:spcAft>
                <a:spcPts val="400"/>
              </a:spcAft>
              <a:buSzPct val="100000"/>
              <a:buChar char="•"/>
            </a:pPr>
            <a:r>
              <a:rPr lang="en-US" sz="1700" dirty="0">
                <a:solidFill>
                  <a:schemeClr val="tx1"/>
                </a:solidFill>
              </a:rPr>
              <a:t>USS Maine explodes in Havana (Feb 1898): 'Remember the Maine!'</a:t>
            </a:r>
            <a:endParaRPr lang="en-US" sz="1700" dirty="0"/>
          </a:p>
          <a:p>
            <a:pPr algn="l" marL="190500" indent="-190500">
              <a:spcAft>
                <a:spcPts val="400"/>
              </a:spcAft>
              <a:buSzPct val="100000"/>
              <a:buChar char="•"/>
            </a:pPr>
            <a:r>
              <a:rPr lang="en-US" sz="1700" dirty="0">
                <a:solidFill>
                  <a:schemeClr val="tx1"/>
                </a:solidFill>
              </a:rPr>
              <a:t>US sugar investments</a:t>
            </a:r>
            <a:endParaRPr lang="en-US" sz="1700" dirty="0"/>
          </a:p>
        </p:txBody>
      </p:sp>
      <p:sp>
        <p:nvSpPr>
          <p:cNvPr id="9" name="Arrow 726"/>
          <p:cNvSpPr/>
          <p:nvPr/>
        </p:nvSpPr>
        <p:spPr>
          <a:xfrm>
            <a:off x="3098216" y="3232404"/>
            <a:ext cx="256032" cy="292608"/>
          </a:xfrm>
          <a:prstGeom prst="chevron">
            <a:avLst/>
          </a:prstGeom>
          <a:solidFill>
            <a:schemeClr val="accent1"/>
          </a:solidFill>
          <a:ln/>
        </p:spPr>
      </p:sp>
      <p:sp>
        <p:nvSpPr>
          <p:cNvPr id="10" name="Step 727"/>
          <p:cNvSpPr/>
          <p:nvPr/>
        </p:nvSpPr>
        <p:spPr>
          <a:xfrm>
            <a:off x="3418256" y="1481328"/>
            <a:ext cx="2485568" cy="3794760"/>
          </a:xfrm>
          <a:prstGeom prst="roundRect">
            <a:avLst>
              <a:gd name="adj" fmla="val 3679"/>
            </a:avLst>
          </a:prstGeom>
          <a:solidFill>
            <a:schemeClr val="accent1">
              <a:alpha val="10000"/>
            </a:schemeClr>
          </a:solidFill>
          <a:ln/>
        </p:spPr>
      </p:sp>
      <p:sp>
        <p:nvSpPr>
          <p:cNvPr id="11" name="Step number 728"/>
          <p:cNvSpPr/>
          <p:nvPr/>
        </p:nvSpPr>
        <p:spPr>
          <a:xfrm>
            <a:off x="3582848" y="1645920"/>
            <a:ext cx="420624" cy="420624"/>
          </a:xfrm>
          <a:prstGeom prst="ellipse">
            <a:avLst/>
          </a:prstGeom>
          <a:solidFill>
            <a:schemeClr val="accent1"/>
          </a:solidFill>
          <a:ln/>
        </p:spPr>
      </p:sp>
      <p:sp>
        <p:nvSpPr>
          <p:cNvPr id="12" name="Text 729"/>
          <p:cNvSpPr txBox="1"/>
          <p:nvPr/>
        </p:nvSpPr>
        <p:spPr>
          <a:xfrm>
            <a:off x="3582848"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730"/>
          <p:cNvSpPr txBox="1"/>
          <p:nvPr/>
        </p:nvSpPr>
        <p:spPr>
          <a:xfrm>
            <a:off x="4113200"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War (Apr–Aug)</a:t>
            </a:r>
            <a:endParaRPr lang="en-US" sz="1600" dirty="0"/>
          </a:p>
        </p:txBody>
      </p:sp>
      <p:sp>
        <p:nvSpPr>
          <p:cNvPr id="14" name="Text 731"/>
          <p:cNvSpPr txBox="1"/>
          <p:nvPr/>
        </p:nvSpPr>
        <p:spPr>
          <a:xfrm>
            <a:off x="3582848"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700" dirty="0">
                <a:solidFill>
                  <a:schemeClr val="tx1"/>
                </a:solidFill>
              </a:rPr>
              <a:t>Dewey destroys Spain's fleet at Manila Bay (May)</a:t>
            </a:r>
            <a:endParaRPr lang="en-US" sz="1700" dirty="0"/>
          </a:p>
          <a:p>
            <a:pPr algn="l" marL="190500" indent="-190500">
              <a:spcAft>
                <a:spcPts val="400"/>
              </a:spcAft>
              <a:buSzPct val="100000"/>
              <a:buChar char="•"/>
            </a:pPr>
            <a:r>
              <a:rPr lang="en-US" sz="1700" dirty="0">
                <a:solidFill>
                  <a:schemeClr val="tx1"/>
                </a:solidFill>
              </a:rPr>
              <a:t>Roosevelt's Rough Riders at San Juan Hill (July)</a:t>
            </a:r>
            <a:endParaRPr lang="en-US" sz="1700" dirty="0"/>
          </a:p>
          <a:p>
            <a:pPr algn="l" marL="190500" indent="-190500">
              <a:spcAft>
                <a:spcPts val="400"/>
              </a:spcAft>
              <a:buSzPct val="100000"/>
              <a:buChar char="•"/>
            </a:pPr>
            <a:r>
              <a:rPr lang="en-US" sz="1700" dirty="0">
                <a:solidFill>
                  <a:schemeClr val="tx1"/>
                </a:solidFill>
              </a:rPr>
              <a:t>'A splendid little war' (John Hay)</a:t>
            </a:r>
            <a:endParaRPr lang="en-US" sz="1700" dirty="0"/>
          </a:p>
        </p:txBody>
      </p:sp>
      <p:sp>
        <p:nvSpPr>
          <p:cNvPr id="15" name="Arrow 732"/>
          <p:cNvSpPr/>
          <p:nvPr/>
        </p:nvSpPr>
        <p:spPr>
          <a:xfrm>
            <a:off x="5967832" y="3232404"/>
            <a:ext cx="256032" cy="292608"/>
          </a:xfrm>
          <a:prstGeom prst="chevron">
            <a:avLst/>
          </a:prstGeom>
          <a:solidFill>
            <a:schemeClr val="accent1"/>
          </a:solidFill>
          <a:ln/>
        </p:spPr>
      </p:sp>
      <p:sp>
        <p:nvSpPr>
          <p:cNvPr id="16" name="Step 733"/>
          <p:cNvSpPr/>
          <p:nvPr/>
        </p:nvSpPr>
        <p:spPr>
          <a:xfrm>
            <a:off x="6287872" y="1481328"/>
            <a:ext cx="2485568" cy="3794760"/>
          </a:xfrm>
          <a:prstGeom prst="roundRect">
            <a:avLst>
              <a:gd name="adj" fmla="val 3679"/>
            </a:avLst>
          </a:prstGeom>
          <a:solidFill>
            <a:schemeClr val="accent1">
              <a:alpha val="10000"/>
            </a:schemeClr>
          </a:solidFill>
          <a:ln/>
        </p:spPr>
      </p:sp>
      <p:sp>
        <p:nvSpPr>
          <p:cNvPr id="17" name="Step number 734"/>
          <p:cNvSpPr/>
          <p:nvPr/>
        </p:nvSpPr>
        <p:spPr>
          <a:xfrm>
            <a:off x="6452464" y="1645920"/>
            <a:ext cx="420624" cy="420624"/>
          </a:xfrm>
          <a:prstGeom prst="ellipse">
            <a:avLst/>
          </a:prstGeom>
          <a:solidFill>
            <a:schemeClr val="accent1"/>
          </a:solidFill>
          <a:ln/>
        </p:spPr>
      </p:sp>
      <p:sp>
        <p:nvSpPr>
          <p:cNvPr id="18" name="Text 735"/>
          <p:cNvSpPr txBox="1"/>
          <p:nvPr/>
        </p:nvSpPr>
        <p:spPr>
          <a:xfrm>
            <a:off x="6452464"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736"/>
          <p:cNvSpPr txBox="1"/>
          <p:nvPr/>
        </p:nvSpPr>
        <p:spPr>
          <a:xfrm>
            <a:off x="6982816" y="1645920"/>
            <a:ext cx="1662608" cy="496092"/>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Treaty of Paris (Dec 1898)</a:t>
            </a:r>
            <a:endParaRPr lang="en-US" sz="1600" dirty="0"/>
          </a:p>
        </p:txBody>
      </p:sp>
      <p:sp>
        <p:nvSpPr>
          <p:cNvPr id="20" name="Text 737"/>
          <p:cNvSpPr txBox="1"/>
          <p:nvPr/>
        </p:nvSpPr>
        <p:spPr>
          <a:xfrm>
            <a:off x="6452464" y="2251740"/>
            <a:ext cx="2156384" cy="2887188"/>
          </a:xfrm>
          <a:prstGeom prst="rect">
            <a:avLst/>
          </a:prstGeom>
          <a:noFill/>
          <a:ln/>
        </p:spPr>
        <p:txBody>
          <a:bodyPr wrap="square" lIns="0" tIns="0" rIns="0" bIns="0" rtlCol="0" anchor="t"/>
          <a:lstStyle/>
          <a:p>
            <a:pPr algn="l" marL="190500" indent="-190500">
              <a:spcAft>
                <a:spcPts val="400"/>
              </a:spcAft>
              <a:buSzPct val="100000"/>
              <a:buChar char="•"/>
            </a:pPr>
            <a:r>
              <a:rPr lang="en-US" sz="1700" dirty="0">
                <a:solidFill>
                  <a:schemeClr val="tx1"/>
                </a:solidFill>
              </a:rPr>
              <a:t>USA gains Puerto Rico, Guam and the Philippines ($20 million)</a:t>
            </a:r>
            <a:endParaRPr lang="en-US" sz="1700" dirty="0"/>
          </a:p>
          <a:p>
            <a:pPr algn="l" marL="190500" indent="-190500">
              <a:spcAft>
                <a:spcPts val="400"/>
              </a:spcAft>
              <a:buSzPct val="100000"/>
              <a:buChar char="•"/>
            </a:pPr>
            <a:r>
              <a:rPr lang="en-US" sz="1700" dirty="0">
                <a:solidFill>
                  <a:schemeClr val="tx1"/>
                </a:solidFill>
              </a:rPr>
              <a:t>Cuba independent — but see the Platt Amendment</a:t>
            </a:r>
            <a:endParaRPr lang="en-US" sz="1700" dirty="0"/>
          </a:p>
        </p:txBody>
      </p:sp>
      <p:sp>
        <p:nvSpPr>
          <p:cNvPr id="21" name="Arrow 738"/>
          <p:cNvSpPr/>
          <p:nvPr/>
        </p:nvSpPr>
        <p:spPr>
          <a:xfrm>
            <a:off x="8837447" y="3232404"/>
            <a:ext cx="256032" cy="292608"/>
          </a:xfrm>
          <a:prstGeom prst="chevron">
            <a:avLst/>
          </a:prstGeom>
          <a:solidFill>
            <a:schemeClr val="accent1"/>
          </a:solidFill>
          <a:ln/>
        </p:spPr>
      </p:sp>
      <p:sp>
        <p:nvSpPr>
          <p:cNvPr id="22" name="Step 739"/>
          <p:cNvSpPr/>
          <p:nvPr/>
        </p:nvSpPr>
        <p:spPr>
          <a:xfrm>
            <a:off x="9157487" y="1481328"/>
            <a:ext cx="2485568" cy="3794760"/>
          </a:xfrm>
          <a:prstGeom prst="roundRect">
            <a:avLst>
              <a:gd name="adj" fmla="val 3679"/>
            </a:avLst>
          </a:prstGeom>
          <a:solidFill>
            <a:schemeClr val="accent1">
              <a:alpha val="10000"/>
            </a:schemeClr>
          </a:solidFill>
          <a:ln/>
        </p:spPr>
      </p:sp>
      <p:sp>
        <p:nvSpPr>
          <p:cNvPr id="23" name="Step number 740"/>
          <p:cNvSpPr/>
          <p:nvPr/>
        </p:nvSpPr>
        <p:spPr>
          <a:xfrm>
            <a:off x="9322079" y="1645920"/>
            <a:ext cx="420624" cy="420624"/>
          </a:xfrm>
          <a:prstGeom prst="ellipse">
            <a:avLst/>
          </a:prstGeom>
          <a:solidFill>
            <a:schemeClr val="accent1"/>
          </a:solidFill>
          <a:ln/>
        </p:spPr>
      </p:sp>
      <p:sp>
        <p:nvSpPr>
          <p:cNvPr id="24" name="Text 741"/>
          <p:cNvSpPr txBox="1"/>
          <p:nvPr/>
        </p:nvSpPr>
        <p:spPr>
          <a:xfrm>
            <a:off x="9322079"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4</a:t>
            </a:r>
            <a:endParaRPr lang="en-US" sz="1600" dirty="0"/>
          </a:p>
        </p:txBody>
      </p:sp>
      <p:sp>
        <p:nvSpPr>
          <p:cNvPr id="25" name="Text 742"/>
          <p:cNvSpPr txBox="1"/>
          <p:nvPr/>
        </p:nvSpPr>
        <p:spPr>
          <a:xfrm>
            <a:off x="9852431" y="1645920"/>
            <a:ext cx="1662608" cy="496092"/>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Platt Amendment (1901)</a:t>
            </a:r>
            <a:endParaRPr lang="en-US" sz="1600" dirty="0"/>
          </a:p>
        </p:txBody>
      </p:sp>
      <p:sp>
        <p:nvSpPr>
          <p:cNvPr id="26" name="Text 743"/>
          <p:cNvSpPr txBox="1"/>
          <p:nvPr/>
        </p:nvSpPr>
        <p:spPr>
          <a:xfrm>
            <a:off x="9322079" y="2251740"/>
            <a:ext cx="2156384" cy="2887188"/>
          </a:xfrm>
          <a:prstGeom prst="rect">
            <a:avLst/>
          </a:prstGeom>
          <a:noFill/>
          <a:ln/>
        </p:spPr>
        <p:txBody>
          <a:bodyPr wrap="square" lIns="0" tIns="0" rIns="0" bIns="0" rtlCol="0" anchor="t"/>
          <a:lstStyle/>
          <a:p>
            <a:pPr algn="l" marL="190500" indent="-190500">
              <a:spcAft>
                <a:spcPts val="400"/>
              </a:spcAft>
              <a:buSzPct val="100000"/>
              <a:buChar char="•"/>
            </a:pPr>
            <a:r>
              <a:rPr lang="en-US" sz="1700" dirty="0">
                <a:solidFill>
                  <a:schemeClr val="tx1"/>
                </a:solidFill>
              </a:rPr>
              <a:t>USA may intervene in Cuba</a:t>
            </a:r>
            <a:endParaRPr lang="en-US" sz="1700" dirty="0"/>
          </a:p>
          <a:p>
            <a:pPr algn="l" marL="190500" indent="-190500">
              <a:spcAft>
                <a:spcPts val="400"/>
              </a:spcAft>
              <a:buSzPct val="100000"/>
              <a:buChar char="•"/>
            </a:pPr>
            <a:r>
              <a:rPr lang="en-US" sz="1700" dirty="0">
                <a:solidFill>
                  <a:schemeClr val="tx1"/>
                </a:solidFill>
              </a:rPr>
              <a:t>Naval base at Guantánamo</a:t>
            </a:r>
            <a:endParaRPr lang="en-US" sz="1700" dirty="0"/>
          </a:p>
          <a:p>
            <a:pPr algn="l" marL="190500" indent="-190500">
              <a:spcAft>
                <a:spcPts val="400"/>
              </a:spcAft>
              <a:buSzPct val="100000"/>
              <a:buChar char="•"/>
            </a:pPr>
            <a:r>
              <a:rPr lang="en-US" sz="1700" dirty="0">
                <a:solidFill>
                  <a:schemeClr val="tx1"/>
                </a:solidFill>
              </a:rPr>
              <a:t>Hawaii also annexed (July 1898)</a:t>
            </a:r>
            <a:endParaRPr lang="en-US" sz="1700" dirty="0"/>
          </a:p>
        </p:txBody>
      </p:sp>
      <p:sp>
        <p:nvSpPr>
          <p:cNvPr id="27" name="Callout 744"/>
          <p:cNvSpPr/>
          <p:nvPr/>
        </p:nvSpPr>
        <p:spPr>
          <a:xfrm>
            <a:off x="548640" y="5550408"/>
            <a:ext cx="11094415" cy="713232"/>
          </a:xfrm>
          <a:prstGeom prst="roundRect">
            <a:avLst>
              <a:gd name="adj" fmla="val 12821"/>
            </a:avLst>
          </a:prstGeom>
          <a:solidFill>
            <a:schemeClr val="accent4">
              <a:alpha val="20000"/>
            </a:schemeClr>
          </a:solidFill>
          <a:ln/>
        </p:spPr>
      </p:sp>
      <p:sp>
        <p:nvSpPr>
          <p:cNvPr id="28" name="Callout label 745"/>
          <p:cNvSpPr/>
          <p:nvPr/>
        </p:nvSpPr>
        <p:spPr>
          <a:xfrm>
            <a:off x="731520" y="5751576"/>
            <a:ext cx="1295763" cy="310896"/>
          </a:xfrm>
          <a:prstGeom prst="roundRect">
            <a:avLst>
              <a:gd name="adj" fmla="val 50000"/>
            </a:avLst>
          </a:prstGeom>
          <a:solidFill>
            <a:schemeClr val="accent4"/>
          </a:solidFill>
          <a:ln/>
        </p:spPr>
      </p:sp>
      <p:sp>
        <p:nvSpPr>
          <p:cNvPr id="29" name="Text 746"/>
          <p:cNvSpPr txBox="1"/>
          <p:nvPr/>
        </p:nvSpPr>
        <p:spPr>
          <a:xfrm>
            <a:off x="731520" y="5751576"/>
            <a:ext cx="129576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SIGNIFICANCE</a:t>
            </a:r>
            <a:endParaRPr lang="en-US" sz="1200" dirty="0"/>
          </a:p>
        </p:txBody>
      </p:sp>
      <p:sp>
        <p:nvSpPr>
          <p:cNvPr id="30" name="Text 747"/>
          <p:cNvSpPr txBox="1"/>
          <p:nvPr/>
        </p:nvSpPr>
        <p:spPr>
          <a:xfrm>
            <a:off x="2210163" y="5623560"/>
            <a:ext cx="9250013"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In a few months the USA became a colonial power in the Caribbean and the Pacific — and a stepping stone to Asian trade.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74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KQ4 · USA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An American empire? The Philippines</a:t>
            </a:r>
            <a:endParaRPr lang="en-US" sz="3400" dirty="0"/>
          </a:p>
        </p:txBody>
      </p:sp>
      <p:sp>
        <p:nvSpPr>
          <p:cNvPr id="4" name="Card 749"/>
          <p:cNvSpPr/>
          <p:nvPr/>
        </p:nvSpPr>
        <p:spPr>
          <a:xfrm>
            <a:off x="548640" y="1481328"/>
            <a:ext cx="5410048" cy="3794760"/>
          </a:xfrm>
          <a:prstGeom prst="roundRect">
            <a:avLst>
              <a:gd name="adj" fmla="val 2410"/>
            </a:avLst>
          </a:prstGeom>
          <a:solidFill>
            <a:schemeClr val="accent1">
              <a:alpha val="10000"/>
            </a:schemeClr>
          </a:solidFill>
          <a:ln/>
        </p:spPr>
      </p:sp>
      <p:sp>
        <p:nvSpPr>
          <p:cNvPr id="5" name="Icon circle 750"/>
          <p:cNvSpPr/>
          <p:nvPr/>
        </p:nvSpPr>
        <p:spPr>
          <a:xfrm>
            <a:off x="731520" y="1664208"/>
            <a:ext cx="475488" cy="475488"/>
          </a:xfrm>
          <a:prstGeom prst="ellipse">
            <a:avLst/>
          </a:prstGeom>
          <a:solidFill>
            <a:schemeClr val="accent1"/>
          </a:solidFill>
          <a:ln/>
        </p:spPr>
      </p:sp>
      <p:pic>
        <p:nvPicPr>
          <p:cNvPr id="6" name="Icon FaCheck 751"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752"/>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Arguments for annexation</a:t>
            </a:r>
            <a:endParaRPr lang="en-US" sz="1700" dirty="0"/>
          </a:p>
        </p:txBody>
      </p:sp>
      <p:sp>
        <p:nvSpPr>
          <p:cNvPr id="8" name="Text 753"/>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Gateway to the China market</a:t>
            </a:r>
            <a:endParaRPr lang="en-US" sz="2000" dirty="0"/>
          </a:p>
          <a:p>
            <a:pPr algn="l" marL="190500" indent="-190500">
              <a:spcAft>
                <a:spcPts val="800"/>
              </a:spcAft>
              <a:buSzPct val="100000"/>
              <a:buChar char="•"/>
            </a:pPr>
            <a:r>
              <a:rPr lang="en-US" sz="2000" dirty="0">
                <a:solidFill>
                  <a:schemeClr val="tx1"/>
                </a:solidFill>
              </a:rPr>
              <a:t>Naval bases and coaling stations</a:t>
            </a:r>
            <a:endParaRPr lang="en-US" sz="2000" dirty="0"/>
          </a:p>
          <a:p>
            <a:pPr algn="l" marL="190500" indent="-190500">
              <a:spcAft>
                <a:spcPts val="800"/>
              </a:spcAft>
              <a:buSzPct val="100000"/>
              <a:buChar char="•"/>
            </a:pPr>
            <a:r>
              <a:rPr lang="en-US" sz="2000" dirty="0">
                <a:solidFill>
                  <a:schemeClr val="tx1"/>
                </a:solidFill>
              </a:rPr>
              <a:t>A duty to 'civilise and Christianise' (McKinley)</a:t>
            </a:r>
            <a:endParaRPr lang="en-US" sz="2000" dirty="0"/>
          </a:p>
          <a:p>
            <a:pPr algn="l" marL="190500" indent="-190500">
              <a:spcAft>
                <a:spcPts val="800"/>
              </a:spcAft>
              <a:buSzPct val="100000"/>
              <a:buChar char="•"/>
            </a:pPr>
            <a:r>
              <a:rPr lang="en-US" sz="2000" dirty="0">
                <a:solidFill>
                  <a:schemeClr val="tx1"/>
                </a:solidFill>
              </a:rPr>
              <a:t>Keep rivals such as Germany and Japan out</a:t>
            </a:r>
            <a:endParaRPr lang="en-US" sz="2000" dirty="0"/>
          </a:p>
        </p:txBody>
      </p:sp>
      <p:sp>
        <p:nvSpPr>
          <p:cNvPr id="9" name="Card 754"/>
          <p:cNvSpPr/>
          <p:nvPr/>
        </p:nvSpPr>
        <p:spPr>
          <a:xfrm>
            <a:off x="6233008" y="1481328"/>
            <a:ext cx="5410048" cy="3794760"/>
          </a:xfrm>
          <a:prstGeom prst="roundRect">
            <a:avLst>
              <a:gd name="adj" fmla="val 2410"/>
            </a:avLst>
          </a:prstGeom>
          <a:solidFill>
            <a:schemeClr val="bg2"/>
          </a:solidFill>
          <a:ln/>
        </p:spPr>
      </p:sp>
      <p:sp>
        <p:nvSpPr>
          <p:cNvPr id="10" name="Icon circle 755"/>
          <p:cNvSpPr/>
          <p:nvPr/>
        </p:nvSpPr>
        <p:spPr>
          <a:xfrm>
            <a:off x="6415888" y="1664208"/>
            <a:ext cx="475488" cy="475488"/>
          </a:xfrm>
          <a:prstGeom prst="ellipse">
            <a:avLst/>
          </a:prstGeom>
          <a:solidFill>
            <a:schemeClr val="accent1"/>
          </a:solidFill>
          <a:ln/>
        </p:spPr>
      </p:sp>
      <p:pic>
        <p:nvPicPr>
          <p:cNvPr id="11" name="Icon FaBan 756"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757"/>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Anti-Imperialist League (1898)</a:t>
            </a:r>
            <a:endParaRPr lang="en-US" sz="1700" dirty="0"/>
          </a:p>
        </p:txBody>
      </p:sp>
      <p:sp>
        <p:nvSpPr>
          <p:cNvPr id="13" name="Text 758"/>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Mark Twain, Andrew Carnegie and others</a:t>
            </a:r>
            <a:endParaRPr lang="en-US" sz="2000" dirty="0"/>
          </a:p>
          <a:p>
            <a:pPr algn="l" marL="190500" indent="-190500">
              <a:spcAft>
                <a:spcPts val="800"/>
              </a:spcAft>
              <a:buSzPct val="100000"/>
              <a:buChar char="•"/>
            </a:pPr>
            <a:r>
              <a:rPr lang="en-US" sz="2000" dirty="0">
                <a:solidFill>
                  <a:schemeClr val="tx1"/>
                </a:solidFill>
              </a:rPr>
              <a:t>Colonies betrayed US ideals of self-government</a:t>
            </a:r>
            <a:endParaRPr lang="en-US" sz="2000" dirty="0"/>
          </a:p>
          <a:p>
            <a:pPr algn="l" marL="190500" indent="-190500">
              <a:spcAft>
                <a:spcPts val="800"/>
              </a:spcAft>
              <a:buSzPct val="100000"/>
              <a:buChar char="•"/>
            </a:pPr>
            <a:r>
              <a:rPr lang="en-US" sz="2000" dirty="0">
                <a:solidFill>
                  <a:schemeClr val="tx1"/>
                </a:solidFill>
              </a:rPr>
              <a:t>Costly, and against the Constitution's spirit</a:t>
            </a:r>
            <a:endParaRPr lang="en-US" sz="2000" dirty="0"/>
          </a:p>
          <a:p>
            <a:pPr algn="l" marL="190500" indent="-190500">
              <a:spcAft>
                <a:spcPts val="800"/>
              </a:spcAft>
              <a:buSzPct val="100000"/>
              <a:buChar char="•"/>
            </a:pPr>
            <a:r>
              <a:rPr lang="en-US" sz="2000" dirty="0">
                <a:solidFill>
                  <a:schemeClr val="tx1"/>
                </a:solidFill>
              </a:rPr>
              <a:t>Racist fears about absorbing new peoples</a:t>
            </a:r>
            <a:endParaRPr lang="en-US" sz="2000" dirty="0"/>
          </a:p>
        </p:txBody>
      </p:sp>
      <p:sp>
        <p:nvSpPr>
          <p:cNvPr id="14" name="Callout 759"/>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760"/>
          <p:cNvSpPr/>
          <p:nvPr/>
        </p:nvSpPr>
        <p:spPr>
          <a:xfrm>
            <a:off x="731520" y="5751576"/>
            <a:ext cx="1020410" cy="310896"/>
          </a:xfrm>
          <a:prstGeom prst="roundRect">
            <a:avLst>
              <a:gd name="adj" fmla="val 50000"/>
            </a:avLst>
          </a:prstGeom>
          <a:solidFill>
            <a:schemeClr val="accent4"/>
          </a:solidFill>
          <a:ln/>
        </p:spPr>
      </p:sp>
      <p:sp>
        <p:nvSpPr>
          <p:cNvPr id="16" name="Text 761"/>
          <p:cNvSpPr txBox="1"/>
          <p:nvPr/>
        </p:nvSpPr>
        <p:spPr>
          <a:xfrm>
            <a:off x="731520" y="5751576"/>
            <a:ext cx="1020410"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OUTCOME</a:t>
            </a:r>
            <a:endParaRPr lang="en-US" sz="1200" dirty="0"/>
          </a:p>
        </p:txBody>
      </p:sp>
      <p:sp>
        <p:nvSpPr>
          <p:cNvPr id="17" name="Text 762"/>
          <p:cNvSpPr txBox="1"/>
          <p:nvPr/>
        </p:nvSpPr>
        <p:spPr>
          <a:xfrm>
            <a:off x="1934810" y="5623560"/>
            <a:ext cx="9525366"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Philippine–American War (1899–1902): c.4,200 US soldiers and c.20,000 Filipino fighters killed; at least 200,000 civilians died.</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76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KQ4 · USA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Open Door and the 'Big Stick'</a:t>
            </a:r>
            <a:endParaRPr lang="en-US" sz="3400" dirty="0"/>
          </a:p>
        </p:txBody>
      </p:sp>
      <p:sp>
        <p:nvSpPr>
          <p:cNvPr id="4" name="Card 764"/>
          <p:cNvSpPr/>
          <p:nvPr/>
        </p:nvSpPr>
        <p:spPr>
          <a:xfrm>
            <a:off x="548640" y="1481328"/>
            <a:ext cx="5410048" cy="1760220"/>
          </a:xfrm>
          <a:prstGeom prst="roundRect">
            <a:avLst>
              <a:gd name="adj" fmla="val 5195"/>
            </a:avLst>
          </a:prstGeom>
          <a:solidFill>
            <a:schemeClr val="accent1">
              <a:alpha val="10000"/>
            </a:schemeClr>
          </a:solidFill>
          <a:ln/>
        </p:spPr>
      </p:sp>
      <p:sp>
        <p:nvSpPr>
          <p:cNvPr id="5" name="Icon circle 765"/>
          <p:cNvSpPr/>
          <p:nvPr/>
        </p:nvSpPr>
        <p:spPr>
          <a:xfrm>
            <a:off x="731520" y="1664208"/>
            <a:ext cx="475488" cy="475488"/>
          </a:xfrm>
          <a:prstGeom prst="ellipse">
            <a:avLst/>
          </a:prstGeom>
          <a:solidFill>
            <a:schemeClr val="accent1"/>
          </a:solidFill>
          <a:ln/>
        </p:spPr>
      </p:sp>
      <p:pic>
        <p:nvPicPr>
          <p:cNvPr id="6" name="Icon FaGlobeAsia 766"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767"/>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Open Door Notes (John Hay)</a:t>
            </a:r>
            <a:endParaRPr lang="en-US" sz="1600" dirty="0"/>
          </a:p>
        </p:txBody>
      </p:sp>
      <p:sp>
        <p:nvSpPr>
          <p:cNvPr id="8" name="Text 768"/>
          <p:cNvSpPr txBox="1"/>
          <p:nvPr/>
        </p:nvSpPr>
        <p:spPr>
          <a:xfrm>
            <a:off x="731520" y="2249424"/>
            <a:ext cx="5044288" cy="809244"/>
          </a:xfrm>
          <a:prstGeom prst="rect">
            <a:avLst/>
          </a:prstGeom>
          <a:noFill/>
          <a:ln/>
        </p:spPr>
        <p:txBody>
          <a:bodyPr wrap="square" lIns="0" tIns="0" rIns="0" bIns="0" rtlCol="0" anchor="t"/>
          <a:lstStyle/>
          <a:p>
            <a:pPr algn="l" marL="190500" indent="-190500">
              <a:spcAft>
                <a:spcPts val="500"/>
              </a:spcAft>
              <a:buSzPct val="100000"/>
              <a:buChar char="•"/>
            </a:pPr>
            <a:r>
              <a:rPr lang="en-US" sz="1400" b="1" dirty="0">
                <a:solidFill>
                  <a:schemeClr val="tx1"/>
                </a:solidFill>
              </a:rPr>
              <a:t>1899:</a:t>
            </a:r>
            <a:r>
              <a:rPr lang="en-US" sz="1400" dirty="0">
                <a:solidFill>
                  <a:schemeClr val="tx1"/>
                </a:solidFill>
              </a:rPr>
              <a:t> equal trading rights for all in China's spheres</a:t>
            </a:r>
            <a:endParaRPr lang="en-US" sz="1400" dirty="0"/>
          </a:p>
          <a:p>
            <a:pPr algn="l" marL="190500" indent="-190500">
              <a:spcAft>
                <a:spcPts val="500"/>
              </a:spcAft>
              <a:buSzPct val="100000"/>
              <a:buChar char="•"/>
            </a:pPr>
            <a:r>
              <a:rPr lang="en-US" sz="1400" b="1" dirty="0">
                <a:solidFill>
                  <a:schemeClr val="tx1"/>
                </a:solidFill>
              </a:rPr>
              <a:t>1900:</a:t>
            </a:r>
            <a:r>
              <a:rPr lang="en-US" sz="1400" dirty="0">
                <a:solidFill>
                  <a:schemeClr val="tx1"/>
                </a:solidFill>
              </a:rPr>
              <a:t> preserve China's territorial integrity</a:t>
            </a:r>
            <a:endParaRPr lang="en-US" sz="1400" dirty="0"/>
          </a:p>
          <a:p>
            <a:pPr algn="l" marL="190500" indent="-190500">
              <a:spcAft>
                <a:spcPts val="500"/>
              </a:spcAft>
              <a:buSzPct val="100000"/>
              <a:buChar char="•"/>
            </a:pPr>
            <a:r>
              <a:rPr lang="en-US" sz="1400" dirty="0">
                <a:solidFill>
                  <a:schemeClr val="tx1"/>
                </a:solidFill>
              </a:rPr>
              <a:t>USA wanted trade, not colonies, in China</a:t>
            </a:r>
            <a:endParaRPr lang="en-US" sz="1400" dirty="0"/>
          </a:p>
        </p:txBody>
      </p:sp>
      <p:sp>
        <p:nvSpPr>
          <p:cNvPr id="9" name="Card 769"/>
          <p:cNvSpPr/>
          <p:nvPr/>
        </p:nvSpPr>
        <p:spPr>
          <a:xfrm>
            <a:off x="6233008" y="1481328"/>
            <a:ext cx="5410048" cy="1760220"/>
          </a:xfrm>
          <a:prstGeom prst="roundRect">
            <a:avLst>
              <a:gd name="adj" fmla="val 5195"/>
            </a:avLst>
          </a:prstGeom>
          <a:solidFill>
            <a:schemeClr val="accent1">
              <a:alpha val="10000"/>
            </a:schemeClr>
          </a:solidFill>
          <a:ln/>
        </p:spPr>
      </p:sp>
      <p:sp>
        <p:nvSpPr>
          <p:cNvPr id="10" name="Icon circle 770"/>
          <p:cNvSpPr/>
          <p:nvPr/>
        </p:nvSpPr>
        <p:spPr>
          <a:xfrm>
            <a:off x="6415888" y="1664208"/>
            <a:ext cx="475488" cy="475488"/>
          </a:xfrm>
          <a:prstGeom prst="ellipse">
            <a:avLst/>
          </a:prstGeom>
          <a:solidFill>
            <a:schemeClr val="accent1"/>
          </a:solidFill>
          <a:ln/>
        </p:spPr>
      </p:sp>
      <p:pic>
        <p:nvPicPr>
          <p:cNvPr id="11" name="Icon FaShip 771"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772"/>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Panama Canal</a:t>
            </a:r>
            <a:endParaRPr lang="en-US" sz="1600" dirty="0"/>
          </a:p>
        </p:txBody>
      </p:sp>
      <p:sp>
        <p:nvSpPr>
          <p:cNvPr id="13" name="Text 773"/>
          <p:cNvSpPr txBox="1"/>
          <p:nvPr/>
        </p:nvSpPr>
        <p:spPr>
          <a:xfrm>
            <a:off x="6415888" y="2249424"/>
            <a:ext cx="5044288" cy="809244"/>
          </a:xfrm>
          <a:prstGeom prst="rect">
            <a:avLst/>
          </a:prstGeom>
          <a:noFill/>
          <a:ln/>
        </p:spPr>
        <p:txBody>
          <a:bodyPr wrap="square" lIns="0" tIns="0" rIns="0" bIns="0" rtlCol="0" anchor="t"/>
          <a:lstStyle/>
          <a:p>
            <a:pPr algn="l" marL="190500" indent="-190500">
              <a:spcAft>
                <a:spcPts val="500"/>
              </a:spcAft>
              <a:buSzPct val="100000"/>
              <a:buChar char="•"/>
            </a:pPr>
            <a:r>
              <a:rPr lang="en-US" sz="1400" dirty="0">
                <a:solidFill>
                  <a:schemeClr val="tx1"/>
                </a:solidFill>
              </a:rPr>
              <a:t>1903: USA backed Panama's revolt against Colombia</a:t>
            </a:r>
            <a:endParaRPr lang="en-US" sz="1400" dirty="0"/>
          </a:p>
          <a:p>
            <a:pPr algn="l" marL="190500" indent="-190500">
              <a:spcAft>
                <a:spcPts val="500"/>
              </a:spcAft>
              <a:buSzPct val="100000"/>
              <a:buChar char="•"/>
            </a:pPr>
            <a:r>
              <a:rPr lang="en-US" sz="1400" dirty="0">
                <a:solidFill>
                  <a:schemeClr val="tx1"/>
                </a:solidFill>
              </a:rPr>
              <a:t>Gained the Canal Zone; canal opened in 1914</a:t>
            </a:r>
            <a:endParaRPr lang="en-US" sz="1400" dirty="0"/>
          </a:p>
        </p:txBody>
      </p:sp>
      <p:sp>
        <p:nvSpPr>
          <p:cNvPr id="14" name="Card 774"/>
          <p:cNvSpPr/>
          <p:nvPr/>
        </p:nvSpPr>
        <p:spPr>
          <a:xfrm>
            <a:off x="548640" y="3515868"/>
            <a:ext cx="5410048" cy="1760220"/>
          </a:xfrm>
          <a:prstGeom prst="roundRect">
            <a:avLst>
              <a:gd name="adj" fmla="val 5195"/>
            </a:avLst>
          </a:prstGeom>
          <a:solidFill>
            <a:schemeClr val="accent1">
              <a:alpha val="10000"/>
            </a:schemeClr>
          </a:solidFill>
          <a:ln/>
        </p:spPr>
      </p:sp>
      <p:sp>
        <p:nvSpPr>
          <p:cNvPr id="15" name="Icon circle 775"/>
          <p:cNvSpPr/>
          <p:nvPr/>
        </p:nvSpPr>
        <p:spPr>
          <a:xfrm>
            <a:off x="731520" y="3698748"/>
            <a:ext cx="475488" cy="475488"/>
          </a:xfrm>
          <a:prstGeom prst="ellipse">
            <a:avLst/>
          </a:prstGeom>
          <a:solidFill>
            <a:schemeClr val="accent1"/>
          </a:solidFill>
          <a:ln/>
        </p:spPr>
      </p:sp>
      <p:pic>
        <p:nvPicPr>
          <p:cNvPr id="16" name="Icon FaGavel 776" descr="preencoded.png">    </p:cNvPr>
          <p:cNvPicPr>
            <a:picLocks noChangeAspect="1"/>
          </p:cNvPicPr>
          <p:nvPr/>
        </p:nvPicPr>
        <p:blipFill>
          <a:blip r:embed="rId3"/>
          <a:stretch>
            <a:fillRect/>
          </a:stretch>
        </p:blipFill>
        <p:spPr>
          <a:xfrm>
            <a:off x="836127" y="3803355"/>
            <a:ext cx="266273" cy="266273"/>
          </a:xfrm>
          <a:prstGeom prst="rect">
            <a:avLst/>
          </a:prstGeom>
        </p:spPr>
      </p:pic>
      <p:sp>
        <p:nvSpPr>
          <p:cNvPr id="17" name="Card title 777"/>
          <p:cNvSpPr txBox="1"/>
          <p:nvPr/>
        </p:nvSpPr>
        <p:spPr>
          <a:xfrm>
            <a:off x="1335024" y="3698748"/>
            <a:ext cx="444078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Roosevelt Corollary (1904)</a:t>
            </a:r>
            <a:endParaRPr lang="en-US" sz="1600" dirty="0"/>
          </a:p>
        </p:txBody>
      </p:sp>
      <p:sp>
        <p:nvSpPr>
          <p:cNvPr id="18" name="Text 778"/>
          <p:cNvSpPr txBox="1"/>
          <p:nvPr/>
        </p:nvSpPr>
        <p:spPr>
          <a:xfrm>
            <a:off x="731520" y="4283964"/>
            <a:ext cx="5044288" cy="809244"/>
          </a:xfrm>
          <a:prstGeom prst="rect">
            <a:avLst/>
          </a:prstGeom>
          <a:noFill/>
          <a:ln/>
        </p:spPr>
        <p:txBody>
          <a:bodyPr wrap="square" lIns="0" tIns="0" rIns="0" bIns="0" rtlCol="0" anchor="t"/>
          <a:lstStyle/>
          <a:p>
            <a:pPr algn="l" marL="190500" indent="-190500">
              <a:spcAft>
                <a:spcPts val="500"/>
              </a:spcAft>
              <a:buSzPct val="100000"/>
              <a:buChar char="•"/>
            </a:pPr>
            <a:r>
              <a:rPr lang="en-US" sz="1400" dirty="0">
                <a:solidFill>
                  <a:schemeClr val="tx1"/>
                </a:solidFill>
              </a:rPr>
              <a:t>USA as 'international police power' in Latin America</a:t>
            </a:r>
            <a:endParaRPr lang="en-US" sz="1400" dirty="0"/>
          </a:p>
          <a:p>
            <a:pPr algn="l" marL="190500" indent="-190500">
              <a:spcAft>
                <a:spcPts val="500"/>
              </a:spcAft>
              <a:buSzPct val="100000"/>
              <a:buChar char="•"/>
            </a:pPr>
            <a:r>
              <a:rPr lang="en-US" sz="1400" dirty="0">
                <a:solidFill>
                  <a:schemeClr val="tx1"/>
                </a:solidFill>
              </a:rPr>
              <a:t>e.g. took over Dominican customs (1905)</a:t>
            </a:r>
            <a:endParaRPr lang="en-US" sz="1400" dirty="0"/>
          </a:p>
        </p:txBody>
      </p:sp>
      <p:sp>
        <p:nvSpPr>
          <p:cNvPr id="19" name="Card 779"/>
          <p:cNvSpPr/>
          <p:nvPr/>
        </p:nvSpPr>
        <p:spPr>
          <a:xfrm>
            <a:off x="6233008" y="3515868"/>
            <a:ext cx="5410048" cy="1760220"/>
          </a:xfrm>
          <a:prstGeom prst="roundRect">
            <a:avLst>
              <a:gd name="adj" fmla="val 5195"/>
            </a:avLst>
          </a:prstGeom>
          <a:solidFill>
            <a:schemeClr val="accent1">
              <a:alpha val="10000"/>
            </a:schemeClr>
          </a:solidFill>
          <a:ln/>
        </p:spPr>
      </p:sp>
      <p:sp>
        <p:nvSpPr>
          <p:cNvPr id="20" name="Icon circle 780"/>
          <p:cNvSpPr/>
          <p:nvPr/>
        </p:nvSpPr>
        <p:spPr>
          <a:xfrm>
            <a:off x="6415888" y="3698748"/>
            <a:ext cx="475488" cy="475488"/>
          </a:xfrm>
          <a:prstGeom prst="ellipse">
            <a:avLst/>
          </a:prstGeom>
          <a:solidFill>
            <a:schemeClr val="accent1"/>
          </a:solidFill>
          <a:ln/>
        </p:spPr>
      </p:sp>
      <p:pic>
        <p:nvPicPr>
          <p:cNvPr id="21" name="Icon FaDove 781" descr="preencoded.png">    </p:cNvPr>
          <p:cNvPicPr>
            <a:picLocks noChangeAspect="1"/>
          </p:cNvPicPr>
          <p:nvPr/>
        </p:nvPicPr>
        <p:blipFill>
          <a:blip r:embed="rId4"/>
          <a:stretch>
            <a:fillRect/>
          </a:stretch>
        </p:blipFill>
        <p:spPr>
          <a:xfrm>
            <a:off x="6520495" y="3803355"/>
            <a:ext cx="266273" cy="266273"/>
          </a:xfrm>
          <a:prstGeom prst="rect">
            <a:avLst/>
          </a:prstGeom>
        </p:spPr>
      </p:pic>
      <p:sp>
        <p:nvSpPr>
          <p:cNvPr id="22" name="Card title 782"/>
          <p:cNvSpPr txBox="1"/>
          <p:nvPr/>
        </p:nvSpPr>
        <p:spPr>
          <a:xfrm>
            <a:off x="7019392" y="3698748"/>
            <a:ext cx="444078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Great-power diplomat</a:t>
            </a:r>
            <a:endParaRPr lang="en-US" sz="1600" dirty="0"/>
          </a:p>
        </p:txBody>
      </p:sp>
      <p:sp>
        <p:nvSpPr>
          <p:cNvPr id="23" name="Text 783"/>
          <p:cNvSpPr txBox="1"/>
          <p:nvPr/>
        </p:nvSpPr>
        <p:spPr>
          <a:xfrm>
            <a:off x="6415888" y="4283964"/>
            <a:ext cx="5044288" cy="809244"/>
          </a:xfrm>
          <a:prstGeom prst="rect">
            <a:avLst/>
          </a:prstGeom>
          <a:noFill/>
          <a:ln/>
        </p:spPr>
        <p:txBody>
          <a:bodyPr wrap="square" lIns="0" tIns="0" rIns="0" bIns="0" rtlCol="0" anchor="t"/>
          <a:lstStyle/>
          <a:p>
            <a:pPr algn="l" marL="190500" indent="-190500">
              <a:spcAft>
                <a:spcPts val="500"/>
              </a:spcAft>
              <a:buSzPct val="100000"/>
              <a:buChar char="•"/>
            </a:pPr>
            <a:r>
              <a:rPr lang="en-US" sz="1400" dirty="0">
                <a:solidFill>
                  <a:schemeClr val="tx1"/>
                </a:solidFill>
              </a:rPr>
              <a:t>Roosevelt mediated Portsmouth (1905): Nobel Peace Prize</a:t>
            </a:r>
            <a:endParaRPr lang="en-US" sz="1400" dirty="0"/>
          </a:p>
          <a:p>
            <a:pPr algn="l" marL="190500" indent="-190500">
              <a:spcAft>
                <a:spcPts val="500"/>
              </a:spcAft>
              <a:buSzPct val="100000"/>
              <a:buChar char="•"/>
            </a:pPr>
            <a:r>
              <a:rPr lang="en-US" sz="1400" dirty="0">
                <a:solidFill>
                  <a:schemeClr val="tx1"/>
                </a:solidFill>
              </a:rPr>
              <a:t>Great White Fleet sailed round the world (1907–09)</a:t>
            </a:r>
            <a:endParaRPr lang="en-US" sz="1400" dirty="0"/>
          </a:p>
        </p:txBody>
      </p:sp>
      <p:sp>
        <p:nvSpPr>
          <p:cNvPr id="24" name="Callout 784"/>
          <p:cNvSpPr/>
          <p:nvPr/>
        </p:nvSpPr>
        <p:spPr>
          <a:xfrm>
            <a:off x="548640" y="5550408"/>
            <a:ext cx="11094415" cy="713232"/>
          </a:xfrm>
          <a:prstGeom prst="roundRect">
            <a:avLst>
              <a:gd name="adj" fmla="val 12821"/>
            </a:avLst>
          </a:prstGeom>
          <a:solidFill>
            <a:schemeClr val="accent4">
              <a:alpha val="20000"/>
            </a:schemeClr>
          </a:solidFill>
          <a:ln/>
        </p:spPr>
      </p:sp>
      <p:sp>
        <p:nvSpPr>
          <p:cNvPr id="25" name="Callout label 785"/>
          <p:cNvSpPr/>
          <p:nvPr/>
        </p:nvSpPr>
        <p:spPr>
          <a:xfrm>
            <a:off x="731520" y="5751576"/>
            <a:ext cx="786086" cy="310896"/>
          </a:xfrm>
          <a:prstGeom prst="roundRect">
            <a:avLst>
              <a:gd name="adj" fmla="val 50000"/>
            </a:avLst>
          </a:prstGeom>
          <a:solidFill>
            <a:schemeClr val="accent4"/>
          </a:solidFill>
          <a:ln/>
        </p:spPr>
      </p:sp>
      <p:sp>
        <p:nvSpPr>
          <p:cNvPr id="26" name="Text 786"/>
          <p:cNvSpPr txBox="1"/>
          <p:nvPr/>
        </p:nvSpPr>
        <p:spPr>
          <a:xfrm>
            <a:off x="731520" y="5751576"/>
            <a:ext cx="786086"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QUOTE</a:t>
            </a:r>
            <a:endParaRPr lang="en-US" sz="1200" dirty="0"/>
          </a:p>
        </p:txBody>
      </p:sp>
      <p:sp>
        <p:nvSpPr>
          <p:cNvPr id="27" name="Text 787"/>
          <p:cNvSpPr txBox="1"/>
          <p:nvPr/>
        </p:nvSpPr>
        <p:spPr>
          <a:xfrm>
            <a:off x="1700486" y="5623560"/>
            <a:ext cx="9759689"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“Speak softly and carry a big stick; you will go far.” — Theodore Roosevelt (1901)</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 78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KQ4 · USA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Taft and Wilson: dollars and morals</a:t>
            </a:r>
            <a:endParaRPr lang="en-US" sz="3400" dirty="0"/>
          </a:p>
        </p:txBody>
      </p:sp>
      <p:sp>
        <p:nvSpPr>
          <p:cNvPr id="4" name="Card 789"/>
          <p:cNvSpPr/>
          <p:nvPr/>
        </p:nvSpPr>
        <p:spPr>
          <a:xfrm>
            <a:off x="548640" y="1481328"/>
            <a:ext cx="5410048" cy="3794760"/>
          </a:xfrm>
          <a:prstGeom prst="roundRect">
            <a:avLst>
              <a:gd name="adj" fmla="val 2410"/>
            </a:avLst>
          </a:prstGeom>
          <a:solidFill>
            <a:schemeClr val="accent1">
              <a:alpha val="10000"/>
            </a:schemeClr>
          </a:solidFill>
          <a:ln/>
        </p:spPr>
      </p:sp>
      <p:sp>
        <p:nvSpPr>
          <p:cNvPr id="5" name="Icon circle 790"/>
          <p:cNvSpPr/>
          <p:nvPr/>
        </p:nvSpPr>
        <p:spPr>
          <a:xfrm>
            <a:off x="731520" y="1664208"/>
            <a:ext cx="475488" cy="475488"/>
          </a:xfrm>
          <a:prstGeom prst="ellipse">
            <a:avLst/>
          </a:prstGeom>
          <a:solidFill>
            <a:schemeClr val="accent1"/>
          </a:solidFill>
          <a:ln/>
        </p:spPr>
      </p:sp>
      <p:pic>
        <p:nvPicPr>
          <p:cNvPr id="6" name="Icon FaMoneyBillWave 791"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792"/>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Taft (1909–13): 'Dollar Diplomacy'</a:t>
            </a:r>
            <a:endParaRPr lang="en-US" sz="1700" dirty="0"/>
          </a:p>
        </p:txBody>
      </p:sp>
      <p:sp>
        <p:nvSpPr>
          <p:cNvPr id="8" name="Text 793"/>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'Substituting dollars for bullets'</a:t>
            </a:r>
            <a:endParaRPr lang="en-US" sz="2000" dirty="0"/>
          </a:p>
          <a:p>
            <a:pPr algn="l" marL="190500" indent="-190500">
              <a:spcAft>
                <a:spcPts val="800"/>
              </a:spcAft>
              <a:buSzPct val="100000"/>
              <a:buChar char="•"/>
            </a:pPr>
            <a:r>
              <a:rPr lang="en-US" sz="2000" dirty="0">
                <a:solidFill>
                  <a:schemeClr val="tx1"/>
                </a:solidFill>
              </a:rPr>
              <a:t>Loans and investment to gain influence (Central America, Chinese railways)</a:t>
            </a:r>
            <a:endParaRPr lang="en-US" sz="2000" dirty="0"/>
          </a:p>
          <a:p>
            <a:pPr algn="l" marL="190500" indent="-190500">
              <a:spcAft>
                <a:spcPts val="800"/>
              </a:spcAft>
              <a:buSzPct val="100000"/>
              <a:buChar char="•"/>
            </a:pPr>
            <a:r>
              <a:rPr lang="en-US" sz="2000" dirty="0">
                <a:solidFill>
                  <a:schemeClr val="tx1"/>
                </a:solidFill>
              </a:rPr>
              <a:t>Still used force: marines sent to Nicaragua (1912)</a:t>
            </a:r>
            <a:endParaRPr lang="en-US" sz="2000" dirty="0"/>
          </a:p>
        </p:txBody>
      </p:sp>
      <p:sp>
        <p:nvSpPr>
          <p:cNvPr id="9" name="Card 794"/>
          <p:cNvSpPr/>
          <p:nvPr/>
        </p:nvSpPr>
        <p:spPr>
          <a:xfrm>
            <a:off x="6233008" y="1481328"/>
            <a:ext cx="5410048" cy="3794760"/>
          </a:xfrm>
          <a:prstGeom prst="roundRect">
            <a:avLst>
              <a:gd name="adj" fmla="val 2410"/>
            </a:avLst>
          </a:prstGeom>
          <a:solidFill>
            <a:schemeClr val="accent1">
              <a:alpha val="10000"/>
            </a:schemeClr>
          </a:solidFill>
          <a:ln/>
        </p:spPr>
      </p:sp>
      <p:sp>
        <p:nvSpPr>
          <p:cNvPr id="10" name="Icon circle 795"/>
          <p:cNvSpPr/>
          <p:nvPr/>
        </p:nvSpPr>
        <p:spPr>
          <a:xfrm>
            <a:off x="6415888" y="1664208"/>
            <a:ext cx="475488" cy="475488"/>
          </a:xfrm>
          <a:prstGeom prst="ellipse">
            <a:avLst/>
          </a:prstGeom>
          <a:solidFill>
            <a:schemeClr val="accent1"/>
          </a:solidFill>
          <a:ln/>
        </p:spPr>
      </p:sp>
      <p:pic>
        <p:nvPicPr>
          <p:cNvPr id="11" name="Icon FaBalanceScale 796"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797"/>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Wilson (1913–21): 'Moral diplomacy'</a:t>
            </a:r>
            <a:endParaRPr lang="en-US" sz="1700" dirty="0"/>
          </a:p>
        </p:txBody>
      </p:sp>
      <p:sp>
        <p:nvSpPr>
          <p:cNvPr id="13" name="Text 798"/>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Promised to support democracy, not empire</a:t>
            </a:r>
            <a:endParaRPr lang="en-US" sz="2000" dirty="0"/>
          </a:p>
          <a:p>
            <a:pPr algn="l" marL="190500" indent="-190500">
              <a:spcAft>
                <a:spcPts val="800"/>
              </a:spcAft>
              <a:buSzPct val="100000"/>
              <a:buChar char="•"/>
            </a:pPr>
            <a:r>
              <a:rPr lang="en-US" sz="2000" dirty="0">
                <a:solidFill>
                  <a:schemeClr val="tx1"/>
                </a:solidFill>
              </a:rPr>
              <a:t>Yet intervened: Mexico (Veracruz 1914; Pershing 1916–17)</a:t>
            </a:r>
            <a:endParaRPr lang="en-US" sz="2000" dirty="0"/>
          </a:p>
          <a:p>
            <a:pPr algn="l" marL="190500" indent="-190500">
              <a:spcAft>
                <a:spcPts val="800"/>
              </a:spcAft>
              <a:buSzPct val="100000"/>
              <a:buChar char="•"/>
            </a:pPr>
            <a:r>
              <a:rPr lang="en-US" sz="2000" dirty="0">
                <a:solidFill>
                  <a:schemeClr val="tx1"/>
                </a:solidFill>
              </a:rPr>
              <a:t>Occupied Haiti (1915) and the Dominican Republic (1916)</a:t>
            </a:r>
            <a:endParaRPr lang="en-US" sz="2000" dirty="0"/>
          </a:p>
        </p:txBody>
      </p:sp>
      <p:sp>
        <p:nvSpPr>
          <p:cNvPr id="14" name="Callout 799"/>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800"/>
          <p:cNvSpPr/>
          <p:nvPr/>
        </p:nvSpPr>
        <p:spPr>
          <a:xfrm>
            <a:off x="731520" y="5751576"/>
            <a:ext cx="1045034" cy="310896"/>
          </a:xfrm>
          <a:prstGeom prst="roundRect">
            <a:avLst>
              <a:gd name="adj" fmla="val 50000"/>
            </a:avLst>
          </a:prstGeom>
          <a:solidFill>
            <a:schemeClr val="accent4"/>
          </a:solidFill>
          <a:ln/>
        </p:spPr>
      </p:sp>
      <p:sp>
        <p:nvSpPr>
          <p:cNvPr id="16" name="Text 801"/>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17" name="Text 802"/>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Methods changed, but the goal stayed the same: US dominance of the Western Hemisphere.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 80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KQ4 · USA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USA and the First World War</a:t>
            </a:r>
            <a:endParaRPr lang="en-US" sz="3400" dirty="0"/>
          </a:p>
        </p:txBody>
      </p:sp>
      <p:sp>
        <p:nvSpPr>
          <p:cNvPr id="4" name="Connector 804"/>
          <p:cNvSpPr/>
          <p:nvPr/>
        </p:nvSpPr>
        <p:spPr>
          <a:xfrm>
            <a:off x="640080" y="2852928"/>
            <a:ext cx="10911535" cy="0"/>
          </a:xfrm>
          <a:prstGeom prst="line">
            <a:avLst/>
          </a:prstGeom>
          <a:noFill/>
          <a:ln w="31750">
            <a:solidFill>
              <a:schemeClr val="accent1"/>
            </a:solidFill>
            <a:prstDash val="solid"/>
          </a:ln>
        </p:spPr>
      </p:sp>
      <p:sp>
        <p:nvSpPr>
          <p:cNvPr id="5" name="Timeline dot 805"/>
          <p:cNvSpPr/>
          <p:nvPr/>
        </p:nvSpPr>
        <p:spPr>
          <a:xfrm>
            <a:off x="1430503" y="2734056"/>
            <a:ext cx="237744" cy="237744"/>
          </a:xfrm>
          <a:prstGeom prst="ellipse">
            <a:avLst/>
          </a:prstGeom>
          <a:solidFill>
            <a:schemeClr val="accent1"/>
          </a:solidFill>
          <a:ln/>
        </p:spPr>
      </p:sp>
      <p:sp>
        <p:nvSpPr>
          <p:cNvPr id="6" name="Connector 806"/>
          <p:cNvSpPr/>
          <p:nvPr/>
        </p:nvSpPr>
        <p:spPr>
          <a:xfrm flipV="1">
            <a:off x="1549375" y="2560320"/>
            <a:ext cx="0" cy="173736"/>
          </a:xfrm>
          <a:prstGeom prst="line">
            <a:avLst/>
          </a:prstGeom>
          <a:noFill/>
          <a:ln w="12700">
            <a:solidFill>
              <a:schemeClr val="accent1"/>
            </a:solidFill>
            <a:prstDash val="solid"/>
          </a:ln>
        </p:spPr>
      </p:sp>
      <p:sp>
        <p:nvSpPr>
          <p:cNvPr id="7" name="Text 807"/>
          <p:cNvSpPr txBox="1"/>
          <p:nvPr/>
        </p:nvSpPr>
        <p:spPr>
          <a:xfrm>
            <a:off x="640080" y="2249424"/>
            <a:ext cx="237744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1"/>
                </a:solidFill>
              </a:rPr>
              <a:t>1914</a:t>
            </a:r>
            <a:endParaRPr lang="en-US" sz="1500" dirty="0"/>
          </a:p>
        </p:txBody>
      </p:sp>
      <p:sp>
        <p:nvSpPr>
          <p:cNvPr id="8" name="Text 808"/>
          <p:cNvSpPr txBox="1"/>
          <p:nvPr/>
        </p:nvSpPr>
        <p:spPr>
          <a:xfrm>
            <a:off x="640080" y="1481328"/>
            <a:ext cx="2377440" cy="76809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Neutral — but trade and loans to the Allies boom</a:t>
            </a:r>
            <a:endParaRPr lang="en-US" sz="1400" dirty="0"/>
          </a:p>
        </p:txBody>
      </p:sp>
      <p:sp>
        <p:nvSpPr>
          <p:cNvPr id="9" name="Timeline dot 809"/>
          <p:cNvSpPr/>
          <p:nvPr/>
        </p:nvSpPr>
        <p:spPr>
          <a:xfrm>
            <a:off x="3249092" y="2734056"/>
            <a:ext cx="237744" cy="237744"/>
          </a:xfrm>
          <a:prstGeom prst="ellipse">
            <a:avLst/>
          </a:prstGeom>
          <a:solidFill>
            <a:schemeClr val="accent1"/>
          </a:solidFill>
          <a:ln/>
        </p:spPr>
      </p:sp>
      <p:sp>
        <p:nvSpPr>
          <p:cNvPr id="10" name="Connector 810"/>
          <p:cNvSpPr/>
          <p:nvPr/>
        </p:nvSpPr>
        <p:spPr>
          <a:xfrm>
            <a:off x="3367964" y="2971800"/>
            <a:ext cx="0" cy="173736"/>
          </a:xfrm>
          <a:prstGeom prst="line">
            <a:avLst/>
          </a:prstGeom>
          <a:noFill/>
          <a:ln w="12700">
            <a:solidFill>
              <a:schemeClr val="accent1"/>
            </a:solidFill>
            <a:prstDash val="solid"/>
          </a:ln>
        </p:spPr>
      </p:sp>
      <p:sp>
        <p:nvSpPr>
          <p:cNvPr id="11" name="Text 811"/>
          <p:cNvSpPr txBox="1"/>
          <p:nvPr/>
        </p:nvSpPr>
        <p:spPr>
          <a:xfrm>
            <a:off x="2179244" y="3145536"/>
            <a:ext cx="237744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1"/>
                </a:solidFill>
              </a:rPr>
              <a:t>1915</a:t>
            </a:r>
            <a:endParaRPr lang="en-US" sz="1500" dirty="0"/>
          </a:p>
        </p:txBody>
      </p:sp>
      <p:sp>
        <p:nvSpPr>
          <p:cNvPr id="12" name="Text 812"/>
          <p:cNvSpPr txBox="1"/>
          <p:nvPr/>
        </p:nvSpPr>
        <p:spPr>
          <a:xfrm>
            <a:off x="2179244" y="3493008"/>
            <a:ext cx="2377440" cy="76809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Lusitania sunk: 128 Americans killed</a:t>
            </a:r>
            <a:endParaRPr lang="en-US" sz="1400" dirty="0"/>
          </a:p>
        </p:txBody>
      </p:sp>
      <p:sp>
        <p:nvSpPr>
          <p:cNvPr id="13" name="Timeline dot 813"/>
          <p:cNvSpPr/>
          <p:nvPr/>
        </p:nvSpPr>
        <p:spPr>
          <a:xfrm>
            <a:off x="5067681" y="2734056"/>
            <a:ext cx="237744" cy="237744"/>
          </a:xfrm>
          <a:prstGeom prst="ellipse">
            <a:avLst/>
          </a:prstGeom>
          <a:solidFill>
            <a:schemeClr val="accent1"/>
          </a:solidFill>
          <a:ln/>
        </p:spPr>
      </p:sp>
      <p:sp>
        <p:nvSpPr>
          <p:cNvPr id="14" name="Connector 814"/>
          <p:cNvSpPr/>
          <p:nvPr/>
        </p:nvSpPr>
        <p:spPr>
          <a:xfrm flipV="1">
            <a:off x="5186553" y="2560320"/>
            <a:ext cx="0" cy="173736"/>
          </a:xfrm>
          <a:prstGeom prst="line">
            <a:avLst/>
          </a:prstGeom>
          <a:noFill/>
          <a:ln w="12700">
            <a:solidFill>
              <a:schemeClr val="accent1"/>
            </a:solidFill>
            <a:prstDash val="solid"/>
          </a:ln>
        </p:spPr>
      </p:sp>
      <p:sp>
        <p:nvSpPr>
          <p:cNvPr id="15" name="Text 815"/>
          <p:cNvSpPr txBox="1"/>
          <p:nvPr/>
        </p:nvSpPr>
        <p:spPr>
          <a:xfrm>
            <a:off x="3997833" y="2249424"/>
            <a:ext cx="237744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1"/>
                </a:solidFill>
              </a:rPr>
              <a:t>Jan 1917</a:t>
            </a:r>
            <a:endParaRPr lang="en-US" sz="1500" dirty="0"/>
          </a:p>
        </p:txBody>
      </p:sp>
      <p:sp>
        <p:nvSpPr>
          <p:cNvPr id="16" name="Text 816"/>
          <p:cNvSpPr txBox="1"/>
          <p:nvPr/>
        </p:nvSpPr>
        <p:spPr>
          <a:xfrm>
            <a:off x="3997833" y="1481328"/>
            <a:ext cx="2377440" cy="76809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Germany resumes unrestricted U-boat warfare</a:t>
            </a:r>
            <a:endParaRPr lang="en-US" sz="1400" dirty="0"/>
          </a:p>
        </p:txBody>
      </p:sp>
      <p:sp>
        <p:nvSpPr>
          <p:cNvPr id="17" name="Timeline dot 817"/>
          <p:cNvSpPr/>
          <p:nvPr/>
        </p:nvSpPr>
        <p:spPr>
          <a:xfrm>
            <a:off x="6886270" y="2734056"/>
            <a:ext cx="237744" cy="237744"/>
          </a:xfrm>
          <a:prstGeom prst="ellipse">
            <a:avLst/>
          </a:prstGeom>
          <a:solidFill>
            <a:schemeClr val="accent1"/>
          </a:solidFill>
          <a:ln/>
        </p:spPr>
      </p:sp>
      <p:sp>
        <p:nvSpPr>
          <p:cNvPr id="18" name="Connector 818"/>
          <p:cNvSpPr/>
          <p:nvPr/>
        </p:nvSpPr>
        <p:spPr>
          <a:xfrm>
            <a:off x="7005142" y="2971800"/>
            <a:ext cx="0" cy="173736"/>
          </a:xfrm>
          <a:prstGeom prst="line">
            <a:avLst/>
          </a:prstGeom>
          <a:noFill/>
          <a:ln w="12700">
            <a:solidFill>
              <a:schemeClr val="accent1"/>
            </a:solidFill>
            <a:prstDash val="solid"/>
          </a:ln>
        </p:spPr>
      </p:sp>
      <p:sp>
        <p:nvSpPr>
          <p:cNvPr id="19" name="Text 819"/>
          <p:cNvSpPr txBox="1"/>
          <p:nvPr/>
        </p:nvSpPr>
        <p:spPr>
          <a:xfrm>
            <a:off x="5816422" y="3145536"/>
            <a:ext cx="237744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1"/>
                </a:solidFill>
              </a:rPr>
              <a:t>Mar 1917</a:t>
            </a:r>
            <a:endParaRPr lang="en-US" sz="1500" dirty="0"/>
          </a:p>
        </p:txBody>
      </p:sp>
      <p:sp>
        <p:nvSpPr>
          <p:cNvPr id="20" name="Text 820"/>
          <p:cNvSpPr txBox="1"/>
          <p:nvPr/>
        </p:nvSpPr>
        <p:spPr>
          <a:xfrm>
            <a:off x="5816422" y="3493008"/>
            <a:ext cx="2377440" cy="76809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Zimmermann Telegram published</a:t>
            </a:r>
            <a:endParaRPr lang="en-US" sz="1400" dirty="0"/>
          </a:p>
        </p:txBody>
      </p:sp>
      <p:sp>
        <p:nvSpPr>
          <p:cNvPr id="21" name="Timeline dot 821"/>
          <p:cNvSpPr/>
          <p:nvPr/>
        </p:nvSpPr>
        <p:spPr>
          <a:xfrm>
            <a:off x="8704859" y="2734056"/>
            <a:ext cx="237744" cy="237744"/>
          </a:xfrm>
          <a:prstGeom prst="ellipse">
            <a:avLst/>
          </a:prstGeom>
          <a:solidFill>
            <a:schemeClr val="accent1"/>
          </a:solidFill>
          <a:ln/>
        </p:spPr>
      </p:sp>
      <p:sp>
        <p:nvSpPr>
          <p:cNvPr id="22" name="Connector 822"/>
          <p:cNvSpPr/>
          <p:nvPr/>
        </p:nvSpPr>
        <p:spPr>
          <a:xfrm flipV="1">
            <a:off x="8823731" y="2560320"/>
            <a:ext cx="0" cy="173736"/>
          </a:xfrm>
          <a:prstGeom prst="line">
            <a:avLst/>
          </a:prstGeom>
          <a:noFill/>
          <a:ln w="12700">
            <a:solidFill>
              <a:schemeClr val="accent1"/>
            </a:solidFill>
            <a:prstDash val="solid"/>
          </a:ln>
        </p:spPr>
      </p:sp>
      <p:sp>
        <p:nvSpPr>
          <p:cNvPr id="23" name="Text 823"/>
          <p:cNvSpPr txBox="1"/>
          <p:nvPr/>
        </p:nvSpPr>
        <p:spPr>
          <a:xfrm>
            <a:off x="7635011" y="2249424"/>
            <a:ext cx="237744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1"/>
                </a:solidFill>
              </a:rPr>
              <a:t>Apr 1917</a:t>
            </a:r>
            <a:endParaRPr lang="en-US" sz="1500" dirty="0"/>
          </a:p>
        </p:txBody>
      </p:sp>
      <p:sp>
        <p:nvSpPr>
          <p:cNvPr id="24" name="Text 824"/>
          <p:cNvSpPr txBox="1"/>
          <p:nvPr/>
        </p:nvSpPr>
        <p:spPr>
          <a:xfrm>
            <a:off x="7635011" y="1481328"/>
            <a:ext cx="2377440" cy="76809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USA declares war on Germany</a:t>
            </a:r>
            <a:endParaRPr lang="en-US" sz="1400" dirty="0"/>
          </a:p>
        </p:txBody>
      </p:sp>
      <p:sp>
        <p:nvSpPr>
          <p:cNvPr id="25" name="Timeline dot 825"/>
          <p:cNvSpPr/>
          <p:nvPr/>
        </p:nvSpPr>
        <p:spPr>
          <a:xfrm>
            <a:off x="10523449" y="2734056"/>
            <a:ext cx="237744" cy="237744"/>
          </a:xfrm>
          <a:prstGeom prst="ellipse">
            <a:avLst/>
          </a:prstGeom>
          <a:solidFill>
            <a:schemeClr val="accent1"/>
          </a:solidFill>
          <a:ln/>
        </p:spPr>
      </p:sp>
      <p:sp>
        <p:nvSpPr>
          <p:cNvPr id="26" name="Connector 826"/>
          <p:cNvSpPr/>
          <p:nvPr/>
        </p:nvSpPr>
        <p:spPr>
          <a:xfrm>
            <a:off x="10642321" y="2971800"/>
            <a:ext cx="0" cy="173736"/>
          </a:xfrm>
          <a:prstGeom prst="line">
            <a:avLst/>
          </a:prstGeom>
          <a:noFill/>
          <a:ln w="12700">
            <a:solidFill>
              <a:schemeClr val="accent1"/>
            </a:solidFill>
            <a:prstDash val="solid"/>
          </a:ln>
        </p:spPr>
      </p:sp>
      <p:sp>
        <p:nvSpPr>
          <p:cNvPr id="27" name="Text 827"/>
          <p:cNvSpPr txBox="1"/>
          <p:nvPr/>
        </p:nvSpPr>
        <p:spPr>
          <a:xfrm>
            <a:off x="9174175" y="3145536"/>
            <a:ext cx="237744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1"/>
                </a:solidFill>
              </a:rPr>
              <a:t>Jan 1918</a:t>
            </a:r>
            <a:endParaRPr lang="en-US" sz="1500" dirty="0"/>
          </a:p>
        </p:txBody>
      </p:sp>
      <p:sp>
        <p:nvSpPr>
          <p:cNvPr id="28" name="Text 828"/>
          <p:cNvSpPr txBox="1"/>
          <p:nvPr/>
        </p:nvSpPr>
        <p:spPr>
          <a:xfrm>
            <a:off x="9174175" y="3493008"/>
            <a:ext cx="2377440" cy="76809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Wilson's Fourteen Points</a:t>
            </a:r>
            <a:endParaRPr lang="en-US" sz="1400" dirty="0"/>
          </a:p>
        </p:txBody>
      </p:sp>
      <p:sp>
        <p:nvSpPr>
          <p:cNvPr id="29" name="Card 829"/>
          <p:cNvSpPr/>
          <p:nvPr/>
        </p:nvSpPr>
        <p:spPr>
          <a:xfrm>
            <a:off x="548640" y="4453128"/>
            <a:ext cx="5410048" cy="1810512"/>
          </a:xfrm>
          <a:prstGeom prst="roundRect">
            <a:avLst>
              <a:gd name="adj" fmla="val 5051"/>
            </a:avLst>
          </a:prstGeom>
          <a:solidFill>
            <a:schemeClr val="accent1">
              <a:alpha val="10000"/>
            </a:schemeClr>
          </a:solidFill>
          <a:ln/>
        </p:spPr>
      </p:sp>
      <p:sp>
        <p:nvSpPr>
          <p:cNvPr id="30" name="Icon circle 830"/>
          <p:cNvSpPr/>
          <p:nvPr/>
        </p:nvSpPr>
        <p:spPr>
          <a:xfrm>
            <a:off x="713232" y="4617720"/>
            <a:ext cx="475488" cy="475488"/>
          </a:xfrm>
          <a:prstGeom prst="ellipse">
            <a:avLst/>
          </a:prstGeom>
          <a:solidFill>
            <a:schemeClr val="accent1"/>
          </a:solidFill>
          <a:ln/>
        </p:spPr>
      </p:sp>
      <p:pic>
        <p:nvPicPr>
          <p:cNvPr id="31" name="Icon FaTrophy 831" descr="preencoded.png">    </p:cNvPr>
          <p:cNvPicPr>
            <a:picLocks noChangeAspect="1"/>
          </p:cNvPicPr>
          <p:nvPr/>
        </p:nvPicPr>
        <p:blipFill>
          <a:blip r:embed="rId1"/>
          <a:stretch>
            <a:fillRect/>
          </a:stretch>
        </p:blipFill>
        <p:spPr>
          <a:xfrm>
            <a:off x="817839" y="4722327"/>
            <a:ext cx="266273" cy="266273"/>
          </a:xfrm>
          <a:prstGeom prst="rect">
            <a:avLst/>
          </a:prstGeom>
        </p:spPr>
      </p:pic>
      <p:sp>
        <p:nvSpPr>
          <p:cNvPr id="32" name="Card title 832"/>
          <p:cNvSpPr txBox="1"/>
          <p:nvPr/>
        </p:nvSpPr>
        <p:spPr>
          <a:xfrm>
            <a:off x="1316736" y="4617720"/>
            <a:ext cx="4477360"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Impact on the war</a:t>
            </a:r>
            <a:endParaRPr lang="en-US" sz="1700" dirty="0"/>
          </a:p>
        </p:txBody>
      </p:sp>
      <p:sp>
        <p:nvSpPr>
          <p:cNvPr id="33" name="Text 833"/>
          <p:cNvSpPr txBox="1"/>
          <p:nvPr/>
        </p:nvSpPr>
        <p:spPr>
          <a:xfrm>
            <a:off x="713232" y="5202936"/>
            <a:ext cx="5080864" cy="896112"/>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US money, food and c.2 million troops in France by late 1918 tipped the balance. The USA became the world's leading creditor.</a:t>
            </a:r>
            <a:endParaRPr lang="en-US" sz="1800" dirty="0"/>
          </a:p>
        </p:txBody>
      </p:sp>
      <p:sp>
        <p:nvSpPr>
          <p:cNvPr id="34" name="Card 834"/>
          <p:cNvSpPr/>
          <p:nvPr/>
        </p:nvSpPr>
        <p:spPr>
          <a:xfrm>
            <a:off x="6233008" y="4453128"/>
            <a:ext cx="5410048" cy="1810512"/>
          </a:xfrm>
          <a:prstGeom prst="roundRect">
            <a:avLst>
              <a:gd name="adj" fmla="val 5051"/>
            </a:avLst>
          </a:prstGeom>
          <a:solidFill>
            <a:schemeClr val="accent1">
              <a:alpha val="10000"/>
            </a:schemeClr>
          </a:solidFill>
          <a:ln/>
        </p:spPr>
      </p:sp>
      <p:sp>
        <p:nvSpPr>
          <p:cNvPr id="35" name="Icon circle 835"/>
          <p:cNvSpPr/>
          <p:nvPr/>
        </p:nvSpPr>
        <p:spPr>
          <a:xfrm>
            <a:off x="6397600" y="4617720"/>
            <a:ext cx="475488" cy="475488"/>
          </a:xfrm>
          <a:prstGeom prst="ellipse">
            <a:avLst/>
          </a:prstGeom>
          <a:solidFill>
            <a:schemeClr val="accent1"/>
          </a:solidFill>
          <a:ln/>
        </p:spPr>
      </p:sp>
      <p:pic>
        <p:nvPicPr>
          <p:cNvPr id="36" name="Icon FaDove 836" descr="preencoded.png">    </p:cNvPr>
          <p:cNvPicPr>
            <a:picLocks noChangeAspect="1"/>
          </p:cNvPicPr>
          <p:nvPr/>
        </p:nvPicPr>
        <p:blipFill>
          <a:blip r:embed="rId2"/>
          <a:stretch>
            <a:fillRect/>
          </a:stretch>
        </p:blipFill>
        <p:spPr>
          <a:xfrm>
            <a:off x="6502207" y="4722327"/>
            <a:ext cx="266273" cy="266273"/>
          </a:xfrm>
          <a:prstGeom prst="rect">
            <a:avLst/>
          </a:prstGeom>
        </p:spPr>
      </p:pic>
      <p:sp>
        <p:nvSpPr>
          <p:cNvPr id="37" name="Card title 837"/>
          <p:cNvSpPr txBox="1"/>
          <p:nvPr/>
        </p:nvSpPr>
        <p:spPr>
          <a:xfrm>
            <a:off x="7001104" y="4617720"/>
            <a:ext cx="4477360"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Fourteen Points (Jan 1918)</a:t>
            </a:r>
            <a:endParaRPr lang="en-US" sz="1700" dirty="0"/>
          </a:p>
        </p:txBody>
      </p:sp>
      <p:sp>
        <p:nvSpPr>
          <p:cNvPr id="38" name="Text 838"/>
          <p:cNvSpPr txBox="1"/>
          <p:nvPr/>
        </p:nvSpPr>
        <p:spPr>
          <a:xfrm>
            <a:off x="6397600" y="5202936"/>
            <a:ext cx="5080864" cy="896112"/>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Open diplomacy, free seas and trade, disarmament, self-determination and a League of Nations.</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cker 83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KQ3–4 · COMPARE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Two new world powers compared</a:t>
            </a:r>
            <a:endParaRPr lang="en-US" sz="3400" dirty="0"/>
          </a:p>
        </p:txBody>
      </p:sp>
      <p:graphicFrame>
        <p:nvGraphicFramePr>
          <p:cNvPr id="36" name="Table 84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828800"/>
                <a:gridCol w="4632350"/>
                <a:gridCol w="4633265"/>
              </a:tblGrid>
              <a:tr h="384048">
                <a:tc>
                  <a:txBody>
                    <a:bodyPr/>
                    <a:lstStyle/>
                    <a:p>
                      <a:pPr indent="0" marL="0">
                        <a:buNone/>
                      </a:pP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Japan</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USA</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r>
              <a:tr h="685800">
                <a:tc>
                  <a:txBody>
                    <a:bodyPr/>
                    <a:lstStyle/>
                    <a:p>
                      <a:pPr algn="l" indent="0" marL="0">
                        <a:buNone/>
                      </a:pPr>
                      <a:r>
                        <a:rPr lang="en-US" sz="1500" b="1" dirty="0">
                          <a:solidFill>
                            <a:schemeClr val="tx1"/>
                          </a:solidFill>
                        </a:rPr>
                        <a:t>Why expand?</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Security (Korea), resources, status, avoid China's fate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Markets, naval bases, ideas of mission; Monroe Doctrine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685800">
                <a:tc>
                  <a:txBody>
                    <a:bodyPr/>
                    <a:lstStyle/>
                    <a:p>
                      <a:pPr algn="l" indent="0" marL="0">
                        <a:buNone/>
                      </a:pPr>
                      <a:r>
                        <a:rPr lang="en-US" sz="1500" b="1" dirty="0">
                          <a:solidFill>
                            <a:schemeClr val="tx1"/>
                          </a:solidFill>
                        </a:rPr>
                        <a:t>Methods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Military force plus alliances (Britain, 1902)</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War (1898), then money and the 'Big Stick'</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685800">
                <a:tc>
                  <a:txBody>
                    <a:bodyPr/>
                    <a:lstStyle/>
                    <a:p>
                      <a:pPr algn="l" indent="0" marL="0">
                        <a:buNone/>
                      </a:pPr>
                      <a:r>
                        <a:rPr lang="en-US" sz="1500" b="1" dirty="0">
                          <a:solidFill>
                            <a:schemeClr val="tx1"/>
                          </a:solidFill>
                        </a:rPr>
                        <a:t>Key wars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China 1894–95; Russia 1904–05; WW1 (from 1914)</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Spain 1898; Philippines 1899–1902; WW1 (1917–18)</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894855">
                <a:tc>
                  <a:txBody>
                    <a:bodyPr/>
                    <a:lstStyle/>
                    <a:p>
                      <a:pPr algn="l" indent="0" marL="0">
                        <a:buNone/>
                      </a:pPr>
                      <a:r>
                        <a:rPr lang="en-US" sz="1500" b="1" dirty="0">
                          <a:solidFill>
                            <a:schemeClr val="tx1"/>
                          </a:solidFill>
                        </a:rPr>
                        <a:t>Gains by 1918</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Taiwan, Korea, S. Manchuria rights, S. Sakhalin, Shandong, Pacific islands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Hawaii, Puerto Rico, Guam, Philippines, Panama Canal Zone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894855">
                <a:tc>
                  <a:txBody>
                    <a:bodyPr/>
                    <a:lstStyle/>
                    <a:p>
                      <a:pPr algn="l" indent="0" marL="0">
                        <a:buNone/>
                      </a:pPr>
                      <a:r>
                        <a:rPr lang="en-US" sz="1500" b="1" dirty="0">
                          <a:solidFill>
                            <a:schemeClr val="tx1"/>
                          </a:solidFill>
                        </a:rPr>
                        <a:t>Impact</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Upset the balance in Asia; alarmed the USA; angered China</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Dominated the Americas; decisive in WW1; world's creditor</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icker 84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KEY PEOPLE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people: Europe and Africa</a:t>
            </a:r>
            <a:endParaRPr lang="en-US" sz="3400" dirty="0"/>
          </a:p>
        </p:txBody>
      </p:sp>
      <p:sp>
        <p:nvSpPr>
          <p:cNvPr id="4" name="Person card 842"/>
          <p:cNvSpPr/>
          <p:nvPr/>
        </p:nvSpPr>
        <p:spPr>
          <a:xfrm>
            <a:off x="548640" y="1481328"/>
            <a:ext cx="3515258" cy="2253996"/>
          </a:xfrm>
          <a:prstGeom prst="roundRect">
            <a:avLst>
              <a:gd name="adj" fmla="val 4057"/>
            </a:avLst>
          </a:prstGeom>
          <a:solidFill>
            <a:schemeClr val="accent1">
              <a:alpha val="9000"/>
            </a:schemeClr>
          </a:solidFill>
          <a:ln/>
        </p:spPr>
      </p:sp>
      <p:sp>
        <p:nvSpPr>
          <p:cNvPr id="5" name="Icon circle 843"/>
          <p:cNvSpPr/>
          <p:nvPr/>
        </p:nvSpPr>
        <p:spPr>
          <a:xfrm>
            <a:off x="731520" y="1664208"/>
            <a:ext cx="475488" cy="475488"/>
          </a:xfrm>
          <a:prstGeom prst="ellipse">
            <a:avLst/>
          </a:prstGeom>
          <a:solidFill>
            <a:schemeClr val="accent1"/>
          </a:solidFill>
          <a:ln/>
        </p:spPr>
      </p:sp>
      <p:pic>
        <p:nvPicPr>
          <p:cNvPr id="6" name="Icon FaUserTie 844"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Text 845"/>
          <p:cNvSpPr txBox="1"/>
          <p:nvPr/>
        </p:nvSpPr>
        <p:spPr>
          <a:xfrm>
            <a:off x="1335024"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Otto von Bismarck</a:t>
            </a:r>
            <a:endParaRPr lang="en-US" sz="1700" dirty="0"/>
          </a:p>
        </p:txBody>
      </p:sp>
      <p:sp>
        <p:nvSpPr>
          <p:cNvPr id="8" name="Text 846"/>
          <p:cNvSpPr txBox="1"/>
          <p:nvPr/>
        </p:nvSpPr>
        <p:spPr>
          <a:xfrm>
            <a:off x="1335024"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German Chancellor, 1871–90</a:t>
            </a:r>
            <a:endParaRPr lang="en-US" sz="1300" dirty="0"/>
          </a:p>
        </p:txBody>
      </p:sp>
      <p:sp>
        <p:nvSpPr>
          <p:cNvPr id="9" name="Text 847"/>
          <p:cNvSpPr txBox="1"/>
          <p:nvPr/>
        </p:nvSpPr>
        <p:spPr>
          <a:xfrm>
            <a:off x="731520"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Hosted the Berlin Conference. 'My map of Africa lies in Europe.'</a:t>
            </a:r>
            <a:endParaRPr lang="en-US" sz="1800" dirty="0"/>
          </a:p>
        </p:txBody>
      </p:sp>
      <p:sp>
        <p:nvSpPr>
          <p:cNvPr id="10" name="Person card 848"/>
          <p:cNvSpPr/>
          <p:nvPr/>
        </p:nvSpPr>
        <p:spPr>
          <a:xfrm>
            <a:off x="4338218" y="1481328"/>
            <a:ext cx="3515258" cy="2253996"/>
          </a:xfrm>
          <a:prstGeom prst="roundRect">
            <a:avLst>
              <a:gd name="adj" fmla="val 4057"/>
            </a:avLst>
          </a:prstGeom>
          <a:solidFill>
            <a:schemeClr val="accent1">
              <a:alpha val="9000"/>
            </a:schemeClr>
          </a:solidFill>
          <a:ln/>
        </p:spPr>
      </p:sp>
      <p:sp>
        <p:nvSpPr>
          <p:cNvPr id="11" name="Icon circle 849"/>
          <p:cNvSpPr/>
          <p:nvPr/>
        </p:nvSpPr>
        <p:spPr>
          <a:xfrm>
            <a:off x="4521098" y="1664208"/>
            <a:ext cx="475488" cy="475488"/>
          </a:xfrm>
          <a:prstGeom prst="ellipse">
            <a:avLst/>
          </a:prstGeom>
          <a:solidFill>
            <a:schemeClr val="accent1"/>
          </a:solidFill>
          <a:ln/>
        </p:spPr>
      </p:sp>
      <p:pic>
        <p:nvPicPr>
          <p:cNvPr id="12" name="Icon GiCrown 850"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3" name="Text 851"/>
          <p:cNvSpPr txBox="1"/>
          <p:nvPr/>
        </p:nvSpPr>
        <p:spPr>
          <a:xfrm>
            <a:off x="5124602"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Wilhelm II</a:t>
            </a:r>
            <a:endParaRPr lang="en-US" sz="1700" dirty="0"/>
          </a:p>
        </p:txBody>
      </p:sp>
      <p:sp>
        <p:nvSpPr>
          <p:cNvPr id="14" name="Text 852"/>
          <p:cNvSpPr txBox="1"/>
          <p:nvPr/>
        </p:nvSpPr>
        <p:spPr>
          <a:xfrm>
            <a:off x="5124602"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German Kaiser, 1888–1918</a:t>
            </a:r>
            <a:endParaRPr lang="en-US" sz="1300" dirty="0"/>
          </a:p>
        </p:txBody>
      </p:sp>
      <p:sp>
        <p:nvSpPr>
          <p:cNvPr id="15" name="Text 853"/>
          <p:cNvSpPr txBox="1"/>
          <p:nvPr/>
        </p:nvSpPr>
        <p:spPr>
          <a:xfrm>
            <a:off x="4521098"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Weltpolitik, the navy, the Kruger Telegram and the Moroccan crises.</a:t>
            </a:r>
            <a:endParaRPr lang="en-US" sz="1800" dirty="0"/>
          </a:p>
        </p:txBody>
      </p:sp>
      <p:sp>
        <p:nvSpPr>
          <p:cNvPr id="16" name="Person card 854"/>
          <p:cNvSpPr/>
          <p:nvPr/>
        </p:nvSpPr>
        <p:spPr>
          <a:xfrm>
            <a:off x="8127797" y="1481328"/>
            <a:ext cx="3515258" cy="2253996"/>
          </a:xfrm>
          <a:prstGeom prst="roundRect">
            <a:avLst>
              <a:gd name="adj" fmla="val 4057"/>
            </a:avLst>
          </a:prstGeom>
          <a:solidFill>
            <a:schemeClr val="accent1">
              <a:alpha val="9000"/>
            </a:schemeClr>
          </a:solidFill>
          <a:ln/>
        </p:spPr>
      </p:sp>
      <p:sp>
        <p:nvSpPr>
          <p:cNvPr id="17" name="Icon circle 855"/>
          <p:cNvSpPr/>
          <p:nvPr/>
        </p:nvSpPr>
        <p:spPr>
          <a:xfrm>
            <a:off x="8310677" y="1664208"/>
            <a:ext cx="475488" cy="475488"/>
          </a:xfrm>
          <a:prstGeom prst="ellipse">
            <a:avLst/>
          </a:prstGeom>
          <a:solidFill>
            <a:schemeClr val="accent1"/>
          </a:solidFill>
          <a:ln/>
        </p:spPr>
      </p:sp>
      <p:pic>
        <p:nvPicPr>
          <p:cNvPr id="18" name="Icon FaCrown 856"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9" name="Text 857"/>
          <p:cNvSpPr txBox="1"/>
          <p:nvPr/>
        </p:nvSpPr>
        <p:spPr>
          <a:xfrm>
            <a:off x="8914181"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Leopold II</a:t>
            </a:r>
            <a:endParaRPr lang="en-US" sz="1700" dirty="0"/>
          </a:p>
        </p:txBody>
      </p:sp>
      <p:sp>
        <p:nvSpPr>
          <p:cNvPr id="20" name="Text 858"/>
          <p:cNvSpPr txBox="1"/>
          <p:nvPr/>
        </p:nvSpPr>
        <p:spPr>
          <a:xfrm>
            <a:off x="8914181"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King of the Belgians</a:t>
            </a:r>
            <a:endParaRPr lang="en-US" sz="1300" dirty="0"/>
          </a:p>
        </p:txBody>
      </p:sp>
      <p:sp>
        <p:nvSpPr>
          <p:cNvPr id="21" name="Text 859"/>
          <p:cNvSpPr txBox="1"/>
          <p:nvPr/>
        </p:nvSpPr>
        <p:spPr>
          <a:xfrm>
            <a:off x="8310677"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Ran the Congo Free State as his own property (1885–1908).</a:t>
            </a:r>
            <a:endParaRPr lang="en-US" sz="1800" dirty="0"/>
          </a:p>
        </p:txBody>
      </p:sp>
      <p:sp>
        <p:nvSpPr>
          <p:cNvPr id="22" name="Person card 860"/>
          <p:cNvSpPr/>
          <p:nvPr/>
        </p:nvSpPr>
        <p:spPr>
          <a:xfrm>
            <a:off x="548640" y="4009644"/>
            <a:ext cx="3515258" cy="2253996"/>
          </a:xfrm>
          <a:prstGeom prst="roundRect">
            <a:avLst>
              <a:gd name="adj" fmla="val 4057"/>
            </a:avLst>
          </a:prstGeom>
          <a:solidFill>
            <a:schemeClr val="accent1">
              <a:alpha val="9000"/>
            </a:schemeClr>
          </a:solidFill>
          <a:ln/>
        </p:spPr>
      </p:sp>
      <p:sp>
        <p:nvSpPr>
          <p:cNvPr id="23" name="Icon circle 861"/>
          <p:cNvSpPr/>
          <p:nvPr/>
        </p:nvSpPr>
        <p:spPr>
          <a:xfrm>
            <a:off x="731520" y="4192524"/>
            <a:ext cx="475488" cy="475488"/>
          </a:xfrm>
          <a:prstGeom prst="ellipse">
            <a:avLst/>
          </a:prstGeom>
          <a:solidFill>
            <a:schemeClr val="accent1"/>
          </a:solidFill>
          <a:ln/>
        </p:spPr>
      </p:sp>
      <p:pic>
        <p:nvPicPr>
          <p:cNvPr id="24" name="Icon FaLandmark 862"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5" name="Text 863"/>
          <p:cNvSpPr txBox="1"/>
          <p:nvPr/>
        </p:nvSpPr>
        <p:spPr>
          <a:xfrm>
            <a:off x="1335024"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Jules Ferry</a:t>
            </a:r>
            <a:endParaRPr lang="en-US" sz="1700" dirty="0"/>
          </a:p>
        </p:txBody>
      </p:sp>
      <p:sp>
        <p:nvSpPr>
          <p:cNvPr id="26" name="Text 864"/>
          <p:cNvSpPr txBox="1"/>
          <p:nvPr/>
        </p:nvSpPr>
        <p:spPr>
          <a:xfrm>
            <a:off x="1335024"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French Prime Minister</a:t>
            </a:r>
            <a:endParaRPr lang="en-US" sz="1300" dirty="0"/>
          </a:p>
        </p:txBody>
      </p:sp>
      <p:sp>
        <p:nvSpPr>
          <p:cNvPr id="27" name="Text 865"/>
          <p:cNvSpPr txBox="1"/>
          <p:nvPr/>
        </p:nvSpPr>
        <p:spPr>
          <a:xfrm>
            <a:off x="731520"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Took Tunisia and Tonkin; argued colonies meant markets and prestige.</a:t>
            </a:r>
            <a:endParaRPr lang="en-US" sz="1800" dirty="0"/>
          </a:p>
        </p:txBody>
      </p:sp>
      <p:sp>
        <p:nvSpPr>
          <p:cNvPr id="28" name="Person card 866"/>
          <p:cNvSpPr/>
          <p:nvPr/>
        </p:nvSpPr>
        <p:spPr>
          <a:xfrm>
            <a:off x="4338218" y="4009644"/>
            <a:ext cx="3515258" cy="2253996"/>
          </a:xfrm>
          <a:prstGeom prst="roundRect">
            <a:avLst>
              <a:gd name="adj" fmla="val 4057"/>
            </a:avLst>
          </a:prstGeom>
          <a:solidFill>
            <a:schemeClr val="accent1">
              <a:alpha val="9000"/>
            </a:schemeClr>
          </a:solidFill>
          <a:ln/>
        </p:spPr>
      </p:sp>
      <p:sp>
        <p:nvSpPr>
          <p:cNvPr id="29" name="Icon circle 867"/>
          <p:cNvSpPr/>
          <p:nvPr/>
        </p:nvSpPr>
        <p:spPr>
          <a:xfrm>
            <a:off x="4521098" y="4192524"/>
            <a:ext cx="475488" cy="475488"/>
          </a:xfrm>
          <a:prstGeom prst="ellipse">
            <a:avLst/>
          </a:prstGeom>
          <a:solidFill>
            <a:schemeClr val="accent1"/>
          </a:solidFill>
          <a:ln/>
        </p:spPr>
      </p:sp>
      <p:pic>
        <p:nvPicPr>
          <p:cNvPr id="30" name="Icon GiMineWagon 868"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31" name="Text 869"/>
          <p:cNvSpPr txBox="1"/>
          <p:nvPr/>
        </p:nvSpPr>
        <p:spPr>
          <a:xfrm>
            <a:off x="5124602"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Cecil Rhodes</a:t>
            </a:r>
            <a:endParaRPr lang="en-US" sz="1700" dirty="0"/>
          </a:p>
        </p:txBody>
      </p:sp>
      <p:sp>
        <p:nvSpPr>
          <p:cNvPr id="32" name="Text 870"/>
          <p:cNvSpPr txBox="1"/>
          <p:nvPr/>
        </p:nvSpPr>
        <p:spPr>
          <a:xfrm>
            <a:off x="5124602"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British mining magnate</a:t>
            </a:r>
            <a:endParaRPr lang="en-US" sz="1300" dirty="0"/>
          </a:p>
        </p:txBody>
      </p:sp>
      <p:sp>
        <p:nvSpPr>
          <p:cNvPr id="33" name="Text 871"/>
          <p:cNvSpPr txBox="1"/>
          <p:nvPr/>
        </p:nvSpPr>
        <p:spPr>
          <a:xfrm>
            <a:off x="4521098"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Dreamt of 'Cape to Cairo'; Rhodesia was named after him.</a:t>
            </a:r>
            <a:endParaRPr lang="en-US" sz="1800" dirty="0"/>
          </a:p>
        </p:txBody>
      </p:sp>
      <p:sp>
        <p:nvSpPr>
          <p:cNvPr id="34" name="Person card 872"/>
          <p:cNvSpPr/>
          <p:nvPr/>
        </p:nvSpPr>
        <p:spPr>
          <a:xfrm>
            <a:off x="8127797" y="4009644"/>
            <a:ext cx="3515258" cy="2253996"/>
          </a:xfrm>
          <a:prstGeom prst="roundRect">
            <a:avLst>
              <a:gd name="adj" fmla="val 4057"/>
            </a:avLst>
          </a:prstGeom>
          <a:solidFill>
            <a:schemeClr val="accent1">
              <a:alpha val="9000"/>
            </a:schemeClr>
          </a:solidFill>
          <a:ln/>
        </p:spPr>
      </p:sp>
      <p:sp>
        <p:nvSpPr>
          <p:cNvPr id="35" name="Icon circle 873"/>
          <p:cNvSpPr/>
          <p:nvPr/>
        </p:nvSpPr>
        <p:spPr>
          <a:xfrm>
            <a:off x="8310677" y="4192524"/>
            <a:ext cx="475488" cy="475488"/>
          </a:xfrm>
          <a:prstGeom prst="ellipse">
            <a:avLst/>
          </a:prstGeom>
          <a:solidFill>
            <a:schemeClr val="accent1"/>
          </a:solidFill>
          <a:ln/>
        </p:spPr>
      </p:sp>
      <p:pic>
        <p:nvPicPr>
          <p:cNvPr id="36" name="Icon FaUserTie 874"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7" name="Text 875"/>
          <p:cNvSpPr txBox="1"/>
          <p:nvPr/>
        </p:nvSpPr>
        <p:spPr>
          <a:xfrm>
            <a:off x="8914181"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Joseph Chamberlain</a:t>
            </a:r>
            <a:endParaRPr lang="en-US" sz="1700" dirty="0"/>
          </a:p>
        </p:txBody>
      </p:sp>
      <p:sp>
        <p:nvSpPr>
          <p:cNvPr id="38" name="Text 876"/>
          <p:cNvSpPr txBox="1"/>
          <p:nvPr/>
        </p:nvSpPr>
        <p:spPr>
          <a:xfrm>
            <a:off x="8914181"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British Colonial Secretary, 1895–1903</a:t>
            </a:r>
            <a:endParaRPr lang="en-US" sz="1300" dirty="0"/>
          </a:p>
        </p:txBody>
      </p:sp>
      <p:sp>
        <p:nvSpPr>
          <p:cNvPr id="39" name="Text 877"/>
          <p:cNvSpPr txBox="1"/>
          <p:nvPr/>
        </p:nvSpPr>
        <p:spPr>
          <a:xfrm>
            <a:off x="8310677"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Leading imperialist; key figure in the Boer War.</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Kicker 87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KEY PEOPLE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people: Asia and the USA</a:t>
            </a:r>
            <a:endParaRPr lang="en-US" sz="3400" dirty="0"/>
          </a:p>
        </p:txBody>
      </p:sp>
      <p:sp>
        <p:nvSpPr>
          <p:cNvPr id="4" name="Person card 879"/>
          <p:cNvSpPr/>
          <p:nvPr/>
        </p:nvSpPr>
        <p:spPr>
          <a:xfrm>
            <a:off x="548640" y="1481328"/>
            <a:ext cx="3515258" cy="2253996"/>
          </a:xfrm>
          <a:prstGeom prst="roundRect">
            <a:avLst>
              <a:gd name="adj" fmla="val 4057"/>
            </a:avLst>
          </a:prstGeom>
          <a:solidFill>
            <a:schemeClr val="accent1">
              <a:alpha val="9000"/>
            </a:schemeClr>
          </a:solidFill>
          <a:ln/>
        </p:spPr>
      </p:sp>
      <p:sp>
        <p:nvSpPr>
          <p:cNvPr id="5" name="Icon circle 880"/>
          <p:cNvSpPr/>
          <p:nvPr/>
        </p:nvSpPr>
        <p:spPr>
          <a:xfrm>
            <a:off x="731520" y="1664208"/>
            <a:ext cx="475488" cy="475488"/>
          </a:xfrm>
          <a:prstGeom prst="ellipse">
            <a:avLst/>
          </a:prstGeom>
          <a:solidFill>
            <a:schemeClr val="accent1"/>
          </a:solidFill>
          <a:ln/>
        </p:spPr>
      </p:sp>
      <p:pic>
        <p:nvPicPr>
          <p:cNvPr id="6" name="Icon GiCrown 881"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Text 882"/>
          <p:cNvSpPr txBox="1"/>
          <p:nvPr/>
        </p:nvSpPr>
        <p:spPr>
          <a:xfrm>
            <a:off x="1335024"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Emperor Meiji</a:t>
            </a:r>
            <a:endParaRPr lang="en-US" sz="1700" dirty="0"/>
          </a:p>
        </p:txBody>
      </p:sp>
      <p:sp>
        <p:nvSpPr>
          <p:cNvPr id="8" name="Text 883"/>
          <p:cNvSpPr txBox="1"/>
          <p:nvPr/>
        </p:nvSpPr>
        <p:spPr>
          <a:xfrm>
            <a:off x="1335024"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Emperor of Japan, 1867–1912</a:t>
            </a:r>
            <a:endParaRPr lang="en-US" sz="1300" dirty="0"/>
          </a:p>
        </p:txBody>
      </p:sp>
      <p:sp>
        <p:nvSpPr>
          <p:cNvPr id="9" name="Text 884"/>
          <p:cNvSpPr txBox="1"/>
          <p:nvPr/>
        </p:nvSpPr>
        <p:spPr>
          <a:xfrm>
            <a:off x="731520"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Symbol of Japan's modernisation and rise to power.</a:t>
            </a:r>
            <a:endParaRPr lang="en-US" sz="1800" dirty="0"/>
          </a:p>
        </p:txBody>
      </p:sp>
      <p:sp>
        <p:nvSpPr>
          <p:cNvPr id="10" name="Person card 885"/>
          <p:cNvSpPr/>
          <p:nvPr/>
        </p:nvSpPr>
        <p:spPr>
          <a:xfrm>
            <a:off x="4338218" y="1481328"/>
            <a:ext cx="3515258" cy="2253996"/>
          </a:xfrm>
          <a:prstGeom prst="roundRect">
            <a:avLst>
              <a:gd name="adj" fmla="val 4057"/>
            </a:avLst>
          </a:prstGeom>
          <a:solidFill>
            <a:schemeClr val="accent1">
              <a:alpha val="9000"/>
            </a:schemeClr>
          </a:solidFill>
          <a:ln/>
        </p:spPr>
      </p:sp>
      <p:sp>
        <p:nvSpPr>
          <p:cNvPr id="11" name="Icon circle 886"/>
          <p:cNvSpPr/>
          <p:nvPr/>
        </p:nvSpPr>
        <p:spPr>
          <a:xfrm>
            <a:off x="4521098" y="1664208"/>
            <a:ext cx="475488" cy="475488"/>
          </a:xfrm>
          <a:prstGeom prst="ellipse">
            <a:avLst/>
          </a:prstGeom>
          <a:solidFill>
            <a:schemeClr val="accent1"/>
          </a:solidFill>
          <a:ln/>
        </p:spPr>
      </p:sp>
      <p:pic>
        <p:nvPicPr>
          <p:cNvPr id="12" name="Icon GiPagoda 887"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3" name="Text 888"/>
          <p:cNvSpPr txBox="1"/>
          <p:nvPr/>
        </p:nvSpPr>
        <p:spPr>
          <a:xfrm>
            <a:off x="5124602"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Empress Dowager Cixi</a:t>
            </a:r>
            <a:endParaRPr lang="en-US" sz="1700" dirty="0"/>
          </a:p>
        </p:txBody>
      </p:sp>
      <p:sp>
        <p:nvSpPr>
          <p:cNvPr id="14" name="Text 889"/>
          <p:cNvSpPr txBox="1"/>
          <p:nvPr/>
        </p:nvSpPr>
        <p:spPr>
          <a:xfrm>
            <a:off x="5124602"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Ruler of Qing China</a:t>
            </a:r>
            <a:endParaRPr lang="en-US" sz="1300" dirty="0"/>
          </a:p>
        </p:txBody>
      </p:sp>
      <p:sp>
        <p:nvSpPr>
          <p:cNvPr id="15" name="Text 890"/>
          <p:cNvSpPr txBox="1"/>
          <p:nvPr/>
        </p:nvSpPr>
        <p:spPr>
          <a:xfrm>
            <a:off x="4521098"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Backed the Boxers in 1900 — a disaster for China.</a:t>
            </a:r>
            <a:endParaRPr lang="en-US" sz="1800" dirty="0"/>
          </a:p>
        </p:txBody>
      </p:sp>
      <p:sp>
        <p:nvSpPr>
          <p:cNvPr id="16" name="Person card 891"/>
          <p:cNvSpPr/>
          <p:nvPr/>
        </p:nvSpPr>
        <p:spPr>
          <a:xfrm>
            <a:off x="8127797" y="1481328"/>
            <a:ext cx="3515258" cy="2253996"/>
          </a:xfrm>
          <a:prstGeom prst="roundRect">
            <a:avLst>
              <a:gd name="adj" fmla="val 4057"/>
            </a:avLst>
          </a:prstGeom>
          <a:solidFill>
            <a:schemeClr val="accent1">
              <a:alpha val="9000"/>
            </a:schemeClr>
          </a:solidFill>
          <a:ln/>
        </p:spPr>
      </p:sp>
      <p:sp>
        <p:nvSpPr>
          <p:cNvPr id="17" name="Icon circle 892"/>
          <p:cNvSpPr/>
          <p:nvPr/>
        </p:nvSpPr>
        <p:spPr>
          <a:xfrm>
            <a:off x="8310677" y="1664208"/>
            <a:ext cx="475488" cy="475488"/>
          </a:xfrm>
          <a:prstGeom prst="ellipse">
            <a:avLst/>
          </a:prstGeom>
          <a:solidFill>
            <a:schemeClr val="accent1"/>
          </a:solidFill>
          <a:ln/>
        </p:spPr>
      </p:sp>
      <p:pic>
        <p:nvPicPr>
          <p:cNvPr id="18" name="Icon FaFlagUsa 893"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9" name="Text 894"/>
          <p:cNvSpPr txBox="1"/>
          <p:nvPr/>
        </p:nvSpPr>
        <p:spPr>
          <a:xfrm>
            <a:off x="8914181"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Theodore Roosevelt</a:t>
            </a:r>
            <a:endParaRPr lang="en-US" sz="1700" dirty="0"/>
          </a:p>
        </p:txBody>
      </p:sp>
      <p:sp>
        <p:nvSpPr>
          <p:cNvPr id="20" name="Text 895"/>
          <p:cNvSpPr txBox="1"/>
          <p:nvPr/>
        </p:nvSpPr>
        <p:spPr>
          <a:xfrm>
            <a:off x="8914181"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US President, 1901–09</a:t>
            </a:r>
            <a:endParaRPr lang="en-US" sz="1300" dirty="0"/>
          </a:p>
        </p:txBody>
      </p:sp>
      <p:sp>
        <p:nvSpPr>
          <p:cNvPr id="21" name="Text 896"/>
          <p:cNvSpPr txBox="1"/>
          <p:nvPr/>
        </p:nvSpPr>
        <p:spPr>
          <a:xfrm>
            <a:off x="8310677"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'Big Stick', Panama, the Corollary; mediated Portsmouth.</a:t>
            </a:r>
            <a:endParaRPr lang="en-US" sz="1800" dirty="0"/>
          </a:p>
        </p:txBody>
      </p:sp>
      <p:sp>
        <p:nvSpPr>
          <p:cNvPr id="22" name="Person card 897"/>
          <p:cNvSpPr/>
          <p:nvPr/>
        </p:nvSpPr>
        <p:spPr>
          <a:xfrm>
            <a:off x="548640" y="4009644"/>
            <a:ext cx="3515258" cy="2253996"/>
          </a:xfrm>
          <a:prstGeom prst="roundRect">
            <a:avLst>
              <a:gd name="adj" fmla="val 4057"/>
            </a:avLst>
          </a:prstGeom>
          <a:solidFill>
            <a:schemeClr val="accent1">
              <a:alpha val="9000"/>
            </a:schemeClr>
          </a:solidFill>
          <a:ln/>
        </p:spPr>
      </p:sp>
      <p:sp>
        <p:nvSpPr>
          <p:cNvPr id="23" name="Icon circle 898"/>
          <p:cNvSpPr/>
          <p:nvPr/>
        </p:nvSpPr>
        <p:spPr>
          <a:xfrm>
            <a:off x="731520" y="4192524"/>
            <a:ext cx="475488" cy="475488"/>
          </a:xfrm>
          <a:prstGeom prst="ellipse">
            <a:avLst/>
          </a:prstGeom>
          <a:solidFill>
            <a:schemeClr val="accent1"/>
          </a:solidFill>
          <a:ln/>
        </p:spPr>
      </p:sp>
      <p:pic>
        <p:nvPicPr>
          <p:cNvPr id="24" name="Icon FaDove 899"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5" name="Text 900"/>
          <p:cNvSpPr txBox="1"/>
          <p:nvPr/>
        </p:nvSpPr>
        <p:spPr>
          <a:xfrm>
            <a:off x="1335024"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Woodrow Wilson</a:t>
            </a:r>
            <a:endParaRPr lang="en-US" sz="1700" dirty="0"/>
          </a:p>
        </p:txBody>
      </p:sp>
      <p:sp>
        <p:nvSpPr>
          <p:cNvPr id="26" name="Text 901"/>
          <p:cNvSpPr txBox="1"/>
          <p:nvPr/>
        </p:nvSpPr>
        <p:spPr>
          <a:xfrm>
            <a:off x="1335024"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US President, 1913–21</a:t>
            </a:r>
            <a:endParaRPr lang="en-US" sz="1300" dirty="0"/>
          </a:p>
        </p:txBody>
      </p:sp>
      <p:sp>
        <p:nvSpPr>
          <p:cNvPr id="27" name="Text 902"/>
          <p:cNvSpPr txBox="1"/>
          <p:nvPr/>
        </p:nvSpPr>
        <p:spPr>
          <a:xfrm>
            <a:off x="731520"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'Moral diplomacy'; took the USA into WW1; Fourteen Points.</a:t>
            </a:r>
            <a:endParaRPr lang="en-US" sz="1800" dirty="0"/>
          </a:p>
        </p:txBody>
      </p:sp>
      <p:sp>
        <p:nvSpPr>
          <p:cNvPr id="28" name="Person card 903"/>
          <p:cNvSpPr/>
          <p:nvPr/>
        </p:nvSpPr>
        <p:spPr>
          <a:xfrm>
            <a:off x="4338218" y="4009644"/>
            <a:ext cx="3515258" cy="2253996"/>
          </a:xfrm>
          <a:prstGeom prst="roundRect">
            <a:avLst>
              <a:gd name="adj" fmla="val 4057"/>
            </a:avLst>
          </a:prstGeom>
          <a:solidFill>
            <a:schemeClr val="accent1">
              <a:alpha val="9000"/>
            </a:schemeClr>
          </a:solidFill>
          <a:ln/>
        </p:spPr>
      </p:sp>
      <p:sp>
        <p:nvSpPr>
          <p:cNvPr id="29" name="Icon circle 904"/>
          <p:cNvSpPr/>
          <p:nvPr/>
        </p:nvSpPr>
        <p:spPr>
          <a:xfrm>
            <a:off x="4521098" y="4192524"/>
            <a:ext cx="475488" cy="475488"/>
          </a:xfrm>
          <a:prstGeom prst="ellipse">
            <a:avLst/>
          </a:prstGeom>
          <a:solidFill>
            <a:schemeClr val="accent1"/>
          </a:solidFill>
          <a:ln/>
        </p:spPr>
      </p:sp>
      <p:pic>
        <p:nvPicPr>
          <p:cNvPr id="30" name="Icon FaFileSignature 905"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31" name="Text 906"/>
          <p:cNvSpPr txBox="1"/>
          <p:nvPr/>
        </p:nvSpPr>
        <p:spPr>
          <a:xfrm>
            <a:off x="5124602"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John Hay</a:t>
            </a:r>
            <a:endParaRPr lang="en-US" sz="1700" dirty="0"/>
          </a:p>
        </p:txBody>
      </p:sp>
      <p:sp>
        <p:nvSpPr>
          <p:cNvPr id="32" name="Text 907"/>
          <p:cNvSpPr txBox="1"/>
          <p:nvPr/>
        </p:nvSpPr>
        <p:spPr>
          <a:xfrm>
            <a:off x="5124602"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US Secretary of State</a:t>
            </a:r>
            <a:endParaRPr lang="en-US" sz="1300" dirty="0"/>
          </a:p>
        </p:txBody>
      </p:sp>
      <p:sp>
        <p:nvSpPr>
          <p:cNvPr id="33" name="Text 908"/>
          <p:cNvSpPr txBox="1"/>
          <p:nvPr/>
        </p:nvSpPr>
        <p:spPr>
          <a:xfrm>
            <a:off x="4521098"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Open Door Notes (1899–1900); 'a splendid little war'.</a:t>
            </a:r>
            <a:endParaRPr lang="en-US" sz="1800" dirty="0"/>
          </a:p>
        </p:txBody>
      </p:sp>
      <p:sp>
        <p:nvSpPr>
          <p:cNvPr id="34" name="Person card 909"/>
          <p:cNvSpPr/>
          <p:nvPr/>
        </p:nvSpPr>
        <p:spPr>
          <a:xfrm>
            <a:off x="8127797" y="4009644"/>
            <a:ext cx="3515258" cy="2253996"/>
          </a:xfrm>
          <a:prstGeom prst="roundRect">
            <a:avLst>
              <a:gd name="adj" fmla="val 4057"/>
            </a:avLst>
          </a:prstGeom>
          <a:solidFill>
            <a:schemeClr val="accent1">
              <a:alpha val="9000"/>
            </a:schemeClr>
          </a:solidFill>
          <a:ln/>
        </p:spPr>
      </p:sp>
      <p:sp>
        <p:nvSpPr>
          <p:cNvPr id="35" name="Icon circle 910"/>
          <p:cNvSpPr/>
          <p:nvPr/>
        </p:nvSpPr>
        <p:spPr>
          <a:xfrm>
            <a:off x="8310677" y="4192524"/>
            <a:ext cx="475488" cy="475488"/>
          </a:xfrm>
          <a:prstGeom prst="ellipse">
            <a:avLst/>
          </a:prstGeom>
          <a:solidFill>
            <a:schemeClr val="accent1"/>
          </a:solidFill>
          <a:ln/>
        </p:spPr>
      </p:sp>
      <p:pic>
        <p:nvPicPr>
          <p:cNvPr id="36" name="Icon GiBattleship 911"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7" name="Text 912"/>
          <p:cNvSpPr txBox="1"/>
          <p:nvPr/>
        </p:nvSpPr>
        <p:spPr>
          <a:xfrm>
            <a:off x="8914181"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Alfred T. Mahan</a:t>
            </a:r>
            <a:endParaRPr lang="en-US" sz="1700" dirty="0"/>
          </a:p>
        </p:txBody>
      </p:sp>
      <p:sp>
        <p:nvSpPr>
          <p:cNvPr id="38" name="Text 913"/>
          <p:cNvSpPr txBox="1"/>
          <p:nvPr/>
        </p:nvSpPr>
        <p:spPr>
          <a:xfrm>
            <a:off x="8914181"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1"/>
                </a:solidFill>
              </a:rPr>
              <a:t>US naval strategist</a:t>
            </a:r>
            <a:endParaRPr lang="en-US" sz="1300" dirty="0"/>
          </a:p>
        </p:txBody>
      </p:sp>
      <p:sp>
        <p:nvSpPr>
          <p:cNvPr id="39" name="Text 914"/>
          <p:cNvSpPr txBox="1"/>
          <p:nvPr/>
        </p:nvSpPr>
        <p:spPr>
          <a:xfrm>
            <a:off x="8310677"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Sea power theory (1890) inspired navies in the USA, Germany and Japan.</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Kicker 915"/>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KEY TERMS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terms: Topic 1</a:t>
            </a:r>
            <a:endParaRPr lang="en-US" sz="3400" dirty="0"/>
          </a:p>
        </p:txBody>
      </p:sp>
      <p:graphicFrame>
        <p:nvGraphicFramePr>
          <p:cNvPr id="39" name="Table 916"/>
          <p:cNvGraphicFramePr>
            <a:graphicFrameLocks noGrp="1"/>
          </p:cNvGraphicFramePr>
          <p:nvPr>
            <p:extLst>
              <p:ext uri="{D42A27DB-BD31-4B8C-83A1-F6EECF244321}">
                <p14:modId xmlns:p14="http://schemas.microsoft.com/office/powerpoint/2010/main" val="1579011935"/>
              </p:ext>
            </p:extLst>
          </p:nvPr>
        </p:nvGraphicFramePr>
        <p:xfrm>
          <a:off x="548640" y="1481328"/>
          <a:ext cx="5410048" cy="914400"/>
        </p:xfrm>
        <a:graphic>
          <a:graphicData uri="http://schemas.openxmlformats.org/drawingml/2006/table">
            <a:tbl>
              <a:tblPr/>
              <a:tblGrid>
                <a:gridCol w="1783080"/>
                <a:gridCol w="3626968"/>
              </a:tblGrid>
              <a:tr h="384048">
                <a:tc>
                  <a:txBody>
                    <a:bodyPr/>
                    <a:lstStyle/>
                    <a:p>
                      <a:pPr indent="0" marL="0">
                        <a:buNone/>
                      </a:pPr>
                      <a:r>
                        <a:rPr lang="en-US" sz="1400" b="1" dirty="0">
                          <a:solidFill>
                            <a:schemeClr val="bg1"/>
                          </a:solidFill>
                        </a:rPr>
                        <a:t>Term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Meaning</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r>
              <a:tr h="584670">
                <a:tc>
                  <a:txBody>
                    <a:bodyPr/>
                    <a:lstStyle/>
                    <a:p>
                      <a:pPr algn="l" indent="0" marL="0">
                        <a:buNone/>
                      </a:pPr>
                      <a:r>
                        <a:rPr lang="en-US" sz="1400" b="1" dirty="0">
                          <a:solidFill>
                            <a:schemeClr val="accent1"/>
                          </a:solidFill>
                        </a:rPr>
                        <a:t>New Imperialism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Rapid formal empire-building, c.1870–1914</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62719">
                <a:tc>
                  <a:txBody>
                    <a:bodyPr/>
                    <a:lstStyle/>
                    <a:p>
                      <a:pPr algn="l" indent="0" marL="0">
                        <a:buNone/>
                      </a:pPr>
                      <a:r>
                        <a:rPr lang="en-US" sz="1400" b="1" dirty="0">
                          <a:solidFill>
                            <a:schemeClr val="accent1"/>
                          </a:solidFill>
                        </a:rPr>
                        <a:t>Sphere of influence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Area where one power claims special rights without ruling it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62719">
                <a:tc>
                  <a:txBody>
                    <a:bodyPr/>
                    <a:lstStyle/>
                    <a:p>
                      <a:pPr algn="l" indent="0" marL="0">
                        <a:buNone/>
                      </a:pPr>
                      <a:r>
                        <a:rPr lang="en-US" sz="1400" b="1" dirty="0">
                          <a:solidFill>
                            <a:schemeClr val="accent1"/>
                          </a:solidFill>
                        </a:rPr>
                        <a:t>Concession / lease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Land or rights a weak state (e.g. China) was forced to grant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62719">
                <a:tc>
                  <a:txBody>
                    <a:bodyPr/>
                    <a:lstStyle/>
                    <a:p>
                      <a:pPr algn="l" indent="0" marL="0">
                        <a:buNone/>
                      </a:pPr>
                      <a:r>
                        <a:rPr lang="en-US" sz="1400" b="1" dirty="0">
                          <a:solidFill>
                            <a:schemeClr val="accent1"/>
                          </a:solidFill>
                        </a:rPr>
                        <a:t>Protectorate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State controlled by a foreign power but keeping its own ruler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62719">
                <a:tc>
                  <a:txBody>
                    <a:bodyPr/>
                    <a:lstStyle/>
                    <a:p>
                      <a:pPr algn="l" indent="0" marL="0">
                        <a:buNone/>
                      </a:pPr>
                      <a:r>
                        <a:rPr lang="en-US" sz="1400" b="1" dirty="0">
                          <a:solidFill>
                            <a:schemeClr val="accent1"/>
                          </a:solidFill>
                        </a:rPr>
                        <a:t>Effective occupation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Berlin rule: a claim needs real control on the ground</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62719">
                <a:tc>
                  <a:txBody>
                    <a:bodyPr/>
                    <a:lstStyle/>
                    <a:p>
                      <a:pPr algn="l" indent="0" marL="0">
                        <a:buNone/>
                      </a:pPr>
                      <a:r>
                        <a:rPr lang="en-US" sz="1400" b="1" dirty="0">
                          <a:solidFill>
                            <a:schemeClr val="accent1"/>
                          </a:solidFill>
                        </a:rPr>
                        <a:t>Social Darwinism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Idea that nations compete and the 'fittest' should rule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graphicFrame>
        <p:nvGraphicFramePr>
          <p:cNvPr id="77" name="Table 917"/>
          <p:cNvGraphicFramePr>
            <a:graphicFrameLocks noGrp="1"/>
          </p:cNvGraphicFramePr>
          <p:nvPr>
            <p:extLst>
              <p:ext uri="{D42A27DB-BD31-4B8C-83A1-F6EECF244321}">
                <p14:modId xmlns:p14="http://schemas.microsoft.com/office/powerpoint/2010/main" val="1579011935"/>
              </p:ext>
            </p:extLst>
          </p:nvPr>
        </p:nvGraphicFramePr>
        <p:xfrm>
          <a:off x="6233008" y="1481328"/>
          <a:ext cx="5410048" cy="914400"/>
        </p:xfrm>
        <a:graphic>
          <a:graphicData uri="http://schemas.openxmlformats.org/drawingml/2006/table">
            <a:tbl>
              <a:tblPr/>
              <a:tblGrid>
                <a:gridCol w="1783080"/>
                <a:gridCol w="3626968"/>
              </a:tblGrid>
              <a:tr h="384048">
                <a:tc>
                  <a:txBody>
                    <a:bodyPr/>
                    <a:lstStyle/>
                    <a:p>
                      <a:pPr indent="0" marL="0">
                        <a:buNone/>
                      </a:pPr>
                      <a:r>
                        <a:rPr lang="en-US" sz="1400" b="1" dirty="0">
                          <a:solidFill>
                            <a:schemeClr val="bg1"/>
                          </a:solidFill>
                        </a:rPr>
                        <a:t>Term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Meaning</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r>
              <a:tr h="733044">
                <a:tc>
                  <a:txBody>
                    <a:bodyPr/>
                    <a:lstStyle/>
                    <a:p>
                      <a:pPr algn="l" indent="0" marL="0">
                        <a:buNone/>
                      </a:pPr>
                      <a:r>
                        <a:rPr lang="en-US" sz="1400" b="1" dirty="0">
                          <a:solidFill>
                            <a:schemeClr val="accent1"/>
                          </a:solidFill>
                        </a:rPr>
                        <a:t>Weltpolitik</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Germany's 'world policy' from 1897: colonies, navy, prestige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33044">
                <a:tc>
                  <a:txBody>
                    <a:bodyPr/>
                    <a:lstStyle/>
                    <a:p>
                      <a:pPr algn="l" indent="0" marL="0">
                        <a:buNone/>
                      </a:pPr>
                      <a:r>
                        <a:rPr lang="en-US" sz="1400" b="1" dirty="0">
                          <a:solidFill>
                            <a:schemeClr val="accent1"/>
                          </a:solidFill>
                        </a:rPr>
                        <a:t>Splendid isolation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Britain's policy of avoiding alliances before 1902</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33044">
                <a:tc>
                  <a:txBody>
                    <a:bodyPr/>
                    <a:lstStyle/>
                    <a:p>
                      <a:pPr algn="l" indent="0" marL="0">
                        <a:buNone/>
                      </a:pPr>
                      <a:r>
                        <a:rPr lang="en-US" sz="1400" b="1" dirty="0">
                          <a:solidFill>
                            <a:schemeClr val="accent1"/>
                          </a:solidFill>
                        </a:rPr>
                        <a:t>Unequal treaties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Treaties forced on China and Japan giving foreigners privileges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33044">
                <a:tc>
                  <a:txBody>
                    <a:bodyPr/>
                    <a:lstStyle/>
                    <a:p>
                      <a:pPr algn="l" indent="0" marL="0">
                        <a:buNone/>
                      </a:pPr>
                      <a:r>
                        <a:rPr lang="en-US" sz="1400" b="1" dirty="0">
                          <a:solidFill>
                            <a:schemeClr val="accent1"/>
                          </a:solidFill>
                        </a:rPr>
                        <a:t>Monroe Doctrine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1823 US warning to Europe: keep out of the Americas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33044">
                <a:tc>
                  <a:txBody>
                    <a:bodyPr/>
                    <a:lstStyle/>
                    <a:p>
                      <a:pPr algn="l" indent="0" marL="0">
                        <a:buNone/>
                      </a:pPr>
                      <a:r>
                        <a:rPr lang="en-US" sz="1400" b="1" dirty="0">
                          <a:solidFill>
                            <a:schemeClr val="accent1"/>
                          </a:solidFill>
                        </a:rPr>
                        <a:t>Open Door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US policy of equal trade access in China (1899–1900)</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33044">
                <a:tc>
                  <a:txBody>
                    <a:bodyPr/>
                    <a:lstStyle/>
                    <a:p>
                      <a:pPr algn="l" indent="0" marL="0">
                        <a:buNone/>
                      </a:pPr>
                      <a:r>
                        <a:rPr lang="en-US" sz="1400" b="1" dirty="0">
                          <a:solidFill>
                            <a:schemeClr val="accent1"/>
                          </a:solidFill>
                        </a:rPr>
                        <a:t>Roosevelt Corollary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1904: USA may act as 'police power' in Latin America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Kicker 91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4"/>
                </a:solidFill>
              </a:rPr>
              <a:t>TOPIC 1 · QUICK-FIRE QUIZ</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bg1"/>
                </a:solidFill>
              </a:rPr>
              <a:t>Test yourself: Topic 1</a:t>
            </a:r>
            <a:endParaRPr lang="en-US" sz="3400" dirty="0"/>
          </a:p>
        </p:txBody>
      </p:sp>
      <p:sp>
        <p:nvSpPr>
          <p:cNvPr id="4" name="Question number 919"/>
          <p:cNvSpPr/>
          <p:nvPr/>
        </p:nvSpPr>
        <p:spPr>
          <a:xfrm>
            <a:off x="548640" y="1517904"/>
            <a:ext cx="457200" cy="457200"/>
          </a:xfrm>
          <a:prstGeom prst="ellipse">
            <a:avLst/>
          </a:prstGeom>
          <a:solidFill>
            <a:schemeClr val="accent4"/>
          </a:solidFill>
          <a:ln/>
        </p:spPr>
      </p:sp>
      <p:sp>
        <p:nvSpPr>
          <p:cNvPr id="5" name="Text 920"/>
          <p:cNvSpPr txBox="1"/>
          <p:nvPr/>
        </p:nvSpPr>
        <p:spPr>
          <a:xfrm>
            <a:off x="548640" y="1517904"/>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1</a:t>
            </a:r>
            <a:endParaRPr lang="en-US" sz="1600" dirty="0"/>
          </a:p>
        </p:txBody>
      </p:sp>
      <p:sp>
        <p:nvSpPr>
          <p:cNvPr id="6" name="Text 921"/>
          <p:cNvSpPr txBox="1"/>
          <p:nvPr/>
        </p:nvSpPr>
        <p:spPr>
          <a:xfrm>
            <a:off x="1170432" y="1499616"/>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Roughly what share of Africa was under European rule by 1914?</a:t>
            </a:r>
            <a:endParaRPr lang="en-US" sz="1700" dirty="0"/>
          </a:p>
        </p:txBody>
      </p:sp>
      <p:sp>
        <p:nvSpPr>
          <p:cNvPr id="7" name="Question number 922"/>
          <p:cNvSpPr/>
          <p:nvPr/>
        </p:nvSpPr>
        <p:spPr>
          <a:xfrm>
            <a:off x="548640" y="2690622"/>
            <a:ext cx="457200" cy="457200"/>
          </a:xfrm>
          <a:prstGeom prst="ellipse">
            <a:avLst/>
          </a:prstGeom>
          <a:solidFill>
            <a:schemeClr val="accent4"/>
          </a:solidFill>
          <a:ln/>
        </p:spPr>
      </p:sp>
      <p:sp>
        <p:nvSpPr>
          <p:cNvPr id="8" name="Text 923"/>
          <p:cNvSpPr txBox="1"/>
          <p:nvPr/>
        </p:nvSpPr>
        <p:spPr>
          <a:xfrm>
            <a:off x="548640" y="2690622"/>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2</a:t>
            </a:r>
            <a:endParaRPr lang="en-US" sz="1600" dirty="0"/>
          </a:p>
        </p:txBody>
      </p:sp>
      <p:sp>
        <p:nvSpPr>
          <p:cNvPr id="9" name="Text 924"/>
          <p:cNvSpPr txBox="1"/>
          <p:nvPr/>
        </p:nvSpPr>
        <p:spPr>
          <a:xfrm>
            <a:off x="1170432" y="2672334"/>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Who called the Berlin Conference, and when?</a:t>
            </a:r>
            <a:endParaRPr lang="en-US" sz="1700" dirty="0"/>
          </a:p>
        </p:txBody>
      </p:sp>
      <p:sp>
        <p:nvSpPr>
          <p:cNvPr id="10" name="Question number 925"/>
          <p:cNvSpPr/>
          <p:nvPr/>
        </p:nvSpPr>
        <p:spPr>
          <a:xfrm>
            <a:off x="548640" y="3863340"/>
            <a:ext cx="457200" cy="457200"/>
          </a:xfrm>
          <a:prstGeom prst="ellipse">
            <a:avLst/>
          </a:prstGeom>
          <a:solidFill>
            <a:schemeClr val="accent4"/>
          </a:solidFill>
          <a:ln/>
        </p:spPr>
      </p:sp>
      <p:sp>
        <p:nvSpPr>
          <p:cNvPr id="11" name="Text 926"/>
          <p:cNvSpPr txBox="1"/>
          <p:nvPr/>
        </p:nvSpPr>
        <p:spPr>
          <a:xfrm>
            <a:off x="548640" y="3863340"/>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3</a:t>
            </a:r>
            <a:endParaRPr lang="en-US" sz="1600" dirty="0"/>
          </a:p>
        </p:txBody>
      </p:sp>
      <p:sp>
        <p:nvSpPr>
          <p:cNvPr id="12" name="Text 927"/>
          <p:cNvSpPr txBox="1"/>
          <p:nvPr/>
        </p:nvSpPr>
        <p:spPr>
          <a:xfrm>
            <a:off x="1170432" y="3845052"/>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Which 1898 crisis brought Britain and France to the brink of war in Sudan?</a:t>
            </a:r>
            <a:endParaRPr lang="en-US" sz="1700" dirty="0"/>
          </a:p>
        </p:txBody>
      </p:sp>
      <p:sp>
        <p:nvSpPr>
          <p:cNvPr id="13" name="Question number 928"/>
          <p:cNvSpPr/>
          <p:nvPr/>
        </p:nvSpPr>
        <p:spPr>
          <a:xfrm>
            <a:off x="548640" y="5036058"/>
            <a:ext cx="457200" cy="457200"/>
          </a:xfrm>
          <a:prstGeom prst="ellipse">
            <a:avLst/>
          </a:prstGeom>
          <a:solidFill>
            <a:schemeClr val="accent4"/>
          </a:solidFill>
          <a:ln/>
        </p:spPr>
      </p:sp>
      <p:sp>
        <p:nvSpPr>
          <p:cNvPr id="14" name="Text 929"/>
          <p:cNvSpPr txBox="1"/>
          <p:nvPr/>
        </p:nvSpPr>
        <p:spPr>
          <a:xfrm>
            <a:off x="548640" y="5036058"/>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4</a:t>
            </a:r>
            <a:endParaRPr lang="en-US" sz="1600" dirty="0"/>
          </a:p>
        </p:txBody>
      </p:sp>
      <p:sp>
        <p:nvSpPr>
          <p:cNvPr id="15" name="Text 930"/>
          <p:cNvSpPr txBox="1"/>
          <p:nvPr/>
        </p:nvSpPr>
        <p:spPr>
          <a:xfrm>
            <a:off x="1170432" y="5017770"/>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did the Boxer Protocol (1901) force China to do?</a:t>
            </a:r>
            <a:endParaRPr lang="en-US" sz="1700" dirty="0"/>
          </a:p>
        </p:txBody>
      </p:sp>
      <p:sp>
        <p:nvSpPr>
          <p:cNvPr id="16" name="Question number 931"/>
          <p:cNvSpPr/>
          <p:nvPr/>
        </p:nvSpPr>
        <p:spPr>
          <a:xfrm>
            <a:off x="6324448" y="1517904"/>
            <a:ext cx="457200" cy="457200"/>
          </a:xfrm>
          <a:prstGeom prst="ellipse">
            <a:avLst/>
          </a:prstGeom>
          <a:solidFill>
            <a:schemeClr val="accent4"/>
          </a:solidFill>
          <a:ln/>
        </p:spPr>
      </p:sp>
      <p:sp>
        <p:nvSpPr>
          <p:cNvPr id="17" name="Text 932"/>
          <p:cNvSpPr txBox="1"/>
          <p:nvPr/>
        </p:nvSpPr>
        <p:spPr>
          <a:xfrm>
            <a:off x="6324448" y="1517904"/>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5</a:t>
            </a:r>
            <a:endParaRPr lang="en-US" sz="1600" dirty="0"/>
          </a:p>
        </p:txBody>
      </p:sp>
      <p:sp>
        <p:nvSpPr>
          <p:cNvPr id="18" name="Text 933"/>
          <p:cNvSpPr txBox="1"/>
          <p:nvPr/>
        </p:nvSpPr>
        <p:spPr>
          <a:xfrm>
            <a:off x="6946240" y="1499616"/>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did Japan gain at Shimonoseki — and lose to the Triple Intervention?</a:t>
            </a:r>
            <a:endParaRPr lang="en-US" sz="1700" dirty="0"/>
          </a:p>
        </p:txBody>
      </p:sp>
      <p:sp>
        <p:nvSpPr>
          <p:cNvPr id="19" name="Question number 934"/>
          <p:cNvSpPr/>
          <p:nvPr/>
        </p:nvSpPr>
        <p:spPr>
          <a:xfrm>
            <a:off x="6324448" y="2690622"/>
            <a:ext cx="457200" cy="457200"/>
          </a:xfrm>
          <a:prstGeom prst="ellipse">
            <a:avLst/>
          </a:prstGeom>
          <a:solidFill>
            <a:schemeClr val="accent4"/>
          </a:solidFill>
          <a:ln/>
        </p:spPr>
      </p:sp>
      <p:sp>
        <p:nvSpPr>
          <p:cNvPr id="20" name="Text 935"/>
          <p:cNvSpPr txBox="1"/>
          <p:nvPr/>
        </p:nvSpPr>
        <p:spPr>
          <a:xfrm>
            <a:off x="6324448" y="2690622"/>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6</a:t>
            </a:r>
            <a:endParaRPr lang="en-US" sz="1600" dirty="0"/>
          </a:p>
        </p:txBody>
      </p:sp>
      <p:sp>
        <p:nvSpPr>
          <p:cNvPr id="21" name="Text 936"/>
          <p:cNvSpPr txBox="1"/>
          <p:nvPr/>
        </p:nvSpPr>
        <p:spPr>
          <a:xfrm>
            <a:off x="6946240" y="2672334"/>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Give two results of the Treaty of Portsmouth (1905).</a:t>
            </a:r>
            <a:endParaRPr lang="en-US" sz="1700" dirty="0"/>
          </a:p>
        </p:txBody>
      </p:sp>
      <p:sp>
        <p:nvSpPr>
          <p:cNvPr id="22" name="Question number 937"/>
          <p:cNvSpPr/>
          <p:nvPr/>
        </p:nvSpPr>
        <p:spPr>
          <a:xfrm>
            <a:off x="6324448" y="3863340"/>
            <a:ext cx="457200" cy="457200"/>
          </a:xfrm>
          <a:prstGeom prst="ellipse">
            <a:avLst/>
          </a:prstGeom>
          <a:solidFill>
            <a:schemeClr val="accent4"/>
          </a:solidFill>
          <a:ln/>
        </p:spPr>
      </p:sp>
      <p:sp>
        <p:nvSpPr>
          <p:cNvPr id="23" name="Text 938"/>
          <p:cNvSpPr txBox="1"/>
          <p:nvPr/>
        </p:nvSpPr>
        <p:spPr>
          <a:xfrm>
            <a:off x="6324448" y="3863340"/>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7</a:t>
            </a:r>
            <a:endParaRPr lang="en-US" sz="1600" dirty="0"/>
          </a:p>
        </p:txBody>
      </p:sp>
      <p:sp>
        <p:nvSpPr>
          <p:cNvPr id="24" name="Text 939"/>
          <p:cNvSpPr txBox="1"/>
          <p:nvPr/>
        </p:nvSpPr>
        <p:spPr>
          <a:xfrm>
            <a:off x="6946240" y="3845052"/>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did the Platt Amendment (1901) allow the USA to do?</a:t>
            </a:r>
            <a:endParaRPr lang="en-US" sz="1700" dirty="0"/>
          </a:p>
        </p:txBody>
      </p:sp>
      <p:sp>
        <p:nvSpPr>
          <p:cNvPr id="25" name="Question number 940"/>
          <p:cNvSpPr/>
          <p:nvPr/>
        </p:nvSpPr>
        <p:spPr>
          <a:xfrm>
            <a:off x="6324448" y="5036058"/>
            <a:ext cx="457200" cy="457200"/>
          </a:xfrm>
          <a:prstGeom prst="ellipse">
            <a:avLst/>
          </a:prstGeom>
          <a:solidFill>
            <a:schemeClr val="accent4"/>
          </a:solidFill>
          <a:ln/>
        </p:spPr>
      </p:sp>
      <p:sp>
        <p:nvSpPr>
          <p:cNvPr id="26" name="Text 941"/>
          <p:cNvSpPr txBox="1"/>
          <p:nvPr/>
        </p:nvSpPr>
        <p:spPr>
          <a:xfrm>
            <a:off x="6324448" y="5036058"/>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8</a:t>
            </a:r>
            <a:endParaRPr lang="en-US" sz="1600" dirty="0"/>
          </a:p>
        </p:txBody>
      </p:sp>
      <p:sp>
        <p:nvSpPr>
          <p:cNvPr id="27" name="Text 942"/>
          <p:cNvSpPr txBox="1"/>
          <p:nvPr/>
        </p:nvSpPr>
        <p:spPr>
          <a:xfrm>
            <a:off x="6946240" y="5017770"/>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were the two aims of Hay's Open Door Notes?</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F1F3F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Kicker 94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1"/>
                </a:solidFill>
              </a:rPr>
              <a:t>TOPIC 1 · QUIZ ANSWERS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Answers: Topic 1</a:t>
            </a:r>
            <a:endParaRPr lang="en-US" sz="3400" dirty="0"/>
          </a:p>
        </p:txBody>
      </p:sp>
      <p:graphicFrame>
        <p:nvGraphicFramePr>
          <p:cNvPr id="41" name="Table 944"/>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457200"/>
                <a:gridCol w="3657600"/>
                <a:gridCol w="6979615"/>
              </a:tblGrid>
              <a:tr h="384048">
                <a:tc>
                  <a:txBody>
                    <a:bodyPr/>
                    <a:lstStyle/>
                    <a:p>
                      <a:pPr indent="0" marL="0">
                        <a:buNone/>
                      </a:pPr>
                      <a:r>
                        <a:rPr lang="en-US" sz="1400" b="1" dirty="0">
                          <a:solidFill>
                            <a:schemeClr val="bg1"/>
                          </a:solidFill>
                        </a:rPr>
                        <a: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Question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Answer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r>
              <a:tr h="549783">
                <a:tc>
                  <a:txBody>
                    <a:bodyPr/>
                    <a:lstStyle/>
                    <a:p>
                      <a:pPr algn="ctr" indent="0" marL="0">
                        <a:buNone/>
                      </a:pPr>
                      <a:r>
                        <a:rPr lang="en-US" sz="1400" b="1" dirty="0">
                          <a:solidFill>
                            <a:schemeClr val="accent1"/>
                          </a:solidFill>
                        </a:rPr>
                        <a:t>1</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Share of Africa ruled by Europeans, 1914</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About 90% — only Ethiopia and Liberia stayed independent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49783">
                <a:tc>
                  <a:txBody>
                    <a:bodyPr/>
                    <a:lstStyle/>
                    <a:p>
                      <a:pPr algn="ctr" indent="0" marL="0">
                        <a:buNone/>
                      </a:pPr>
                      <a:r>
                        <a:rPr lang="en-US" sz="1400" b="1" dirty="0">
                          <a:solidFill>
                            <a:schemeClr val="accent1"/>
                          </a:solidFill>
                        </a:rPr>
                        <a:t>2</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Berlin Conference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Bismarck (with Ferry), 1884–85</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549783">
                <a:tc>
                  <a:txBody>
                    <a:bodyPr/>
                    <a:lstStyle/>
                    <a:p>
                      <a:pPr algn="ctr" indent="0" marL="0">
                        <a:buNone/>
                      </a:pPr>
                      <a:r>
                        <a:rPr lang="en-US" sz="1400" b="1" dirty="0">
                          <a:solidFill>
                            <a:schemeClr val="accent1"/>
                          </a:solidFill>
                        </a:rPr>
                        <a:t>3</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1898 crisis in Sudan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Fashoda — France backed down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49783">
                <a:tc>
                  <a:txBody>
                    <a:bodyPr/>
                    <a:lstStyle/>
                    <a:p>
                      <a:pPr algn="ctr" indent="0" marL="0">
                        <a:buNone/>
                      </a:pPr>
                      <a:r>
                        <a:rPr lang="en-US" sz="1400" b="1" dirty="0">
                          <a:solidFill>
                            <a:schemeClr val="accent1"/>
                          </a:solidFill>
                        </a:rPr>
                        <a:t>4</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Boxer Protocol</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Pay 450 million taels and accept foreign troops in Beijing</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549783">
                <a:tc>
                  <a:txBody>
                    <a:bodyPr/>
                    <a:lstStyle/>
                    <a:p>
                      <a:pPr algn="ctr" indent="0" marL="0">
                        <a:buNone/>
                      </a:pPr>
                      <a:r>
                        <a:rPr lang="en-US" sz="1400" b="1" dirty="0">
                          <a:solidFill>
                            <a:schemeClr val="accent1"/>
                          </a:solidFill>
                        </a:rPr>
                        <a:t>5</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Shimonoseki / Triple Intervention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Gained Taiwan, Pescadores, Liaodong, 200m taels; forced to hand back Liaodong</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49783">
                <a:tc>
                  <a:txBody>
                    <a:bodyPr/>
                    <a:lstStyle/>
                    <a:p>
                      <a:pPr algn="ctr" indent="0" marL="0">
                        <a:buNone/>
                      </a:pPr>
                      <a:r>
                        <a:rPr lang="en-US" sz="1400" b="1" dirty="0">
                          <a:solidFill>
                            <a:schemeClr val="accent1"/>
                          </a:solidFill>
                        </a:rPr>
                        <a:t>6</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Treaty of Portsmouth</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Japan gets Port Arthur, S. Manchurian Railway, S. Sakhalin; Korea in its sphere; no indemnity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549783">
                <a:tc>
                  <a:txBody>
                    <a:bodyPr/>
                    <a:lstStyle/>
                    <a:p>
                      <a:pPr algn="ctr" indent="0" marL="0">
                        <a:buNone/>
                      </a:pPr>
                      <a:r>
                        <a:rPr lang="en-US" sz="1400" b="1" dirty="0">
                          <a:solidFill>
                            <a:schemeClr val="accent1"/>
                          </a:solidFill>
                        </a:rPr>
                        <a:t>7</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Platt Amendment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Intervene in Cuba and keep a base at Guantánamo</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49783">
                <a:tc>
                  <a:txBody>
                    <a:bodyPr/>
                    <a:lstStyle/>
                    <a:p>
                      <a:pPr algn="ctr" indent="0" marL="0">
                        <a:buNone/>
                      </a:pPr>
                      <a:r>
                        <a:rPr lang="en-US" sz="1400" b="1" dirty="0">
                          <a:solidFill>
                            <a:schemeClr val="accent1"/>
                          </a:solidFill>
                        </a:rPr>
                        <a:t>8</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Open Door Notes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Equal trade for all in China; preserve China's territorial integrity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chemeClr val="accent5"/>
        </a:solidFill>
      </p:bgPr>
    </p:bg>
    <p:spTree>
      <p:nvGrpSpPr>
        <p:cNvPr id="1" name=""/>
        <p:cNvGrpSpPr/>
        <p:nvPr/>
      </p:nvGrpSpPr>
      <p:grpSpPr>
        <a:xfrm>
          <a:off x="0" y="0"/>
          <a:ext cx="0" cy="0"/>
          <a:chOff x="0" y="0"/>
          <a:chExt cx="0" cy="0"/>
        </a:xfrm>
      </p:grpSpPr>
      <p:sp>
        <p:nvSpPr>
          <p:cNvPr id="2" name="Topic number 945"/>
          <p:cNvSpPr/>
          <p:nvPr/>
        </p:nvSpPr>
        <p:spPr>
          <a:xfrm>
            <a:off x="548640" y="914400"/>
            <a:ext cx="1783080" cy="1783080"/>
          </a:xfrm>
          <a:prstGeom prst="ellipse">
            <a:avLst/>
          </a:prstGeom>
          <a:solidFill>
            <a:schemeClr val="bg1"/>
          </a:solidFill>
          <a:ln/>
        </p:spPr>
      </p:sp>
      <p:sp>
        <p:nvSpPr>
          <p:cNvPr id="3" name="Text 946"/>
          <p:cNvSpPr txBox="1"/>
          <p:nvPr/>
        </p:nvSpPr>
        <p:spPr>
          <a:xfrm>
            <a:off x="548640" y="914400"/>
            <a:ext cx="1783080" cy="1783080"/>
          </a:xfrm>
          <a:prstGeom prst="rect">
            <a:avLst/>
          </a:prstGeom>
          <a:noFill/>
          <a:ln/>
        </p:spPr>
        <p:txBody>
          <a:bodyPr wrap="square" lIns="0" tIns="0" rIns="0" bIns="0" rtlCol="0" anchor="ctr"/>
          <a:lstStyle/>
          <a:p>
            <a:pPr algn="ctr" indent="0" marL="0">
              <a:spcAft>
                <a:spcPts val="600"/>
              </a:spcAft>
              <a:buNone/>
            </a:pPr>
            <a:r>
              <a:rPr lang="en-US" sz="5400" b="1" dirty="0">
                <a:solidFill>
                  <a:schemeClr val="accent5"/>
                </a:solidFill>
                <a:latin typeface="+mj-lt" pitchFamily="34" charset="0"/>
                <a:ea typeface="+mj-lt" pitchFamily="34" charset="-122"/>
                <a:cs typeface="+mj-lt" pitchFamily="34" charset="-120"/>
              </a:rPr>
              <a:t>P1</a:t>
            </a:r>
            <a:endParaRPr lang="en-US" sz="5400" dirty="0"/>
          </a:p>
        </p:txBody>
      </p:sp>
      <p:sp>
        <p:nvSpPr>
          <p:cNvPr id="4" name="Text 0"/>
          <p:cNvSpPr/>
          <p:nvPr>
            <p:ph idx="100" type="title" hasCustomPrompt="1"/>
          </p:nvPr>
        </p:nvSpPr>
        <p:spPr>
          <a:xfrm>
            <a:off x="2788920" y="868680"/>
            <a:ext cx="8869680" cy="1737360"/>
          </a:xfrm>
          <a:prstGeom prst="rect">
            <a:avLst/>
          </a:prstGeom>
          <a:noFill/>
          <a:ln/>
        </p:spPr>
        <p:txBody>
          <a:bodyPr wrap="square" lIns="0" tIns="0" rIns="0" bIns="0" rtlCol="0" anchor="ctr"/>
          <a:lstStyle/>
          <a:p>
            <a:pPr algn="l" indent="0" marL="0">
              <a:buNone/>
            </a:pPr>
            <a:r>
              <a:rPr lang="en-US" sz="3400" b="1" dirty="0">
                <a:solidFill>
                  <a:schemeClr val="bg1"/>
                </a:solidFill>
              </a:rPr>
              <a:t>Paper 1 skills: answering the source question</a:t>
            </a:r>
            <a:endParaRPr lang="en-US" sz="3400" dirty="0"/>
          </a:p>
        </p:txBody>
      </p:sp>
      <p:sp>
        <p:nvSpPr>
          <p:cNvPr id="5" name="Text 0"/>
          <p:cNvSpPr/>
          <p:nvPr>
            <p:ph idx="101" type="body" hasCustomPrompt="1"/>
          </p:nvPr>
        </p:nvSpPr>
        <p:spPr>
          <a:xfrm>
            <a:off x="2788920" y="2606040"/>
            <a:ext cx="8869680" cy="457200"/>
          </a:xfrm>
          <a:prstGeom prst="rect">
            <a:avLst/>
          </a:prstGeom>
          <a:noFill/>
          <a:ln/>
        </p:spPr>
        <p:txBody>
          <a:bodyPr wrap="square" lIns="0" tIns="0" rIns="0" bIns="0" rtlCol="0" anchor="ctr"/>
          <a:lstStyle/>
          <a:p>
            <a:pPr algn="l" indent="0" marL="0">
              <a:buNone/>
            </a:pPr>
            <a:r>
              <a:rPr lang="en-US" sz="1800" i="1" dirty="0">
                <a:solidFill>
                  <a:schemeClr val="bg1"/>
                </a:solidFill>
              </a:rPr>
              <a:t>1 hr 15 min · 40 marks · Topic 1 sources</a:t>
            </a:r>
            <a:endParaRPr lang="en-US" sz="1800" dirty="0"/>
          </a:p>
        </p:txBody>
      </p:sp>
      <p:sp>
        <p:nvSpPr>
          <p:cNvPr id="6" name="KQ pill 947"/>
          <p:cNvSpPr/>
          <p:nvPr/>
        </p:nvSpPr>
        <p:spPr>
          <a:xfrm>
            <a:off x="2788920" y="3502152"/>
            <a:ext cx="786384" cy="365760"/>
          </a:xfrm>
          <a:prstGeom prst="roundRect">
            <a:avLst>
              <a:gd name="adj" fmla="val 50000"/>
            </a:avLst>
          </a:prstGeom>
          <a:solidFill>
            <a:schemeClr val="bg1"/>
          </a:solidFill>
          <a:ln/>
        </p:spPr>
      </p:sp>
      <p:sp>
        <p:nvSpPr>
          <p:cNvPr id="7" name="Text 948"/>
          <p:cNvSpPr txBox="1"/>
          <p:nvPr/>
        </p:nvSpPr>
        <p:spPr>
          <a:xfrm>
            <a:off x="2788920" y="350215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5"/>
                </a:solidFill>
              </a:rPr>
              <a:t>(a)</a:t>
            </a:r>
            <a:endParaRPr lang="en-US" sz="1400" dirty="0"/>
          </a:p>
        </p:txBody>
      </p:sp>
      <p:sp>
        <p:nvSpPr>
          <p:cNvPr id="8" name="Text 949"/>
          <p:cNvSpPr txBox="1"/>
          <p:nvPr/>
        </p:nvSpPr>
        <p:spPr>
          <a:xfrm>
            <a:off x="3749040" y="3447288"/>
            <a:ext cx="7863840" cy="67665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Compare two sources: similarities and differences — 15 marks</a:t>
            </a:r>
            <a:endParaRPr lang="en-US" sz="1700" dirty="0"/>
          </a:p>
        </p:txBody>
      </p:sp>
      <p:sp>
        <p:nvSpPr>
          <p:cNvPr id="9" name="KQ pill 950"/>
          <p:cNvSpPr/>
          <p:nvPr/>
        </p:nvSpPr>
        <p:spPr>
          <a:xfrm>
            <a:off x="2788920" y="4215384"/>
            <a:ext cx="786384" cy="365760"/>
          </a:xfrm>
          <a:prstGeom prst="roundRect">
            <a:avLst>
              <a:gd name="adj" fmla="val 50000"/>
            </a:avLst>
          </a:prstGeom>
          <a:solidFill>
            <a:schemeClr val="bg1"/>
          </a:solidFill>
          <a:ln/>
        </p:spPr>
      </p:sp>
      <p:sp>
        <p:nvSpPr>
          <p:cNvPr id="10" name="Text 951"/>
          <p:cNvSpPr txBox="1"/>
          <p:nvPr/>
        </p:nvSpPr>
        <p:spPr>
          <a:xfrm>
            <a:off x="2788920" y="4215384"/>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5"/>
                </a:solidFill>
              </a:rPr>
              <a:t>(b)</a:t>
            </a:r>
            <a:endParaRPr lang="en-US" sz="1400" dirty="0"/>
          </a:p>
        </p:txBody>
      </p:sp>
      <p:sp>
        <p:nvSpPr>
          <p:cNvPr id="11" name="Text 952"/>
          <p:cNvSpPr txBox="1"/>
          <p:nvPr/>
        </p:nvSpPr>
        <p:spPr>
          <a:xfrm>
            <a:off x="3749040" y="4160520"/>
            <a:ext cx="7863840" cy="67665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Use all the sources to test a view — 25 marks</a:t>
            </a:r>
            <a:endParaRPr lang="en-US" sz="1700" dirty="0"/>
          </a:p>
        </p:txBody>
      </p:sp>
      <p:sp>
        <p:nvSpPr>
          <p:cNvPr id="12" name="KQ pill 953"/>
          <p:cNvSpPr/>
          <p:nvPr/>
        </p:nvSpPr>
        <p:spPr>
          <a:xfrm>
            <a:off x="2788920" y="4928616"/>
            <a:ext cx="786384" cy="365760"/>
          </a:xfrm>
          <a:prstGeom prst="roundRect">
            <a:avLst>
              <a:gd name="adj" fmla="val 50000"/>
            </a:avLst>
          </a:prstGeom>
          <a:solidFill>
            <a:schemeClr val="bg1"/>
          </a:solidFill>
          <a:ln/>
        </p:spPr>
      </p:sp>
      <p:sp>
        <p:nvSpPr>
          <p:cNvPr id="13" name="Text 954"/>
          <p:cNvSpPr txBox="1"/>
          <p:nvPr/>
        </p:nvSpPr>
        <p:spPr>
          <a:xfrm>
            <a:off x="2788920" y="4928616"/>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5"/>
                </a:solidFill>
              </a:rPr>
              <a:t>Tip</a:t>
            </a:r>
            <a:endParaRPr lang="en-US" sz="1400" dirty="0"/>
          </a:p>
        </p:txBody>
      </p:sp>
      <p:sp>
        <p:nvSpPr>
          <p:cNvPr id="14" name="Text 955"/>
          <p:cNvSpPr txBox="1"/>
          <p:nvPr/>
        </p:nvSpPr>
        <p:spPr>
          <a:xfrm>
            <a:off x="3749040" y="4873752"/>
            <a:ext cx="7863840" cy="67665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Judge every source by its provenance, its content and your own knowledge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Kicker 95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1 · TIMING</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Spend your 75 minutes wisely</a:t>
            </a:r>
            <a:endParaRPr lang="en-US" sz="3400" dirty="0"/>
          </a:p>
        </p:txBody>
      </p:sp>
      <p:sp>
        <p:nvSpPr>
          <p:cNvPr id="4" name="Time block 957"/>
          <p:cNvSpPr/>
          <p:nvPr/>
        </p:nvSpPr>
        <p:spPr>
          <a:xfrm>
            <a:off x="548640" y="1481328"/>
            <a:ext cx="2377440" cy="1097280"/>
          </a:xfrm>
          <a:prstGeom prst="roundRect">
            <a:avLst>
              <a:gd name="adj" fmla="val 8333"/>
            </a:avLst>
          </a:prstGeom>
          <a:solidFill>
            <a:schemeClr val="accent6"/>
          </a:solidFill>
          <a:ln/>
        </p:spPr>
      </p:sp>
      <p:sp>
        <p:nvSpPr>
          <p:cNvPr id="5" name="Text 958"/>
          <p:cNvSpPr txBox="1"/>
          <p:nvPr/>
        </p:nvSpPr>
        <p:spPr>
          <a:xfrm>
            <a:off x="731520" y="1591056"/>
            <a:ext cx="2011680" cy="502920"/>
          </a:xfrm>
          <a:prstGeom prst="rect">
            <a:avLst/>
          </a:prstGeom>
          <a:noFill/>
          <a:ln/>
        </p:spPr>
        <p:txBody>
          <a:bodyPr wrap="square" lIns="0" tIns="0" rIns="0" bIns="0" rtlCol="0" anchor="t"/>
          <a:lstStyle/>
          <a:p>
            <a:pPr algn="l" indent="0" marL="0">
              <a:spcAft>
                <a:spcPts val="600"/>
              </a:spcAft>
              <a:buNone/>
            </a:pPr>
            <a:r>
              <a:rPr lang="en-US" sz="2400" b="1" dirty="0">
                <a:solidFill>
                  <a:schemeClr val="bg1"/>
                </a:solidFill>
                <a:latin typeface="+mj-lt" pitchFamily="34" charset="0"/>
                <a:ea typeface="+mj-lt" pitchFamily="34" charset="-122"/>
                <a:cs typeface="+mj-lt" pitchFamily="34" charset="-120"/>
              </a:rPr>
              <a:t>10 min</a:t>
            </a:r>
            <a:endParaRPr lang="en-US" sz="2400" dirty="0"/>
          </a:p>
        </p:txBody>
      </p:sp>
      <p:sp>
        <p:nvSpPr>
          <p:cNvPr id="6" name="Text 959"/>
          <p:cNvSpPr txBox="1"/>
          <p:nvPr/>
        </p:nvSpPr>
        <p:spPr>
          <a:xfrm>
            <a:off x="731520" y="2084832"/>
            <a:ext cx="2011680" cy="411480"/>
          </a:xfrm>
          <a:prstGeom prst="rect">
            <a:avLst/>
          </a:prstGeom>
          <a:noFill/>
          <a:ln/>
        </p:spPr>
        <p:txBody>
          <a:bodyPr wrap="square" lIns="0" tIns="0" rIns="0" bIns="0" rtlCol="0" anchor="t"/>
          <a:lstStyle/>
          <a:p>
            <a:pPr algn="l" indent="0" marL="0">
              <a:spcAft>
                <a:spcPts val="600"/>
              </a:spcAft>
              <a:buNone/>
            </a:pPr>
            <a:r>
              <a:rPr lang="en-US" sz="1500" b="1" dirty="0">
                <a:solidFill>
                  <a:schemeClr val="bg1"/>
                </a:solidFill>
              </a:rPr>
              <a:t>Read</a:t>
            </a:r>
            <a:endParaRPr lang="en-US" sz="1500" dirty="0"/>
          </a:p>
        </p:txBody>
      </p:sp>
      <p:sp>
        <p:nvSpPr>
          <p:cNvPr id="7" name="Text 960"/>
          <p:cNvSpPr txBox="1"/>
          <p:nvPr/>
        </p:nvSpPr>
        <p:spPr>
          <a:xfrm>
            <a:off x="594360" y="2715768"/>
            <a:ext cx="2286000" cy="1325880"/>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Question first, then sources. Mark each: supports or challenges?</a:t>
            </a:r>
            <a:endParaRPr lang="en-US" sz="1500" dirty="0"/>
          </a:p>
        </p:txBody>
      </p:sp>
      <p:sp>
        <p:nvSpPr>
          <p:cNvPr id="8" name="Time block 961"/>
          <p:cNvSpPr/>
          <p:nvPr/>
        </p:nvSpPr>
        <p:spPr>
          <a:xfrm>
            <a:off x="3108960" y="1481328"/>
            <a:ext cx="3657600" cy="1097280"/>
          </a:xfrm>
          <a:prstGeom prst="roundRect">
            <a:avLst>
              <a:gd name="adj" fmla="val 8333"/>
            </a:avLst>
          </a:prstGeom>
          <a:solidFill>
            <a:schemeClr val="accent1"/>
          </a:solidFill>
          <a:ln/>
        </p:spPr>
      </p:sp>
      <p:sp>
        <p:nvSpPr>
          <p:cNvPr id="9" name="Text 962"/>
          <p:cNvSpPr txBox="1"/>
          <p:nvPr/>
        </p:nvSpPr>
        <p:spPr>
          <a:xfrm>
            <a:off x="3291840" y="1591056"/>
            <a:ext cx="3291840" cy="502920"/>
          </a:xfrm>
          <a:prstGeom prst="rect">
            <a:avLst/>
          </a:prstGeom>
          <a:noFill/>
          <a:ln/>
        </p:spPr>
        <p:txBody>
          <a:bodyPr wrap="square" lIns="0" tIns="0" rIns="0" bIns="0" rtlCol="0" anchor="t"/>
          <a:lstStyle/>
          <a:p>
            <a:pPr algn="l" indent="0" marL="0">
              <a:spcAft>
                <a:spcPts val="600"/>
              </a:spcAft>
              <a:buNone/>
            </a:pPr>
            <a:r>
              <a:rPr lang="en-US" sz="2400" b="1" dirty="0">
                <a:solidFill>
                  <a:schemeClr val="bg1"/>
                </a:solidFill>
                <a:latin typeface="+mj-lt" pitchFamily="34" charset="0"/>
                <a:ea typeface="+mj-lt" pitchFamily="34" charset="-122"/>
                <a:cs typeface="+mj-lt" pitchFamily="34" charset="-120"/>
              </a:rPr>
              <a:t>25 min</a:t>
            </a:r>
            <a:endParaRPr lang="en-US" sz="2400" dirty="0"/>
          </a:p>
        </p:txBody>
      </p:sp>
      <p:sp>
        <p:nvSpPr>
          <p:cNvPr id="10" name="Text 963"/>
          <p:cNvSpPr txBox="1"/>
          <p:nvPr/>
        </p:nvSpPr>
        <p:spPr>
          <a:xfrm>
            <a:off x="3291840" y="2084832"/>
            <a:ext cx="3291840" cy="411480"/>
          </a:xfrm>
          <a:prstGeom prst="rect">
            <a:avLst/>
          </a:prstGeom>
          <a:noFill/>
          <a:ln/>
        </p:spPr>
        <p:txBody>
          <a:bodyPr wrap="square" lIns="0" tIns="0" rIns="0" bIns="0" rtlCol="0" anchor="t"/>
          <a:lstStyle/>
          <a:p>
            <a:pPr algn="l" indent="0" marL="0">
              <a:spcAft>
                <a:spcPts val="600"/>
              </a:spcAft>
              <a:buNone/>
            </a:pPr>
            <a:r>
              <a:rPr lang="en-US" sz="1500" b="1" dirty="0">
                <a:solidFill>
                  <a:schemeClr val="bg1"/>
                </a:solidFill>
              </a:rPr>
              <a:t>(a) Compare · 15 marks</a:t>
            </a:r>
            <a:endParaRPr lang="en-US" sz="1500" dirty="0"/>
          </a:p>
        </p:txBody>
      </p:sp>
      <p:sp>
        <p:nvSpPr>
          <p:cNvPr id="11" name="Text 964"/>
          <p:cNvSpPr txBox="1"/>
          <p:nvPr/>
        </p:nvSpPr>
        <p:spPr>
          <a:xfrm>
            <a:off x="3154680" y="2715768"/>
            <a:ext cx="3566160" cy="1325880"/>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Similarities AND differences, then explain them using provenance.</a:t>
            </a:r>
            <a:endParaRPr lang="en-US" sz="1500" dirty="0"/>
          </a:p>
        </p:txBody>
      </p:sp>
      <p:sp>
        <p:nvSpPr>
          <p:cNvPr id="12" name="Time block 965"/>
          <p:cNvSpPr/>
          <p:nvPr/>
        </p:nvSpPr>
        <p:spPr>
          <a:xfrm>
            <a:off x="6949440" y="1481328"/>
            <a:ext cx="4693615" cy="1097280"/>
          </a:xfrm>
          <a:prstGeom prst="roundRect">
            <a:avLst>
              <a:gd name="adj" fmla="val 8333"/>
            </a:avLst>
          </a:prstGeom>
          <a:solidFill>
            <a:schemeClr val="accent5"/>
          </a:solidFill>
          <a:ln/>
        </p:spPr>
      </p:sp>
      <p:sp>
        <p:nvSpPr>
          <p:cNvPr id="13" name="Text 966"/>
          <p:cNvSpPr txBox="1"/>
          <p:nvPr/>
        </p:nvSpPr>
        <p:spPr>
          <a:xfrm>
            <a:off x="7132320" y="1591056"/>
            <a:ext cx="4327855" cy="502920"/>
          </a:xfrm>
          <a:prstGeom prst="rect">
            <a:avLst/>
          </a:prstGeom>
          <a:noFill/>
          <a:ln/>
        </p:spPr>
        <p:txBody>
          <a:bodyPr wrap="square" lIns="0" tIns="0" rIns="0" bIns="0" rtlCol="0" anchor="t"/>
          <a:lstStyle/>
          <a:p>
            <a:pPr algn="l" indent="0" marL="0">
              <a:spcAft>
                <a:spcPts val="600"/>
              </a:spcAft>
              <a:buNone/>
            </a:pPr>
            <a:r>
              <a:rPr lang="en-US" sz="2400" b="1" dirty="0">
                <a:solidFill>
                  <a:schemeClr val="bg1"/>
                </a:solidFill>
                <a:latin typeface="+mj-lt" pitchFamily="34" charset="0"/>
                <a:ea typeface="+mj-lt" pitchFamily="34" charset="-122"/>
                <a:cs typeface="+mj-lt" pitchFamily="34" charset="-120"/>
              </a:rPr>
              <a:t>40 min</a:t>
            </a:r>
            <a:endParaRPr lang="en-US" sz="2400" dirty="0"/>
          </a:p>
        </p:txBody>
      </p:sp>
      <p:sp>
        <p:nvSpPr>
          <p:cNvPr id="14" name="Text 967"/>
          <p:cNvSpPr txBox="1"/>
          <p:nvPr/>
        </p:nvSpPr>
        <p:spPr>
          <a:xfrm>
            <a:off x="7132320" y="2084832"/>
            <a:ext cx="4327855" cy="411480"/>
          </a:xfrm>
          <a:prstGeom prst="rect">
            <a:avLst/>
          </a:prstGeom>
          <a:noFill/>
          <a:ln/>
        </p:spPr>
        <p:txBody>
          <a:bodyPr wrap="square" lIns="0" tIns="0" rIns="0" bIns="0" rtlCol="0" anchor="t"/>
          <a:lstStyle/>
          <a:p>
            <a:pPr algn="l" indent="0" marL="0">
              <a:spcAft>
                <a:spcPts val="600"/>
              </a:spcAft>
              <a:buNone/>
            </a:pPr>
            <a:r>
              <a:rPr lang="en-US" sz="1500" b="1" dirty="0">
                <a:solidFill>
                  <a:schemeClr val="bg1"/>
                </a:solidFill>
              </a:rPr>
              <a:t>(b) Assess · 25 marks</a:t>
            </a:r>
            <a:endParaRPr lang="en-US" sz="1500" dirty="0"/>
          </a:p>
        </p:txBody>
      </p:sp>
      <p:sp>
        <p:nvSpPr>
          <p:cNvPr id="15" name="Text 968"/>
          <p:cNvSpPr txBox="1"/>
          <p:nvPr/>
        </p:nvSpPr>
        <p:spPr>
          <a:xfrm>
            <a:off x="6995160" y="2715768"/>
            <a:ext cx="4602175" cy="1325880"/>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Group the sources, evaluate each one and reach a judgement.</a:t>
            </a:r>
            <a:endParaRPr lang="en-US" sz="1500" dirty="0"/>
          </a:p>
        </p:txBody>
      </p:sp>
      <p:sp>
        <p:nvSpPr>
          <p:cNvPr id="16" name="Card 969"/>
          <p:cNvSpPr/>
          <p:nvPr/>
        </p:nvSpPr>
        <p:spPr>
          <a:xfrm>
            <a:off x="548640" y="4178808"/>
            <a:ext cx="5410048" cy="2084832"/>
          </a:xfrm>
          <a:prstGeom prst="roundRect">
            <a:avLst>
              <a:gd name="adj" fmla="val 4386"/>
            </a:avLst>
          </a:prstGeom>
          <a:solidFill>
            <a:schemeClr val="accent5">
              <a:alpha val="10000"/>
            </a:schemeClr>
          </a:solidFill>
          <a:ln/>
        </p:spPr>
      </p:sp>
      <p:sp>
        <p:nvSpPr>
          <p:cNvPr id="17" name="Icon circle 970"/>
          <p:cNvSpPr/>
          <p:nvPr/>
        </p:nvSpPr>
        <p:spPr>
          <a:xfrm>
            <a:off x="731520" y="4361688"/>
            <a:ext cx="475488" cy="475488"/>
          </a:xfrm>
          <a:prstGeom prst="ellipse">
            <a:avLst/>
          </a:prstGeom>
          <a:solidFill>
            <a:schemeClr val="accent5"/>
          </a:solidFill>
          <a:ln/>
        </p:spPr>
      </p:sp>
      <p:pic>
        <p:nvPicPr>
          <p:cNvPr id="18" name="Icon FaStopwatch 971" descr="preencoded.png">    </p:cNvPr>
          <p:cNvPicPr>
            <a:picLocks noChangeAspect="1"/>
          </p:cNvPicPr>
          <p:nvPr/>
        </p:nvPicPr>
        <p:blipFill>
          <a:blip r:embed="rId1"/>
          <a:stretch>
            <a:fillRect/>
          </a:stretch>
        </p:blipFill>
        <p:spPr>
          <a:xfrm>
            <a:off x="836127" y="4466295"/>
            <a:ext cx="266273" cy="266273"/>
          </a:xfrm>
          <a:prstGeom prst="rect">
            <a:avLst/>
          </a:prstGeom>
        </p:spPr>
      </p:pic>
      <p:sp>
        <p:nvSpPr>
          <p:cNvPr id="19" name="Card title 972"/>
          <p:cNvSpPr txBox="1"/>
          <p:nvPr/>
        </p:nvSpPr>
        <p:spPr>
          <a:xfrm>
            <a:off x="1335024" y="436168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Marks guide time</a:t>
            </a:r>
            <a:endParaRPr lang="en-US" sz="1700" dirty="0"/>
          </a:p>
        </p:txBody>
      </p:sp>
      <p:sp>
        <p:nvSpPr>
          <p:cNvPr id="20" name="Text 973"/>
          <p:cNvSpPr txBox="1"/>
          <p:nvPr/>
        </p:nvSpPr>
        <p:spPr>
          <a:xfrm>
            <a:off x="731520" y="4946904"/>
            <a:ext cx="5044288" cy="113385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(b) is worth more than (a), so give it more time. Don't let a brilliant (a) eat your (b).</a:t>
            </a:r>
            <a:endParaRPr lang="en-US" sz="1800" dirty="0"/>
          </a:p>
        </p:txBody>
      </p:sp>
      <p:sp>
        <p:nvSpPr>
          <p:cNvPr id="21" name="Card 974"/>
          <p:cNvSpPr/>
          <p:nvPr/>
        </p:nvSpPr>
        <p:spPr>
          <a:xfrm>
            <a:off x="6233008" y="4178808"/>
            <a:ext cx="5410048" cy="2084832"/>
          </a:xfrm>
          <a:prstGeom prst="roundRect">
            <a:avLst>
              <a:gd name="adj" fmla="val 4386"/>
            </a:avLst>
          </a:prstGeom>
          <a:solidFill>
            <a:schemeClr val="accent5">
              <a:alpha val="10000"/>
            </a:schemeClr>
          </a:solidFill>
          <a:ln/>
        </p:spPr>
      </p:sp>
      <p:sp>
        <p:nvSpPr>
          <p:cNvPr id="22" name="Icon circle 975"/>
          <p:cNvSpPr/>
          <p:nvPr/>
        </p:nvSpPr>
        <p:spPr>
          <a:xfrm>
            <a:off x="6415888" y="4361688"/>
            <a:ext cx="475488" cy="475488"/>
          </a:xfrm>
          <a:prstGeom prst="ellipse">
            <a:avLst/>
          </a:prstGeom>
          <a:solidFill>
            <a:schemeClr val="accent5"/>
          </a:solidFill>
          <a:ln/>
        </p:spPr>
      </p:sp>
      <p:pic>
        <p:nvPicPr>
          <p:cNvPr id="23" name="Icon FaEye 976" descr="preencoded.png">    </p:cNvPr>
          <p:cNvPicPr>
            <a:picLocks noChangeAspect="1"/>
          </p:cNvPicPr>
          <p:nvPr/>
        </p:nvPicPr>
        <p:blipFill>
          <a:blip r:embed="rId2"/>
          <a:stretch>
            <a:fillRect/>
          </a:stretch>
        </p:blipFill>
        <p:spPr>
          <a:xfrm>
            <a:off x="6520495" y="4466295"/>
            <a:ext cx="266273" cy="266273"/>
          </a:xfrm>
          <a:prstGeom prst="rect">
            <a:avLst/>
          </a:prstGeom>
        </p:spPr>
      </p:pic>
      <p:sp>
        <p:nvSpPr>
          <p:cNvPr id="24" name="Card title 977"/>
          <p:cNvSpPr txBox="1"/>
          <p:nvPr/>
        </p:nvSpPr>
        <p:spPr>
          <a:xfrm>
            <a:off x="7019392" y="436168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Read like an examiner</a:t>
            </a:r>
            <a:endParaRPr lang="en-US" sz="1700" dirty="0"/>
          </a:p>
        </p:txBody>
      </p:sp>
      <p:sp>
        <p:nvSpPr>
          <p:cNvPr id="25" name="Text 978"/>
          <p:cNvSpPr txBox="1"/>
          <p:nvPr/>
        </p:nvSpPr>
        <p:spPr>
          <a:xfrm>
            <a:off x="6415888" y="4946904"/>
            <a:ext cx="5044288" cy="113385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Underline the key issue in each question (e.g. 'attitudes to Japan') and keep every point tied to it.</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Kicker 97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1 · PROVENANCE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Judge every source: five questions</a:t>
            </a:r>
            <a:endParaRPr lang="en-US" sz="3400" dirty="0"/>
          </a:p>
        </p:txBody>
      </p:sp>
      <p:sp>
        <p:nvSpPr>
          <p:cNvPr id="4" name="Question card 980"/>
          <p:cNvSpPr/>
          <p:nvPr/>
        </p:nvSpPr>
        <p:spPr>
          <a:xfrm>
            <a:off x="548640" y="1481328"/>
            <a:ext cx="2036003" cy="2926080"/>
          </a:xfrm>
          <a:prstGeom prst="roundRect">
            <a:avLst>
              <a:gd name="adj" fmla="val 4491"/>
            </a:avLst>
          </a:prstGeom>
          <a:solidFill>
            <a:schemeClr val="accent5">
              <a:alpha val="10000"/>
            </a:schemeClr>
          </a:solidFill>
          <a:ln/>
        </p:spPr>
      </p:sp>
      <p:sp>
        <p:nvSpPr>
          <p:cNvPr id="5" name="Icon circle 981"/>
          <p:cNvSpPr/>
          <p:nvPr/>
        </p:nvSpPr>
        <p:spPr>
          <a:xfrm>
            <a:off x="1223742" y="1709928"/>
            <a:ext cx="685800" cy="685800"/>
          </a:xfrm>
          <a:prstGeom prst="ellipse">
            <a:avLst/>
          </a:prstGeom>
          <a:solidFill>
            <a:schemeClr val="accent5"/>
          </a:solidFill>
          <a:ln/>
        </p:spPr>
      </p:sp>
      <p:pic>
        <p:nvPicPr>
          <p:cNvPr id="6" name="Icon FaUserTie 982" descr="preencoded.png">    </p:cNvPr>
          <p:cNvPicPr>
            <a:picLocks noChangeAspect="1"/>
          </p:cNvPicPr>
          <p:nvPr/>
        </p:nvPicPr>
        <p:blipFill>
          <a:blip r:embed="rId1"/>
          <a:stretch>
            <a:fillRect/>
          </a:stretch>
        </p:blipFill>
        <p:spPr>
          <a:xfrm>
            <a:off x="1374618" y="1860804"/>
            <a:ext cx="384048" cy="384048"/>
          </a:xfrm>
          <a:prstGeom prst="rect">
            <a:avLst/>
          </a:prstGeom>
        </p:spPr>
      </p:pic>
      <p:sp>
        <p:nvSpPr>
          <p:cNvPr id="7" name="Text 983"/>
          <p:cNvSpPr txBox="1"/>
          <p:nvPr/>
        </p:nvSpPr>
        <p:spPr>
          <a:xfrm>
            <a:off x="640080" y="2505456"/>
            <a:ext cx="1853123" cy="411480"/>
          </a:xfrm>
          <a:prstGeom prst="rect">
            <a:avLst/>
          </a:prstGeom>
          <a:noFill/>
          <a:ln/>
        </p:spPr>
        <p:txBody>
          <a:bodyPr wrap="square" lIns="0" tIns="0" rIns="0" bIns="0" rtlCol="0" anchor="t"/>
          <a:lstStyle/>
          <a:p>
            <a:pPr algn="ctr" indent="0" marL="0">
              <a:spcAft>
                <a:spcPts val="600"/>
              </a:spcAft>
              <a:buNone/>
            </a:pPr>
            <a:r>
              <a:rPr lang="en-US" sz="2000" b="1" dirty="0">
                <a:solidFill>
                  <a:schemeClr val="tx2"/>
                </a:solidFill>
                <a:latin typeface="+mj-lt" pitchFamily="34" charset="0"/>
                <a:ea typeface="+mj-lt" pitchFamily="34" charset="-122"/>
                <a:cs typeface="+mj-lt" pitchFamily="34" charset="-120"/>
              </a:rPr>
              <a:t>Who?</a:t>
            </a:r>
            <a:endParaRPr lang="en-US" sz="2000" dirty="0"/>
          </a:p>
        </p:txBody>
      </p:sp>
      <p:sp>
        <p:nvSpPr>
          <p:cNvPr id="8" name="Text 984"/>
          <p:cNvSpPr txBox="1"/>
          <p:nvPr/>
        </p:nvSpPr>
        <p:spPr>
          <a:xfrm>
            <a:off x="713232" y="2962656"/>
            <a:ext cx="1706819" cy="137160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Who wrote or made it? What did they know, and what was their position?</a:t>
            </a:r>
            <a:endParaRPr lang="en-US" sz="1500" dirty="0"/>
          </a:p>
        </p:txBody>
      </p:sp>
      <p:sp>
        <p:nvSpPr>
          <p:cNvPr id="9" name="Question card 985"/>
          <p:cNvSpPr/>
          <p:nvPr/>
        </p:nvSpPr>
        <p:spPr>
          <a:xfrm>
            <a:off x="2813243" y="1481328"/>
            <a:ext cx="2036003" cy="2926080"/>
          </a:xfrm>
          <a:prstGeom prst="roundRect">
            <a:avLst>
              <a:gd name="adj" fmla="val 4491"/>
            </a:avLst>
          </a:prstGeom>
          <a:solidFill>
            <a:schemeClr val="accent5">
              <a:alpha val="10000"/>
            </a:schemeClr>
          </a:solidFill>
          <a:ln/>
        </p:spPr>
      </p:sp>
      <p:sp>
        <p:nvSpPr>
          <p:cNvPr id="10" name="Icon circle 986"/>
          <p:cNvSpPr/>
          <p:nvPr/>
        </p:nvSpPr>
        <p:spPr>
          <a:xfrm>
            <a:off x="3488345" y="1709928"/>
            <a:ext cx="685800" cy="685800"/>
          </a:xfrm>
          <a:prstGeom prst="ellipse">
            <a:avLst/>
          </a:prstGeom>
          <a:solidFill>
            <a:schemeClr val="accent5"/>
          </a:solidFill>
          <a:ln/>
        </p:spPr>
      </p:sp>
      <p:pic>
        <p:nvPicPr>
          <p:cNvPr id="11" name="Icon FaClock 987" descr="preencoded.png">    </p:cNvPr>
          <p:cNvPicPr>
            <a:picLocks noChangeAspect="1"/>
          </p:cNvPicPr>
          <p:nvPr/>
        </p:nvPicPr>
        <p:blipFill>
          <a:blip r:embed="rId2"/>
          <a:stretch>
            <a:fillRect/>
          </a:stretch>
        </p:blipFill>
        <p:spPr>
          <a:xfrm>
            <a:off x="3639221" y="1860804"/>
            <a:ext cx="384048" cy="384048"/>
          </a:xfrm>
          <a:prstGeom prst="rect">
            <a:avLst/>
          </a:prstGeom>
        </p:spPr>
      </p:pic>
      <p:sp>
        <p:nvSpPr>
          <p:cNvPr id="12" name="Text 988"/>
          <p:cNvSpPr txBox="1"/>
          <p:nvPr/>
        </p:nvSpPr>
        <p:spPr>
          <a:xfrm>
            <a:off x="2904683" y="2505456"/>
            <a:ext cx="1853123" cy="411480"/>
          </a:xfrm>
          <a:prstGeom prst="rect">
            <a:avLst/>
          </a:prstGeom>
          <a:noFill/>
          <a:ln/>
        </p:spPr>
        <p:txBody>
          <a:bodyPr wrap="square" lIns="0" tIns="0" rIns="0" bIns="0" rtlCol="0" anchor="t"/>
          <a:lstStyle/>
          <a:p>
            <a:pPr algn="ctr" indent="0" marL="0">
              <a:spcAft>
                <a:spcPts val="600"/>
              </a:spcAft>
              <a:buNone/>
            </a:pPr>
            <a:r>
              <a:rPr lang="en-US" sz="2000" b="1" dirty="0">
                <a:solidFill>
                  <a:schemeClr val="tx2"/>
                </a:solidFill>
                <a:latin typeface="+mj-lt" pitchFamily="34" charset="0"/>
                <a:ea typeface="+mj-lt" pitchFamily="34" charset="-122"/>
                <a:cs typeface="+mj-lt" pitchFamily="34" charset="-120"/>
              </a:rPr>
              <a:t>When?</a:t>
            </a:r>
            <a:endParaRPr lang="en-US" sz="2000" dirty="0"/>
          </a:p>
        </p:txBody>
      </p:sp>
      <p:sp>
        <p:nvSpPr>
          <p:cNvPr id="13" name="Text 989"/>
          <p:cNvSpPr txBox="1"/>
          <p:nvPr/>
        </p:nvSpPr>
        <p:spPr>
          <a:xfrm>
            <a:off x="2977835" y="2962656"/>
            <a:ext cx="1706819" cy="137160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Before, during or after the events? Hindsight? A crisis moment?</a:t>
            </a:r>
            <a:endParaRPr lang="en-US" sz="1500" dirty="0"/>
          </a:p>
        </p:txBody>
      </p:sp>
      <p:sp>
        <p:nvSpPr>
          <p:cNvPr id="14" name="Question card 990"/>
          <p:cNvSpPr/>
          <p:nvPr/>
        </p:nvSpPr>
        <p:spPr>
          <a:xfrm>
            <a:off x="5077846" y="1481328"/>
            <a:ext cx="2036003" cy="2926080"/>
          </a:xfrm>
          <a:prstGeom prst="roundRect">
            <a:avLst>
              <a:gd name="adj" fmla="val 4491"/>
            </a:avLst>
          </a:prstGeom>
          <a:solidFill>
            <a:schemeClr val="accent5">
              <a:alpha val="10000"/>
            </a:schemeClr>
          </a:solidFill>
          <a:ln/>
        </p:spPr>
      </p:sp>
      <p:sp>
        <p:nvSpPr>
          <p:cNvPr id="15" name="Icon circle 991"/>
          <p:cNvSpPr/>
          <p:nvPr/>
        </p:nvSpPr>
        <p:spPr>
          <a:xfrm>
            <a:off x="5752948" y="1709928"/>
            <a:ext cx="685800" cy="685800"/>
          </a:xfrm>
          <a:prstGeom prst="ellipse">
            <a:avLst/>
          </a:prstGeom>
          <a:solidFill>
            <a:schemeClr val="accent5"/>
          </a:solidFill>
          <a:ln/>
        </p:spPr>
      </p:sp>
      <p:pic>
        <p:nvPicPr>
          <p:cNvPr id="16" name="Icon FaNewspaper 992" descr="preencoded.png">    </p:cNvPr>
          <p:cNvPicPr>
            <a:picLocks noChangeAspect="1"/>
          </p:cNvPicPr>
          <p:nvPr/>
        </p:nvPicPr>
        <p:blipFill>
          <a:blip r:embed="rId3"/>
          <a:stretch>
            <a:fillRect/>
          </a:stretch>
        </p:blipFill>
        <p:spPr>
          <a:xfrm>
            <a:off x="5903824" y="1860804"/>
            <a:ext cx="384048" cy="384048"/>
          </a:xfrm>
          <a:prstGeom prst="rect">
            <a:avLst/>
          </a:prstGeom>
        </p:spPr>
      </p:pic>
      <p:sp>
        <p:nvSpPr>
          <p:cNvPr id="17" name="Text 993"/>
          <p:cNvSpPr txBox="1"/>
          <p:nvPr/>
        </p:nvSpPr>
        <p:spPr>
          <a:xfrm>
            <a:off x="5169286" y="2505456"/>
            <a:ext cx="1853123" cy="411480"/>
          </a:xfrm>
          <a:prstGeom prst="rect">
            <a:avLst/>
          </a:prstGeom>
          <a:noFill/>
          <a:ln/>
        </p:spPr>
        <p:txBody>
          <a:bodyPr wrap="square" lIns="0" tIns="0" rIns="0" bIns="0" rtlCol="0" anchor="t"/>
          <a:lstStyle/>
          <a:p>
            <a:pPr algn="ctr" indent="0" marL="0">
              <a:spcAft>
                <a:spcPts val="600"/>
              </a:spcAft>
              <a:buNone/>
            </a:pPr>
            <a:r>
              <a:rPr lang="en-US" sz="2000" b="1" dirty="0">
                <a:solidFill>
                  <a:schemeClr val="tx2"/>
                </a:solidFill>
                <a:latin typeface="+mj-lt" pitchFamily="34" charset="0"/>
                <a:ea typeface="+mj-lt" pitchFamily="34" charset="-122"/>
                <a:cs typeface="+mj-lt" pitchFamily="34" charset="-120"/>
              </a:rPr>
              <a:t>What type?</a:t>
            </a:r>
            <a:endParaRPr lang="en-US" sz="2000" dirty="0"/>
          </a:p>
        </p:txBody>
      </p:sp>
      <p:sp>
        <p:nvSpPr>
          <p:cNvPr id="18" name="Text 994"/>
          <p:cNvSpPr txBox="1"/>
          <p:nvPr/>
        </p:nvSpPr>
        <p:spPr>
          <a:xfrm>
            <a:off x="5242438" y="2962656"/>
            <a:ext cx="1706819" cy="137160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Speech, private letter, treaty, cartoon, newspaper, memoir?</a:t>
            </a:r>
            <a:endParaRPr lang="en-US" sz="1500" dirty="0"/>
          </a:p>
        </p:txBody>
      </p:sp>
      <p:sp>
        <p:nvSpPr>
          <p:cNvPr id="19" name="Question card 995"/>
          <p:cNvSpPr/>
          <p:nvPr/>
        </p:nvSpPr>
        <p:spPr>
          <a:xfrm>
            <a:off x="7342449" y="1481328"/>
            <a:ext cx="2036003" cy="2926080"/>
          </a:xfrm>
          <a:prstGeom prst="roundRect">
            <a:avLst>
              <a:gd name="adj" fmla="val 4491"/>
            </a:avLst>
          </a:prstGeom>
          <a:solidFill>
            <a:schemeClr val="accent5">
              <a:alpha val="10000"/>
            </a:schemeClr>
          </a:solidFill>
          <a:ln/>
        </p:spPr>
      </p:sp>
      <p:sp>
        <p:nvSpPr>
          <p:cNvPr id="20" name="Icon circle 996"/>
          <p:cNvSpPr/>
          <p:nvPr/>
        </p:nvSpPr>
        <p:spPr>
          <a:xfrm>
            <a:off x="8017551" y="1709928"/>
            <a:ext cx="685800" cy="685800"/>
          </a:xfrm>
          <a:prstGeom prst="ellipse">
            <a:avLst/>
          </a:prstGeom>
          <a:solidFill>
            <a:schemeClr val="accent5"/>
          </a:solidFill>
          <a:ln/>
        </p:spPr>
      </p:sp>
      <p:pic>
        <p:nvPicPr>
          <p:cNvPr id="21" name="Icon FaUsers 997" descr="preencoded.png">    </p:cNvPr>
          <p:cNvPicPr>
            <a:picLocks noChangeAspect="1"/>
          </p:cNvPicPr>
          <p:nvPr/>
        </p:nvPicPr>
        <p:blipFill>
          <a:blip r:embed="rId4"/>
          <a:stretch>
            <a:fillRect/>
          </a:stretch>
        </p:blipFill>
        <p:spPr>
          <a:xfrm>
            <a:off x="8168427" y="1860804"/>
            <a:ext cx="384048" cy="384048"/>
          </a:xfrm>
          <a:prstGeom prst="rect">
            <a:avLst/>
          </a:prstGeom>
        </p:spPr>
      </p:pic>
      <p:sp>
        <p:nvSpPr>
          <p:cNvPr id="22" name="Text 998"/>
          <p:cNvSpPr txBox="1"/>
          <p:nvPr/>
        </p:nvSpPr>
        <p:spPr>
          <a:xfrm>
            <a:off x="7433889" y="2505456"/>
            <a:ext cx="1853123" cy="411480"/>
          </a:xfrm>
          <a:prstGeom prst="rect">
            <a:avLst/>
          </a:prstGeom>
          <a:noFill/>
          <a:ln/>
        </p:spPr>
        <p:txBody>
          <a:bodyPr wrap="square" lIns="0" tIns="0" rIns="0" bIns="0" rtlCol="0" anchor="t"/>
          <a:lstStyle/>
          <a:p>
            <a:pPr algn="ctr" indent="0" marL="0">
              <a:spcAft>
                <a:spcPts val="600"/>
              </a:spcAft>
              <a:buNone/>
            </a:pPr>
            <a:r>
              <a:rPr lang="en-US" sz="2000" b="1" dirty="0">
                <a:solidFill>
                  <a:schemeClr val="tx2"/>
                </a:solidFill>
                <a:latin typeface="+mj-lt" pitchFamily="34" charset="0"/>
                <a:ea typeface="+mj-lt" pitchFamily="34" charset="-122"/>
                <a:cs typeface="+mj-lt" pitchFamily="34" charset="-120"/>
              </a:rPr>
              <a:t>Who for?</a:t>
            </a:r>
            <a:endParaRPr lang="en-US" sz="2000" dirty="0"/>
          </a:p>
        </p:txBody>
      </p:sp>
      <p:sp>
        <p:nvSpPr>
          <p:cNvPr id="23" name="Text 999"/>
          <p:cNvSpPr txBox="1"/>
          <p:nvPr/>
        </p:nvSpPr>
        <p:spPr>
          <a:xfrm>
            <a:off x="7507041" y="2962656"/>
            <a:ext cx="1706819" cy="137160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A public audience to persuade — or a private, candid one?</a:t>
            </a:r>
            <a:endParaRPr lang="en-US" sz="1500" dirty="0"/>
          </a:p>
        </p:txBody>
      </p:sp>
      <p:sp>
        <p:nvSpPr>
          <p:cNvPr id="24" name="Question card 1000"/>
          <p:cNvSpPr/>
          <p:nvPr/>
        </p:nvSpPr>
        <p:spPr>
          <a:xfrm>
            <a:off x="9607052" y="1481328"/>
            <a:ext cx="2036003" cy="2926080"/>
          </a:xfrm>
          <a:prstGeom prst="roundRect">
            <a:avLst>
              <a:gd name="adj" fmla="val 4491"/>
            </a:avLst>
          </a:prstGeom>
          <a:solidFill>
            <a:schemeClr val="accent5">
              <a:alpha val="10000"/>
            </a:schemeClr>
          </a:solidFill>
          <a:ln/>
        </p:spPr>
      </p:sp>
      <p:sp>
        <p:nvSpPr>
          <p:cNvPr id="25" name="Icon circle 1001"/>
          <p:cNvSpPr/>
          <p:nvPr/>
        </p:nvSpPr>
        <p:spPr>
          <a:xfrm>
            <a:off x="10282154" y="1709928"/>
            <a:ext cx="685800" cy="685800"/>
          </a:xfrm>
          <a:prstGeom prst="ellipse">
            <a:avLst/>
          </a:prstGeom>
          <a:solidFill>
            <a:schemeClr val="accent5"/>
          </a:solidFill>
          <a:ln/>
        </p:spPr>
      </p:sp>
      <p:pic>
        <p:nvPicPr>
          <p:cNvPr id="26" name="Icon FaBullseye 1002" descr="preencoded.png">    </p:cNvPr>
          <p:cNvPicPr>
            <a:picLocks noChangeAspect="1"/>
          </p:cNvPicPr>
          <p:nvPr/>
        </p:nvPicPr>
        <p:blipFill>
          <a:blip r:embed="rId5"/>
          <a:stretch>
            <a:fillRect/>
          </a:stretch>
        </p:blipFill>
        <p:spPr>
          <a:xfrm>
            <a:off x="10433030" y="1860804"/>
            <a:ext cx="384048" cy="384048"/>
          </a:xfrm>
          <a:prstGeom prst="rect">
            <a:avLst/>
          </a:prstGeom>
        </p:spPr>
      </p:pic>
      <p:sp>
        <p:nvSpPr>
          <p:cNvPr id="27" name="Text 1003"/>
          <p:cNvSpPr txBox="1"/>
          <p:nvPr/>
        </p:nvSpPr>
        <p:spPr>
          <a:xfrm>
            <a:off x="9698492" y="2505456"/>
            <a:ext cx="1853123" cy="411480"/>
          </a:xfrm>
          <a:prstGeom prst="rect">
            <a:avLst/>
          </a:prstGeom>
          <a:noFill/>
          <a:ln/>
        </p:spPr>
        <p:txBody>
          <a:bodyPr wrap="square" lIns="0" tIns="0" rIns="0" bIns="0" rtlCol="0" anchor="t"/>
          <a:lstStyle/>
          <a:p>
            <a:pPr algn="ctr" indent="0" marL="0">
              <a:spcAft>
                <a:spcPts val="600"/>
              </a:spcAft>
              <a:buNone/>
            </a:pPr>
            <a:r>
              <a:rPr lang="en-US" sz="2000" b="1" dirty="0">
                <a:solidFill>
                  <a:schemeClr val="tx2"/>
                </a:solidFill>
                <a:latin typeface="+mj-lt" pitchFamily="34" charset="0"/>
                <a:ea typeface="+mj-lt" pitchFamily="34" charset="-122"/>
                <a:cs typeface="+mj-lt" pitchFamily="34" charset="-120"/>
              </a:rPr>
              <a:t>Why?</a:t>
            </a:r>
            <a:endParaRPr lang="en-US" sz="2000" dirty="0"/>
          </a:p>
        </p:txBody>
      </p:sp>
      <p:sp>
        <p:nvSpPr>
          <p:cNvPr id="28" name="Text 1004"/>
          <p:cNvSpPr txBox="1"/>
          <p:nvPr/>
        </p:nvSpPr>
        <p:spPr>
          <a:xfrm>
            <a:off x="9771644" y="2962656"/>
            <a:ext cx="1706819" cy="137160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To persuade, justify, inform or mock? Purpose shapes content.</a:t>
            </a:r>
            <a:endParaRPr lang="en-US" sz="1500" dirty="0"/>
          </a:p>
        </p:txBody>
      </p:sp>
      <p:sp>
        <p:nvSpPr>
          <p:cNvPr id="29" name="Card 1005"/>
          <p:cNvSpPr/>
          <p:nvPr/>
        </p:nvSpPr>
        <p:spPr>
          <a:xfrm>
            <a:off x="548640" y="4681728"/>
            <a:ext cx="5410048" cy="1581912"/>
          </a:xfrm>
          <a:prstGeom prst="roundRect">
            <a:avLst>
              <a:gd name="adj" fmla="val 5780"/>
            </a:avLst>
          </a:prstGeom>
          <a:solidFill>
            <a:schemeClr val="accent5">
              <a:alpha val="10000"/>
            </a:schemeClr>
          </a:solidFill>
          <a:ln/>
        </p:spPr>
      </p:sp>
      <p:sp>
        <p:nvSpPr>
          <p:cNvPr id="30" name="Icon circle 1006"/>
          <p:cNvSpPr/>
          <p:nvPr/>
        </p:nvSpPr>
        <p:spPr>
          <a:xfrm>
            <a:off x="731520" y="4864608"/>
            <a:ext cx="475488" cy="475488"/>
          </a:xfrm>
          <a:prstGeom prst="ellipse">
            <a:avLst/>
          </a:prstGeom>
          <a:solidFill>
            <a:schemeClr val="accent5"/>
          </a:solidFill>
          <a:ln/>
        </p:spPr>
      </p:sp>
      <p:pic>
        <p:nvPicPr>
          <p:cNvPr id="31" name="Icon FaMagnifyingGlass 1007" descr="preencoded.png">    </p:cNvPr>
          <p:cNvPicPr>
            <a:picLocks noChangeAspect="1"/>
          </p:cNvPicPr>
          <p:nvPr/>
        </p:nvPicPr>
        <p:blipFill>
          <a:blip r:embed="rId6"/>
          <a:stretch>
            <a:fillRect/>
          </a:stretch>
        </p:blipFill>
        <p:spPr>
          <a:xfrm>
            <a:off x="836127" y="4969215"/>
            <a:ext cx="266273" cy="266273"/>
          </a:xfrm>
          <a:prstGeom prst="rect">
            <a:avLst/>
          </a:prstGeom>
        </p:spPr>
      </p:pic>
      <p:sp>
        <p:nvSpPr>
          <p:cNvPr id="32" name="Card title 1008"/>
          <p:cNvSpPr txBox="1"/>
          <p:nvPr/>
        </p:nvSpPr>
        <p:spPr>
          <a:xfrm>
            <a:off x="1335024" y="48646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Then check the content…</a:t>
            </a:r>
            <a:endParaRPr lang="en-US" sz="1700" dirty="0"/>
          </a:p>
        </p:txBody>
      </p:sp>
      <p:sp>
        <p:nvSpPr>
          <p:cNvPr id="33" name="Text 1009"/>
          <p:cNvSpPr txBox="1"/>
          <p:nvPr/>
        </p:nvSpPr>
        <p:spPr>
          <a:xfrm>
            <a:off x="731520" y="5449824"/>
            <a:ext cx="5044288" cy="63093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…against your own knowledge (context): is it accurate? What does it leave out?</a:t>
            </a:r>
            <a:endParaRPr lang="en-US" sz="1800" dirty="0"/>
          </a:p>
        </p:txBody>
      </p:sp>
      <p:sp>
        <p:nvSpPr>
          <p:cNvPr id="34" name="Card 1010"/>
          <p:cNvSpPr/>
          <p:nvPr/>
        </p:nvSpPr>
        <p:spPr>
          <a:xfrm>
            <a:off x="6233008" y="4681728"/>
            <a:ext cx="5410048" cy="1581912"/>
          </a:xfrm>
          <a:prstGeom prst="roundRect">
            <a:avLst>
              <a:gd name="adj" fmla="val 5780"/>
            </a:avLst>
          </a:prstGeom>
          <a:solidFill>
            <a:schemeClr val="accent5">
              <a:alpha val="10000"/>
            </a:schemeClr>
          </a:solidFill>
          <a:ln/>
        </p:spPr>
      </p:sp>
      <p:sp>
        <p:nvSpPr>
          <p:cNvPr id="35" name="Icon circle 1011"/>
          <p:cNvSpPr/>
          <p:nvPr/>
        </p:nvSpPr>
        <p:spPr>
          <a:xfrm>
            <a:off x="6415888" y="4864608"/>
            <a:ext cx="475488" cy="475488"/>
          </a:xfrm>
          <a:prstGeom prst="ellipse">
            <a:avLst/>
          </a:prstGeom>
          <a:solidFill>
            <a:schemeClr val="accent5"/>
          </a:solidFill>
          <a:ln/>
        </p:spPr>
      </p:sp>
      <p:pic>
        <p:nvPicPr>
          <p:cNvPr id="36" name="Icon FaLink 1012" descr="preencoded.png">    </p:cNvPr>
          <p:cNvPicPr>
            <a:picLocks noChangeAspect="1"/>
          </p:cNvPicPr>
          <p:nvPr/>
        </p:nvPicPr>
        <p:blipFill>
          <a:blip r:embed="rId7"/>
          <a:stretch>
            <a:fillRect/>
          </a:stretch>
        </p:blipFill>
        <p:spPr>
          <a:xfrm>
            <a:off x="6520495" y="4969215"/>
            <a:ext cx="266273" cy="266273"/>
          </a:xfrm>
          <a:prstGeom prst="rect">
            <a:avLst/>
          </a:prstGeom>
        </p:spPr>
      </p:pic>
      <p:sp>
        <p:nvSpPr>
          <p:cNvPr id="37" name="Card title 1013"/>
          <p:cNvSpPr txBox="1"/>
          <p:nvPr/>
        </p:nvSpPr>
        <p:spPr>
          <a:xfrm>
            <a:off x="7019392" y="48646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…and cross-reference</a:t>
            </a:r>
            <a:endParaRPr lang="en-US" sz="1700" dirty="0"/>
          </a:p>
        </p:txBody>
      </p:sp>
      <p:sp>
        <p:nvSpPr>
          <p:cNvPr id="38" name="Text 1014"/>
          <p:cNvSpPr txBox="1"/>
          <p:nvPr/>
        </p:nvSpPr>
        <p:spPr>
          <a:xfrm>
            <a:off x="6415888" y="5449824"/>
            <a:ext cx="5044288" cy="630936"/>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Does another source confirm or contradict it? Agreement between very different sources is strong evidence.</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Kicker 1015"/>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1 · QUESTION (A)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(a) Compare two sources — 15 marks</a:t>
            </a:r>
            <a:endParaRPr lang="en-US" sz="3400" dirty="0"/>
          </a:p>
        </p:txBody>
      </p:sp>
      <p:sp>
        <p:nvSpPr>
          <p:cNvPr id="4" name="Step 1016"/>
          <p:cNvSpPr/>
          <p:nvPr/>
        </p:nvSpPr>
        <p:spPr>
          <a:xfrm>
            <a:off x="548640" y="1481328"/>
            <a:ext cx="1999427" cy="3794760"/>
          </a:xfrm>
          <a:prstGeom prst="roundRect">
            <a:avLst>
              <a:gd name="adj" fmla="val 4573"/>
            </a:avLst>
          </a:prstGeom>
          <a:solidFill>
            <a:schemeClr val="accent5">
              <a:alpha val="10000"/>
            </a:schemeClr>
          </a:solidFill>
          <a:ln/>
        </p:spPr>
      </p:sp>
      <p:sp>
        <p:nvSpPr>
          <p:cNvPr id="5" name="Step number 1017"/>
          <p:cNvSpPr/>
          <p:nvPr/>
        </p:nvSpPr>
        <p:spPr>
          <a:xfrm>
            <a:off x="713232" y="1645920"/>
            <a:ext cx="420624" cy="420624"/>
          </a:xfrm>
          <a:prstGeom prst="ellipse">
            <a:avLst/>
          </a:prstGeom>
          <a:solidFill>
            <a:schemeClr val="accent5"/>
          </a:solidFill>
          <a:ln/>
        </p:spPr>
      </p:sp>
      <p:sp>
        <p:nvSpPr>
          <p:cNvPr id="6" name="Text 1018"/>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1019"/>
          <p:cNvSpPr txBox="1"/>
          <p:nvPr/>
        </p:nvSpPr>
        <p:spPr>
          <a:xfrm>
            <a:off x="1243584" y="1645920"/>
            <a:ext cx="1176467"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Find the issue</a:t>
            </a:r>
            <a:endParaRPr lang="en-US" sz="1600" dirty="0"/>
          </a:p>
        </p:txBody>
      </p:sp>
      <p:sp>
        <p:nvSpPr>
          <p:cNvPr id="8" name="Text 1020"/>
          <p:cNvSpPr txBox="1"/>
          <p:nvPr/>
        </p:nvSpPr>
        <p:spPr>
          <a:xfrm>
            <a:off x="713232" y="2176272"/>
            <a:ext cx="167024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What exactly are you comparing? e.g. 'views of the Boxer Rebellion'.</a:t>
            </a:r>
            <a:endParaRPr lang="en-US" sz="1800" dirty="0"/>
          </a:p>
        </p:txBody>
      </p:sp>
      <p:sp>
        <p:nvSpPr>
          <p:cNvPr id="9" name="Arrow 1021"/>
          <p:cNvSpPr/>
          <p:nvPr/>
        </p:nvSpPr>
        <p:spPr>
          <a:xfrm>
            <a:off x="2612075" y="3232404"/>
            <a:ext cx="146304" cy="292608"/>
          </a:xfrm>
          <a:prstGeom prst="chevron">
            <a:avLst/>
          </a:prstGeom>
          <a:solidFill>
            <a:schemeClr val="accent5"/>
          </a:solidFill>
          <a:ln/>
        </p:spPr>
      </p:sp>
      <p:sp>
        <p:nvSpPr>
          <p:cNvPr id="10" name="Step 1022"/>
          <p:cNvSpPr/>
          <p:nvPr/>
        </p:nvSpPr>
        <p:spPr>
          <a:xfrm>
            <a:off x="2822387" y="1481328"/>
            <a:ext cx="1999427" cy="3794760"/>
          </a:xfrm>
          <a:prstGeom prst="roundRect">
            <a:avLst>
              <a:gd name="adj" fmla="val 4573"/>
            </a:avLst>
          </a:prstGeom>
          <a:solidFill>
            <a:schemeClr val="accent5">
              <a:alpha val="10000"/>
            </a:schemeClr>
          </a:solidFill>
          <a:ln/>
        </p:spPr>
      </p:sp>
      <p:sp>
        <p:nvSpPr>
          <p:cNvPr id="11" name="Step number 1023"/>
          <p:cNvSpPr/>
          <p:nvPr/>
        </p:nvSpPr>
        <p:spPr>
          <a:xfrm>
            <a:off x="2986979" y="1645920"/>
            <a:ext cx="420624" cy="420624"/>
          </a:xfrm>
          <a:prstGeom prst="ellipse">
            <a:avLst/>
          </a:prstGeom>
          <a:solidFill>
            <a:schemeClr val="accent5"/>
          </a:solidFill>
          <a:ln/>
        </p:spPr>
      </p:sp>
      <p:sp>
        <p:nvSpPr>
          <p:cNvPr id="12" name="Text 1024"/>
          <p:cNvSpPr txBox="1"/>
          <p:nvPr/>
        </p:nvSpPr>
        <p:spPr>
          <a:xfrm>
            <a:off x="2986979"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1025"/>
          <p:cNvSpPr txBox="1"/>
          <p:nvPr/>
        </p:nvSpPr>
        <p:spPr>
          <a:xfrm>
            <a:off x="3517331" y="1645920"/>
            <a:ext cx="1176467"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Similarities</a:t>
            </a:r>
            <a:endParaRPr lang="en-US" sz="1600" dirty="0"/>
          </a:p>
        </p:txBody>
      </p:sp>
      <p:sp>
        <p:nvSpPr>
          <p:cNvPr id="14" name="Text 1026"/>
          <p:cNvSpPr txBox="1"/>
          <p:nvPr/>
        </p:nvSpPr>
        <p:spPr>
          <a:xfrm>
            <a:off x="2986979" y="2176272"/>
            <a:ext cx="167024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At least two points where both sources agree — quote both.</a:t>
            </a:r>
            <a:endParaRPr lang="en-US" sz="1800" dirty="0"/>
          </a:p>
        </p:txBody>
      </p:sp>
      <p:sp>
        <p:nvSpPr>
          <p:cNvPr id="15" name="Arrow 1027"/>
          <p:cNvSpPr/>
          <p:nvPr/>
        </p:nvSpPr>
        <p:spPr>
          <a:xfrm>
            <a:off x="4885822" y="3232404"/>
            <a:ext cx="146304" cy="292608"/>
          </a:xfrm>
          <a:prstGeom prst="chevron">
            <a:avLst/>
          </a:prstGeom>
          <a:solidFill>
            <a:schemeClr val="accent5"/>
          </a:solidFill>
          <a:ln/>
        </p:spPr>
      </p:sp>
      <p:sp>
        <p:nvSpPr>
          <p:cNvPr id="16" name="Step 1028"/>
          <p:cNvSpPr/>
          <p:nvPr/>
        </p:nvSpPr>
        <p:spPr>
          <a:xfrm>
            <a:off x="5096134" y="1481328"/>
            <a:ext cx="1999427" cy="3794760"/>
          </a:xfrm>
          <a:prstGeom prst="roundRect">
            <a:avLst>
              <a:gd name="adj" fmla="val 4573"/>
            </a:avLst>
          </a:prstGeom>
          <a:solidFill>
            <a:schemeClr val="accent5">
              <a:alpha val="10000"/>
            </a:schemeClr>
          </a:solidFill>
          <a:ln/>
        </p:spPr>
      </p:sp>
      <p:sp>
        <p:nvSpPr>
          <p:cNvPr id="17" name="Step number 1029"/>
          <p:cNvSpPr/>
          <p:nvPr/>
        </p:nvSpPr>
        <p:spPr>
          <a:xfrm>
            <a:off x="5260726" y="1645920"/>
            <a:ext cx="420624" cy="420624"/>
          </a:xfrm>
          <a:prstGeom prst="ellipse">
            <a:avLst/>
          </a:prstGeom>
          <a:solidFill>
            <a:schemeClr val="accent5"/>
          </a:solidFill>
          <a:ln/>
        </p:spPr>
      </p:sp>
      <p:sp>
        <p:nvSpPr>
          <p:cNvPr id="18" name="Text 1030"/>
          <p:cNvSpPr txBox="1"/>
          <p:nvPr/>
        </p:nvSpPr>
        <p:spPr>
          <a:xfrm>
            <a:off x="5260726"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1031"/>
          <p:cNvSpPr txBox="1"/>
          <p:nvPr/>
        </p:nvSpPr>
        <p:spPr>
          <a:xfrm>
            <a:off x="5791078" y="1645920"/>
            <a:ext cx="1176467"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Differences</a:t>
            </a:r>
            <a:endParaRPr lang="en-US" sz="1600" dirty="0"/>
          </a:p>
        </p:txBody>
      </p:sp>
      <p:sp>
        <p:nvSpPr>
          <p:cNvPr id="20" name="Text 1032"/>
          <p:cNvSpPr txBox="1"/>
          <p:nvPr/>
        </p:nvSpPr>
        <p:spPr>
          <a:xfrm>
            <a:off x="5260726" y="2176272"/>
            <a:ext cx="167024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At least two points where they disagree — quote both.</a:t>
            </a:r>
            <a:endParaRPr lang="en-US" sz="1800" dirty="0"/>
          </a:p>
        </p:txBody>
      </p:sp>
      <p:sp>
        <p:nvSpPr>
          <p:cNvPr id="21" name="Arrow 1033"/>
          <p:cNvSpPr/>
          <p:nvPr/>
        </p:nvSpPr>
        <p:spPr>
          <a:xfrm>
            <a:off x="7159569" y="3232404"/>
            <a:ext cx="146304" cy="292608"/>
          </a:xfrm>
          <a:prstGeom prst="chevron">
            <a:avLst/>
          </a:prstGeom>
          <a:solidFill>
            <a:schemeClr val="accent5"/>
          </a:solidFill>
          <a:ln/>
        </p:spPr>
      </p:sp>
      <p:sp>
        <p:nvSpPr>
          <p:cNvPr id="22" name="Step 1034"/>
          <p:cNvSpPr/>
          <p:nvPr/>
        </p:nvSpPr>
        <p:spPr>
          <a:xfrm>
            <a:off x="7369881" y="1481328"/>
            <a:ext cx="1999427" cy="3794760"/>
          </a:xfrm>
          <a:prstGeom prst="roundRect">
            <a:avLst>
              <a:gd name="adj" fmla="val 4573"/>
            </a:avLst>
          </a:prstGeom>
          <a:solidFill>
            <a:schemeClr val="accent5">
              <a:alpha val="10000"/>
            </a:schemeClr>
          </a:solidFill>
          <a:ln/>
        </p:spPr>
      </p:sp>
      <p:sp>
        <p:nvSpPr>
          <p:cNvPr id="23" name="Step number 1035"/>
          <p:cNvSpPr/>
          <p:nvPr/>
        </p:nvSpPr>
        <p:spPr>
          <a:xfrm>
            <a:off x="7534473" y="1645920"/>
            <a:ext cx="420624" cy="420624"/>
          </a:xfrm>
          <a:prstGeom prst="ellipse">
            <a:avLst/>
          </a:prstGeom>
          <a:solidFill>
            <a:schemeClr val="accent5"/>
          </a:solidFill>
          <a:ln/>
        </p:spPr>
      </p:sp>
      <p:sp>
        <p:nvSpPr>
          <p:cNvPr id="24" name="Text 1036"/>
          <p:cNvSpPr txBox="1"/>
          <p:nvPr/>
        </p:nvSpPr>
        <p:spPr>
          <a:xfrm>
            <a:off x="7534473"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4</a:t>
            </a:r>
            <a:endParaRPr lang="en-US" sz="1600" dirty="0"/>
          </a:p>
        </p:txBody>
      </p:sp>
      <p:sp>
        <p:nvSpPr>
          <p:cNvPr id="25" name="Text 1037"/>
          <p:cNvSpPr txBox="1"/>
          <p:nvPr/>
        </p:nvSpPr>
        <p:spPr>
          <a:xfrm>
            <a:off x="8064825" y="1645920"/>
            <a:ext cx="1176467"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Explain why</a:t>
            </a:r>
            <a:endParaRPr lang="en-US" sz="1600" dirty="0"/>
          </a:p>
        </p:txBody>
      </p:sp>
      <p:sp>
        <p:nvSpPr>
          <p:cNvPr id="26" name="Text 1038"/>
          <p:cNvSpPr txBox="1"/>
          <p:nvPr/>
        </p:nvSpPr>
        <p:spPr>
          <a:xfrm>
            <a:off x="7534473" y="2176272"/>
            <a:ext cx="167024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Use provenance (who, when, why) and context to explain the agreement and difference.</a:t>
            </a:r>
            <a:endParaRPr lang="en-US" sz="1800" dirty="0"/>
          </a:p>
        </p:txBody>
      </p:sp>
      <p:sp>
        <p:nvSpPr>
          <p:cNvPr id="27" name="Arrow 1039"/>
          <p:cNvSpPr/>
          <p:nvPr/>
        </p:nvSpPr>
        <p:spPr>
          <a:xfrm>
            <a:off x="9433316" y="3232404"/>
            <a:ext cx="146304" cy="292608"/>
          </a:xfrm>
          <a:prstGeom prst="chevron">
            <a:avLst/>
          </a:prstGeom>
          <a:solidFill>
            <a:schemeClr val="accent5"/>
          </a:solidFill>
          <a:ln/>
        </p:spPr>
      </p:sp>
      <p:sp>
        <p:nvSpPr>
          <p:cNvPr id="28" name="Step 1040"/>
          <p:cNvSpPr/>
          <p:nvPr/>
        </p:nvSpPr>
        <p:spPr>
          <a:xfrm>
            <a:off x="9643628" y="1481328"/>
            <a:ext cx="1999427" cy="3794760"/>
          </a:xfrm>
          <a:prstGeom prst="roundRect">
            <a:avLst>
              <a:gd name="adj" fmla="val 4573"/>
            </a:avLst>
          </a:prstGeom>
          <a:solidFill>
            <a:schemeClr val="accent5">
              <a:alpha val="10000"/>
            </a:schemeClr>
          </a:solidFill>
          <a:ln/>
        </p:spPr>
      </p:sp>
      <p:sp>
        <p:nvSpPr>
          <p:cNvPr id="29" name="Step number 1041"/>
          <p:cNvSpPr/>
          <p:nvPr/>
        </p:nvSpPr>
        <p:spPr>
          <a:xfrm>
            <a:off x="9808220" y="1645920"/>
            <a:ext cx="420624" cy="420624"/>
          </a:xfrm>
          <a:prstGeom prst="ellipse">
            <a:avLst/>
          </a:prstGeom>
          <a:solidFill>
            <a:schemeClr val="accent5"/>
          </a:solidFill>
          <a:ln/>
        </p:spPr>
      </p:sp>
      <p:sp>
        <p:nvSpPr>
          <p:cNvPr id="30" name="Text 1042"/>
          <p:cNvSpPr txBox="1"/>
          <p:nvPr/>
        </p:nvSpPr>
        <p:spPr>
          <a:xfrm>
            <a:off x="9808220"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5</a:t>
            </a:r>
            <a:endParaRPr lang="en-US" sz="1600" dirty="0"/>
          </a:p>
        </p:txBody>
      </p:sp>
      <p:sp>
        <p:nvSpPr>
          <p:cNvPr id="31" name="Text 1043"/>
          <p:cNvSpPr txBox="1"/>
          <p:nvPr/>
        </p:nvSpPr>
        <p:spPr>
          <a:xfrm>
            <a:off x="10338572" y="1645920"/>
            <a:ext cx="1176467"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Judge</a:t>
            </a:r>
            <a:endParaRPr lang="en-US" sz="1600" dirty="0"/>
          </a:p>
        </p:txBody>
      </p:sp>
      <p:sp>
        <p:nvSpPr>
          <p:cNvPr id="32" name="Text 1044"/>
          <p:cNvSpPr txBox="1"/>
          <p:nvPr/>
        </p:nvSpPr>
        <p:spPr>
          <a:xfrm>
            <a:off x="9808220" y="2176272"/>
            <a:ext cx="167024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Overall: do they agree more than they differ — and which is more convincing?</a:t>
            </a:r>
            <a:endParaRPr lang="en-US" sz="1800" dirty="0"/>
          </a:p>
        </p:txBody>
      </p:sp>
      <p:sp>
        <p:nvSpPr>
          <p:cNvPr id="33" name="Callout 1045"/>
          <p:cNvSpPr/>
          <p:nvPr/>
        </p:nvSpPr>
        <p:spPr>
          <a:xfrm>
            <a:off x="548640" y="5550408"/>
            <a:ext cx="11094415" cy="713232"/>
          </a:xfrm>
          <a:prstGeom prst="roundRect">
            <a:avLst>
              <a:gd name="adj" fmla="val 12821"/>
            </a:avLst>
          </a:prstGeom>
          <a:solidFill>
            <a:schemeClr val="accent4">
              <a:alpha val="20000"/>
            </a:schemeClr>
          </a:solidFill>
          <a:ln/>
        </p:spPr>
      </p:sp>
      <p:sp>
        <p:nvSpPr>
          <p:cNvPr id="34" name="Callout label 1046"/>
          <p:cNvSpPr/>
          <p:nvPr/>
        </p:nvSpPr>
        <p:spPr>
          <a:xfrm>
            <a:off x="731520" y="5751576"/>
            <a:ext cx="842411" cy="310896"/>
          </a:xfrm>
          <a:prstGeom prst="roundRect">
            <a:avLst>
              <a:gd name="adj" fmla="val 50000"/>
            </a:avLst>
          </a:prstGeom>
          <a:solidFill>
            <a:schemeClr val="accent4"/>
          </a:solidFill>
          <a:ln/>
        </p:spPr>
      </p:sp>
      <p:sp>
        <p:nvSpPr>
          <p:cNvPr id="35" name="Text 1047"/>
          <p:cNvSpPr txBox="1"/>
          <p:nvPr/>
        </p:nvSpPr>
        <p:spPr>
          <a:xfrm>
            <a:off x="731520" y="5751576"/>
            <a:ext cx="84241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TOP TIP</a:t>
            </a:r>
            <a:endParaRPr lang="en-US" sz="1200" dirty="0"/>
          </a:p>
        </p:txBody>
      </p:sp>
      <p:sp>
        <p:nvSpPr>
          <p:cNvPr id="36" name="Text 1048"/>
          <p:cNvSpPr txBox="1"/>
          <p:nvPr/>
        </p:nvSpPr>
        <p:spPr>
          <a:xfrm>
            <a:off x="1756811" y="5623560"/>
            <a:ext cx="970336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Compare point by point, not source by source: 'Both A and B…', 'Whereas A claims…, B argues…'.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Kicker 104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1 · QUESTION (B)</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(b) Use all the sources — 25 marks</a:t>
            </a:r>
            <a:endParaRPr lang="en-US" sz="3400" dirty="0"/>
          </a:p>
        </p:txBody>
      </p:sp>
      <p:sp>
        <p:nvSpPr>
          <p:cNvPr id="4" name="Step 1050"/>
          <p:cNvSpPr/>
          <p:nvPr/>
        </p:nvSpPr>
        <p:spPr>
          <a:xfrm>
            <a:off x="548640" y="1481328"/>
            <a:ext cx="2485568" cy="3794760"/>
          </a:xfrm>
          <a:prstGeom prst="roundRect">
            <a:avLst>
              <a:gd name="adj" fmla="val 3679"/>
            </a:avLst>
          </a:prstGeom>
          <a:solidFill>
            <a:schemeClr val="accent5">
              <a:alpha val="10000"/>
            </a:schemeClr>
          </a:solidFill>
          <a:ln/>
        </p:spPr>
      </p:sp>
      <p:sp>
        <p:nvSpPr>
          <p:cNvPr id="5" name="Step number 1051"/>
          <p:cNvSpPr/>
          <p:nvPr/>
        </p:nvSpPr>
        <p:spPr>
          <a:xfrm>
            <a:off x="713232" y="1645920"/>
            <a:ext cx="420624" cy="420624"/>
          </a:xfrm>
          <a:prstGeom prst="ellipse">
            <a:avLst/>
          </a:prstGeom>
          <a:solidFill>
            <a:schemeClr val="accent5"/>
          </a:solidFill>
          <a:ln/>
        </p:spPr>
      </p:sp>
      <p:sp>
        <p:nvSpPr>
          <p:cNvPr id="6" name="Text 1052"/>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1053"/>
          <p:cNvSpPr txBox="1"/>
          <p:nvPr/>
        </p:nvSpPr>
        <p:spPr>
          <a:xfrm>
            <a:off x="1243584"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Introduction</a:t>
            </a:r>
            <a:endParaRPr lang="en-US" sz="1600" dirty="0"/>
          </a:p>
        </p:txBody>
      </p:sp>
      <p:sp>
        <p:nvSpPr>
          <p:cNvPr id="8" name="Text 1054"/>
          <p:cNvSpPr txBox="1"/>
          <p:nvPr/>
        </p:nvSpPr>
        <p:spPr>
          <a:xfrm>
            <a:off x="713232"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Answer the question straight away: a clear line of argument.</a:t>
            </a:r>
            <a:endParaRPr lang="en-US" sz="1800" dirty="0"/>
          </a:p>
        </p:txBody>
      </p:sp>
      <p:sp>
        <p:nvSpPr>
          <p:cNvPr id="9" name="Arrow 1055"/>
          <p:cNvSpPr/>
          <p:nvPr/>
        </p:nvSpPr>
        <p:spPr>
          <a:xfrm>
            <a:off x="3098216" y="3232404"/>
            <a:ext cx="256032" cy="292608"/>
          </a:xfrm>
          <a:prstGeom prst="chevron">
            <a:avLst/>
          </a:prstGeom>
          <a:solidFill>
            <a:schemeClr val="accent5"/>
          </a:solidFill>
          <a:ln/>
        </p:spPr>
      </p:sp>
      <p:sp>
        <p:nvSpPr>
          <p:cNvPr id="10" name="Step 1056"/>
          <p:cNvSpPr/>
          <p:nvPr/>
        </p:nvSpPr>
        <p:spPr>
          <a:xfrm>
            <a:off x="3418256" y="1481328"/>
            <a:ext cx="2485568" cy="3794760"/>
          </a:xfrm>
          <a:prstGeom prst="roundRect">
            <a:avLst>
              <a:gd name="adj" fmla="val 3679"/>
            </a:avLst>
          </a:prstGeom>
          <a:solidFill>
            <a:schemeClr val="accent5">
              <a:alpha val="10000"/>
            </a:schemeClr>
          </a:solidFill>
          <a:ln/>
        </p:spPr>
      </p:sp>
      <p:sp>
        <p:nvSpPr>
          <p:cNvPr id="11" name="Step number 1057"/>
          <p:cNvSpPr/>
          <p:nvPr/>
        </p:nvSpPr>
        <p:spPr>
          <a:xfrm>
            <a:off x="3582848" y="1645920"/>
            <a:ext cx="420624" cy="420624"/>
          </a:xfrm>
          <a:prstGeom prst="ellipse">
            <a:avLst/>
          </a:prstGeom>
          <a:solidFill>
            <a:schemeClr val="accent5"/>
          </a:solidFill>
          <a:ln/>
        </p:spPr>
      </p:sp>
      <p:sp>
        <p:nvSpPr>
          <p:cNvPr id="12" name="Text 1058"/>
          <p:cNvSpPr txBox="1"/>
          <p:nvPr/>
        </p:nvSpPr>
        <p:spPr>
          <a:xfrm>
            <a:off x="3582848"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1059"/>
          <p:cNvSpPr txBox="1"/>
          <p:nvPr/>
        </p:nvSpPr>
        <p:spPr>
          <a:xfrm>
            <a:off x="4113200" y="1645920"/>
            <a:ext cx="1662608" cy="496092"/>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Sources that support</a:t>
            </a:r>
            <a:endParaRPr lang="en-US" sz="1600" dirty="0"/>
          </a:p>
        </p:txBody>
      </p:sp>
      <p:sp>
        <p:nvSpPr>
          <p:cNvPr id="14" name="Text 1060"/>
          <p:cNvSpPr txBox="1"/>
          <p:nvPr/>
        </p:nvSpPr>
        <p:spPr>
          <a:xfrm>
            <a:off x="3582848" y="2251740"/>
            <a:ext cx="2156384" cy="2887188"/>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Group them. For each: what it says + how far you can trust it (provenance, cross-reference, context).</a:t>
            </a:r>
            <a:endParaRPr lang="en-US" sz="1800" dirty="0"/>
          </a:p>
        </p:txBody>
      </p:sp>
      <p:sp>
        <p:nvSpPr>
          <p:cNvPr id="15" name="Arrow 1061"/>
          <p:cNvSpPr/>
          <p:nvPr/>
        </p:nvSpPr>
        <p:spPr>
          <a:xfrm>
            <a:off x="5967832" y="3232404"/>
            <a:ext cx="256032" cy="292608"/>
          </a:xfrm>
          <a:prstGeom prst="chevron">
            <a:avLst/>
          </a:prstGeom>
          <a:solidFill>
            <a:schemeClr val="accent5"/>
          </a:solidFill>
          <a:ln/>
        </p:spPr>
      </p:sp>
      <p:sp>
        <p:nvSpPr>
          <p:cNvPr id="16" name="Step 1062"/>
          <p:cNvSpPr/>
          <p:nvPr/>
        </p:nvSpPr>
        <p:spPr>
          <a:xfrm>
            <a:off x="6287872" y="1481328"/>
            <a:ext cx="2485568" cy="3794760"/>
          </a:xfrm>
          <a:prstGeom prst="roundRect">
            <a:avLst>
              <a:gd name="adj" fmla="val 3679"/>
            </a:avLst>
          </a:prstGeom>
          <a:solidFill>
            <a:schemeClr val="accent5">
              <a:alpha val="10000"/>
            </a:schemeClr>
          </a:solidFill>
          <a:ln/>
        </p:spPr>
      </p:sp>
      <p:sp>
        <p:nvSpPr>
          <p:cNvPr id="17" name="Step number 1063"/>
          <p:cNvSpPr/>
          <p:nvPr/>
        </p:nvSpPr>
        <p:spPr>
          <a:xfrm>
            <a:off x="6452464" y="1645920"/>
            <a:ext cx="420624" cy="420624"/>
          </a:xfrm>
          <a:prstGeom prst="ellipse">
            <a:avLst/>
          </a:prstGeom>
          <a:solidFill>
            <a:schemeClr val="accent5"/>
          </a:solidFill>
          <a:ln/>
        </p:spPr>
      </p:sp>
      <p:sp>
        <p:nvSpPr>
          <p:cNvPr id="18" name="Text 1064"/>
          <p:cNvSpPr txBox="1"/>
          <p:nvPr/>
        </p:nvSpPr>
        <p:spPr>
          <a:xfrm>
            <a:off x="6452464"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1065"/>
          <p:cNvSpPr txBox="1"/>
          <p:nvPr/>
        </p:nvSpPr>
        <p:spPr>
          <a:xfrm>
            <a:off x="6982816" y="1645920"/>
            <a:ext cx="1662608" cy="496092"/>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Sources that challenge</a:t>
            </a:r>
            <a:endParaRPr lang="en-US" sz="1600" dirty="0"/>
          </a:p>
        </p:txBody>
      </p:sp>
      <p:sp>
        <p:nvSpPr>
          <p:cNvPr id="20" name="Text 1066"/>
          <p:cNvSpPr txBox="1"/>
          <p:nvPr/>
        </p:nvSpPr>
        <p:spPr>
          <a:xfrm>
            <a:off x="6452464" y="2251740"/>
            <a:ext cx="2156384" cy="2887188"/>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Same treatment. Some sources may do both — say so.</a:t>
            </a:r>
            <a:endParaRPr lang="en-US" sz="1800" dirty="0"/>
          </a:p>
        </p:txBody>
      </p:sp>
      <p:sp>
        <p:nvSpPr>
          <p:cNvPr id="21" name="Arrow 1067"/>
          <p:cNvSpPr/>
          <p:nvPr/>
        </p:nvSpPr>
        <p:spPr>
          <a:xfrm>
            <a:off x="8837447" y="3232404"/>
            <a:ext cx="256032" cy="292608"/>
          </a:xfrm>
          <a:prstGeom prst="chevron">
            <a:avLst/>
          </a:prstGeom>
          <a:solidFill>
            <a:schemeClr val="accent5"/>
          </a:solidFill>
          <a:ln/>
        </p:spPr>
      </p:sp>
      <p:sp>
        <p:nvSpPr>
          <p:cNvPr id="22" name="Step 1068"/>
          <p:cNvSpPr/>
          <p:nvPr/>
        </p:nvSpPr>
        <p:spPr>
          <a:xfrm>
            <a:off x="9157487" y="1481328"/>
            <a:ext cx="2485568" cy="3794760"/>
          </a:xfrm>
          <a:prstGeom prst="roundRect">
            <a:avLst>
              <a:gd name="adj" fmla="val 3679"/>
            </a:avLst>
          </a:prstGeom>
          <a:solidFill>
            <a:schemeClr val="accent5">
              <a:alpha val="10000"/>
            </a:schemeClr>
          </a:solidFill>
          <a:ln/>
        </p:spPr>
      </p:sp>
      <p:sp>
        <p:nvSpPr>
          <p:cNvPr id="23" name="Step number 1069"/>
          <p:cNvSpPr/>
          <p:nvPr/>
        </p:nvSpPr>
        <p:spPr>
          <a:xfrm>
            <a:off x="9322079" y="1645920"/>
            <a:ext cx="420624" cy="420624"/>
          </a:xfrm>
          <a:prstGeom prst="ellipse">
            <a:avLst/>
          </a:prstGeom>
          <a:solidFill>
            <a:schemeClr val="accent5"/>
          </a:solidFill>
          <a:ln/>
        </p:spPr>
      </p:sp>
      <p:sp>
        <p:nvSpPr>
          <p:cNvPr id="24" name="Text 1070"/>
          <p:cNvSpPr txBox="1"/>
          <p:nvPr/>
        </p:nvSpPr>
        <p:spPr>
          <a:xfrm>
            <a:off x="9322079"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4</a:t>
            </a:r>
            <a:endParaRPr lang="en-US" sz="1600" dirty="0"/>
          </a:p>
        </p:txBody>
      </p:sp>
      <p:sp>
        <p:nvSpPr>
          <p:cNvPr id="25" name="Text 1071"/>
          <p:cNvSpPr txBox="1"/>
          <p:nvPr/>
        </p:nvSpPr>
        <p:spPr>
          <a:xfrm>
            <a:off x="9852431"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Conclusion</a:t>
            </a:r>
            <a:endParaRPr lang="en-US" sz="1600" dirty="0"/>
          </a:p>
        </p:txBody>
      </p:sp>
      <p:sp>
        <p:nvSpPr>
          <p:cNvPr id="26" name="Text 1072"/>
          <p:cNvSpPr txBox="1"/>
          <p:nvPr/>
        </p:nvSpPr>
        <p:spPr>
          <a:xfrm>
            <a:off x="9322079"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Weigh the evidence: which group is more reliable and convincing? Give a final judgement.</a:t>
            </a:r>
            <a:endParaRPr lang="en-US" sz="1800" dirty="0"/>
          </a:p>
        </p:txBody>
      </p:sp>
      <p:sp>
        <p:nvSpPr>
          <p:cNvPr id="27" name="Callout 1073"/>
          <p:cNvSpPr/>
          <p:nvPr/>
        </p:nvSpPr>
        <p:spPr>
          <a:xfrm>
            <a:off x="548640" y="5550408"/>
            <a:ext cx="11094415" cy="713232"/>
          </a:xfrm>
          <a:prstGeom prst="roundRect">
            <a:avLst>
              <a:gd name="adj" fmla="val 12821"/>
            </a:avLst>
          </a:prstGeom>
          <a:solidFill>
            <a:schemeClr val="accent4">
              <a:alpha val="20000"/>
            </a:schemeClr>
          </a:solidFill>
          <a:ln/>
        </p:spPr>
      </p:sp>
      <p:sp>
        <p:nvSpPr>
          <p:cNvPr id="28" name="Callout label 1074"/>
          <p:cNvSpPr/>
          <p:nvPr/>
        </p:nvSpPr>
        <p:spPr>
          <a:xfrm>
            <a:off x="731520" y="5751576"/>
            <a:ext cx="1108550" cy="310896"/>
          </a:xfrm>
          <a:prstGeom prst="roundRect">
            <a:avLst>
              <a:gd name="adj" fmla="val 50000"/>
            </a:avLst>
          </a:prstGeom>
          <a:solidFill>
            <a:schemeClr val="accent4"/>
          </a:solidFill>
          <a:ln/>
        </p:spPr>
      </p:sp>
      <p:sp>
        <p:nvSpPr>
          <p:cNvPr id="29" name="Text 1075"/>
          <p:cNvSpPr txBox="1"/>
          <p:nvPr/>
        </p:nvSpPr>
        <p:spPr>
          <a:xfrm>
            <a:off x="731520" y="5751576"/>
            <a:ext cx="1108550"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REMEMBER</a:t>
            </a:r>
            <a:endParaRPr lang="en-US" sz="1200" dirty="0"/>
          </a:p>
        </p:txBody>
      </p:sp>
      <p:sp>
        <p:nvSpPr>
          <p:cNvPr id="30" name="Text 1076"/>
          <p:cNvSpPr txBox="1"/>
          <p:nvPr/>
        </p:nvSpPr>
        <p:spPr>
          <a:xfrm>
            <a:off x="2022950" y="5623560"/>
            <a:ext cx="9437225"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Use EVERY source. Own knowledge is for testing the sources — not for writing a separate essay.</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Kicker 107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1 · WORKED PLANNING GRID</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Plan a (b) answer in five minutes</a:t>
            </a:r>
            <a:endParaRPr lang="en-US" sz="3400" dirty="0"/>
          </a:p>
        </p:txBody>
      </p:sp>
      <p:graphicFrame>
        <p:nvGraphicFramePr>
          <p:cNvPr id="47" name="Table 1078"/>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291840"/>
                <a:gridCol w="2194560"/>
                <a:gridCol w="5608015"/>
              </a:tblGrid>
              <a:tr h="384048">
                <a:tc>
                  <a:txBody>
                    <a:bodyPr/>
                    <a:lstStyle/>
                    <a:p>
                      <a:pPr indent="0" marL="0">
                        <a:buNone/>
                      </a:pPr>
                      <a:r>
                        <a:rPr lang="en-US" sz="1500" b="1" dirty="0">
                          <a:solidFill>
                            <a:schemeClr val="bg1"/>
                          </a:solidFill>
                        </a:rPr>
                        <a:t>Source (example)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5"/>
                    </a:solidFill>
                  </a:tcPr>
                </a:tc>
                <a:tc>
                  <a:txBody>
                    <a:bodyPr/>
                    <a:lstStyle/>
                    <a:p>
                      <a:pPr indent="0" marL="0">
                        <a:buNone/>
                      </a:pPr>
                      <a:r>
                        <a:rPr lang="en-US" sz="1500" b="1" dirty="0">
                          <a:solidFill>
                            <a:schemeClr val="bg1"/>
                          </a:solidFill>
                        </a:rPr>
                        <a:t>Supports or challenges?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5"/>
                    </a:solidFill>
                  </a:tcPr>
                </a:tc>
                <a:tc>
                  <a:txBody>
                    <a:bodyPr/>
                    <a:lstStyle/>
                    <a:p>
                      <a:pPr indent="0" marL="0">
                        <a:buNone/>
                      </a:pPr>
                      <a:r>
                        <a:rPr lang="en-US" sz="1500" b="1" dirty="0">
                          <a:solidFill>
                            <a:schemeClr val="bg1"/>
                          </a:solidFill>
                        </a:rPr>
                        <a:t>How far can I trust it?</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5"/>
                    </a:solidFill>
                  </a:tcPr>
                </a:tc>
              </a:tr>
              <a:tr h="852678">
                <a:tc>
                  <a:txBody>
                    <a:bodyPr/>
                    <a:lstStyle/>
                    <a:p>
                      <a:pPr algn="l" indent="0" marL="0">
                        <a:buNone/>
                      </a:pPr>
                      <a:r>
                        <a:rPr lang="en-US" sz="1500" b="1" dirty="0">
                          <a:solidFill>
                            <a:schemeClr val="tx1"/>
                          </a:solidFill>
                        </a:rPr>
                        <a:t>A · Jules Ferry, speech to the French Chamber, 1885</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2"/>
                          </a:solidFill>
                        </a:rPr>
                        <a:t>Supports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A politician defending his own policy to sceptical deputies — likely to exaggerate economic gains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852678">
                <a:tc>
                  <a:txBody>
                    <a:bodyPr/>
                    <a:lstStyle/>
                    <a:p>
                      <a:pPr algn="l" indent="0" marL="0">
                        <a:buNone/>
                      </a:pPr>
                      <a:r>
                        <a:rPr lang="en-US" sz="1500" b="1" dirty="0">
                          <a:solidFill>
                            <a:schemeClr val="tx1"/>
                          </a:solidFill>
                        </a:rPr>
                        <a:t>B · Kipling, 'The White Man's Burden', 1899</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1"/>
                          </a:solidFill>
                        </a:rPr>
                        <a:t>Challenges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A poem urging Americans to take the Philippines: idealistic, written to persuade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852678">
                <a:tc>
                  <a:txBody>
                    <a:bodyPr/>
                    <a:lstStyle/>
                    <a:p>
                      <a:pPr algn="l" indent="0" marL="0">
                        <a:buNone/>
                      </a:pPr>
                      <a:r>
                        <a:rPr lang="en-US" sz="1500" b="1" dirty="0">
                          <a:solidFill>
                            <a:schemeClr val="tx1"/>
                          </a:solidFill>
                        </a:rPr>
                        <a:t>C · Bismarck, private remark to an explorer, 1888</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1"/>
                          </a:solidFill>
                        </a:rPr>
                        <a:t>Challenges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Private and candid: empire as a tool of European diplomacy ('my map of Africa lies in Europe')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852678">
                <a:tc>
                  <a:txBody>
                    <a:bodyPr/>
                    <a:lstStyle/>
                    <a:p>
                      <a:pPr algn="l" indent="0" marL="0">
                        <a:buNone/>
                      </a:pPr>
                      <a:r>
                        <a:rPr lang="en-US" sz="1500" b="1" dirty="0">
                          <a:solidFill>
                            <a:schemeClr val="tx1"/>
                          </a:solidFill>
                        </a:rPr>
                        <a:t>D · J.A. Hobson, Imperialism, 1902</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2"/>
                          </a:solidFill>
                        </a:rPr>
                        <a:t>Supports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A hostile critic writing after the Boer War — well-informed, but with an argument to make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sp>
        <p:nvSpPr>
          <p:cNvPr id="5" name="Callout 1079"/>
          <p:cNvSpPr/>
          <p:nvPr/>
        </p:nvSpPr>
        <p:spPr>
          <a:xfrm>
            <a:off x="548640" y="5550408"/>
            <a:ext cx="11094415" cy="713232"/>
          </a:xfrm>
          <a:prstGeom prst="roundRect">
            <a:avLst>
              <a:gd name="adj" fmla="val 12821"/>
            </a:avLst>
          </a:prstGeom>
          <a:solidFill>
            <a:schemeClr val="accent4">
              <a:alpha val="20000"/>
            </a:schemeClr>
          </a:solidFill>
          <a:ln/>
        </p:spPr>
      </p:sp>
      <p:sp>
        <p:nvSpPr>
          <p:cNvPr id="6" name="Callout label 1080"/>
          <p:cNvSpPr/>
          <p:nvPr/>
        </p:nvSpPr>
        <p:spPr>
          <a:xfrm>
            <a:off x="731520" y="5751576"/>
            <a:ext cx="1045034" cy="310896"/>
          </a:xfrm>
          <a:prstGeom prst="roundRect">
            <a:avLst>
              <a:gd name="adj" fmla="val 50000"/>
            </a:avLst>
          </a:prstGeom>
          <a:solidFill>
            <a:schemeClr val="accent4"/>
          </a:solidFill>
          <a:ln/>
        </p:spPr>
      </p:sp>
      <p:sp>
        <p:nvSpPr>
          <p:cNvPr id="7" name="Text 1081"/>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8" name="Text 1082"/>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Example view to test: 'Economic motives drove the Scramble for Africa.' Practise building a grid like this for every Paper 1 question.</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Kicker 108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1 · EXAMINER'S VIEW</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Top-band habits vs common mistakes</a:t>
            </a:r>
            <a:endParaRPr lang="en-US" sz="3400" dirty="0"/>
          </a:p>
        </p:txBody>
      </p:sp>
      <p:sp>
        <p:nvSpPr>
          <p:cNvPr id="4" name="Card 1084"/>
          <p:cNvSpPr/>
          <p:nvPr/>
        </p:nvSpPr>
        <p:spPr>
          <a:xfrm>
            <a:off x="548640" y="1481328"/>
            <a:ext cx="5410048" cy="4782312"/>
          </a:xfrm>
          <a:prstGeom prst="roundRect">
            <a:avLst>
              <a:gd name="adj" fmla="val 1912"/>
            </a:avLst>
          </a:prstGeom>
          <a:solidFill>
            <a:schemeClr val="accent2">
              <a:alpha val="10000"/>
            </a:schemeClr>
          </a:solidFill>
          <a:ln/>
        </p:spPr>
      </p:sp>
      <p:sp>
        <p:nvSpPr>
          <p:cNvPr id="5" name="Icon circle 1085"/>
          <p:cNvSpPr/>
          <p:nvPr/>
        </p:nvSpPr>
        <p:spPr>
          <a:xfrm>
            <a:off x="731520" y="1664208"/>
            <a:ext cx="475488" cy="475488"/>
          </a:xfrm>
          <a:prstGeom prst="ellipse">
            <a:avLst/>
          </a:prstGeom>
          <a:solidFill>
            <a:schemeClr val="accent2"/>
          </a:solidFill>
          <a:ln/>
        </p:spPr>
      </p:sp>
      <p:pic>
        <p:nvPicPr>
          <p:cNvPr id="6" name="Icon FaCircleCheck 1086"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087"/>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Top-band habits</a:t>
            </a:r>
            <a:endParaRPr lang="en-US" sz="1700" dirty="0"/>
          </a:p>
        </p:txBody>
      </p:sp>
      <p:sp>
        <p:nvSpPr>
          <p:cNvPr id="8" name="Text 1088"/>
          <p:cNvSpPr txBox="1"/>
          <p:nvPr/>
        </p:nvSpPr>
        <p:spPr>
          <a:xfrm>
            <a:off x="731520" y="2249424"/>
            <a:ext cx="5044288" cy="3831336"/>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Compare point by point with short quotations</a:t>
            </a:r>
            <a:endParaRPr lang="en-US" sz="2000" dirty="0"/>
          </a:p>
          <a:p>
            <a:pPr algn="l" marL="190500" indent="-190500">
              <a:spcAft>
                <a:spcPts val="800"/>
              </a:spcAft>
              <a:buSzPct val="100000"/>
              <a:buChar char="•"/>
            </a:pPr>
            <a:r>
              <a:rPr lang="en-US" sz="2000" dirty="0">
                <a:solidFill>
                  <a:schemeClr val="tx1"/>
                </a:solidFill>
              </a:rPr>
              <a:t>Explain WHY sources differ using provenance</a:t>
            </a:r>
            <a:endParaRPr lang="en-US" sz="2000" dirty="0"/>
          </a:p>
          <a:p>
            <a:pPr algn="l" marL="190500" indent="-190500">
              <a:spcAft>
                <a:spcPts val="800"/>
              </a:spcAft>
              <a:buSzPct val="100000"/>
              <a:buChar char="•"/>
            </a:pPr>
            <a:r>
              <a:rPr lang="en-US" sz="2000" dirty="0">
                <a:solidFill>
                  <a:schemeClr val="tx1"/>
                </a:solidFill>
              </a:rPr>
              <a:t>Test sources against context and each other</a:t>
            </a:r>
            <a:endParaRPr lang="en-US" sz="2000" dirty="0"/>
          </a:p>
          <a:p>
            <a:pPr algn="l" marL="190500" indent="-190500">
              <a:spcAft>
                <a:spcPts val="800"/>
              </a:spcAft>
              <a:buSzPct val="100000"/>
              <a:buChar char="•"/>
            </a:pPr>
            <a:r>
              <a:rPr lang="en-US" sz="2000" dirty="0">
                <a:solidFill>
                  <a:schemeClr val="tx1"/>
                </a:solidFill>
              </a:rPr>
              <a:t>Reach a clear, supported judgement</a:t>
            </a:r>
            <a:endParaRPr lang="en-US" sz="2000" dirty="0"/>
          </a:p>
          <a:p>
            <a:pPr algn="l" marL="190500" indent="-190500">
              <a:spcAft>
                <a:spcPts val="800"/>
              </a:spcAft>
              <a:buSzPct val="100000"/>
              <a:buChar char="•"/>
            </a:pPr>
            <a:r>
              <a:rPr lang="en-US" sz="2000" dirty="0">
                <a:solidFill>
                  <a:schemeClr val="tx1"/>
                </a:solidFill>
              </a:rPr>
              <a:t>Use every source in (b)</a:t>
            </a:r>
            <a:endParaRPr lang="en-US" sz="2000" dirty="0"/>
          </a:p>
        </p:txBody>
      </p:sp>
      <p:sp>
        <p:nvSpPr>
          <p:cNvPr id="9" name="Card 1089"/>
          <p:cNvSpPr/>
          <p:nvPr/>
        </p:nvSpPr>
        <p:spPr>
          <a:xfrm>
            <a:off x="6233008" y="1481328"/>
            <a:ext cx="5410048" cy="4782312"/>
          </a:xfrm>
          <a:prstGeom prst="roundRect">
            <a:avLst>
              <a:gd name="adj" fmla="val 1912"/>
            </a:avLst>
          </a:prstGeom>
          <a:solidFill>
            <a:schemeClr val="accent1">
              <a:alpha val="10000"/>
            </a:schemeClr>
          </a:solidFill>
          <a:ln/>
        </p:spPr>
      </p:sp>
      <p:sp>
        <p:nvSpPr>
          <p:cNvPr id="10" name="Icon circle 1090"/>
          <p:cNvSpPr/>
          <p:nvPr/>
        </p:nvSpPr>
        <p:spPr>
          <a:xfrm>
            <a:off x="6415888" y="1664208"/>
            <a:ext cx="475488" cy="475488"/>
          </a:xfrm>
          <a:prstGeom prst="ellipse">
            <a:avLst/>
          </a:prstGeom>
          <a:solidFill>
            <a:schemeClr val="accent1"/>
          </a:solidFill>
          <a:ln/>
        </p:spPr>
      </p:sp>
      <p:pic>
        <p:nvPicPr>
          <p:cNvPr id="11" name="Icon FaCircleXmark 1091"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1092"/>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Common mistakes</a:t>
            </a:r>
            <a:endParaRPr lang="en-US" sz="1700" dirty="0"/>
          </a:p>
        </p:txBody>
      </p:sp>
      <p:sp>
        <p:nvSpPr>
          <p:cNvPr id="13" name="Text 1093"/>
          <p:cNvSpPr txBox="1"/>
          <p:nvPr/>
        </p:nvSpPr>
        <p:spPr>
          <a:xfrm>
            <a:off x="6415888" y="2249424"/>
            <a:ext cx="5044288" cy="3831336"/>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Summarising each source in turn</a:t>
            </a:r>
            <a:endParaRPr lang="en-US" sz="2000" dirty="0"/>
          </a:p>
          <a:p>
            <a:pPr algn="l" marL="190500" indent="-190500">
              <a:spcAft>
                <a:spcPts val="800"/>
              </a:spcAft>
              <a:buSzPct val="100000"/>
              <a:buChar char="•"/>
            </a:pPr>
            <a:r>
              <a:rPr lang="en-US" sz="2000" dirty="0">
                <a:solidFill>
                  <a:schemeClr val="tx1"/>
                </a:solidFill>
              </a:rPr>
              <a:t>Saying a source is 'biased' without explaining how</a:t>
            </a:r>
            <a:endParaRPr lang="en-US" sz="2000" dirty="0"/>
          </a:p>
          <a:p>
            <a:pPr algn="l" marL="190500" indent="-190500">
              <a:spcAft>
                <a:spcPts val="800"/>
              </a:spcAft>
              <a:buSzPct val="100000"/>
              <a:buChar char="•"/>
            </a:pPr>
            <a:r>
              <a:rPr lang="en-US" sz="2000" dirty="0">
                <a:solidFill>
                  <a:schemeClr val="tx1"/>
                </a:solidFill>
              </a:rPr>
              <a:t>Only similarities — or only differences — in (a)</a:t>
            </a:r>
            <a:endParaRPr lang="en-US" sz="2000" dirty="0"/>
          </a:p>
          <a:p>
            <a:pPr algn="l" marL="190500" indent="-190500">
              <a:spcAft>
                <a:spcPts val="800"/>
              </a:spcAft>
              <a:buSzPct val="100000"/>
              <a:buChar char="•"/>
            </a:pPr>
            <a:r>
              <a:rPr lang="en-US" sz="2000" dirty="0">
                <a:solidFill>
                  <a:schemeClr val="tx1"/>
                </a:solidFill>
              </a:rPr>
              <a:t>An own-knowledge essay that ignores the sources</a:t>
            </a:r>
            <a:endParaRPr lang="en-US" sz="2000" dirty="0"/>
          </a:p>
          <a:p>
            <a:pPr algn="l" marL="190500" indent="-190500">
              <a:spcAft>
                <a:spcPts val="800"/>
              </a:spcAft>
              <a:buSzPct val="100000"/>
              <a:buChar char="•"/>
            </a:pPr>
            <a:r>
              <a:rPr lang="en-US" sz="2000" dirty="0">
                <a:solidFill>
                  <a:schemeClr val="tx1"/>
                </a:solidFill>
              </a:rPr>
              <a:t>No conclusion, or one that sits on the fence</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chemeClr val="accent2"/>
        </a:solidFill>
      </p:bgPr>
    </p:bg>
    <p:spTree>
      <p:nvGrpSpPr>
        <p:cNvPr id="1" name=""/>
        <p:cNvGrpSpPr/>
        <p:nvPr/>
      </p:nvGrpSpPr>
      <p:grpSpPr>
        <a:xfrm>
          <a:off x="0" y="0"/>
          <a:ext cx="0" cy="0"/>
          <a:chOff x="0" y="0"/>
          <a:chExt cx="0" cy="0"/>
        </a:xfrm>
      </p:grpSpPr>
      <p:sp>
        <p:nvSpPr>
          <p:cNvPr id="2" name="Topic number 1094"/>
          <p:cNvSpPr/>
          <p:nvPr/>
        </p:nvSpPr>
        <p:spPr>
          <a:xfrm>
            <a:off x="548640" y="914400"/>
            <a:ext cx="1783080" cy="1783080"/>
          </a:xfrm>
          <a:prstGeom prst="ellipse">
            <a:avLst/>
          </a:prstGeom>
          <a:solidFill>
            <a:schemeClr val="bg1"/>
          </a:solidFill>
          <a:ln/>
        </p:spPr>
      </p:sp>
      <p:sp>
        <p:nvSpPr>
          <p:cNvPr id="3" name="Text 1095"/>
          <p:cNvSpPr txBox="1"/>
          <p:nvPr/>
        </p:nvSpPr>
        <p:spPr>
          <a:xfrm>
            <a:off x="548640" y="914400"/>
            <a:ext cx="1783080" cy="1783080"/>
          </a:xfrm>
          <a:prstGeom prst="rect">
            <a:avLst/>
          </a:prstGeom>
          <a:noFill/>
          <a:ln/>
        </p:spPr>
        <p:txBody>
          <a:bodyPr wrap="square" lIns="0" tIns="0" rIns="0" bIns="0" rtlCol="0" anchor="ctr"/>
          <a:lstStyle/>
          <a:p>
            <a:pPr algn="ctr" indent="0" marL="0">
              <a:spcAft>
                <a:spcPts val="600"/>
              </a:spcAft>
              <a:buNone/>
            </a:pPr>
            <a:r>
              <a:rPr lang="en-US" sz="7200" b="1" dirty="0">
                <a:solidFill>
                  <a:schemeClr val="accent2"/>
                </a:solidFill>
                <a:latin typeface="+mj-lt" pitchFamily="34" charset="0"/>
                <a:ea typeface="+mj-lt" pitchFamily="34" charset="-122"/>
                <a:cs typeface="+mj-lt" pitchFamily="34" charset="-120"/>
              </a:rPr>
              <a:t>2</a:t>
            </a:r>
            <a:endParaRPr lang="en-US" sz="7200" dirty="0"/>
          </a:p>
        </p:txBody>
      </p:sp>
      <p:sp>
        <p:nvSpPr>
          <p:cNvPr id="4" name="Text 0"/>
          <p:cNvSpPr/>
          <p:nvPr>
            <p:ph idx="100" type="title" hasCustomPrompt="1"/>
          </p:nvPr>
        </p:nvSpPr>
        <p:spPr>
          <a:xfrm>
            <a:off x="2788920" y="868680"/>
            <a:ext cx="8869680" cy="1737360"/>
          </a:xfrm>
          <a:prstGeom prst="rect">
            <a:avLst/>
          </a:prstGeom>
          <a:noFill/>
          <a:ln/>
        </p:spPr>
        <p:txBody>
          <a:bodyPr wrap="square" lIns="0" tIns="0" rIns="0" bIns="0" rtlCol="0" anchor="ctr"/>
          <a:lstStyle/>
          <a:p>
            <a:pPr algn="l" indent="0" marL="0">
              <a:buNone/>
            </a:pPr>
            <a:r>
              <a:rPr lang="en-US" sz="3400" b="1" dirty="0">
                <a:solidFill>
                  <a:schemeClr val="bg1"/>
                </a:solidFill>
              </a:rPr>
              <a:t>International relations, 1919–29: conflict and cooperation</a:t>
            </a:r>
            <a:endParaRPr lang="en-US" sz="3400" dirty="0"/>
          </a:p>
        </p:txBody>
      </p:sp>
      <p:sp>
        <p:nvSpPr>
          <p:cNvPr id="5" name="Text 0"/>
          <p:cNvSpPr/>
          <p:nvPr>
            <p:ph idx="101" type="body" hasCustomPrompt="1"/>
          </p:nvPr>
        </p:nvSpPr>
        <p:spPr>
          <a:xfrm>
            <a:off x="2788920" y="2606040"/>
            <a:ext cx="8869680" cy="457200"/>
          </a:xfrm>
          <a:prstGeom prst="rect">
            <a:avLst/>
          </a:prstGeom>
          <a:noFill/>
          <a:ln/>
        </p:spPr>
        <p:txBody>
          <a:bodyPr wrap="square" lIns="0" tIns="0" rIns="0" bIns="0" rtlCol="0" anchor="ctr"/>
          <a:lstStyle/>
          <a:p>
            <a:pPr algn="l" indent="0" marL="0">
              <a:buNone/>
            </a:pPr>
            <a:r>
              <a:rPr lang="en-US" sz="1800" i="1" dirty="0">
                <a:solidFill>
                  <a:schemeClr val="bg1"/>
                </a:solidFill>
              </a:rPr>
              <a:t>Paper 2 · Outline Study (essay topic)</a:t>
            </a:r>
            <a:endParaRPr lang="en-US" sz="1800" dirty="0"/>
          </a:p>
        </p:txBody>
      </p:sp>
      <p:sp>
        <p:nvSpPr>
          <p:cNvPr id="6" name="KQ pill 1096"/>
          <p:cNvSpPr/>
          <p:nvPr/>
        </p:nvSpPr>
        <p:spPr>
          <a:xfrm>
            <a:off x="2788920" y="3502152"/>
            <a:ext cx="786384" cy="365760"/>
          </a:xfrm>
          <a:prstGeom prst="roundRect">
            <a:avLst>
              <a:gd name="adj" fmla="val 50000"/>
            </a:avLst>
          </a:prstGeom>
          <a:solidFill>
            <a:schemeClr val="bg1"/>
          </a:solidFill>
          <a:ln/>
        </p:spPr>
      </p:sp>
      <p:sp>
        <p:nvSpPr>
          <p:cNvPr id="7" name="Text 1097"/>
          <p:cNvSpPr txBox="1"/>
          <p:nvPr/>
        </p:nvSpPr>
        <p:spPr>
          <a:xfrm>
            <a:off x="2788920" y="350215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2"/>
                </a:solidFill>
              </a:rPr>
              <a:t>KQ1</a:t>
            </a:r>
            <a:endParaRPr lang="en-US" sz="1400" dirty="0"/>
          </a:p>
        </p:txBody>
      </p:sp>
      <p:sp>
        <p:nvSpPr>
          <p:cNvPr id="8" name="Text 1098"/>
          <p:cNvSpPr txBox="1"/>
          <p:nvPr/>
        </p:nvSpPr>
        <p:spPr>
          <a:xfrm>
            <a:off x="3749040" y="344728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were so many states dissatisfied with the peace settlements of 1919–23?</a:t>
            </a:r>
            <a:endParaRPr lang="en-US" sz="1700" dirty="0"/>
          </a:p>
        </p:txBody>
      </p:sp>
      <p:sp>
        <p:nvSpPr>
          <p:cNvPr id="9" name="KQ pill 1099"/>
          <p:cNvSpPr/>
          <p:nvPr/>
        </p:nvSpPr>
        <p:spPr>
          <a:xfrm>
            <a:off x="2788920" y="4210812"/>
            <a:ext cx="786384" cy="365760"/>
          </a:xfrm>
          <a:prstGeom prst="roundRect">
            <a:avLst>
              <a:gd name="adj" fmla="val 50000"/>
            </a:avLst>
          </a:prstGeom>
          <a:solidFill>
            <a:schemeClr val="bg1"/>
          </a:solidFill>
          <a:ln/>
        </p:spPr>
      </p:sp>
      <p:sp>
        <p:nvSpPr>
          <p:cNvPr id="10" name="Text 1100"/>
          <p:cNvSpPr txBox="1"/>
          <p:nvPr/>
        </p:nvSpPr>
        <p:spPr>
          <a:xfrm>
            <a:off x="2788920" y="421081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2"/>
                </a:solidFill>
              </a:rPr>
              <a:t>KQ2</a:t>
            </a:r>
            <a:endParaRPr lang="en-US" sz="1400" dirty="0"/>
          </a:p>
        </p:txBody>
      </p:sp>
      <p:sp>
        <p:nvSpPr>
          <p:cNvPr id="11" name="Text 1101"/>
          <p:cNvSpPr txBox="1"/>
          <p:nvPr/>
        </p:nvSpPr>
        <p:spPr>
          <a:xfrm>
            <a:off x="3749040" y="415594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How successful was the League of Nations in the 1920s?</a:t>
            </a:r>
            <a:endParaRPr lang="en-US" sz="1700" dirty="0"/>
          </a:p>
        </p:txBody>
      </p:sp>
      <p:sp>
        <p:nvSpPr>
          <p:cNvPr id="12" name="KQ pill 1102"/>
          <p:cNvSpPr/>
          <p:nvPr/>
        </p:nvSpPr>
        <p:spPr>
          <a:xfrm>
            <a:off x="2788920" y="4919472"/>
            <a:ext cx="786384" cy="365760"/>
          </a:xfrm>
          <a:prstGeom prst="roundRect">
            <a:avLst>
              <a:gd name="adj" fmla="val 50000"/>
            </a:avLst>
          </a:prstGeom>
          <a:solidFill>
            <a:schemeClr val="bg1"/>
          </a:solidFill>
          <a:ln/>
        </p:spPr>
      </p:sp>
      <p:sp>
        <p:nvSpPr>
          <p:cNvPr id="13" name="Text 1103"/>
          <p:cNvSpPr txBox="1"/>
          <p:nvPr/>
        </p:nvSpPr>
        <p:spPr>
          <a:xfrm>
            <a:off x="2788920" y="491947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2"/>
                </a:solidFill>
              </a:rPr>
              <a:t>KQ3</a:t>
            </a:r>
            <a:endParaRPr lang="en-US" sz="1400" dirty="0"/>
          </a:p>
        </p:txBody>
      </p:sp>
      <p:sp>
        <p:nvSpPr>
          <p:cNvPr id="14" name="Text 1104"/>
          <p:cNvSpPr txBox="1"/>
          <p:nvPr/>
        </p:nvSpPr>
        <p:spPr>
          <a:xfrm>
            <a:off x="3749040" y="486460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were relations between the powers so tense in 1919–23?</a:t>
            </a:r>
            <a:endParaRPr lang="en-US" sz="1700" dirty="0"/>
          </a:p>
        </p:txBody>
      </p:sp>
      <p:sp>
        <p:nvSpPr>
          <p:cNvPr id="15" name="KQ pill 1105"/>
          <p:cNvSpPr/>
          <p:nvPr/>
        </p:nvSpPr>
        <p:spPr>
          <a:xfrm>
            <a:off x="2788920" y="5628132"/>
            <a:ext cx="786384" cy="365760"/>
          </a:xfrm>
          <a:prstGeom prst="roundRect">
            <a:avLst>
              <a:gd name="adj" fmla="val 50000"/>
            </a:avLst>
          </a:prstGeom>
          <a:solidFill>
            <a:schemeClr val="bg1"/>
          </a:solidFill>
          <a:ln/>
        </p:spPr>
      </p:sp>
      <p:sp>
        <p:nvSpPr>
          <p:cNvPr id="16" name="Text 1106"/>
          <p:cNvSpPr txBox="1"/>
          <p:nvPr/>
        </p:nvSpPr>
        <p:spPr>
          <a:xfrm>
            <a:off x="2788920" y="562813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2"/>
                </a:solidFill>
              </a:rPr>
              <a:t>KQ4</a:t>
            </a:r>
            <a:endParaRPr lang="en-US" sz="1400" dirty="0"/>
          </a:p>
        </p:txBody>
      </p:sp>
      <p:sp>
        <p:nvSpPr>
          <p:cNvPr id="17" name="Text 1107"/>
          <p:cNvSpPr txBox="1"/>
          <p:nvPr/>
        </p:nvSpPr>
        <p:spPr>
          <a:xfrm>
            <a:off x="3749040" y="557326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How and why did international relations improve, 1924–29?</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Kicker 110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TIMELINE (1 OF 2)</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dates, 1919–23: conflict</a:t>
            </a:r>
            <a:endParaRPr lang="en-US" sz="3400" dirty="0"/>
          </a:p>
        </p:txBody>
      </p:sp>
      <p:sp>
        <p:nvSpPr>
          <p:cNvPr id="4" name="Connector 1109"/>
          <p:cNvSpPr/>
          <p:nvPr/>
        </p:nvSpPr>
        <p:spPr>
          <a:xfrm>
            <a:off x="1152144" y="1856232"/>
            <a:ext cx="0" cy="420624"/>
          </a:xfrm>
          <a:prstGeom prst="line">
            <a:avLst/>
          </a:prstGeom>
          <a:noFill/>
          <a:ln w="15875">
            <a:solidFill>
              <a:schemeClr val="accent2"/>
            </a:solidFill>
            <a:prstDash val="solid"/>
          </a:ln>
        </p:spPr>
      </p:sp>
      <p:sp>
        <p:nvSpPr>
          <p:cNvPr id="5" name="Date pill 1110"/>
          <p:cNvSpPr/>
          <p:nvPr/>
        </p:nvSpPr>
        <p:spPr>
          <a:xfrm>
            <a:off x="548640" y="1527048"/>
            <a:ext cx="1207008" cy="329184"/>
          </a:xfrm>
          <a:prstGeom prst="roundRect">
            <a:avLst>
              <a:gd name="adj" fmla="val 50000"/>
            </a:avLst>
          </a:prstGeom>
          <a:solidFill>
            <a:schemeClr val="accent2"/>
          </a:solidFill>
          <a:ln/>
        </p:spPr>
      </p:sp>
      <p:sp>
        <p:nvSpPr>
          <p:cNvPr id="6" name="Text 1111"/>
          <p:cNvSpPr txBox="1"/>
          <p:nvPr/>
        </p:nvSpPr>
        <p:spPr>
          <a:xfrm>
            <a:off x="548640" y="152704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Jun 1919</a:t>
            </a:r>
            <a:endParaRPr lang="en-US" sz="1300" dirty="0"/>
          </a:p>
        </p:txBody>
      </p:sp>
      <p:sp>
        <p:nvSpPr>
          <p:cNvPr id="7" name="Text 1112"/>
          <p:cNvSpPr txBox="1"/>
          <p:nvPr/>
        </p:nvSpPr>
        <p:spPr>
          <a:xfrm>
            <a:off x="1920240" y="1508760"/>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Treaty of Versailles</a:t>
            </a:r>
            <a:r>
              <a:rPr lang="en-US" sz="1500" dirty="0">
                <a:solidFill>
                  <a:schemeClr val="tx1"/>
                </a:solidFill>
              </a:rPr>
              <a:t> signed with Germany</a:t>
            </a:r>
            <a:endParaRPr lang="en-US" sz="1500" dirty="0"/>
          </a:p>
        </p:txBody>
      </p:sp>
      <p:sp>
        <p:nvSpPr>
          <p:cNvPr id="8" name="Connector 1113"/>
          <p:cNvSpPr/>
          <p:nvPr/>
        </p:nvSpPr>
        <p:spPr>
          <a:xfrm>
            <a:off x="1152144" y="2606040"/>
            <a:ext cx="0" cy="420624"/>
          </a:xfrm>
          <a:prstGeom prst="line">
            <a:avLst/>
          </a:prstGeom>
          <a:noFill/>
          <a:ln w="15875">
            <a:solidFill>
              <a:schemeClr val="accent2"/>
            </a:solidFill>
            <a:prstDash val="solid"/>
          </a:ln>
        </p:spPr>
      </p:sp>
      <p:sp>
        <p:nvSpPr>
          <p:cNvPr id="9" name="Date pill 1114"/>
          <p:cNvSpPr/>
          <p:nvPr/>
        </p:nvSpPr>
        <p:spPr>
          <a:xfrm>
            <a:off x="548640" y="2276856"/>
            <a:ext cx="1207008" cy="329184"/>
          </a:xfrm>
          <a:prstGeom prst="roundRect">
            <a:avLst>
              <a:gd name="adj" fmla="val 50000"/>
            </a:avLst>
          </a:prstGeom>
          <a:solidFill>
            <a:schemeClr val="accent2"/>
          </a:solidFill>
          <a:ln/>
        </p:spPr>
      </p:sp>
      <p:sp>
        <p:nvSpPr>
          <p:cNvPr id="10" name="Text 1115"/>
          <p:cNvSpPr txBox="1"/>
          <p:nvPr/>
        </p:nvSpPr>
        <p:spPr>
          <a:xfrm>
            <a:off x="548640" y="2276856"/>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Nov 1919</a:t>
            </a:r>
            <a:endParaRPr lang="en-US" sz="1300" dirty="0"/>
          </a:p>
        </p:txBody>
      </p:sp>
      <p:sp>
        <p:nvSpPr>
          <p:cNvPr id="11" name="Text 1116"/>
          <p:cNvSpPr txBox="1"/>
          <p:nvPr/>
        </p:nvSpPr>
        <p:spPr>
          <a:xfrm>
            <a:off x="1920240" y="2258568"/>
            <a:ext cx="3992728" cy="71323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US Senate </a:t>
            </a:r>
            <a:r>
              <a:rPr lang="en-US" sz="1500" b="1" dirty="0">
                <a:solidFill>
                  <a:schemeClr val="tx1"/>
                </a:solidFill>
              </a:rPr>
              <a:t>rejects Versailles</a:t>
            </a:r>
            <a:r>
              <a:rPr lang="en-US" sz="1500" dirty="0">
                <a:solidFill>
                  <a:schemeClr val="tx1"/>
                </a:solidFill>
              </a:rPr>
              <a:t> (again in Mar 1920)</a:t>
            </a:r>
            <a:endParaRPr lang="en-US" sz="1500" dirty="0"/>
          </a:p>
        </p:txBody>
      </p:sp>
      <p:sp>
        <p:nvSpPr>
          <p:cNvPr id="12" name="Connector 1117"/>
          <p:cNvSpPr/>
          <p:nvPr/>
        </p:nvSpPr>
        <p:spPr>
          <a:xfrm>
            <a:off x="1152144" y="3355848"/>
            <a:ext cx="0" cy="420624"/>
          </a:xfrm>
          <a:prstGeom prst="line">
            <a:avLst/>
          </a:prstGeom>
          <a:noFill/>
          <a:ln w="15875">
            <a:solidFill>
              <a:schemeClr val="accent2"/>
            </a:solidFill>
            <a:prstDash val="solid"/>
          </a:ln>
        </p:spPr>
      </p:sp>
      <p:sp>
        <p:nvSpPr>
          <p:cNvPr id="13" name="Date pill 1118"/>
          <p:cNvSpPr/>
          <p:nvPr/>
        </p:nvSpPr>
        <p:spPr>
          <a:xfrm>
            <a:off x="548640" y="3026664"/>
            <a:ext cx="1207008" cy="329184"/>
          </a:xfrm>
          <a:prstGeom prst="roundRect">
            <a:avLst>
              <a:gd name="adj" fmla="val 50000"/>
            </a:avLst>
          </a:prstGeom>
          <a:solidFill>
            <a:schemeClr val="accent2"/>
          </a:solidFill>
          <a:ln/>
        </p:spPr>
      </p:sp>
      <p:sp>
        <p:nvSpPr>
          <p:cNvPr id="14" name="Text 1119"/>
          <p:cNvSpPr txBox="1"/>
          <p:nvPr/>
        </p:nvSpPr>
        <p:spPr>
          <a:xfrm>
            <a:off x="548640" y="3026664"/>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Jan 1920</a:t>
            </a:r>
            <a:endParaRPr lang="en-US" sz="1300" dirty="0"/>
          </a:p>
        </p:txBody>
      </p:sp>
      <p:sp>
        <p:nvSpPr>
          <p:cNvPr id="15" name="Text 1120"/>
          <p:cNvSpPr txBox="1"/>
          <p:nvPr/>
        </p:nvSpPr>
        <p:spPr>
          <a:xfrm>
            <a:off x="1920240" y="3008376"/>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League of Nations</a:t>
            </a:r>
            <a:r>
              <a:rPr lang="en-US" sz="1500" dirty="0">
                <a:solidFill>
                  <a:schemeClr val="tx1"/>
                </a:solidFill>
              </a:rPr>
              <a:t> begins work in Geneva</a:t>
            </a:r>
            <a:endParaRPr lang="en-US" sz="1500" dirty="0"/>
          </a:p>
        </p:txBody>
      </p:sp>
      <p:sp>
        <p:nvSpPr>
          <p:cNvPr id="16" name="Connector 1121"/>
          <p:cNvSpPr/>
          <p:nvPr/>
        </p:nvSpPr>
        <p:spPr>
          <a:xfrm>
            <a:off x="1152144" y="4105656"/>
            <a:ext cx="0" cy="420624"/>
          </a:xfrm>
          <a:prstGeom prst="line">
            <a:avLst/>
          </a:prstGeom>
          <a:noFill/>
          <a:ln w="15875">
            <a:solidFill>
              <a:schemeClr val="accent2"/>
            </a:solidFill>
            <a:prstDash val="solid"/>
          </a:ln>
        </p:spPr>
      </p:sp>
      <p:sp>
        <p:nvSpPr>
          <p:cNvPr id="17" name="Date pill 1122"/>
          <p:cNvSpPr/>
          <p:nvPr/>
        </p:nvSpPr>
        <p:spPr>
          <a:xfrm>
            <a:off x="548640" y="3776472"/>
            <a:ext cx="1207008" cy="329184"/>
          </a:xfrm>
          <a:prstGeom prst="roundRect">
            <a:avLst>
              <a:gd name="adj" fmla="val 50000"/>
            </a:avLst>
          </a:prstGeom>
          <a:solidFill>
            <a:schemeClr val="accent2"/>
          </a:solidFill>
          <a:ln/>
        </p:spPr>
      </p:sp>
      <p:sp>
        <p:nvSpPr>
          <p:cNvPr id="18" name="Text 1123"/>
          <p:cNvSpPr txBox="1"/>
          <p:nvPr/>
        </p:nvSpPr>
        <p:spPr>
          <a:xfrm>
            <a:off x="548640" y="3776472"/>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1920</a:t>
            </a:r>
            <a:endParaRPr lang="en-US" sz="1300" dirty="0"/>
          </a:p>
        </p:txBody>
      </p:sp>
      <p:sp>
        <p:nvSpPr>
          <p:cNvPr id="19" name="Text 1124"/>
          <p:cNvSpPr txBox="1"/>
          <p:nvPr/>
        </p:nvSpPr>
        <p:spPr>
          <a:xfrm>
            <a:off x="1920240" y="3758184"/>
            <a:ext cx="3992728" cy="71323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Treaties of </a:t>
            </a:r>
            <a:r>
              <a:rPr lang="en-US" sz="1500" b="1" dirty="0">
                <a:solidFill>
                  <a:schemeClr val="tx1"/>
                </a:solidFill>
              </a:rPr>
              <a:t>Trianon</a:t>
            </a:r>
            <a:r>
              <a:rPr lang="en-US" sz="1500" dirty="0">
                <a:solidFill>
                  <a:schemeClr val="tx1"/>
                </a:solidFill>
              </a:rPr>
              <a:t> (Hungary) and </a:t>
            </a:r>
            <a:r>
              <a:rPr lang="en-US" sz="1500" b="1" dirty="0">
                <a:solidFill>
                  <a:schemeClr val="tx1"/>
                </a:solidFill>
              </a:rPr>
              <a:t>Sèvres</a:t>
            </a:r>
            <a:r>
              <a:rPr lang="en-US" sz="1500" dirty="0">
                <a:solidFill>
                  <a:schemeClr val="tx1"/>
                </a:solidFill>
              </a:rPr>
              <a:t> (Turkey)</a:t>
            </a:r>
            <a:endParaRPr lang="en-US" sz="1500" dirty="0"/>
          </a:p>
        </p:txBody>
      </p:sp>
      <p:sp>
        <p:nvSpPr>
          <p:cNvPr id="20" name="Date pill 1125"/>
          <p:cNvSpPr/>
          <p:nvPr/>
        </p:nvSpPr>
        <p:spPr>
          <a:xfrm>
            <a:off x="548640" y="4526280"/>
            <a:ext cx="1207008" cy="329184"/>
          </a:xfrm>
          <a:prstGeom prst="roundRect">
            <a:avLst>
              <a:gd name="adj" fmla="val 50000"/>
            </a:avLst>
          </a:prstGeom>
          <a:solidFill>
            <a:schemeClr val="accent2"/>
          </a:solidFill>
          <a:ln/>
        </p:spPr>
      </p:sp>
      <p:sp>
        <p:nvSpPr>
          <p:cNvPr id="21" name="Text 1126"/>
          <p:cNvSpPr txBox="1"/>
          <p:nvPr/>
        </p:nvSpPr>
        <p:spPr>
          <a:xfrm>
            <a:off x="548640" y="4526280"/>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1920–21</a:t>
            </a:r>
            <a:endParaRPr lang="en-US" sz="1300" dirty="0"/>
          </a:p>
        </p:txBody>
      </p:sp>
      <p:sp>
        <p:nvSpPr>
          <p:cNvPr id="22" name="Text 1127"/>
          <p:cNvSpPr txBox="1"/>
          <p:nvPr/>
        </p:nvSpPr>
        <p:spPr>
          <a:xfrm>
            <a:off x="1920240" y="4507992"/>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Polish–Soviet War</a:t>
            </a:r>
            <a:r>
              <a:rPr lang="en-US" sz="1500" dirty="0">
                <a:solidFill>
                  <a:schemeClr val="tx1"/>
                </a:solidFill>
              </a:rPr>
              <a:t>; Poland seizes </a:t>
            </a:r>
            <a:r>
              <a:rPr lang="en-US" sz="1500" b="1" dirty="0">
                <a:solidFill>
                  <a:schemeClr val="tx1"/>
                </a:solidFill>
              </a:rPr>
              <a:t>Vilna</a:t>
            </a:r>
            <a:endParaRPr lang="en-US" sz="1500" dirty="0"/>
          </a:p>
        </p:txBody>
      </p:sp>
      <p:sp>
        <p:nvSpPr>
          <p:cNvPr id="23" name="Connector 1128"/>
          <p:cNvSpPr/>
          <p:nvPr/>
        </p:nvSpPr>
        <p:spPr>
          <a:xfrm>
            <a:off x="6882232" y="1856232"/>
            <a:ext cx="0" cy="420624"/>
          </a:xfrm>
          <a:prstGeom prst="line">
            <a:avLst/>
          </a:prstGeom>
          <a:noFill/>
          <a:ln w="15875">
            <a:solidFill>
              <a:schemeClr val="accent2"/>
            </a:solidFill>
            <a:prstDash val="solid"/>
          </a:ln>
        </p:spPr>
      </p:sp>
      <p:sp>
        <p:nvSpPr>
          <p:cNvPr id="24" name="Date pill 1129"/>
          <p:cNvSpPr/>
          <p:nvPr/>
        </p:nvSpPr>
        <p:spPr>
          <a:xfrm>
            <a:off x="6278728" y="1527048"/>
            <a:ext cx="1207008" cy="329184"/>
          </a:xfrm>
          <a:prstGeom prst="roundRect">
            <a:avLst>
              <a:gd name="adj" fmla="val 50000"/>
            </a:avLst>
          </a:prstGeom>
          <a:solidFill>
            <a:schemeClr val="accent2"/>
          </a:solidFill>
          <a:ln/>
        </p:spPr>
      </p:sp>
      <p:sp>
        <p:nvSpPr>
          <p:cNvPr id="25" name="Text 1130"/>
          <p:cNvSpPr txBox="1"/>
          <p:nvPr/>
        </p:nvSpPr>
        <p:spPr>
          <a:xfrm>
            <a:off x="6278728" y="152704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1921</a:t>
            </a:r>
            <a:endParaRPr lang="en-US" sz="1300" dirty="0"/>
          </a:p>
        </p:txBody>
      </p:sp>
      <p:sp>
        <p:nvSpPr>
          <p:cNvPr id="26" name="Text 1131"/>
          <p:cNvSpPr txBox="1"/>
          <p:nvPr/>
        </p:nvSpPr>
        <p:spPr>
          <a:xfrm>
            <a:off x="7650328" y="1508760"/>
            <a:ext cx="3992728" cy="71323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League settles </a:t>
            </a:r>
            <a:r>
              <a:rPr lang="en-US" sz="1500" b="1" dirty="0">
                <a:solidFill>
                  <a:schemeClr val="tx1"/>
                </a:solidFill>
              </a:rPr>
              <a:t>Åland Islands</a:t>
            </a:r>
            <a:r>
              <a:rPr lang="en-US" sz="1500" dirty="0">
                <a:solidFill>
                  <a:schemeClr val="tx1"/>
                </a:solidFill>
              </a:rPr>
              <a:t> and </a:t>
            </a:r>
            <a:r>
              <a:rPr lang="en-US" sz="1500" b="1" dirty="0">
                <a:solidFill>
                  <a:schemeClr val="tx1"/>
                </a:solidFill>
              </a:rPr>
              <a:t>Upper Silesia</a:t>
            </a:r>
            <a:endParaRPr lang="en-US" sz="1500" dirty="0"/>
          </a:p>
        </p:txBody>
      </p:sp>
      <p:sp>
        <p:nvSpPr>
          <p:cNvPr id="27" name="Connector 1132"/>
          <p:cNvSpPr/>
          <p:nvPr/>
        </p:nvSpPr>
        <p:spPr>
          <a:xfrm>
            <a:off x="6882232" y="2606040"/>
            <a:ext cx="0" cy="420624"/>
          </a:xfrm>
          <a:prstGeom prst="line">
            <a:avLst/>
          </a:prstGeom>
          <a:noFill/>
          <a:ln w="15875">
            <a:solidFill>
              <a:schemeClr val="accent2"/>
            </a:solidFill>
            <a:prstDash val="solid"/>
          </a:ln>
        </p:spPr>
      </p:sp>
      <p:sp>
        <p:nvSpPr>
          <p:cNvPr id="28" name="Date pill 1133"/>
          <p:cNvSpPr/>
          <p:nvPr/>
        </p:nvSpPr>
        <p:spPr>
          <a:xfrm>
            <a:off x="6278728" y="2276856"/>
            <a:ext cx="1207008" cy="329184"/>
          </a:xfrm>
          <a:prstGeom prst="roundRect">
            <a:avLst>
              <a:gd name="adj" fmla="val 50000"/>
            </a:avLst>
          </a:prstGeom>
          <a:solidFill>
            <a:schemeClr val="accent2"/>
          </a:solidFill>
          <a:ln/>
        </p:spPr>
      </p:sp>
      <p:sp>
        <p:nvSpPr>
          <p:cNvPr id="29" name="Text 1134"/>
          <p:cNvSpPr txBox="1"/>
          <p:nvPr/>
        </p:nvSpPr>
        <p:spPr>
          <a:xfrm>
            <a:off x="6278728" y="2276856"/>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1921–22</a:t>
            </a:r>
            <a:endParaRPr lang="en-US" sz="1300" dirty="0"/>
          </a:p>
        </p:txBody>
      </p:sp>
      <p:sp>
        <p:nvSpPr>
          <p:cNvPr id="30" name="Text 1135"/>
          <p:cNvSpPr txBox="1"/>
          <p:nvPr/>
        </p:nvSpPr>
        <p:spPr>
          <a:xfrm>
            <a:off x="7650328" y="2258568"/>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Washington Naval Conference</a:t>
            </a:r>
            <a:endParaRPr lang="en-US" sz="1500" dirty="0"/>
          </a:p>
        </p:txBody>
      </p:sp>
      <p:sp>
        <p:nvSpPr>
          <p:cNvPr id="31" name="Connector 1136"/>
          <p:cNvSpPr/>
          <p:nvPr/>
        </p:nvSpPr>
        <p:spPr>
          <a:xfrm>
            <a:off x="6882232" y="3355848"/>
            <a:ext cx="0" cy="420624"/>
          </a:xfrm>
          <a:prstGeom prst="line">
            <a:avLst/>
          </a:prstGeom>
          <a:noFill/>
          <a:ln w="15875">
            <a:solidFill>
              <a:schemeClr val="accent2"/>
            </a:solidFill>
            <a:prstDash val="solid"/>
          </a:ln>
        </p:spPr>
      </p:sp>
      <p:sp>
        <p:nvSpPr>
          <p:cNvPr id="32" name="Date pill 1137"/>
          <p:cNvSpPr/>
          <p:nvPr/>
        </p:nvSpPr>
        <p:spPr>
          <a:xfrm>
            <a:off x="6278728" y="3026664"/>
            <a:ext cx="1207008" cy="329184"/>
          </a:xfrm>
          <a:prstGeom prst="roundRect">
            <a:avLst>
              <a:gd name="adj" fmla="val 50000"/>
            </a:avLst>
          </a:prstGeom>
          <a:solidFill>
            <a:schemeClr val="accent2"/>
          </a:solidFill>
          <a:ln/>
        </p:spPr>
      </p:sp>
      <p:sp>
        <p:nvSpPr>
          <p:cNvPr id="33" name="Text 1138"/>
          <p:cNvSpPr txBox="1"/>
          <p:nvPr/>
        </p:nvSpPr>
        <p:spPr>
          <a:xfrm>
            <a:off x="6278728" y="3026664"/>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Apr 1922</a:t>
            </a:r>
            <a:endParaRPr lang="en-US" sz="1300" dirty="0"/>
          </a:p>
        </p:txBody>
      </p:sp>
      <p:sp>
        <p:nvSpPr>
          <p:cNvPr id="34" name="Text 1139"/>
          <p:cNvSpPr txBox="1"/>
          <p:nvPr/>
        </p:nvSpPr>
        <p:spPr>
          <a:xfrm>
            <a:off x="7650328" y="3008376"/>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Genoa Conference</a:t>
            </a:r>
            <a:r>
              <a:rPr lang="en-US" sz="1500" dirty="0">
                <a:solidFill>
                  <a:schemeClr val="tx1"/>
                </a:solidFill>
              </a:rPr>
              <a:t> fails; </a:t>
            </a:r>
            <a:r>
              <a:rPr lang="en-US" sz="1500" b="1" dirty="0">
                <a:solidFill>
                  <a:schemeClr val="tx1"/>
                </a:solidFill>
              </a:rPr>
              <a:t>Treaty of Rapallo</a:t>
            </a:r>
            <a:endParaRPr lang="en-US" sz="1500" dirty="0"/>
          </a:p>
        </p:txBody>
      </p:sp>
      <p:sp>
        <p:nvSpPr>
          <p:cNvPr id="35" name="Connector 1140"/>
          <p:cNvSpPr/>
          <p:nvPr/>
        </p:nvSpPr>
        <p:spPr>
          <a:xfrm>
            <a:off x="6882232" y="4105656"/>
            <a:ext cx="0" cy="420624"/>
          </a:xfrm>
          <a:prstGeom prst="line">
            <a:avLst/>
          </a:prstGeom>
          <a:noFill/>
          <a:ln w="15875">
            <a:solidFill>
              <a:schemeClr val="accent2"/>
            </a:solidFill>
            <a:prstDash val="solid"/>
          </a:ln>
        </p:spPr>
      </p:sp>
      <p:sp>
        <p:nvSpPr>
          <p:cNvPr id="36" name="Date pill 1141"/>
          <p:cNvSpPr/>
          <p:nvPr/>
        </p:nvSpPr>
        <p:spPr>
          <a:xfrm>
            <a:off x="6278728" y="3776472"/>
            <a:ext cx="1207008" cy="329184"/>
          </a:xfrm>
          <a:prstGeom prst="roundRect">
            <a:avLst>
              <a:gd name="adj" fmla="val 50000"/>
            </a:avLst>
          </a:prstGeom>
          <a:solidFill>
            <a:schemeClr val="accent2"/>
          </a:solidFill>
          <a:ln/>
        </p:spPr>
      </p:sp>
      <p:sp>
        <p:nvSpPr>
          <p:cNvPr id="37" name="Text 1142"/>
          <p:cNvSpPr txBox="1"/>
          <p:nvPr/>
        </p:nvSpPr>
        <p:spPr>
          <a:xfrm>
            <a:off x="6278728" y="3776472"/>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Jan 1923</a:t>
            </a:r>
            <a:endParaRPr lang="en-US" sz="1300" dirty="0"/>
          </a:p>
        </p:txBody>
      </p:sp>
      <p:sp>
        <p:nvSpPr>
          <p:cNvPr id="38" name="Text 1143"/>
          <p:cNvSpPr txBox="1"/>
          <p:nvPr/>
        </p:nvSpPr>
        <p:spPr>
          <a:xfrm>
            <a:off x="7650328" y="3758184"/>
            <a:ext cx="3992728" cy="713232"/>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France and Belgium </a:t>
            </a:r>
            <a:r>
              <a:rPr lang="en-US" sz="1500" b="1" dirty="0">
                <a:solidFill>
                  <a:schemeClr val="tx1"/>
                </a:solidFill>
              </a:rPr>
              <a:t>occupy the Ruhr</a:t>
            </a:r>
            <a:endParaRPr lang="en-US" sz="1500" dirty="0"/>
          </a:p>
        </p:txBody>
      </p:sp>
      <p:sp>
        <p:nvSpPr>
          <p:cNvPr id="39" name="Date pill 1144"/>
          <p:cNvSpPr/>
          <p:nvPr/>
        </p:nvSpPr>
        <p:spPr>
          <a:xfrm>
            <a:off x="6278728" y="4526280"/>
            <a:ext cx="1207008" cy="329184"/>
          </a:xfrm>
          <a:prstGeom prst="roundRect">
            <a:avLst>
              <a:gd name="adj" fmla="val 50000"/>
            </a:avLst>
          </a:prstGeom>
          <a:solidFill>
            <a:schemeClr val="accent2"/>
          </a:solidFill>
          <a:ln/>
        </p:spPr>
      </p:sp>
      <p:sp>
        <p:nvSpPr>
          <p:cNvPr id="40" name="Text 1145"/>
          <p:cNvSpPr txBox="1"/>
          <p:nvPr/>
        </p:nvSpPr>
        <p:spPr>
          <a:xfrm>
            <a:off x="6278728" y="4526280"/>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1923</a:t>
            </a:r>
            <a:endParaRPr lang="en-US" sz="1300" dirty="0"/>
          </a:p>
        </p:txBody>
      </p:sp>
      <p:sp>
        <p:nvSpPr>
          <p:cNvPr id="41" name="Text 1146"/>
          <p:cNvSpPr txBox="1"/>
          <p:nvPr/>
        </p:nvSpPr>
        <p:spPr>
          <a:xfrm>
            <a:off x="7650328" y="4507992"/>
            <a:ext cx="3992728" cy="713232"/>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Treaty of Lausanne</a:t>
            </a:r>
            <a:r>
              <a:rPr lang="en-US" sz="1500" dirty="0">
                <a:solidFill>
                  <a:schemeClr val="tx1"/>
                </a:solidFill>
              </a:rPr>
              <a:t> (July); </a:t>
            </a:r>
            <a:r>
              <a:rPr lang="en-US" sz="1500" b="1" dirty="0">
                <a:solidFill>
                  <a:schemeClr val="tx1"/>
                </a:solidFill>
              </a:rPr>
              <a:t>Corfu Incident</a:t>
            </a:r>
            <a:r>
              <a:rPr lang="en-US" sz="1500" dirty="0">
                <a:solidFill>
                  <a:schemeClr val="tx1"/>
                </a:solidFill>
              </a:rPr>
              <a:t> (Aug)</a:t>
            </a:r>
            <a:endParaRPr lang="en-US" sz="1500" dirty="0"/>
          </a:p>
        </p:txBody>
      </p:sp>
      <p:sp>
        <p:nvSpPr>
          <p:cNvPr id="42" name="Callout 1147"/>
          <p:cNvSpPr/>
          <p:nvPr/>
        </p:nvSpPr>
        <p:spPr>
          <a:xfrm>
            <a:off x="548640" y="5550408"/>
            <a:ext cx="11094415" cy="713232"/>
          </a:xfrm>
          <a:prstGeom prst="roundRect">
            <a:avLst>
              <a:gd name="adj" fmla="val 12821"/>
            </a:avLst>
          </a:prstGeom>
          <a:solidFill>
            <a:schemeClr val="accent4">
              <a:alpha val="20000"/>
            </a:schemeClr>
          </a:solidFill>
          <a:ln/>
        </p:spPr>
      </p:sp>
      <p:sp>
        <p:nvSpPr>
          <p:cNvPr id="43" name="Callout label 1148"/>
          <p:cNvSpPr/>
          <p:nvPr/>
        </p:nvSpPr>
        <p:spPr>
          <a:xfrm>
            <a:off x="731520" y="5751576"/>
            <a:ext cx="1190135" cy="310896"/>
          </a:xfrm>
          <a:prstGeom prst="roundRect">
            <a:avLst>
              <a:gd name="adj" fmla="val 50000"/>
            </a:avLst>
          </a:prstGeom>
          <a:solidFill>
            <a:schemeClr val="accent4"/>
          </a:solidFill>
          <a:ln/>
        </p:spPr>
      </p:sp>
      <p:sp>
        <p:nvSpPr>
          <p:cNvPr id="44" name="Text 1149"/>
          <p:cNvSpPr txBox="1"/>
          <p:nvPr/>
        </p:nvSpPr>
        <p:spPr>
          <a:xfrm>
            <a:off x="731520" y="5751576"/>
            <a:ext cx="1190135"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BIG PICTURE</a:t>
            </a:r>
            <a:endParaRPr lang="en-US" sz="1200" dirty="0"/>
          </a:p>
        </p:txBody>
      </p:sp>
      <p:sp>
        <p:nvSpPr>
          <p:cNvPr id="45" name="Text 1150"/>
          <p:cNvSpPr txBox="1"/>
          <p:nvPr/>
        </p:nvSpPr>
        <p:spPr>
          <a:xfrm>
            <a:off x="2104535" y="5623560"/>
            <a:ext cx="9355640"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1919–23 = 'conflict': the treaties were resented, the League was bypassed and the Ruhr crisis nearly broke Europe.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Kicker 115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TIMELINE (2 OF 2)</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dates, 1924–29: cooperation</a:t>
            </a:r>
            <a:endParaRPr lang="en-US" sz="3400" dirty="0"/>
          </a:p>
        </p:txBody>
      </p:sp>
      <p:sp>
        <p:nvSpPr>
          <p:cNvPr id="4" name="Connector 1152"/>
          <p:cNvSpPr/>
          <p:nvPr/>
        </p:nvSpPr>
        <p:spPr>
          <a:xfrm>
            <a:off x="1152144" y="1856232"/>
            <a:ext cx="0" cy="608076"/>
          </a:xfrm>
          <a:prstGeom prst="line">
            <a:avLst/>
          </a:prstGeom>
          <a:noFill/>
          <a:ln w="15875">
            <a:solidFill>
              <a:schemeClr val="accent2"/>
            </a:solidFill>
            <a:prstDash val="solid"/>
          </a:ln>
        </p:spPr>
      </p:sp>
      <p:sp>
        <p:nvSpPr>
          <p:cNvPr id="5" name="Date pill 1153"/>
          <p:cNvSpPr/>
          <p:nvPr/>
        </p:nvSpPr>
        <p:spPr>
          <a:xfrm>
            <a:off x="548640" y="1527048"/>
            <a:ext cx="1207008" cy="329184"/>
          </a:xfrm>
          <a:prstGeom prst="roundRect">
            <a:avLst>
              <a:gd name="adj" fmla="val 50000"/>
            </a:avLst>
          </a:prstGeom>
          <a:solidFill>
            <a:schemeClr val="accent2"/>
          </a:solidFill>
          <a:ln/>
        </p:spPr>
      </p:sp>
      <p:sp>
        <p:nvSpPr>
          <p:cNvPr id="6" name="Text 1154"/>
          <p:cNvSpPr txBox="1"/>
          <p:nvPr/>
        </p:nvSpPr>
        <p:spPr>
          <a:xfrm>
            <a:off x="548640" y="152704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1924</a:t>
            </a:r>
            <a:endParaRPr lang="en-US" sz="1300" dirty="0"/>
          </a:p>
        </p:txBody>
      </p:sp>
      <p:sp>
        <p:nvSpPr>
          <p:cNvPr id="7" name="Text 1155"/>
          <p:cNvSpPr txBox="1"/>
          <p:nvPr/>
        </p:nvSpPr>
        <p:spPr>
          <a:xfrm>
            <a:off x="1920240" y="1508760"/>
            <a:ext cx="3992728" cy="900684"/>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Dawes Plan</a:t>
            </a:r>
            <a:r>
              <a:rPr lang="en-US" sz="1500" dirty="0">
                <a:solidFill>
                  <a:schemeClr val="tx1"/>
                </a:solidFill>
              </a:rPr>
              <a:t>; Britain, Italy and France recognise the USSR</a:t>
            </a:r>
            <a:endParaRPr lang="en-US" sz="1500" dirty="0"/>
          </a:p>
        </p:txBody>
      </p:sp>
      <p:sp>
        <p:nvSpPr>
          <p:cNvPr id="8" name="Connector 1156"/>
          <p:cNvSpPr/>
          <p:nvPr/>
        </p:nvSpPr>
        <p:spPr>
          <a:xfrm>
            <a:off x="1152144" y="2793492"/>
            <a:ext cx="0" cy="608076"/>
          </a:xfrm>
          <a:prstGeom prst="line">
            <a:avLst/>
          </a:prstGeom>
          <a:noFill/>
          <a:ln w="15875">
            <a:solidFill>
              <a:schemeClr val="accent2"/>
            </a:solidFill>
            <a:prstDash val="solid"/>
          </a:ln>
        </p:spPr>
      </p:sp>
      <p:sp>
        <p:nvSpPr>
          <p:cNvPr id="9" name="Date pill 1157"/>
          <p:cNvSpPr/>
          <p:nvPr/>
        </p:nvSpPr>
        <p:spPr>
          <a:xfrm>
            <a:off x="548640" y="2464308"/>
            <a:ext cx="1207008" cy="329184"/>
          </a:xfrm>
          <a:prstGeom prst="roundRect">
            <a:avLst>
              <a:gd name="adj" fmla="val 50000"/>
            </a:avLst>
          </a:prstGeom>
          <a:solidFill>
            <a:schemeClr val="accent2"/>
          </a:solidFill>
          <a:ln/>
        </p:spPr>
      </p:sp>
      <p:sp>
        <p:nvSpPr>
          <p:cNvPr id="10" name="Text 1158"/>
          <p:cNvSpPr txBox="1"/>
          <p:nvPr/>
        </p:nvSpPr>
        <p:spPr>
          <a:xfrm>
            <a:off x="548640" y="246430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1924–25</a:t>
            </a:r>
            <a:endParaRPr lang="en-US" sz="1300" dirty="0"/>
          </a:p>
        </p:txBody>
      </p:sp>
      <p:sp>
        <p:nvSpPr>
          <p:cNvPr id="11" name="Text 1159"/>
          <p:cNvSpPr txBox="1"/>
          <p:nvPr/>
        </p:nvSpPr>
        <p:spPr>
          <a:xfrm>
            <a:off x="1920240" y="2446020"/>
            <a:ext cx="3992728" cy="900684"/>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Geneva Protocol</a:t>
            </a:r>
            <a:r>
              <a:rPr lang="en-US" sz="1500" dirty="0">
                <a:solidFill>
                  <a:schemeClr val="tx1"/>
                </a:solidFill>
              </a:rPr>
              <a:t> proposed — rejected by Britain</a:t>
            </a:r>
            <a:endParaRPr lang="en-US" sz="1500" dirty="0"/>
          </a:p>
        </p:txBody>
      </p:sp>
      <p:sp>
        <p:nvSpPr>
          <p:cNvPr id="12" name="Connector 1160"/>
          <p:cNvSpPr/>
          <p:nvPr/>
        </p:nvSpPr>
        <p:spPr>
          <a:xfrm>
            <a:off x="1152144" y="3730752"/>
            <a:ext cx="0" cy="608076"/>
          </a:xfrm>
          <a:prstGeom prst="line">
            <a:avLst/>
          </a:prstGeom>
          <a:noFill/>
          <a:ln w="15875">
            <a:solidFill>
              <a:schemeClr val="accent2"/>
            </a:solidFill>
            <a:prstDash val="solid"/>
          </a:ln>
        </p:spPr>
      </p:sp>
      <p:sp>
        <p:nvSpPr>
          <p:cNvPr id="13" name="Date pill 1161"/>
          <p:cNvSpPr/>
          <p:nvPr/>
        </p:nvSpPr>
        <p:spPr>
          <a:xfrm>
            <a:off x="548640" y="3401568"/>
            <a:ext cx="1207008" cy="329184"/>
          </a:xfrm>
          <a:prstGeom prst="roundRect">
            <a:avLst>
              <a:gd name="adj" fmla="val 50000"/>
            </a:avLst>
          </a:prstGeom>
          <a:solidFill>
            <a:schemeClr val="accent2"/>
          </a:solidFill>
          <a:ln/>
        </p:spPr>
      </p:sp>
      <p:sp>
        <p:nvSpPr>
          <p:cNvPr id="14" name="Text 1162"/>
          <p:cNvSpPr txBox="1"/>
          <p:nvPr/>
        </p:nvSpPr>
        <p:spPr>
          <a:xfrm>
            <a:off x="548640" y="340156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Oct 1925</a:t>
            </a:r>
            <a:endParaRPr lang="en-US" sz="1300" dirty="0"/>
          </a:p>
        </p:txBody>
      </p:sp>
      <p:sp>
        <p:nvSpPr>
          <p:cNvPr id="15" name="Text 1163"/>
          <p:cNvSpPr txBox="1"/>
          <p:nvPr/>
        </p:nvSpPr>
        <p:spPr>
          <a:xfrm>
            <a:off x="1920240" y="3383280"/>
            <a:ext cx="3992728" cy="900684"/>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Locarno Treaties</a:t>
            </a:r>
            <a:r>
              <a:rPr lang="en-US" sz="1500" dirty="0">
                <a:solidFill>
                  <a:schemeClr val="tx1"/>
                </a:solidFill>
              </a:rPr>
              <a:t>; League solves Greek–Bulgarian crisis</a:t>
            </a:r>
            <a:endParaRPr lang="en-US" sz="1500" dirty="0"/>
          </a:p>
        </p:txBody>
      </p:sp>
      <p:sp>
        <p:nvSpPr>
          <p:cNvPr id="16" name="Date pill 1164"/>
          <p:cNvSpPr/>
          <p:nvPr/>
        </p:nvSpPr>
        <p:spPr>
          <a:xfrm>
            <a:off x="548640" y="4338828"/>
            <a:ext cx="1207008" cy="329184"/>
          </a:xfrm>
          <a:prstGeom prst="roundRect">
            <a:avLst>
              <a:gd name="adj" fmla="val 50000"/>
            </a:avLst>
          </a:prstGeom>
          <a:solidFill>
            <a:schemeClr val="accent2"/>
          </a:solidFill>
          <a:ln/>
        </p:spPr>
      </p:sp>
      <p:sp>
        <p:nvSpPr>
          <p:cNvPr id="17" name="Text 1165"/>
          <p:cNvSpPr txBox="1"/>
          <p:nvPr/>
        </p:nvSpPr>
        <p:spPr>
          <a:xfrm>
            <a:off x="548640" y="433882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Sept 1926</a:t>
            </a:r>
            <a:endParaRPr lang="en-US" sz="1300" dirty="0"/>
          </a:p>
        </p:txBody>
      </p:sp>
      <p:sp>
        <p:nvSpPr>
          <p:cNvPr id="18" name="Text 1166"/>
          <p:cNvSpPr txBox="1"/>
          <p:nvPr/>
        </p:nvSpPr>
        <p:spPr>
          <a:xfrm>
            <a:off x="1920240" y="4320540"/>
            <a:ext cx="3992728" cy="900684"/>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Germany joins the League</a:t>
            </a:r>
            <a:r>
              <a:rPr lang="en-US" sz="1500" dirty="0">
                <a:solidFill>
                  <a:schemeClr val="tx1"/>
                </a:solidFill>
              </a:rPr>
              <a:t> with a permanent seat</a:t>
            </a:r>
            <a:endParaRPr lang="en-US" sz="1500" dirty="0"/>
          </a:p>
        </p:txBody>
      </p:sp>
      <p:sp>
        <p:nvSpPr>
          <p:cNvPr id="19" name="Connector 1167"/>
          <p:cNvSpPr/>
          <p:nvPr/>
        </p:nvSpPr>
        <p:spPr>
          <a:xfrm>
            <a:off x="6882232" y="1856232"/>
            <a:ext cx="0" cy="608076"/>
          </a:xfrm>
          <a:prstGeom prst="line">
            <a:avLst/>
          </a:prstGeom>
          <a:noFill/>
          <a:ln w="15875">
            <a:solidFill>
              <a:schemeClr val="accent2"/>
            </a:solidFill>
            <a:prstDash val="solid"/>
          </a:ln>
        </p:spPr>
      </p:sp>
      <p:sp>
        <p:nvSpPr>
          <p:cNvPr id="20" name="Date pill 1168"/>
          <p:cNvSpPr/>
          <p:nvPr/>
        </p:nvSpPr>
        <p:spPr>
          <a:xfrm>
            <a:off x="6278728" y="1527048"/>
            <a:ext cx="1207008" cy="329184"/>
          </a:xfrm>
          <a:prstGeom prst="roundRect">
            <a:avLst>
              <a:gd name="adj" fmla="val 50000"/>
            </a:avLst>
          </a:prstGeom>
          <a:solidFill>
            <a:schemeClr val="accent2"/>
          </a:solidFill>
          <a:ln/>
        </p:spPr>
      </p:sp>
      <p:sp>
        <p:nvSpPr>
          <p:cNvPr id="21" name="Text 1169"/>
          <p:cNvSpPr txBox="1"/>
          <p:nvPr/>
        </p:nvSpPr>
        <p:spPr>
          <a:xfrm>
            <a:off x="6278728" y="152704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1926</a:t>
            </a:r>
            <a:endParaRPr lang="en-US" sz="1300" dirty="0"/>
          </a:p>
        </p:txBody>
      </p:sp>
      <p:sp>
        <p:nvSpPr>
          <p:cNvPr id="22" name="Text 1170"/>
          <p:cNvSpPr txBox="1"/>
          <p:nvPr/>
        </p:nvSpPr>
        <p:spPr>
          <a:xfrm>
            <a:off x="7650328" y="1508760"/>
            <a:ext cx="3992728" cy="900684"/>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Treaty of Berlin</a:t>
            </a:r>
            <a:r>
              <a:rPr lang="en-US" sz="1500" dirty="0">
                <a:solidFill>
                  <a:schemeClr val="tx1"/>
                </a:solidFill>
              </a:rPr>
              <a:t> renews German–Soviet friendship</a:t>
            </a:r>
            <a:endParaRPr lang="en-US" sz="1500" dirty="0"/>
          </a:p>
        </p:txBody>
      </p:sp>
      <p:sp>
        <p:nvSpPr>
          <p:cNvPr id="23" name="Connector 1171"/>
          <p:cNvSpPr/>
          <p:nvPr/>
        </p:nvSpPr>
        <p:spPr>
          <a:xfrm>
            <a:off x="6882232" y="2793492"/>
            <a:ext cx="0" cy="608076"/>
          </a:xfrm>
          <a:prstGeom prst="line">
            <a:avLst/>
          </a:prstGeom>
          <a:noFill/>
          <a:ln w="15875">
            <a:solidFill>
              <a:schemeClr val="accent2"/>
            </a:solidFill>
            <a:prstDash val="solid"/>
          </a:ln>
        </p:spPr>
      </p:sp>
      <p:sp>
        <p:nvSpPr>
          <p:cNvPr id="24" name="Date pill 1172"/>
          <p:cNvSpPr/>
          <p:nvPr/>
        </p:nvSpPr>
        <p:spPr>
          <a:xfrm>
            <a:off x="6278728" y="2464308"/>
            <a:ext cx="1207008" cy="329184"/>
          </a:xfrm>
          <a:prstGeom prst="roundRect">
            <a:avLst>
              <a:gd name="adj" fmla="val 50000"/>
            </a:avLst>
          </a:prstGeom>
          <a:solidFill>
            <a:schemeClr val="accent2"/>
          </a:solidFill>
          <a:ln/>
        </p:spPr>
      </p:sp>
      <p:sp>
        <p:nvSpPr>
          <p:cNvPr id="25" name="Text 1173"/>
          <p:cNvSpPr txBox="1"/>
          <p:nvPr/>
        </p:nvSpPr>
        <p:spPr>
          <a:xfrm>
            <a:off x="6278728" y="246430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Aug 1928</a:t>
            </a:r>
            <a:endParaRPr lang="en-US" sz="1300" dirty="0"/>
          </a:p>
        </p:txBody>
      </p:sp>
      <p:sp>
        <p:nvSpPr>
          <p:cNvPr id="26" name="Text 1174"/>
          <p:cNvSpPr txBox="1"/>
          <p:nvPr/>
        </p:nvSpPr>
        <p:spPr>
          <a:xfrm>
            <a:off x="7650328" y="2446020"/>
            <a:ext cx="3992728" cy="900684"/>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Kellogg–Briand Pact</a:t>
            </a:r>
            <a:r>
              <a:rPr lang="en-US" sz="1500" dirty="0">
                <a:solidFill>
                  <a:schemeClr val="tx1"/>
                </a:solidFill>
              </a:rPr>
              <a:t> signed in Paris</a:t>
            </a:r>
            <a:endParaRPr lang="en-US" sz="1500" dirty="0"/>
          </a:p>
        </p:txBody>
      </p:sp>
      <p:sp>
        <p:nvSpPr>
          <p:cNvPr id="27" name="Connector 1175"/>
          <p:cNvSpPr/>
          <p:nvPr/>
        </p:nvSpPr>
        <p:spPr>
          <a:xfrm>
            <a:off x="6882232" y="3730752"/>
            <a:ext cx="0" cy="608076"/>
          </a:xfrm>
          <a:prstGeom prst="line">
            <a:avLst/>
          </a:prstGeom>
          <a:noFill/>
          <a:ln w="15875">
            <a:solidFill>
              <a:schemeClr val="accent2"/>
            </a:solidFill>
            <a:prstDash val="solid"/>
          </a:ln>
        </p:spPr>
      </p:sp>
      <p:sp>
        <p:nvSpPr>
          <p:cNvPr id="28" name="Date pill 1176"/>
          <p:cNvSpPr/>
          <p:nvPr/>
        </p:nvSpPr>
        <p:spPr>
          <a:xfrm>
            <a:off x="6278728" y="3401568"/>
            <a:ext cx="1207008" cy="329184"/>
          </a:xfrm>
          <a:prstGeom prst="roundRect">
            <a:avLst>
              <a:gd name="adj" fmla="val 50000"/>
            </a:avLst>
          </a:prstGeom>
          <a:solidFill>
            <a:schemeClr val="accent2"/>
          </a:solidFill>
          <a:ln/>
        </p:spPr>
      </p:sp>
      <p:sp>
        <p:nvSpPr>
          <p:cNvPr id="29" name="Text 1177"/>
          <p:cNvSpPr txBox="1"/>
          <p:nvPr/>
        </p:nvSpPr>
        <p:spPr>
          <a:xfrm>
            <a:off x="6278728" y="340156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1929</a:t>
            </a:r>
            <a:endParaRPr lang="en-US" sz="1300" dirty="0"/>
          </a:p>
        </p:txBody>
      </p:sp>
      <p:sp>
        <p:nvSpPr>
          <p:cNvPr id="30" name="Text 1178"/>
          <p:cNvSpPr txBox="1"/>
          <p:nvPr/>
        </p:nvSpPr>
        <p:spPr>
          <a:xfrm>
            <a:off x="7650328" y="3383280"/>
            <a:ext cx="3992728" cy="900684"/>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Young Plan</a:t>
            </a:r>
            <a:r>
              <a:rPr lang="en-US" sz="1500" dirty="0">
                <a:solidFill>
                  <a:schemeClr val="tx1"/>
                </a:solidFill>
              </a:rPr>
              <a:t> cuts reparations; Rhineland to be freed early</a:t>
            </a:r>
            <a:endParaRPr lang="en-US" sz="1500" dirty="0"/>
          </a:p>
        </p:txBody>
      </p:sp>
      <p:sp>
        <p:nvSpPr>
          <p:cNvPr id="31" name="Date pill 1179"/>
          <p:cNvSpPr/>
          <p:nvPr/>
        </p:nvSpPr>
        <p:spPr>
          <a:xfrm>
            <a:off x="6278728" y="4338828"/>
            <a:ext cx="1207008" cy="329184"/>
          </a:xfrm>
          <a:prstGeom prst="roundRect">
            <a:avLst>
              <a:gd name="adj" fmla="val 50000"/>
            </a:avLst>
          </a:prstGeom>
          <a:solidFill>
            <a:schemeClr val="accent2"/>
          </a:solidFill>
          <a:ln/>
        </p:spPr>
      </p:sp>
      <p:sp>
        <p:nvSpPr>
          <p:cNvPr id="32" name="Text 1180"/>
          <p:cNvSpPr txBox="1"/>
          <p:nvPr/>
        </p:nvSpPr>
        <p:spPr>
          <a:xfrm>
            <a:off x="6278728" y="4338828"/>
            <a:ext cx="1207008"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Oct 1929</a:t>
            </a:r>
            <a:endParaRPr lang="en-US" sz="1300" dirty="0"/>
          </a:p>
        </p:txBody>
      </p:sp>
      <p:sp>
        <p:nvSpPr>
          <p:cNvPr id="33" name="Text 1181"/>
          <p:cNvSpPr txBox="1"/>
          <p:nvPr/>
        </p:nvSpPr>
        <p:spPr>
          <a:xfrm>
            <a:off x="7650328" y="4320540"/>
            <a:ext cx="3992728" cy="900684"/>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Stresemann dies</a:t>
            </a:r>
            <a:r>
              <a:rPr lang="en-US" sz="1500" dirty="0">
                <a:solidFill>
                  <a:schemeClr val="tx1"/>
                </a:solidFill>
              </a:rPr>
              <a:t>; </a:t>
            </a:r>
            <a:r>
              <a:rPr lang="en-US" sz="1500" b="1" dirty="0">
                <a:solidFill>
                  <a:schemeClr val="tx1"/>
                </a:solidFill>
              </a:rPr>
              <a:t>Wall Street Crash</a:t>
            </a:r>
            <a:endParaRPr lang="en-US" sz="1500" dirty="0"/>
          </a:p>
        </p:txBody>
      </p:sp>
      <p:sp>
        <p:nvSpPr>
          <p:cNvPr id="34" name="Callout 1182"/>
          <p:cNvSpPr/>
          <p:nvPr/>
        </p:nvSpPr>
        <p:spPr>
          <a:xfrm>
            <a:off x="548640" y="5550408"/>
            <a:ext cx="11094415" cy="713232"/>
          </a:xfrm>
          <a:prstGeom prst="roundRect">
            <a:avLst>
              <a:gd name="adj" fmla="val 12821"/>
            </a:avLst>
          </a:prstGeom>
          <a:solidFill>
            <a:schemeClr val="accent4">
              <a:alpha val="20000"/>
            </a:schemeClr>
          </a:solidFill>
          <a:ln/>
        </p:spPr>
      </p:sp>
      <p:sp>
        <p:nvSpPr>
          <p:cNvPr id="35" name="Callout label 1183"/>
          <p:cNvSpPr/>
          <p:nvPr/>
        </p:nvSpPr>
        <p:spPr>
          <a:xfrm>
            <a:off x="731520" y="5751576"/>
            <a:ext cx="1190135" cy="310896"/>
          </a:xfrm>
          <a:prstGeom prst="roundRect">
            <a:avLst>
              <a:gd name="adj" fmla="val 50000"/>
            </a:avLst>
          </a:prstGeom>
          <a:solidFill>
            <a:schemeClr val="accent4"/>
          </a:solidFill>
          <a:ln/>
        </p:spPr>
      </p:sp>
      <p:sp>
        <p:nvSpPr>
          <p:cNvPr id="36" name="Text 1184"/>
          <p:cNvSpPr txBox="1"/>
          <p:nvPr/>
        </p:nvSpPr>
        <p:spPr>
          <a:xfrm>
            <a:off x="731520" y="5751576"/>
            <a:ext cx="1190135"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BIG PICTURE</a:t>
            </a:r>
            <a:endParaRPr lang="en-US" sz="1200" dirty="0"/>
          </a:p>
        </p:txBody>
      </p:sp>
      <p:sp>
        <p:nvSpPr>
          <p:cNvPr id="37" name="Text 1185"/>
          <p:cNvSpPr txBox="1"/>
          <p:nvPr/>
        </p:nvSpPr>
        <p:spPr>
          <a:xfrm>
            <a:off x="2104535" y="5623560"/>
            <a:ext cx="9355640"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1924–29 = 'cooperation': the 'Spirit of Locarno' — but it rested on American loans that stopped after 1929.</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Kicker 118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KQ1 · PARIS, 1919</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Big Three wanted different things</a:t>
            </a:r>
            <a:endParaRPr lang="en-US" sz="3400" dirty="0"/>
          </a:p>
        </p:txBody>
      </p:sp>
      <p:sp>
        <p:nvSpPr>
          <p:cNvPr id="4" name="Card 1187"/>
          <p:cNvSpPr/>
          <p:nvPr/>
        </p:nvSpPr>
        <p:spPr>
          <a:xfrm>
            <a:off x="548640" y="1481328"/>
            <a:ext cx="3515258" cy="3794760"/>
          </a:xfrm>
          <a:prstGeom prst="roundRect">
            <a:avLst>
              <a:gd name="adj" fmla="val 2601"/>
            </a:avLst>
          </a:prstGeom>
          <a:solidFill>
            <a:schemeClr val="accent2">
              <a:alpha val="10000"/>
            </a:schemeClr>
          </a:solidFill>
          <a:ln/>
        </p:spPr>
      </p:sp>
      <p:sp>
        <p:nvSpPr>
          <p:cNvPr id="5" name="Icon circle 1188"/>
          <p:cNvSpPr/>
          <p:nvPr/>
        </p:nvSpPr>
        <p:spPr>
          <a:xfrm>
            <a:off x="731520" y="1664208"/>
            <a:ext cx="475488" cy="475488"/>
          </a:xfrm>
          <a:prstGeom prst="ellipse">
            <a:avLst/>
          </a:prstGeom>
          <a:solidFill>
            <a:schemeClr val="accent2"/>
          </a:solidFill>
          <a:ln/>
        </p:spPr>
      </p:sp>
      <p:pic>
        <p:nvPicPr>
          <p:cNvPr id="6" name="Icon FaFlagUsa 1189"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190"/>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Wilson (USA)</a:t>
            </a:r>
            <a:endParaRPr lang="en-US" sz="1700" dirty="0"/>
          </a:p>
        </p:txBody>
      </p:sp>
      <p:sp>
        <p:nvSpPr>
          <p:cNvPr id="8" name="Text 1191"/>
          <p:cNvSpPr txBox="1"/>
          <p:nvPr/>
        </p:nvSpPr>
        <p:spPr>
          <a:xfrm>
            <a:off x="731520" y="2249424"/>
            <a:ext cx="3149498" cy="2843784"/>
          </a:xfrm>
          <a:prstGeom prst="rect">
            <a:avLst/>
          </a:prstGeom>
          <a:noFill/>
          <a:ln/>
        </p:spPr>
        <p:txBody>
          <a:bodyPr wrap="square" lIns="0" tIns="0" rIns="0" bIns="0" rtlCol="0" anchor="t"/>
          <a:lstStyle/>
          <a:p>
            <a:pPr algn="l" marL="190500" indent="-190500">
              <a:spcAft>
                <a:spcPts val="500"/>
              </a:spcAft>
              <a:buSzPct val="100000"/>
              <a:buChar char="•"/>
            </a:pPr>
            <a:r>
              <a:rPr lang="en-US" sz="2000" dirty="0">
                <a:solidFill>
                  <a:schemeClr val="tx1"/>
                </a:solidFill>
              </a:rPr>
              <a:t>Fourteen Points; self-determination</a:t>
            </a:r>
            <a:endParaRPr lang="en-US" sz="2000" dirty="0"/>
          </a:p>
          <a:p>
            <a:pPr algn="l" marL="190500" indent="-190500">
              <a:spcAft>
                <a:spcPts val="500"/>
              </a:spcAft>
              <a:buSzPct val="100000"/>
              <a:buChar char="•"/>
            </a:pPr>
            <a:r>
              <a:rPr lang="en-US" sz="2000" dirty="0">
                <a:solidFill>
                  <a:schemeClr val="tx1"/>
                </a:solidFill>
              </a:rPr>
              <a:t>A League of Nations</a:t>
            </a:r>
            <a:endParaRPr lang="en-US" sz="2000" dirty="0"/>
          </a:p>
          <a:p>
            <a:pPr algn="l" marL="190500" indent="-190500">
              <a:spcAft>
                <a:spcPts val="500"/>
              </a:spcAft>
              <a:buSzPct val="100000"/>
              <a:buChar char="•"/>
            </a:pPr>
            <a:r>
              <a:rPr lang="en-US" sz="2000" dirty="0">
                <a:solidFill>
                  <a:schemeClr val="tx1"/>
                </a:solidFill>
              </a:rPr>
              <a:t>A fair peace to avoid revenge</a:t>
            </a:r>
            <a:endParaRPr lang="en-US" sz="2000" dirty="0"/>
          </a:p>
          <a:p>
            <a:pPr algn="l" marL="190500" indent="-190500">
              <a:spcAft>
                <a:spcPts val="500"/>
              </a:spcAft>
              <a:buSzPct val="100000"/>
              <a:buChar char="•"/>
            </a:pPr>
            <a:r>
              <a:rPr lang="en-US" sz="2000" dirty="0">
                <a:solidFill>
                  <a:schemeClr val="tx1"/>
                </a:solidFill>
              </a:rPr>
              <a:t>Pressure: a hostile Republican Senate</a:t>
            </a:r>
            <a:endParaRPr lang="en-US" sz="2000" dirty="0"/>
          </a:p>
        </p:txBody>
      </p:sp>
      <p:sp>
        <p:nvSpPr>
          <p:cNvPr id="9" name="Card 1192"/>
          <p:cNvSpPr/>
          <p:nvPr/>
        </p:nvSpPr>
        <p:spPr>
          <a:xfrm>
            <a:off x="4338218" y="1481328"/>
            <a:ext cx="3515258" cy="3794760"/>
          </a:xfrm>
          <a:prstGeom prst="roundRect">
            <a:avLst>
              <a:gd name="adj" fmla="val 2601"/>
            </a:avLst>
          </a:prstGeom>
          <a:solidFill>
            <a:schemeClr val="accent2">
              <a:alpha val="10000"/>
            </a:schemeClr>
          </a:solidFill>
          <a:ln/>
        </p:spPr>
      </p:sp>
      <p:sp>
        <p:nvSpPr>
          <p:cNvPr id="10" name="Icon circle 1193"/>
          <p:cNvSpPr/>
          <p:nvPr/>
        </p:nvSpPr>
        <p:spPr>
          <a:xfrm>
            <a:off x="4521098" y="1664208"/>
            <a:ext cx="475488" cy="475488"/>
          </a:xfrm>
          <a:prstGeom prst="ellipse">
            <a:avLst/>
          </a:prstGeom>
          <a:solidFill>
            <a:schemeClr val="accent2"/>
          </a:solidFill>
          <a:ln/>
        </p:spPr>
      </p:sp>
      <p:pic>
        <p:nvPicPr>
          <p:cNvPr id="11" name="Icon FaShieldAlt 1194"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1195"/>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Clemenceau (France)</a:t>
            </a:r>
            <a:endParaRPr lang="en-US" sz="1700" dirty="0"/>
          </a:p>
        </p:txBody>
      </p:sp>
      <p:sp>
        <p:nvSpPr>
          <p:cNvPr id="13" name="Text 1196"/>
          <p:cNvSpPr txBox="1"/>
          <p:nvPr/>
        </p:nvSpPr>
        <p:spPr>
          <a:xfrm>
            <a:off x="4521098" y="2249424"/>
            <a:ext cx="3149498" cy="2843784"/>
          </a:xfrm>
          <a:prstGeom prst="rect">
            <a:avLst/>
          </a:prstGeom>
          <a:noFill/>
          <a:ln/>
        </p:spPr>
        <p:txBody>
          <a:bodyPr wrap="square" lIns="0" tIns="0" rIns="0" bIns="0" rtlCol="0" anchor="t"/>
          <a:lstStyle/>
          <a:p>
            <a:pPr algn="l" marL="190500" indent="-190500">
              <a:spcAft>
                <a:spcPts val="500"/>
              </a:spcAft>
              <a:buSzPct val="100000"/>
              <a:buChar char="•"/>
            </a:pPr>
            <a:r>
              <a:rPr lang="en-US" sz="2000" dirty="0">
                <a:solidFill>
                  <a:schemeClr val="tx1"/>
                </a:solidFill>
              </a:rPr>
              <a:t>Security above all: a weak Germany</a:t>
            </a:r>
            <a:endParaRPr lang="en-US" sz="2000" dirty="0"/>
          </a:p>
          <a:p>
            <a:pPr algn="l" marL="190500" indent="-190500">
              <a:spcAft>
                <a:spcPts val="500"/>
              </a:spcAft>
              <a:buSzPct val="100000"/>
              <a:buChar char="•"/>
            </a:pPr>
            <a:r>
              <a:rPr lang="en-US" sz="2000" dirty="0">
                <a:solidFill>
                  <a:schemeClr val="tx1"/>
                </a:solidFill>
              </a:rPr>
              <a:t>Huge reparations; Saar coal</a:t>
            </a:r>
            <a:endParaRPr lang="en-US" sz="2000" dirty="0"/>
          </a:p>
          <a:p>
            <a:pPr algn="l" marL="190500" indent="-190500">
              <a:spcAft>
                <a:spcPts val="500"/>
              </a:spcAft>
              <a:buSzPct val="100000"/>
              <a:buChar char="•"/>
            </a:pPr>
            <a:r>
              <a:rPr lang="en-US" sz="2000" dirty="0">
                <a:solidFill>
                  <a:schemeClr val="tx1"/>
                </a:solidFill>
              </a:rPr>
              <a:t>Rhineland as a buffer zone</a:t>
            </a:r>
            <a:endParaRPr lang="en-US" sz="2000" dirty="0"/>
          </a:p>
          <a:p>
            <a:pPr algn="l" marL="190500" indent="-190500">
              <a:spcAft>
                <a:spcPts val="500"/>
              </a:spcAft>
              <a:buSzPct val="100000"/>
              <a:buChar char="•"/>
            </a:pPr>
            <a:r>
              <a:rPr lang="en-US" sz="2000" dirty="0">
                <a:solidFill>
                  <a:schemeClr val="tx1"/>
                </a:solidFill>
              </a:rPr>
              <a:t>Pressure: 1.4 million French dead</a:t>
            </a:r>
            <a:endParaRPr lang="en-US" sz="2000" dirty="0"/>
          </a:p>
        </p:txBody>
      </p:sp>
      <p:sp>
        <p:nvSpPr>
          <p:cNvPr id="14" name="Card 1197"/>
          <p:cNvSpPr/>
          <p:nvPr/>
        </p:nvSpPr>
        <p:spPr>
          <a:xfrm>
            <a:off x="8127797" y="1481328"/>
            <a:ext cx="3515258" cy="3794760"/>
          </a:xfrm>
          <a:prstGeom prst="roundRect">
            <a:avLst>
              <a:gd name="adj" fmla="val 2601"/>
            </a:avLst>
          </a:prstGeom>
          <a:solidFill>
            <a:schemeClr val="accent2">
              <a:alpha val="10000"/>
            </a:schemeClr>
          </a:solidFill>
          <a:ln/>
        </p:spPr>
      </p:sp>
      <p:sp>
        <p:nvSpPr>
          <p:cNvPr id="15" name="Icon circle 1198"/>
          <p:cNvSpPr/>
          <p:nvPr/>
        </p:nvSpPr>
        <p:spPr>
          <a:xfrm>
            <a:off x="8310677" y="1664208"/>
            <a:ext cx="475488" cy="475488"/>
          </a:xfrm>
          <a:prstGeom prst="ellipse">
            <a:avLst/>
          </a:prstGeom>
          <a:solidFill>
            <a:schemeClr val="accent2"/>
          </a:solidFill>
          <a:ln/>
        </p:spPr>
      </p:sp>
      <p:pic>
        <p:nvPicPr>
          <p:cNvPr id="16" name="Icon FaCrown 1199"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1200"/>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Lloyd George (Britain)</a:t>
            </a:r>
            <a:endParaRPr lang="en-US" sz="1700" dirty="0"/>
          </a:p>
        </p:txBody>
      </p:sp>
      <p:sp>
        <p:nvSpPr>
          <p:cNvPr id="18" name="Text 1201"/>
          <p:cNvSpPr txBox="1"/>
          <p:nvPr/>
        </p:nvSpPr>
        <p:spPr>
          <a:xfrm>
            <a:off x="8310677" y="2249424"/>
            <a:ext cx="3149498" cy="2843784"/>
          </a:xfrm>
          <a:prstGeom prst="rect">
            <a:avLst/>
          </a:prstGeom>
          <a:noFill/>
          <a:ln/>
        </p:spPr>
        <p:txBody>
          <a:bodyPr wrap="square" lIns="0" tIns="0" rIns="0" bIns="0" rtlCol="0" anchor="t"/>
          <a:lstStyle/>
          <a:p>
            <a:pPr algn="l" marL="190500" indent="-190500">
              <a:spcAft>
                <a:spcPts val="500"/>
              </a:spcAft>
              <a:buSzPct val="100000"/>
              <a:buChar char="•"/>
            </a:pPr>
            <a:r>
              <a:rPr lang="en-US" sz="2000" dirty="0">
                <a:solidFill>
                  <a:schemeClr val="tx1"/>
                </a:solidFill>
              </a:rPr>
              <a:t>'Make Germany pay' (1918 election)</a:t>
            </a:r>
            <a:endParaRPr lang="en-US" sz="2000" dirty="0"/>
          </a:p>
          <a:p>
            <a:pPr algn="l" marL="190500" indent="-190500">
              <a:spcAft>
                <a:spcPts val="500"/>
              </a:spcAft>
              <a:buSzPct val="100000"/>
              <a:buChar char="•"/>
            </a:pPr>
            <a:r>
              <a:rPr lang="en-US" sz="2000" dirty="0">
                <a:solidFill>
                  <a:schemeClr val="tx1"/>
                </a:solidFill>
              </a:rPr>
              <a:t>…but not too harshly: revive trade, stop Bolshevism</a:t>
            </a:r>
            <a:endParaRPr lang="en-US" sz="2000" dirty="0"/>
          </a:p>
          <a:p>
            <a:pPr algn="l" marL="190500" indent="-190500">
              <a:spcAft>
                <a:spcPts val="500"/>
              </a:spcAft>
              <a:buSzPct val="100000"/>
              <a:buChar char="•"/>
            </a:pPr>
            <a:r>
              <a:rPr lang="en-US" sz="2000" dirty="0">
                <a:solidFill>
                  <a:schemeClr val="tx1"/>
                </a:solidFill>
              </a:rPr>
              <a:t>Keep naval supremacy; gain colonies</a:t>
            </a:r>
            <a:endParaRPr lang="en-US" sz="2000" dirty="0"/>
          </a:p>
        </p:txBody>
      </p:sp>
      <p:sp>
        <p:nvSpPr>
          <p:cNvPr id="19" name="Callout 1202"/>
          <p:cNvSpPr/>
          <p:nvPr/>
        </p:nvSpPr>
        <p:spPr>
          <a:xfrm>
            <a:off x="548640" y="5550408"/>
            <a:ext cx="11094415" cy="713232"/>
          </a:xfrm>
          <a:prstGeom prst="roundRect">
            <a:avLst>
              <a:gd name="adj" fmla="val 12821"/>
            </a:avLst>
          </a:prstGeom>
          <a:solidFill>
            <a:schemeClr val="accent4">
              <a:alpha val="20000"/>
            </a:schemeClr>
          </a:solidFill>
          <a:ln/>
        </p:spPr>
      </p:sp>
      <p:sp>
        <p:nvSpPr>
          <p:cNvPr id="20" name="Callout label 1203"/>
          <p:cNvSpPr/>
          <p:nvPr/>
        </p:nvSpPr>
        <p:spPr>
          <a:xfrm>
            <a:off x="731520" y="5751576"/>
            <a:ext cx="650098" cy="310896"/>
          </a:xfrm>
          <a:prstGeom prst="roundRect">
            <a:avLst>
              <a:gd name="adj" fmla="val 50000"/>
            </a:avLst>
          </a:prstGeom>
          <a:solidFill>
            <a:schemeClr val="accent4"/>
          </a:solidFill>
          <a:ln/>
        </p:spPr>
      </p:sp>
      <p:sp>
        <p:nvSpPr>
          <p:cNvPr id="21" name="Text 1204"/>
          <p:cNvSpPr txBox="1"/>
          <p:nvPr/>
        </p:nvSpPr>
        <p:spPr>
          <a:xfrm>
            <a:off x="731520" y="5751576"/>
            <a:ext cx="650098"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ALSO</a:t>
            </a:r>
            <a:endParaRPr lang="en-US" sz="1200" dirty="0"/>
          </a:p>
        </p:txBody>
      </p:sp>
      <p:sp>
        <p:nvSpPr>
          <p:cNvPr id="22" name="Text 1205"/>
          <p:cNvSpPr txBox="1"/>
          <p:nvPr/>
        </p:nvSpPr>
        <p:spPr>
          <a:xfrm>
            <a:off x="1564498" y="5623560"/>
            <a:ext cx="9895677"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Italy's Orlando wanted the lands promised in the Treaty of London (1915) and walked out when Fiume was refused.</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Kicker 120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KQ1 · VERSAILLES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Treaty of Versailles: remember LAMB</a:t>
            </a:r>
            <a:endParaRPr lang="en-US" sz="3400" dirty="0"/>
          </a:p>
        </p:txBody>
      </p:sp>
      <p:sp>
        <p:nvSpPr>
          <p:cNvPr id="4" name="Mnemonic row 1207"/>
          <p:cNvSpPr/>
          <p:nvPr/>
        </p:nvSpPr>
        <p:spPr>
          <a:xfrm>
            <a:off x="548640" y="1481328"/>
            <a:ext cx="11094415" cy="852678"/>
          </a:xfrm>
          <a:prstGeom prst="roundRect">
            <a:avLst>
              <a:gd name="adj" fmla="val 8579"/>
            </a:avLst>
          </a:prstGeom>
          <a:solidFill>
            <a:schemeClr val="accent2">
              <a:alpha val="8000"/>
            </a:schemeClr>
          </a:solidFill>
          <a:ln/>
        </p:spPr>
      </p:sp>
      <p:sp>
        <p:nvSpPr>
          <p:cNvPr id="5" name="Letter circle 1208"/>
          <p:cNvSpPr/>
          <p:nvPr/>
        </p:nvSpPr>
        <p:spPr>
          <a:xfrm>
            <a:off x="676656" y="1578483"/>
            <a:ext cx="658368" cy="658368"/>
          </a:xfrm>
          <a:prstGeom prst="ellipse">
            <a:avLst/>
          </a:prstGeom>
          <a:solidFill>
            <a:schemeClr val="accent4"/>
          </a:solidFill>
          <a:ln/>
        </p:spPr>
      </p:sp>
      <p:sp>
        <p:nvSpPr>
          <p:cNvPr id="6" name="Text 1209"/>
          <p:cNvSpPr txBox="1"/>
          <p:nvPr/>
        </p:nvSpPr>
        <p:spPr>
          <a:xfrm>
            <a:off x="676656" y="1578483"/>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L</a:t>
            </a:r>
            <a:endParaRPr lang="en-US" sz="2800" dirty="0"/>
          </a:p>
        </p:txBody>
      </p:sp>
      <p:sp>
        <p:nvSpPr>
          <p:cNvPr id="7" name="Text 1210"/>
          <p:cNvSpPr txBox="1"/>
          <p:nvPr/>
        </p:nvSpPr>
        <p:spPr>
          <a:xfrm>
            <a:off x="1536192" y="1481328"/>
            <a:ext cx="146304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2"/>
                </a:solidFill>
              </a:rPr>
              <a:t>Land</a:t>
            </a:r>
            <a:endParaRPr lang="en-US" sz="1800" dirty="0"/>
          </a:p>
        </p:txBody>
      </p:sp>
      <p:sp>
        <p:nvSpPr>
          <p:cNvPr id="8" name="Text 1211"/>
          <p:cNvSpPr txBox="1"/>
          <p:nvPr/>
        </p:nvSpPr>
        <p:spPr>
          <a:xfrm>
            <a:off x="3090672" y="1517904"/>
            <a:ext cx="836950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Lost c.13% of territory and all colonies: Alsace-Lorraine to France, Polish Corridor, Danzig a free city, Saar run by League for 15 years; union with Austria banned</a:t>
            </a:r>
            <a:endParaRPr lang="en-US" sz="1500" dirty="0"/>
          </a:p>
        </p:txBody>
      </p:sp>
      <p:sp>
        <p:nvSpPr>
          <p:cNvPr id="9" name="Mnemonic row 1212"/>
          <p:cNvSpPr/>
          <p:nvPr/>
        </p:nvSpPr>
        <p:spPr>
          <a:xfrm>
            <a:off x="548640" y="2462022"/>
            <a:ext cx="11094415" cy="852678"/>
          </a:xfrm>
          <a:prstGeom prst="roundRect">
            <a:avLst>
              <a:gd name="adj" fmla="val 8579"/>
            </a:avLst>
          </a:prstGeom>
          <a:solidFill>
            <a:schemeClr val="accent2">
              <a:alpha val="8000"/>
            </a:schemeClr>
          </a:solidFill>
          <a:ln/>
        </p:spPr>
      </p:sp>
      <p:sp>
        <p:nvSpPr>
          <p:cNvPr id="10" name="Letter circle 1213"/>
          <p:cNvSpPr/>
          <p:nvPr/>
        </p:nvSpPr>
        <p:spPr>
          <a:xfrm>
            <a:off x="676656" y="2559177"/>
            <a:ext cx="658368" cy="658368"/>
          </a:xfrm>
          <a:prstGeom prst="ellipse">
            <a:avLst/>
          </a:prstGeom>
          <a:solidFill>
            <a:schemeClr val="accent4"/>
          </a:solidFill>
          <a:ln/>
        </p:spPr>
      </p:sp>
      <p:sp>
        <p:nvSpPr>
          <p:cNvPr id="11" name="Text 1214"/>
          <p:cNvSpPr txBox="1"/>
          <p:nvPr/>
        </p:nvSpPr>
        <p:spPr>
          <a:xfrm>
            <a:off x="676656" y="2559177"/>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A</a:t>
            </a:r>
            <a:endParaRPr lang="en-US" sz="2800" dirty="0"/>
          </a:p>
        </p:txBody>
      </p:sp>
      <p:sp>
        <p:nvSpPr>
          <p:cNvPr id="12" name="Text 1215"/>
          <p:cNvSpPr txBox="1"/>
          <p:nvPr/>
        </p:nvSpPr>
        <p:spPr>
          <a:xfrm>
            <a:off x="1536192" y="2462022"/>
            <a:ext cx="146304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2"/>
                </a:solidFill>
              </a:rPr>
              <a:t>Army</a:t>
            </a:r>
            <a:endParaRPr lang="en-US" sz="1800" dirty="0"/>
          </a:p>
        </p:txBody>
      </p:sp>
      <p:sp>
        <p:nvSpPr>
          <p:cNvPr id="13" name="Text 1216"/>
          <p:cNvSpPr txBox="1"/>
          <p:nvPr/>
        </p:nvSpPr>
        <p:spPr>
          <a:xfrm>
            <a:off x="3090672" y="2498598"/>
            <a:ext cx="836950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Army of 100,000; no conscription, tanks, air force or submarines; 6 battleships; Rhineland demilitarised and occupied for 15 years</a:t>
            </a:r>
            <a:endParaRPr lang="en-US" sz="1500" dirty="0"/>
          </a:p>
        </p:txBody>
      </p:sp>
      <p:sp>
        <p:nvSpPr>
          <p:cNvPr id="14" name="Mnemonic row 1217"/>
          <p:cNvSpPr/>
          <p:nvPr/>
        </p:nvSpPr>
        <p:spPr>
          <a:xfrm>
            <a:off x="548640" y="3442716"/>
            <a:ext cx="11094415" cy="852678"/>
          </a:xfrm>
          <a:prstGeom prst="roundRect">
            <a:avLst>
              <a:gd name="adj" fmla="val 8579"/>
            </a:avLst>
          </a:prstGeom>
          <a:solidFill>
            <a:schemeClr val="accent2">
              <a:alpha val="8000"/>
            </a:schemeClr>
          </a:solidFill>
          <a:ln/>
        </p:spPr>
      </p:sp>
      <p:sp>
        <p:nvSpPr>
          <p:cNvPr id="15" name="Letter circle 1218"/>
          <p:cNvSpPr/>
          <p:nvPr/>
        </p:nvSpPr>
        <p:spPr>
          <a:xfrm>
            <a:off x="676656" y="3539871"/>
            <a:ext cx="658368" cy="658368"/>
          </a:xfrm>
          <a:prstGeom prst="ellipse">
            <a:avLst/>
          </a:prstGeom>
          <a:solidFill>
            <a:schemeClr val="accent4"/>
          </a:solidFill>
          <a:ln/>
        </p:spPr>
      </p:sp>
      <p:sp>
        <p:nvSpPr>
          <p:cNvPr id="16" name="Text 1219"/>
          <p:cNvSpPr txBox="1"/>
          <p:nvPr/>
        </p:nvSpPr>
        <p:spPr>
          <a:xfrm>
            <a:off x="676656" y="3539871"/>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M</a:t>
            </a:r>
            <a:endParaRPr lang="en-US" sz="2800" dirty="0"/>
          </a:p>
        </p:txBody>
      </p:sp>
      <p:sp>
        <p:nvSpPr>
          <p:cNvPr id="17" name="Text 1220"/>
          <p:cNvSpPr txBox="1"/>
          <p:nvPr/>
        </p:nvSpPr>
        <p:spPr>
          <a:xfrm>
            <a:off x="1536192" y="3442716"/>
            <a:ext cx="146304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2"/>
                </a:solidFill>
              </a:rPr>
              <a:t>Money</a:t>
            </a:r>
            <a:endParaRPr lang="en-US" sz="1800" dirty="0"/>
          </a:p>
        </p:txBody>
      </p:sp>
      <p:sp>
        <p:nvSpPr>
          <p:cNvPr id="18" name="Text 1221"/>
          <p:cNvSpPr txBox="1"/>
          <p:nvPr/>
        </p:nvSpPr>
        <p:spPr>
          <a:xfrm>
            <a:off x="3090672" y="3479292"/>
            <a:ext cx="836950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Reparations: fixed in 1921 at 132 billion gold marks (£6.6 billion)</a:t>
            </a:r>
            <a:endParaRPr lang="en-US" sz="1500" dirty="0"/>
          </a:p>
        </p:txBody>
      </p:sp>
      <p:sp>
        <p:nvSpPr>
          <p:cNvPr id="19" name="Mnemonic row 1222"/>
          <p:cNvSpPr/>
          <p:nvPr/>
        </p:nvSpPr>
        <p:spPr>
          <a:xfrm>
            <a:off x="548640" y="4423410"/>
            <a:ext cx="11094415" cy="852678"/>
          </a:xfrm>
          <a:prstGeom prst="roundRect">
            <a:avLst>
              <a:gd name="adj" fmla="val 8579"/>
            </a:avLst>
          </a:prstGeom>
          <a:solidFill>
            <a:schemeClr val="accent2">
              <a:alpha val="8000"/>
            </a:schemeClr>
          </a:solidFill>
          <a:ln/>
        </p:spPr>
      </p:sp>
      <p:sp>
        <p:nvSpPr>
          <p:cNvPr id="20" name="Letter circle 1223"/>
          <p:cNvSpPr/>
          <p:nvPr/>
        </p:nvSpPr>
        <p:spPr>
          <a:xfrm>
            <a:off x="676656" y="4520565"/>
            <a:ext cx="658368" cy="658368"/>
          </a:xfrm>
          <a:prstGeom prst="ellipse">
            <a:avLst/>
          </a:prstGeom>
          <a:solidFill>
            <a:schemeClr val="accent4"/>
          </a:solidFill>
          <a:ln/>
        </p:spPr>
      </p:sp>
      <p:sp>
        <p:nvSpPr>
          <p:cNvPr id="21" name="Text 1224"/>
          <p:cNvSpPr txBox="1"/>
          <p:nvPr/>
        </p:nvSpPr>
        <p:spPr>
          <a:xfrm>
            <a:off x="676656" y="4520565"/>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B</a:t>
            </a:r>
            <a:endParaRPr lang="en-US" sz="2800" dirty="0"/>
          </a:p>
        </p:txBody>
      </p:sp>
      <p:sp>
        <p:nvSpPr>
          <p:cNvPr id="22" name="Text 1225"/>
          <p:cNvSpPr txBox="1"/>
          <p:nvPr/>
        </p:nvSpPr>
        <p:spPr>
          <a:xfrm>
            <a:off x="1536192" y="4423410"/>
            <a:ext cx="146304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2"/>
                </a:solidFill>
              </a:rPr>
              <a:t>Blame</a:t>
            </a:r>
            <a:endParaRPr lang="en-US" sz="1800" dirty="0"/>
          </a:p>
        </p:txBody>
      </p:sp>
      <p:sp>
        <p:nvSpPr>
          <p:cNvPr id="23" name="Text 1226"/>
          <p:cNvSpPr txBox="1"/>
          <p:nvPr/>
        </p:nvSpPr>
        <p:spPr>
          <a:xfrm>
            <a:off x="3090672" y="4459986"/>
            <a:ext cx="836950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Article 231, the 'war guilt' clause: Germany accepted responsibility for the war's loss and damage</a:t>
            </a:r>
            <a:endParaRPr lang="en-US" sz="1500" dirty="0"/>
          </a:p>
        </p:txBody>
      </p:sp>
      <p:sp>
        <p:nvSpPr>
          <p:cNvPr id="24" name="Callout 1227"/>
          <p:cNvSpPr/>
          <p:nvPr/>
        </p:nvSpPr>
        <p:spPr>
          <a:xfrm>
            <a:off x="548640" y="5550408"/>
            <a:ext cx="11094415" cy="713232"/>
          </a:xfrm>
          <a:prstGeom prst="roundRect">
            <a:avLst>
              <a:gd name="adj" fmla="val 12821"/>
            </a:avLst>
          </a:prstGeom>
          <a:solidFill>
            <a:schemeClr val="accent4">
              <a:alpha val="20000"/>
            </a:schemeClr>
          </a:solidFill>
          <a:ln/>
        </p:spPr>
      </p:sp>
      <p:sp>
        <p:nvSpPr>
          <p:cNvPr id="25" name="Callout label 1228"/>
          <p:cNvSpPr/>
          <p:nvPr/>
        </p:nvSpPr>
        <p:spPr>
          <a:xfrm>
            <a:off x="731520" y="5751576"/>
            <a:ext cx="1056460" cy="310896"/>
          </a:xfrm>
          <a:prstGeom prst="roundRect">
            <a:avLst>
              <a:gd name="adj" fmla="val 50000"/>
            </a:avLst>
          </a:prstGeom>
          <a:solidFill>
            <a:schemeClr val="accent4"/>
          </a:solidFill>
          <a:ln/>
        </p:spPr>
      </p:sp>
      <p:sp>
        <p:nvSpPr>
          <p:cNvPr id="26" name="Text 1229"/>
          <p:cNvSpPr txBox="1"/>
          <p:nvPr/>
        </p:nvSpPr>
        <p:spPr>
          <a:xfrm>
            <a:off x="731520" y="5751576"/>
            <a:ext cx="1056460"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WORD</a:t>
            </a:r>
            <a:endParaRPr lang="en-US" sz="1200" dirty="0"/>
          </a:p>
        </p:txBody>
      </p:sp>
      <p:sp>
        <p:nvSpPr>
          <p:cNvPr id="27" name="Text 1230"/>
          <p:cNvSpPr txBox="1"/>
          <p:nvPr/>
        </p:nvSpPr>
        <p:spPr>
          <a:xfrm>
            <a:off x="1970860" y="5623560"/>
            <a:ext cx="9489315"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Germans called it a 'Diktat' — a dictated peace. Germany was not allowed to negotiate the terms.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Kicker 123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KQ1 · THE OTHER TREATIES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other peace treaties, 1919–23</a:t>
            </a:r>
            <a:endParaRPr lang="en-US" sz="3400" dirty="0"/>
          </a:p>
        </p:txBody>
      </p:sp>
      <p:graphicFrame>
        <p:nvGraphicFramePr>
          <p:cNvPr id="54" name="Table 1232"/>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828800"/>
                <a:gridCol w="1463040"/>
                <a:gridCol w="5242255"/>
                <a:gridCol w="2560320"/>
              </a:tblGrid>
              <a:tr h="384048">
                <a:tc>
                  <a:txBody>
                    <a:bodyPr/>
                    <a:lstStyle/>
                    <a:p>
                      <a:pPr indent="0" marL="0">
                        <a:buNone/>
                      </a:pPr>
                      <a:r>
                        <a:rPr lang="en-US" sz="1400" b="1" dirty="0">
                          <a:solidFill>
                            <a:schemeClr val="bg1"/>
                          </a:solidFill>
                        </a:rPr>
                        <a:t>Treaty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With</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Key terms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Result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r>
              <a:tr h="717752">
                <a:tc>
                  <a:txBody>
                    <a:bodyPr/>
                    <a:lstStyle/>
                    <a:p>
                      <a:pPr algn="l" indent="0" marL="0">
                        <a:buNone/>
                      </a:pPr>
                      <a:r>
                        <a:rPr lang="en-US" sz="1400" b="1" dirty="0">
                          <a:solidFill>
                            <a:schemeClr val="tx1"/>
                          </a:solidFill>
                        </a:rPr>
                        <a:t>St Germain (1919)</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Austria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Lost lands to Czechoslovakia, Italy, Yugoslavia and Poland; union with Germany banned; army 30,000</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Small, weak state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17752">
                <a:tc>
                  <a:txBody>
                    <a:bodyPr/>
                    <a:lstStyle/>
                    <a:p>
                      <a:pPr algn="l" indent="0" marL="0">
                        <a:buNone/>
                      </a:pPr>
                      <a:r>
                        <a:rPr lang="en-US" sz="1400" b="1" dirty="0">
                          <a:solidFill>
                            <a:schemeClr val="tx1"/>
                          </a:solidFill>
                        </a:rPr>
                        <a:t>Trianon (1920)</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Hungary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Lost about two-thirds of its land; over 3 million Magyars left outside; army 35,000</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Bitter demand for revision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17752">
                <a:tc>
                  <a:txBody>
                    <a:bodyPr/>
                    <a:lstStyle/>
                    <a:p>
                      <a:pPr algn="l" indent="0" marL="0">
                        <a:buNone/>
                      </a:pPr>
                      <a:r>
                        <a:rPr lang="en-US" sz="1400" b="1" dirty="0">
                          <a:solidFill>
                            <a:schemeClr val="tx1"/>
                          </a:solidFill>
                        </a:rPr>
                        <a:t>Neuilly (1919)</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Bulgaria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Lost its Aegean coast (Western Thrace) to Greece; reparations; army 20,000</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Resentment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17752">
                <a:tc>
                  <a:txBody>
                    <a:bodyPr/>
                    <a:lstStyle/>
                    <a:p>
                      <a:pPr algn="l" indent="0" marL="0">
                        <a:buNone/>
                      </a:pPr>
                      <a:r>
                        <a:rPr lang="en-US" sz="1400" b="1" dirty="0">
                          <a:solidFill>
                            <a:schemeClr val="tx1"/>
                          </a:solidFill>
                        </a:rPr>
                        <a:t>Sèvres (1920)</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Ottoman Empire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Arab lands became mandates; Smyrna to Greece; Straits under international control</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Rejected by Kemal → war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539703">
                <a:tc>
                  <a:txBody>
                    <a:bodyPr/>
                    <a:lstStyle/>
                    <a:p>
                      <a:pPr algn="l" indent="0" marL="0">
                        <a:buNone/>
                      </a:pPr>
                      <a:r>
                        <a:rPr lang="en-US" sz="1400" b="1" dirty="0">
                          <a:solidFill>
                            <a:schemeClr val="tx1"/>
                          </a:solidFill>
                        </a:rPr>
                        <a:t>Lausanne (1923)</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Turkey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Replaced Sèvres: Turkey kept Anatolia and E. Thrace; no reparations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First treaty revised by force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bl>
          </a:graphicData>
        </a:graphic>
      </p:graphicFrame>
      <p:sp>
        <p:nvSpPr>
          <p:cNvPr id="5" name="Callout 1233"/>
          <p:cNvSpPr/>
          <p:nvPr/>
        </p:nvSpPr>
        <p:spPr>
          <a:xfrm>
            <a:off x="548640" y="5550408"/>
            <a:ext cx="11094415" cy="713232"/>
          </a:xfrm>
          <a:prstGeom prst="roundRect">
            <a:avLst>
              <a:gd name="adj" fmla="val 12821"/>
            </a:avLst>
          </a:prstGeom>
          <a:solidFill>
            <a:schemeClr val="accent4">
              <a:alpha val="20000"/>
            </a:schemeClr>
          </a:solidFill>
          <a:ln/>
        </p:spPr>
      </p:sp>
      <p:sp>
        <p:nvSpPr>
          <p:cNvPr id="6" name="Callout label 1234"/>
          <p:cNvSpPr/>
          <p:nvPr/>
        </p:nvSpPr>
        <p:spPr>
          <a:xfrm>
            <a:off x="731520" y="5751576"/>
            <a:ext cx="1045034" cy="310896"/>
          </a:xfrm>
          <a:prstGeom prst="roundRect">
            <a:avLst>
              <a:gd name="adj" fmla="val 50000"/>
            </a:avLst>
          </a:prstGeom>
          <a:solidFill>
            <a:schemeClr val="accent4"/>
          </a:solidFill>
          <a:ln/>
        </p:spPr>
      </p:sp>
      <p:sp>
        <p:nvSpPr>
          <p:cNvPr id="7" name="Text 1235"/>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8" name="Text 1236"/>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Self-determination was applied unevenly: Germans in Austria and the Sudetenland, and Magyars in Romania, were left outside their nation states.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Kicker 123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KQ1 · DISSATISFACTION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Who was dissatisfied — and why?</a:t>
            </a:r>
            <a:endParaRPr lang="en-US" sz="3400" dirty="0"/>
          </a:p>
        </p:txBody>
      </p:sp>
      <p:sp>
        <p:nvSpPr>
          <p:cNvPr id="4" name="Card 1238"/>
          <p:cNvSpPr/>
          <p:nvPr/>
        </p:nvSpPr>
        <p:spPr>
          <a:xfrm>
            <a:off x="548640" y="1481328"/>
            <a:ext cx="2567864" cy="2253996"/>
          </a:xfrm>
          <a:prstGeom prst="roundRect">
            <a:avLst>
              <a:gd name="adj" fmla="val 4057"/>
            </a:avLst>
          </a:prstGeom>
          <a:solidFill>
            <a:schemeClr val="accent2">
              <a:alpha val="10000"/>
            </a:schemeClr>
          </a:solidFill>
          <a:ln/>
        </p:spPr>
      </p:sp>
      <p:sp>
        <p:nvSpPr>
          <p:cNvPr id="5" name="Icon circle 1239"/>
          <p:cNvSpPr/>
          <p:nvPr/>
        </p:nvSpPr>
        <p:spPr>
          <a:xfrm>
            <a:off x="731520" y="1664208"/>
            <a:ext cx="475488" cy="475488"/>
          </a:xfrm>
          <a:prstGeom prst="ellipse">
            <a:avLst/>
          </a:prstGeom>
          <a:solidFill>
            <a:schemeClr val="accent2"/>
          </a:solidFill>
          <a:ln/>
        </p:spPr>
      </p:sp>
      <p:pic>
        <p:nvPicPr>
          <p:cNvPr id="6" name="Icon FaGavel 1240"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241"/>
          <p:cNvSpPr txBox="1"/>
          <p:nvPr/>
        </p:nvSpPr>
        <p:spPr>
          <a:xfrm>
            <a:off x="1335024" y="1664208"/>
            <a:ext cx="1598600"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Germany</a:t>
            </a:r>
            <a:endParaRPr lang="en-US" sz="1600" dirty="0"/>
          </a:p>
        </p:txBody>
      </p:sp>
      <p:sp>
        <p:nvSpPr>
          <p:cNvPr id="8" name="Text 1242"/>
          <p:cNvSpPr txBox="1"/>
          <p:nvPr/>
        </p:nvSpPr>
        <p:spPr>
          <a:xfrm>
            <a:off x="731520" y="2249424"/>
            <a:ext cx="2202104" cy="13030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A 'Diktat': war guilt, reparations, lost land and army; 'stab in the back' myth.</a:t>
            </a:r>
            <a:endParaRPr lang="en-US" sz="1700" dirty="0"/>
          </a:p>
        </p:txBody>
      </p:sp>
      <p:sp>
        <p:nvSpPr>
          <p:cNvPr id="9" name="Card 1243"/>
          <p:cNvSpPr/>
          <p:nvPr/>
        </p:nvSpPr>
        <p:spPr>
          <a:xfrm>
            <a:off x="3390824" y="1481328"/>
            <a:ext cx="2567864" cy="2253996"/>
          </a:xfrm>
          <a:prstGeom prst="roundRect">
            <a:avLst>
              <a:gd name="adj" fmla="val 4057"/>
            </a:avLst>
          </a:prstGeom>
          <a:solidFill>
            <a:schemeClr val="accent2">
              <a:alpha val="10000"/>
            </a:schemeClr>
          </a:solidFill>
          <a:ln/>
        </p:spPr>
      </p:sp>
      <p:sp>
        <p:nvSpPr>
          <p:cNvPr id="10" name="Icon circle 1244"/>
          <p:cNvSpPr/>
          <p:nvPr/>
        </p:nvSpPr>
        <p:spPr>
          <a:xfrm>
            <a:off x="3573704" y="1664208"/>
            <a:ext cx="475488" cy="475488"/>
          </a:xfrm>
          <a:prstGeom prst="ellipse">
            <a:avLst/>
          </a:prstGeom>
          <a:solidFill>
            <a:schemeClr val="accent2"/>
          </a:solidFill>
          <a:ln/>
        </p:spPr>
      </p:sp>
      <p:pic>
        <p:nvPicPr>
          <p:cNvPr id="11" name="Icon FaShieldAlt 1245" descr="preencoded.png">    </p:cNvPr>
          <p:cNvPicPr>
            <a:picLocks noChangeAspect="1"/>
          </p:cNvPicPr>
          <p:nvPr/>
        </p:nvPicPr>
        <p:blipFill>
          <a:blip r:embed="rId2"/>
          <a:stretch>
            <a:fillRect/>
          </a:stretch>
        </p:blipFill>
        <p:spPr>
          <a:xfrm>
            <a:off x="3678311" y="1768815"/>
            <a:ext cx="266273" cy="266273"/>
          </a:xfrm>
          <a:prstGeom prst="rect">
            <a:avLst/>
          </a:prstGeom>
        </p:spPr>
      </p:pic>
      <p:sp>
        <p:nvSpPr>
          <p:cNvPr id="12" name="Card title 1246"/>
          <p:cNvSpPr txBox="1"/>
          <p:nvPr/>
        </p:nvSpPr>
        <p:spPr>
          <a:xfrm>
            <a:off x="4177208" y="1664208"/>
            <a:ext cx="1598600"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France</a:t>
            </a:r>
            <a:endParaRPr lang="en-US" sz="1600" dirty="0"/>
          </a:p>
        </p:txBody>
      </p:sp>
      <p:sp>
        <p:nvSpPr>
          <p:cNvPr id="13" name="Text 1247"/>
          <p:cNvSpPr txBox="1"/>
          <p:nvPr/>
        </p:nvSpPr>
        <p:spPr>
          <a:xfrm>
            <a:off x="3573704" y="2249424"/>
            <a:ext cx="2202104" cy="13030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Not harsh enough: no Rhine frontier; the Anglo-US guarantee collapsed (1919–20).</a:t>
            </a:r>
            <a:endParaRPr lang="en-US" sz="1700" dirty="0"/>
          </a:p>
        </p:txBody>
      </p:sp>
      <p:sp>
        <p:nvSpPr>
          <p:cNvPr id="14" name="Card 1248"/>
          <p:cNvSpPr/>
          <p:nvPr/>
        </p:nvSpPr>
        <p:spPr>
          <a:xfrm>
            <a:off x="6233008" y="1481328"/>
            <a:ext cx="2567864" cy="2253996"/>
          </a:xfrm>
          <a:prstGeom prst="roundRect">
            <a:avLst>
              <a:gd name="adj" fmla="val 4057"/>
            </a:avLst>
          </a:prstGeom>
          <a:solidFill>
            <a:schemeClr val="accent2">
              <a:alpha val="10000"/>
            </a:schemeClr>
          </a:solidFill>
          <a:ln/>
        </p:spPr>
      </p:sp>
      <p:sp>
        <p:nvSpPr>
          <p:cNvPr id="15" name="Icon circle 1249"/>
          <p:cNvSpPr/>
          <p:nvPr/>
        </p:nvSpPr>
        <p:spPr>
          <a:xfrm>
            <a:off x="6415888" y="1664208"/>
            <a:ext cx="475488" cy="475488"/>
          </a:xfrm>
          <a:prstGeom prst="ellipse">
            <a:avLst/>
          </a:prstGeom>
          <a:solidFill>
            <a:schemeClr val="accent2"/>
          </a:solidFill>
          <a:ln/>
        </p:spPr>
      </p:sp>
      <p:pic>
        <p:nvPicPr>
          <p:cNvPr id="16" name="Icon FaFlag 1250" descr="preencoded.png">    </p:cNvPr>
          <p:cNvPicPr>
            <a:picLocks noChangeAspect="1"/>
          </p:cNvPicPr>
          <p:nvPr/>
        </p:nvPicPr>
        <p:blipFill>
          <a:blip r:embed="rId3"/>
          <a:stretch>
            <a:fillRect/>
          </a:stretch>
        </p:blipFill>
        <p:spPr>
          <a:xfrm>
            <a:off x="6520495" y="1768815"/>
            <a:ext cx="266273" cy="266273"/>
          </a:xfrm>
          <a:prstGeom prst="rect">
            <a:avLst/>
          </a:prstGeom>
        </p:spPr>
      </p:pic>
      <p:sp>
        <p:nvSpPr>
          <p:cNvPr id="17" name="Card title 1251"/>
          <p:cNvSpPr txBox="1"/>
          <p:nvPr/>
        </p:nvSpPr>
        <p:spPr>
          <a:xfrm>
            <a:off x="7019392" y="1664208"/>
            <a:ext cx="1598600"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Italy</a:t>
            </a:r>
            <a:endParaRPr lang="en-US" sz="1600" dirty="0"/>
          </a:p>
        </p:txBody>
      </p:sp>
      <p:sp>
        <p:nvSpPr>
          <p:cNvPr id="18" name="Text 1252"/>
          <p:cNvSpPr txBox="1"/>
          <p:nvPr/>
        </p:nvSpPr>
        <p:spPr>
          <a:xfrm>
            <a:off x="6415888" y="2249424"/>
            <a:ext cx="2202104" cy="13030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A 'mutilated victory': no Fiume or Dalmatia. D'Annunzio seized Fiume (1919).</a:t>
            </a:r>
            <a:endParaRPr lang="en-US" sz="1700" dirty="0"/>
          </a:p>
        </p:txBody>
      </p:sp>
      <p:sp>
        <p:nvSpPr>
          <p:cNvPr id="19" name="Card 1253"/>
          <p:cNvSpPr/>
          <p:nvPr/>
        </p:nvSpPr>
        <p:spPr>
          <a:xfrm>
            <a:off x="9075191" y="1481328"/>
            <a:ext cx="2567864" cy="2253996"/>
          </a:xfrm>
          <a:prstGeom prst="roundRect">
            <a:avLst>
              <a:gd name="adj" fmla="val 4057"/>
            </a:avLst>
          </a:prstGeom>
          <a:solidFill>
            <a:schemeClr val="accent2">
              <a:alpha val="10000"/>
            </a:schemeClr>
          </a:solidFill>
          <a:ln/>
        </p:spPr>
      </p:sp>
      <p:sp>
        <p:nvSpPr>
          <p:cNvPr id="20" name="Icon circle 1254"/>
          <p:cNvSpPr/>
          <p:nvPr/>
        </p:nvSpPr>
        <p:spPr>
          <a:xfrm>
            <a:off x="9258071" y="1664208"/>
            <a:ext cx="475488" cy="475488"/>
          </a:xfrm>
          <a:prstGeom prst="ellipse">
            <a:avLst/>
          </a:prstGeom>
          <a:solidFill>
            <a:schemeClr val="accent2"/>
          </a:solidFill>
          <a:ln/>
        </p:spPr>
      </p:sp>
      <p:pic>
        <p:nvPicPr>
          <p:cNvPr id="21" name="Icon FaFlagUsa 1255" descr="preencoded.png">    </p:cNvPr>
          <p:cNvPicPr>
            <a:picLocks noChangeAspect="1"/>
          </p:cNvPicPr>
          <p:nvPr/>
        </p:nvPicPr>
        <p:blipFill>
          <a:blip r:embed="rId4"/>
          <a:stretch>
            <a:fillRect/>
          </a:stretch>
        </p:blipFill>
        <p:spPr>
          <a:xfrm>
            <a:off x="9362679" y="1768815"/>
            <a:ext cx="266273" cy="266273"/>
          </a:xfrm>
          <a:prstGeom prst="rect">
            <a:avLst/>
          </a:prstGeom>
        </p:spPr>
      </p:pic>
      <p:sp>
        <p:nvSpPr>
          <p:cNvPr id="22" name="Card title 1256"/>
          <p:cNvSpPr txBox="1"/>
          <p:nvPr/>
        </p:nvSpPr>
        <p:spPr>
          <a:xfrm>
            <a:off x="9861575" y="1664208"/>
            <a:ext cx="1598600"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USA</a:t>
            </a:r>
            <a:endParaRPr lang="en-US" sz="1600" dirty="0"/>
          </a:p>
        </p:txBody>
      </p:sp>
      <p:sp>
        <p:nvSpPr>
          <p:cNvPr id="23" name="Text 1257"/>
          <p:cNvSpPr txBox="1"/>
          <p:nvPr/>
        </p:nvSpPr>
        <p:spPr>
          <a:xfrm>
            <a:off x="9258071" y="2249424"/>
            <a:ext cx="2202104" cy="13030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Senate rejected the treaty and League, fearing Article 10 would drag the USA into wars.</a:t>
            </a:r>
            <a:endParaRPr lang="en-US" sz="1700" dirty="0"/>
          </a:p>
        </p:txBody>
      </p:sp>
      <p:sp>
        <p:nvSpPr>
          <p:cNvPr id="24" name="Card 1258"/>
          <p:cNvSpPr/>
          <p:nvPr/>
        </p:nvSpPr>
        <p:spPr>
          <a:xfrm>
            <a:off x="548640" y="4009644"/>
            <a:ext cx="2567864" cy="2253996"/>
          </a:xfrm>
          <a:prstGeom prst="roundRect">
            <a:avLst>
              <a:gd name="adj" fmla="val 4057"/>
            </a:avLst>
          </a:prstGeom>
          <a:solidFill>
            <a:schemeClr val="accent2">
              <a:alpha val="10000"/>
            </a:schemeClr>
          </a:solidFill>
          <a:ln/>
        </p:spPr>
      </p:sp>
      <p:sp>
        <p:nvSpPr>
          <p:cNvPr id="25" name="Icon circle 1259"/>
          <p:cNvSpPr/>
          <p:nvPr/>
        </p:nvSpPr>
        <p:spPr>
          <a:xfrm>
            <a:off x="731520" y="4192524"/>
            <a:ext cx="475488" cy="475488"/>
          </a:xfrm>
          <a:prstGeom prst="ellipse">
            <a:avLst/>
          </a:prstGeom>
          <a:solidFill>
            <a:schemeClr val="accent2"/>
          </a:solidFill>
          <a:ln/>
        </p:spPr>
      </p:sp>
      <p:pic>
        <p:nvPicPr>
          <p:cNvPr id="26" name="Icon GiJapan 1260" descr="preencoded.png">    </p:cNvPr>
          <p:cNvPicPr>
            <a:picLocks noChangeAspect="1"/>
          </p:cNvPicPr>
          <p:nvPr/>
        </p:nvPicPr>
        <p:blipFill>
          <a:blip r:embed="rId5"/>
          <a:stretch>
            <a:fillRect/>
          </a:stretch>
        </p:blipFill>
        <p:spPr>
          <a:xfrm>
            <a:off x="836127" y="4297131"/>
            <a:ext cx="266273" cy="266273"/>
          </a:xfrm>
          <a:prstGeom prst="rect">
            <a:avLst/>
          </a:prstGeom>
        </p:spPr>
      </p:pic>
      <p:sp>
        <p:nvSpPr>
          <p:cNvPr id="27" name="Card title 1261"/>
          <p:cNvSpPr txBox="1"/>
          <p:nvPr/>
        </p:nvSpPr>
        <p:spPr>
          <a:xfrm>
            <a:off x="1335024" y="4192524"/>
            <a:ext cx="1598600"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Japan</a:t>
            </a:r>
            <a:endParaRPr lang="en-US" sz="1600" dirty="0"/>
          </a:p>
        </p:txBody>
      </p:sp>
      <p:sp>
        <p:nvSpPr>
          <p:cNvPr id="28" name="Text 1262"/>
          <p:cNvSpPr txBox="1"/>
          <p:nvPr/>
        </p:nvSpPr>
        <p:spPr>
          <a:xfrm>
            <a:off x="731520" y="4777740"/>
            <a:ext cx="2202104" cy="13030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Won Shandong and Pacific mandates, but its racial equality clause was rejected.</a:t>
            </a:r>
            <a:endParaRPr lang="en-US" sz="1700" dirty="0"/>
          </a:p>
        </p:txBody>
      </p:sp>
      <p:sp>
        <p:nvSpPr>
          <p:cNvPr id="29" name="Card 1263"/>
          <p:cNvSpPr/>
          <p:nvPr/>
        </p:nvSpPr>
        <p:spPr>
          <a:xfrm>
            <a:off x="3390824" y="4009644"/>
            <a:ext cx="2567864" cy="2253996"/>
          </a:xfrm>
          <a:prstGeom prst="roundRect">
            <a:avLst>
              <a:gd name="adj" fmla="val 4057"/>
            </a:avLst>
          </a:prstGeom>
          <a:solidFill>
            <a:schemeClr val="accent2">
              <a:alpha val="10000"/>
            </a:schemeClr>
          </a:solidFill>
          <a:ln/>
        </p:spPr>
      </p:sp>
      <p:sp>
        <p:nvSpPr>
          <p:cNvPr id="30" name="Icon circle 1264"/>
          <p:cNvSpPr/>
          <p:nvPr/>
        </p:nvSpPr>
        <p:spPr>
          <a:xfrm>
            <a:off x="3573704" y="4192524"/>
            <a:ext cx="475488" cy="475488"/>
          </a:xfrm>
          <a:prstGeom prst="ellipse">
            <a:avLst/>
          </a:prstGeom>
          <a:solidFill>
            <a:schemeClr val="accent2"/>
          </a:solidFill>
          <a:ln/>
        </p:spPr>
      </p:sp>
      <p:pic>
        <p:nvPicPr>
          <p:cNvPr id="31" name="Icon GiPagoda 1265" descr="preencoded.png">    </p:cNvPr>
          <p:cNvPicPr>
            <a:picLocks noChangeAspect="1"/>
          </p:cNvPicPr>
          <p:nvPr/>
        </p:nvPicPr>
        <p:blipFill>
          <a:blip r:embed="rId6"/>
          <a:stretch>
            <a:fillRect/>
          </a:stretch>
        </p:blipFill>
        <p:spPr>
          <a:xfrm>
            <a:off x="3678311" y="4297131"/>
            <a:ext cx="266273" cy="266273"/>
          </a:xfrm>
          <a:prstGeom prst="rect">
            <a:avLst/>
          </a:prstGeom>
        </p:spPr>
      </p:pic>
      <p:sp>
        <p:nvSpPr>
          <p:cNvPr id="32" name="Card title 1266"/>
          <p:cNvSpPr txBox="1"/>
          <p:nvPr/>
        </p:nvSpPr>
        <p:spPr>
          <a:xfrm>
            <a:off x="4177208" y="4192524"/>
            <a:ext cx="1598600"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China</a:t>
            </a:r>
            <a:endParaRPr lang="en-US" sz="1600" dirty="0"/>
          </a:p>
        </p:txBody>
      </p:sp>
      <p:sp>
        <p:nvSpPr>
          <p:cNvPr id="33" name="Text 1267"/>
          <p:cNvSpPr txBox="1"/>
          <p:nvPr/>
        </p:nvSpPr>
        <p:spPr>
          <a:xfrm>
            <a:off x="3573704" y="4777740"/>
            <a:ext cx="2202104" cy="13030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Shandong given to Japan → May Fourth protests; China refused to sign.</a:t>
            </a:r>
            <a:endParaRPr lang="en-US" sz="1700" dirty="0"/>
          </a:p>
        </p:txBody>
      </p:sp>
      <p:sp>
        <p:nvSpPr>
          <p:cNvPr id="34" name="Card 1268"/>
          <p:cNvSpPr/>
          <p:nvPr/>
        </p:nvSpPr>
        <p:spPr>
          <a:xfrm>
            <a:off x="6233008" y="4009644"/>
            <a:ext cx="2567864" cy="2253996"/>
          </a:xfrm>
          <a:prstGeom prst="roundRect">
            <a:avLst>
              <a:gd name="adj" fmla="val 4057"/>
            </a:avLst>
          </a:prstGeom>
          <a:solidFill>
            <a:schemeClr val="accent2">
              <a:alpha val="10000"/>
            </a:schemeClr>
          </a:solidFill>
          <a:ln/>
        </p:spPr>
      </p:sp>
      <p:sp>
        <p:nvSpPr>
          <p:cNvPr id="35" name="Icon circle 1269"/>
          <p:cNvSpPr/>
          <p:nvPr/>
        </p:nvSpPr>
        <p:spPr>
          <a:xfrm>
            <a:off x="6415888" y="4192524"/>
            <a:ext cx="475488" cy="475488"/>
          </a:xfrm>
          <a:prstGeom prst="ellipse">
            <a:avLst/>
          </a:prstGeom>
          <a:solidFill>
            <a:schemeClr val="accent2"/>
          </a:solidFill>
          <a:ln/>
        </p:spPr>
      </p:sp>
      <p:pic>
        <p:nvPicPr>
          <p:cNvPr id="36" name="Icon FaHandFist 1270" descr="preencoded.png">    </p:cNvPr>
          <p:cNvPicPr>
            <a:picLocks noChangeAspect="1"/>
          </p:cNvPicPr>
          <p:nvPr/>
        </p:nvPicPr>
        <p:blipFill>
          <a:blip r:embed="rId7"/>
          <a:stretch>
            <a:fillRect/>
          </a:stretch>
        </p:blipFill>
        <p:spPr>
          <a:xfrm>
            <a:off x="6520495" y="4297131"/>
            <a:ext cx="266273" cy="266273"/>
          </a:xfrm>
          <a:prstGeom prst="rect">
            <a:avLst/>
          </a:prstGeom>
        </p:spPr>
      </p:pic>
      <p:sp>
        <p:nvSpPr>
          <p:cNvPr id="37" name="Card title 1271"/>
          <p:cNvSpPr txBox="1"/>
          <p:nvPr/>
        </p:nvSpPr>
        <p:spPr>
          <a:xfrm>
            <a:off x="7019392" y="4192524"/>
            <a:ext cx="1598600"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Soviet Russia</a:t>
            </a:r>
            <a:endParaRPr lang="en-US" sz="1600" dirty="0"/>
          </a:p>
        </p:txBody>
      </p:sp>
      <p:sp>
        <p:nvSpPr>
          <p:cNvPr id="38" name="Text 1272"/>
          <p:cNvSpPr txBox="1"/>
          <p:nvPr/>
        </p:nvSpPr>
        <p:spPr>
          <a:xfrm>
            <a:off x="6415888" y="4777740"/>
            <a:ext cx="2202104" cy="13030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Not invited; lost the Baltic states, Finland and Poland; Allies backed the Whites.</a:t>
            </a:r>
            <a:endParaRPr lang="en-US" sz="1700" dirty="0"/>
          </a:p>
        </p:txBody>
      </p:sp>
      <p:sp>
        <p:nvSpPr>
          <p:cNvPr id="39" name="Card 1273"/>
          <p:cNvSpPr/>
          <p:nvPr/>
        </p:nvSpPr>
        <p:spPr>
          <a:xfrm>
            <a:off x="9075191" y="4009644"/>
            <a:ext cx="2567864" cy="2253996"/>
          </a:xfrm>
          <a:prstGeom prst="roundRect">
            <a:avLst>
              <a:gd name="adj" fmla="val 4057"/>
            </a:avLst>
          </a:prstGeom>
          <a:solidFill>
            <a:schemeClr val="accent2">
              <a:alpha val="10000"/>
            </a:schemeClr>
          </a:solidFill>
          <a:ln/>
        </p:spPr>
      </p:sp>
      <p:sp>
        <p:nvSpPr>
          <p:cNvPr id="40" name="Icon circle 1274"/>
          <p:cNvSpPr/>
          <p:nvPr/>
        </p:nvSpPr>
        <p:spPr>
          <a:xfrm>
            <a:off x="9258071" y="4192524"/>
            <a:ext cx="475488" cy="475488"/>
          </a:xfrm>
          <a:prstGeom prst="ellipse">
            <a:avLst/>
          </a:prstGeom>
          <a:solidFill>
            <a:schemeClr val="accent2"/>
          </a:solidFill>
          <a:ln/>
        </p:spPr>
      </p:sp>
      <p:pic>
        <p:nvPicPr>
          <p:cNvPr id="41" name="Icon FaMapMarkedAlt 1275" descr="preencoded.png">    </p:cNvPr>
          <p:cNvPicPr>
            <a:picLocks noChangeAspect="1"/>
          </p:cNvPicPr>
          <p:nvPr/>
        </p:nvPicPr>
        <p:blipFill>
          <a:blip r:embed="rId8"/>
          <a:stretch>
            <a:fillRect/>
          </a:stretch>
        </p:blipFill>
        <p:spPr>
          <a:xfrm>
            <a:off x="9362679" y="4297131"/>
            <a:ext cx="266273" cy="266273"/>
          </a:xfrm>
          <a:prstGeom prst="rect">
            <a:avLst/>
          </a:prstGeom>
        </p:spPr>
      </p:pic>
      <p:sp>
        <p:nvSpPr>
          <p:cNvPr id="42" name="Card title 1276"/>
          <p:cNvSpPr txBox="1"/>
          <p:nvPr/>
        </p:nvSpPr>
        <p:spPr>
          <a:xfrm>
            <a:off x="9861575" y="4192524"/>
            <a:ext cx="1598600"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Hungary &amp; Turkey</a:t>
            </a:r>
            <a:endParaRPr lang="en-US" sz="1600" dirty="0"/>
          </a:p>
        </p:txBody>
      </p:sp>
      <p:sp>
        <p:nvSpPr>
          <p:cNvPr id="43" name="Text 1277"/>
          <p:cNvSpPr txBox="1"/>
          <p:nvPr/>
        </p:nvSpPr>
        <p:spPr>
          <a:xfrm>
            <a:off x="9258071" y="4777740"/>
            <a:ext cx="2202104" cy="13030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Trianon took two-thirds of Hungary; Sèvres provoked Kemal's war.</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Kicker 127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KQ1 · DEBATE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Was the Treaty of Versailles too harsh?</a:t>
            </a:r>
            <a:endParaRPr lang="en-US" sz="3400" dirty="0"/>
          </a:p>
        </p:txBody>
      </p:sp>
      <p:sp>
        <p:nvSpPr>
          <p:cNvPr id="4" name="Card 1279"/>
          <p:cNvSpPr/>
          <p:nvPr/>
        </p:nvSpPr>
        <p:spPr>
          <a:xfrm>
            <a:off x="548640" y="1481328"/>
            <a:ext cx="5410048" cy="3794760"/>
          </a:xfrm>
          <a:prstGeom prst="roundRect">
            <a:avLst>
              <a:gd name="adj" fmla="val 2410"/>
            </a:avLst>
          </a:prstGeom>
          <a:solidFill>
            <a:schemeClr val="accent2">
              <a:alpha val="10000"/>
            </a:schemeClr>
          </a:solidFill>
          <a:ln/>
        </p:spPr>
      </p:sp>
      <p:sp>
        <p:nvSpPr>
          <p:cNvPr id="5" name="Icon circle 1280"/>
          <p:cNvSpPr/>
          <p:nvPr/>
        </p:nvSpPr>
        <p:spPr>
          <a:xfrm>
            <a:off x="731520" y="1664208"/>
            <a:ext cx="475488" cy="475488"/>
          </a:xfrm>
          <a:prstGeom prst="ellipse">
            <a:avLst/>
          </a:prstGeom>
          <a:solidFill>
            <a:schemeClr val="accent2"/>
          </a:solidFill>
          <a:ln/>
        </p:spPr>
      </p:sp>
      <p:pic>
        <p:nvPicPr>
          <p:cNvPr id="6" name="Icon FaCircleXmark 1281"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282"/>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Yes — too harsh</a:t>
            </a:r>
            <a:endParaRPr lang="en-US" sz="1700" dirty="0"/>
          </a:p>
        </p:txBody>
      </p:sp>
      <p:sp>
        <p:nvSpPr>
          <p:cNvPr id="8" name="Text 1283"/>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Keynes, The Economic Consequences of the Peace (1919): reparations would wreck Europe's economy</a:t>
            </a:r>
            <a:endParaRPr lang="en-US" sz="2000" dirty="0"/>
          </a:p>
          <a:p>
            <a:pPr algn="l" marL="190500" indent="-190500">
              <a:spcAft>
                <a:spcPts val="800"/>
              </a:spcAft>
              <a:buSzPct val="100000"/>
              <a:buChar char="•"/>
            </a:pPr>
            <a:r>
              <a:rPr lang="en-US" sz="2000" dirty="0">
                <a:solidFill>
                  <a:schemeClr val="tx1"/>
                </a:solidFill>
              </a:rPr>
              <a:t>War guilt humiliated Germans and fed nationalism</a:t>
            </a:r>
            <a:endParaRPr lang="en-US" sz="2000" dirty="0"/>
          </a:p>
          <a:p>
            <a:pPr algn="l" marL="190500" indent="-190500">
              <a:spcAft>
                <a:spcPts val="800"/>
              </a:spcAft>
              <a:buSzPct val="100000"/>
              <a:buChar char="•"/>
            </a:pPr>
            <a:r>
              <a:rPr lang="en-US" sz="2000" dirty="0">
                <a:solidFill>
                  <a:schemeClr val="tx1"/>
                </a:solidFill>
              </a:rPr>
              <a:t>Self-determination denied to Germans (Austria, Sudetenland)</a:t>
            </a:r>
            <a:endParaRPr lang="en-US" sz="2000" dirty="0"/>
          </a:p>
          <a:p>
            <a:pPr algn="l" marL="190500" indent="-190500">
              <a:spcAft>
                <a:spcPts val="800"/>
              </a:spcAft>
              <a:buSzPct val="100000"/>
              <a:buChar char="•"/>
            </a:pPr>
            <a:r>
              <a:rPr lang="en-US" sz="2000" dirty="0">
                <a:solidFill>
                  <a:schemeClr val="tx1"/>
                </a:solidFill>
              </a:rPr>
              <a:t>Imposed without negotiation</a:t>
            </a:r>
            <a:endParaRPr lang="en-US" sz="2000" dirty="0"/>
          </a:p>
        </p:txBody>
      </p:sp>
      <p:sp>
        <p:nvSpPr>
          <p:cNvPr id="9" name="Card 1284"/>
          <p:cNvSpPr/>
          <p:nvPr/>
        </p:nvSpPr>
        <p:spPr>
          <a:xfrm>
            <a:off x="6233008" y="1481328"/>
            <a:ext cx="5410048" cy="3794760"/>
          </a:xfrm>
          <a:prstGeom prst="roundRect">
            <a:avLst>
              <a:gd name="adj" fmla="val 2410"/>
            </a:avLst>
          </a:prstGeom>
          <a:solidFill>
            <a:schemeClr val="bg2"/>
          </a:solidFill>
          <a:ln/>
        </p:spPr>
      </p:sp>
      <p:sp>
        <p:nvSpPr>
          <p:cNvPr id="10" name="Icon circle 1285"/>
          <p:cNvSpPr/>
          <p:nvPr/>
        </p:nvSpPr>
        <p:spPr>
          <a:xfrm>
            <a:off x="6415888" y="1664208"/>
            <a:ext cx="475488" cy="475488"/>
          </a:xfrm>
          <a:prstGeom prst="ellipse">
            <a:avLst/>
          </a:prstGeom>
          <a:solidFill>
            <a:schemeClr val="accent2"/>
          </a:solidFill>
          <a:ln/>
        </p:spPr>
      </p:sp>
      <p:pic>
        <p:nvPicPr>
          <p:cNvPr id="11" name="Icon FaCircleCheck 1286"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1287"/>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No — not too harsh</a:t>
            </a:r>
            <a:endParaRPr lang="en-US" sz="1700" dirty="0"/>
          </a:p>
        </p:txBody>
      </p:sp>
      <p:sp>
        <p:nvSpPr>
          <p:cNvPr id="13" name="Text 1288"/>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Germany stayed united — the largest state in central Europe, industry intact</a:t>
            </a:r>
            <a:endParaRPr lang="en-US" sz="2000" dirty="0"/>
          </a:p>
          <a:p>
            <a:pPr algn="l" marL="190500" indent="-190500">
              <a:spcAft>
                <a:spcPts val="800"/>
              </a:spcAft>
              <a:buSzPct val="100000"/>
              <a:buChar char="•"/>
            </a:pPr>
            <a:r>
              <a:rPr lang="en-US" sz="2000" dirty="0">
                <a:solidFill>
                  <a:schemeClr val="tx1"/>
                </a:solidFill>
              </a:rPr>
              <a:t>Brest-Litovsk (1918) took far more from Russia</a:t>
            </a:r>
            <a:endParaRPr lang="en-US" sz="2000" dirty="0"/>
          </a:p>
          <a:p>
            <a:pPr algn="l" marL="190500" indent="-190500">
              <a:spcAft>
                <a:spcPts val="800"/>
              </a:spcAft>
              <a:buSzPct val="100000"/>
              <a:buChar char="•"/>
            </a:pPr>
            <a:r>
              <a:rPr lang="en-US" sz="2000" dirty="0">
                <a:solidFill>
                  <a:schemeClr val="tx1"/>
                </a:solidFill>
              </a:rPr>
              <a:t>Germany paid only c.20 billion of the 132 billion gold marks</a:t>
            </a:r>
            <a:endParaRPr lang="en-US" sz="2000" dirty="0"/>
          </a:p>
          <a:p>
            <a:pPr algn="l" marL="190500" indent="-190500">
              <a:spcAft>
                <a:spcPts val="800"/>
              </a:spcAft>
              <a:buSzPct val="100000"/>
              <a:buChar char="•"/>
            </a:pPr>
            <a:r>
              <a:rPr lang="en-US" sz="2000" dirty="0">
                <a:solidFill>
                  <a:schemeClr val="tx1"/>
                </a:solidFill>
              </a:rPr>
              <a:t>New borders gave self-determination to Poles, Czechs and others</a:t>
            </a:r>
            <a:endParaRPr lang="en-US" sz="2000" dirty="0"/>
          </a:p>
        </p:txBody>
      </p:sp>
      <p:sp>
        <p:nvSpPr>
          <p:cNvPr id="14" name="Callout 1289"/>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1290"/>
          <p:cNvSpPr/>
          <p:nvPr/>
        </p:nvSpPr>
        <p:spPr>
          <a:xfrm>
            <a:off x="731520" y="5751576"/>
            <a:ext cx="894203" cy="310896"/>
          </a:xfrm>
          <a:prstGeom prst="roundRect">
            <a:avLst>
              <a:gd name="adj" fmla="val 50000"/>
            </a:avLst>
          </a:prstGeom>
          <a:solidFill>
            <a:schemeClr val="accent4"/>
          </a:solidFill>
          <a:ln/>
        </p:spPr>
      </p:sp>
      <p:sp>
        <p:nvSpPr>
          <p:cNvPr id="16" name="Text 1291"/>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17" name="Text 1292"/>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 compromise that satisfied no one: 'too gentle for what is harsh in it' (Bainville) — too harsh to be accepted, too weak to be enforced.</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Kicker 129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KQ1 · REPARATIONS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Reparations: demanded vs paid</a:t>
            </a:r>
            <a:endParaRPr lang="en-US" sz="3400" dirty="0"/>
          </a:p>
        </p:txBody>
      </p:sp>
      <p:sp>
        <p:nvSpPr>
          <p:cNvPr id="4" name="Chart panel 1294"/>
          <p:cNvSpPr/>
          <p:nvPr/>
        </p:nvSpPr>
        <p:spPr>
          <a:xfrm>
            <a:off x="548640" y="1481328"/>
            <a:ext cx="6400800" cy="4782312"/>
          </a:xfrm>
          <a:prstGeom prst="roundRect">
            <a:avLst>
              <a:gd name="adj" fmla="val 1912"/>
            </a:avLst>
          </a:prstGeom>
          <a:solidFill>
            <a:schemeClr val="bg2"/>
          </a:solidFill>
          <a:ln/>
        </p:spPr>
      </p:sp>
      <p:graphicFrame>
        <p:nvGraphicFramePr>
          <p:cNvPr id="5" name="Chart 1295" descr=""/>
          <p:cNvGraphicFramePr/>
          <p:nvPr/>
        </p:nvGraphicFramePr>
        <p:xfrm>
          <a:off x="685800" y="1572768"/>
          <a:ext cx="6126480" cy="4599432"/>
        </p:xfrm>
        <a:graphic xmlns:a="http://schemas.openxmlformats.org/drawingml/2006/main">
          <a:graphicData uri="http://schemas.openxmlformats.org/drawingml/2006/chart">
            <c:chart xmlns:c="http://schemas.openxmlformats.org/drawingml/2006/chart" r:id="rId1"/>
          </a:graphicData>
        </a:graphic>
      </p:graphicFrame>
      <p:sp>
        <p:nvSpPr>
          <p:cNvPr id="6" name="Card 1296"/>
          <p:cNvSpPr/>
          <p:nvPr/>
        </p:nvSpPr>
        <p:spPr>
          <a:xfrm>
            <a:off x="7223760" y="1481328"/>
            <a:ext cx="4419295" cy="1459992"/>
          </a:xfrm>
          <a:prstGeom prst="roundRect">
            <a:avLst>
              <a:gd name="adj" fmla="val 6263"/>
            </a:avLst>
          </a:prstGeom>
          <a:solidFill>
            <a:schemeClr val="accent2">
              <a:alpha val="10000"/>
            </a:schemeClr>
          </a:solidFill>
          <a:ln/>
        </p:spPr>
      </p:sp>
      <p:sp>
        <p:nvSpPr>
          <p:cNvPr id="7" name="Icon circle 1297"/>
          <p:cNvSpPr/>
          <p:nvPr/>
        </p:nvSpPr>
        <p:spPr>
          <a:xfrm>
            <a:off x="7370064" y="1627632"/>
            <a:ext cx="402336" cy="402336"/>
          </a:xfrm>
          <a:prstGeom prst="ellipse">
            <a:avLst/>
          </a:prstGeom>
          <a:solidFill>
            <a:schemeClr val="accent2"/>
          </a:solidFill>
          <a:ln/>
        </p:spPr>
      </p:sp>
      <p:pic>
        <p:nvPicPr>
          <p:cNvPr id="8" name="Icon FaFileContract 1298" descr="preencoded.png">    </p:cNvPr>
          <p:cNvPicPr>
            <a:picLocks noChangeAspect="1"/>
          </p:cNvPicPr>
          <p:nvPr/>
        </p:nvPicPr>
        <p:blipFill>
          <a:blip r:embed="rId2"/>
          <a:stretch>
            <a:fillRect/>
          </a:stretch>
        </p:blipFill>
        <p:spPr>
          <a:xfrm>
            <a:off x="7458578" y="1716146"/>
            <a:ext cx="225308" cy="225308"/>
          </a:xfrm>
          <a:prstGeom prst="rect">
            <a:avLst/>
          </a:prstGeom>
        </p:spPr>
      </p:pic>
      <p:sp>
        <p:nvSpPr>
          <p:cNvPr id="9" name="Card title 1299"/>
          <p:cNvSpPr txBox="1"/>
          <p:nvPr/>
        </p:nvSpPr>
        <p:spPr>
          <a:xfrm>
            <a:off x="7900416" y="162763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Smaller than it looked</a:t>
            </a:r>
            <a:endParaRPr lang="en-US" sz="1600" dirty="0"/>
          </a:p>
        </p:txBody>
      </p:sp>
      <p:sp>
        <p:nvSpPr>
          <p:cNvPr id="10" name="Text 1300"/>
          <p:cNvSpPr txBox="1"/>
          <p:nvPr/>
        </p:nvSpPr>
        <p:spPr>
          <a:xfrm>
            <a:off x="7370064" y="2139696"/>
            <a:ext cx="4126687" cy="655320"/>
          </a:xfrm>
          <a:prstGeom prst="rect">
            <a:avLst/>
          </a:prstGeom>
          <a:noFill/>
          <a:ln/>
        </p:spPr>
        <p:txBody>
          <a:bodyPr wrap="square" lIns="0" tIns="0" rIns="0" bIns="0" rtlCol="0" anchor="t"/>
          <a:lstStyle/>
          <a:p>
            <a:pPr algn="l" indent="0" marL="0">
              <a:spcAft>
                <a:spcPts val="500"/>
              </a:spcAft>
              <a:buNone/>
            </a:pPr>
            <a:r>
              <a:rPr lang="en-US" sz="1600" dirty="0">
                <a:solidFill>
                  <a:schemeClr val="tx1"/>
                </a:solidFill>
              </a:rPr>
              <a:t>Only 50bn ('A' and 'B' bonds) was really expected; the 82bn 'C' bonds were largely for show.</a:t>
            </a:r>
            <a:endParaRPr lang="en-US" sz="1600" dirty="0"/>
          </a:p>
        </p:txBody>
      </p:sp>
      <p:sp>
        <p:nvSpPr>
          <p:cNvPr id="11" name="Card 1301"/>
          <p:cNvSpPr/>
          <p:nvPr/>
        </p:nvSpPr>
        <p:spPr>
          <a:xfrm>
            <a:off x="7223760" y="3142488"/>
            <a:ext cx="4419295" cy="1459992"/>
          </a:xfrm>
          <a:prstGeom prst="roundRect">
            <a:avLst>
              <a:gd name="adj" fmla="val 6263"/>
            </a:avLst>
          </a:prstGeom>
          <a:solidFill>
            <a:schemeClr val="accent2">
              <a:alpha val="10000"/>
            </a:schemeClr>
          </a:solidFill>
          <a:ln/>
        </p:spPr>
      </p:sp>
      <p:sp>
        <p:nvSpPr>
          <p:cNvPr id="12" name="Icon circle 1302"/>
          <p:cNvSpPr/>
          <p:nvPr/>
        </p:nvSpPr>
        <p:spPr>
          <a:xfrm>
            <a:off x="7370064" y="3288792"/>
            <a:ext cx="402336" cy="402336"/>
          </a:xfrm>
          <a:prstGeom prst="ellipse">
            <a:avLst/>
          </a:prstGeom>
          <a:solidFill>
            <a:schemeClr val="accent2"/>
          </a:solidFill>
          <a:ln/>
        </p:spPr>
      </p:sp>
      <p:pic>
        <p:nvPicPr>
          <p:cNvPr id="13" name="Icon FaArrowTrendDown 1303" descr="preencoded.png">    </p:cNvPr>
          <p:cNvPicPr>
            <a:picLocks noChangeAspect="1"/>
          </p:cNvPicPr>
          <p:nvPr/>
        </p:nvPicPr>
        <p:blipFill>
          <a:blip r:embed="rId3"/>
          <a:stretch>
            <a:fillRect/>
          </a:stretch>
        </p:blipFill>
        <p:spPr>
          <a:xfrm>
            <a:off x="7458578" y="3377306"/>
            <a:ext cx="225308" cy="225308"/>
          </a:xfrm>
          <a:prstGeom prst="rect">
            <a:avLst/>
          </a:prstGeom>
        </p:spPr>
      </p:pic>
      <p:sp>
        <p:nvSpPr>
          <p:cNvPr id="14" name="Card title 1304"/>
          <p:cNvSpPr txBox="1"/>
          <p:nvPr/>
        </p:nvSpPr>
        <p:spPr>
          <a:xfrm>
            <a:off x="7900416" y="328879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Cut again and again</a:t>
            </a:r>
            <a:endParaRPr lang="en-US" sz="1600" dirty="0"/>
          </a:p>
        </p:txBody>
      </p:sp>
      <p:sp>
        <p:nvSpPr>
          <p:cNvPr id="15" name="Text 1305"/>
          <p:cNvSpPr txBox="1"/>
          <p:nvPr/>
        </p:nvSpPr>
        <p:spPr>
          <a:xfrm>
            <a:off x="7370064" y="3800856"/>
            <a:ext cx="4126687" cy="655320"/>
          </a:xfrm>
          <a:prstGeom prst="rect">
            <a:avLst/>
          </a:prstGeom>
          <a:noFill/>
          <a:ln/>
        </p:spPr>
        <p:txBody>
          <a:bodyPr wrap="square" lIns="0" tIns="0" rIns="0" bIns="0" rtlCol="0" anchor="t"/>
          <a:lstStyle/>
          <a:p>
            <a:pPr algn="l" indent="0" marL="0">
              <a:spcAft>
                <a:spcPts val="500"/>
              </a:spcAft>
              <a:buNone/>
            </a:pPr>
            <a:r>
              <a:rPr lang="en-US" sz="1600" dirty="0">
                <a:solidFill>
                  <a:schemeClr val="tx1"/>
                </a:solidFill>
              </a:rPr>
              <a:t>Dawes (1924) rescheduled; Young (1929) cut to 112bn; Lausanne (1932) ended them in practice.</a:t>
            </a:r>
            <a:endParaRPr lang="en-US" sz="1600" dirty="0"/>
          </a:p>
        </p:txBody>
      </p:sp>
      <p:sp>
        <p:nvSpPr>
          <p:cNvPr id="16" name="Card 1306"/>
          <p:cNvSpPr/>
          <p:nvPr/>
        </p:nvSpPr>
        <p:spPr>
          <a:xfrm>
            <a:off x="7223760" y="4803648"/>
            <a:ext cx="4419295" cy="1459992"/>
          </a:xfrm>
          <a:prstGeom prst="roundRect">
            <a:avLst>
              <a:gd name="adj" fmla="val 6263"/>
            </a:avLst>
          </a:prstGeom>
          <a:solidFill>
            <a:schemeClr val="accent2">
              <a:alpha val="10000"/>
            </a:schemeClr>
          </a:solidFill>
          <a:ln/>
        </p:spPr>
      </p:sp>
      <p:sp>
        <p:nvSpPr>
          <p:cNvPr id="17" name="Icon circle 1307"/>
          <p:cNvSpPr/>
          <p:nvPr/>
        </p:nvSpPr>
        <p:spPr>
          <a:xfrm>
            <a:off x="7370064" y="4949952"/>
            <a:ext cx="402336" cy="402336"/>
          </a:xfrm>
          <a:prstGeom prst="ellipse">
            <a:avLst/>
          </a:prstGeom>
          <a:solidFill>
            <a:schemeClr val="accent2"/>
          </a:solidFill>
          <a:ln/>
        </p:spPr>
      </p:sp>
      <p:pic>
        <p:nvPicPr>
          <p:cNvPr id="18" name="Icon FaBalanceScale 1308" descr="preencoded.png">    </p:cNvPr>
          <p:cNvPicPr>
            <a:picLocks noChangeAspect="1"/>
          </p:cNvPicPr>
          <p:nvPr/>
        </p:nvPicPr>
        <p:blipFill>
          <a:blip r:embed="rId4"/>
          <a:stretch>
            <a:fillRect/>
          </a:stretch>
        </p:blipFill>
        <p:spPr>
          <a:xfrm>
            <a:off x="7458578" y="5038466"/>
            <a:ext cx="225308" cy="225308"/>
          </a:xfrm>
          <a:prstGeom prst="rect">
            <a:avLst/>
          </a:prstGeom>
        </p:spPr>
      </p:pic>
      <p:sp>
        <p:nvSpPr>
          <p:cNvPr id="19" name="Card title 1309"/>
          <p:cNvSpPr txBox="1"/>
          <p:nvPr/>
        </p:nvSpPr>
        <p:spPr>
          <a:xfrm>
            <a:off x="7900416" y="494995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Why it matters</a:t>
            </a:r>
            <a:endParaRPr lang="en-US" sz="1600" dirty="0"/>
          </a:p>
        </p:txBody>
      </p:sp>
      <p:sp>
        <p:nvSpPr>
          <p:cNvPr id="20" name="Text 1310"/>
          <p:cNvSpPr txBox="1"/>
          <p:nvPr/>
        </p:nvSpPr>
        <p:spPr>
          <a:xfrm>
            <a:off x="7370064" y="5462016"/>
            <a:ext cx="4126687" cy="655320"/>
          </a:xfrm>
          <a:prstGeom prst="rect">
            <a:avLst/>
          </a:prstGeom>
          <a:noFill/>
          <a:ln/>
        </p:spPr>
        <p:txBody>
          <a:bodyPr wrap="square" lIns="0" tIns="0" rIns="0" bIns="0" rtlCol="0" anchor="t"/>
          <a:lstStyle/>
          <a:p>
            <a:pPr algn="l" indent="0" marL="0">
              <a:spcAft>
                <a:spcPts val="500"/>
              </a:spcAft>
              <a:buNone/>
            </a:pPr>
            <a:r>
              <a:rPr lang="en-US" sz="1600" dirty="0">
                <a:solidFill>
                  <a:schemeClr val="tx1"/>
                </a:solidFill>
              </a:rPr>
              <a:t>The 'war guilt' and humiliation mattered more than the money.</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Kicker 131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KQ2 · THE LEAGUE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League of Nations: aims and powers</a:t>
            </a:r>
            <a:endParaRPr lang="en-US" sz="3400" dirty="0"/>
          </a:p>
        </p:txBody>
      </p:sp>
      <p:sp>
        <p:nvSpPr>
          <p:cNvPr id="4" name="Card 1312"/>
          <p:cNvSpPr/>
          <p:nvPr/>
        </p:nvSpPr>
        <p:spPr>
          <a:xfrm>
            <a:off x="548640" y="1481328"/>
            <a:ext cx="5120640" cy="4782312"/>
          </a:xfrm>
          <a:prstGeom prst="roundRect">
            <a:avLst>
              <a:gd name="adj" fmla="val 1912"/>
            </a:avLst>
          </a:prstGeom>
          <a:solidFill>
            <a:schemeClr val="accent2">
              <a:alpha val="10000"/>
            </a:schemeClr>
          </a:solidFill>
          <a:ln/>
        </p:spPr>
      </p:sp>
      <p:sp>
        <p:nvSpPr>
          <p:cNvPr id="5" name="Icon circle 1313"/>
          <p:cNvSpPr/>
          <p:nvPr/>
        </p:nvSpPr>
        <p:spPr>
          <a:xfrm>
            <a:off x="731520" y="1664208"/>
            <a:ext cx="475488" cy="475488"/>
          </a:xfrm>
          <a:prstGeom prst="ellipse">
            <a:avLst/>
          </a:prstGeom>
          <a:solidFill>
            <a:schemeClr val="accent2"/>
          </a:solidFill>
          <a:ln/>
        </p:spPr>
      </p:sp>
      <p:pic>
        <p:nvPicPr>
          <p:cNvPr id="6" name="Icon FaDove 1314"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315"/>
          <p:cNvSpPr txBox="1"/>
          <p:nvPr/>
        </p:nvSpPr>
        <p:spPr>
          <a:xfrm>
            <a:off x="1335024" y="1664208"/>
            <a:ext cx="4151376"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Aims (the Covenant)</a:t>
            </a:r>
            <a:endParaRPr lang="en-US" sz="1700" dirty="0"/>
          </a:p>
        </p:txBody>
      </p:sp>
      <p:sp>
        <p:nvSpPr>
          <p:cNvPr id="8" name="Text 1316"/>
          <p:cNvSpPr txBox="1"/>
          <p:nvPr/>
        </p:nvSpPr>
        <p:spPr>
          <a:xfrm>
            <a:off x="731520" y="2249424"/>
            <a:ext cx="4754880" cy="3831336"/>
          </a:xfrm>
          <a:prstGeom prst="rect">
            <a:avLst/>
          </a:prstGeom>
          <a:noFill/>
          <a:ln/>
        </p:spPr>
        <p:txBody>
          <a:bodyPr wrap="square" lIns="0" tIns="0" rIns="0" bIns="0" rtlCol="0" anchor="t"/>
          <a:lstStyle/>
          <a:p>
            <a:pPr algn="l" marL="190500" indent="-190500">
              <a:spcAft>
                <a:spcPts val="500"/>
              </a:spcAft>
              <a:buSzPct val="100000"/>
              <a:buChar char="•"/>
            </a:pPr>
            <a:r>
              <a:rPr lang="en-US" sz="1800" b="1" dirty="0">
                <a:solidFill>
                  <a:schemeClr val="tx1"/>
                </a:solidFill>
              </a:rPr>
              <a:t>Collective security:</a:t>
            </a:r>
            <a:r>
              <a:rPr lang="en-US" sz="1800" dirty="0">
                <a:solidFill>
                  <a:schemeClr val="tx1"/>
                </a:solidFill>
              </a:rPr>
              <a:t> an attack on one member is an attack on all</a:t>
            </a:r>
            <a:endParaRPr lang="en-US" sz="1800" dirty="0"/>
          </a:p>
          <a:p>
            <a:pPr algn="l" marL="190500" indent="-190500">
              <a:spcAft>
                <a:spcPts val="500"/>
              </a:spcAft>
              <a:buSzPct val="100000"/>
              <a:buChar char="•"/>
            </a:pPr>
            <a:r>
              <a:rPr lang="en-US" sz="1800" b="1" dirty="0">
                <a:solidFill>
                  <a:schemeClr val="tx1"/>
                </a:solidFill>
              </a:rPr>
              <a:t>Article 10:</a:t>
            </a:r>
            <a:r>
              <a:rPr lang="en-US" sz="1800" dirty="0">
                <a:solidFill>
                  <a:schemeClr val="tx1"/>
                </a:solidFill>
              </a:rPr>
              <a:t> members respect each other's borders</a:t>
            </a:r>
            <a:endParaRPr lang="en-US" sz="1800" dirty="0"/>
          </a:p>
          <a:p>
            <a:pPr algn="l" marL="190500" indent="-190500">
              <a:spcAft>
                <a:spcPts val="500"/>
              </a:spcAft>
              <a:buSzPct val="100000"/>
              <a:buChar char="•"/>
            </a:pPr>
            <a:r>
              <a:rPr lang="en-US" sz="1800" b="1" dirty="0">
                <a:solidFill>
                  <a:schemeClr val="tx1"/>
                </a:solidFill>
              </a:rPr>
              <a:t>Disarmament</a:t>
            </a:r>
            <a:r>
              <a:rPr lang="en-US" sz="1800" dirty="0">
                <a:solidFill>
                  <a:schemeClr val="tx1"/>
                </a:solidFill>
              </a:rPr>
              <a:t> (Article 8)</a:t>
            </a:r>
            <a:endParaRPr lang="en-US" sz="1800" dirty="0"/>
          </a:p>
          <a:p>
            <a:pPr algn="l" marL="190500" indent="-190500">
              <a:spcAft>
                <a:spcPts val="500"/>
              </a:spcAft>
              <a:buSzPct val="100000"/>
              <a:buChar char="•"/>
            </a:pPr>
            <a:r>
              <a:rPr lang="en-US" sz="1800" b="1" dirty="0">
                <a:solidFill>
                  <a:schemeClr val="tx1"/>
                </a:solidFill>
              </a:rPr>
              <a:t>Better lives:</a:t>
            </a:r>
            <a:r>
              <a:rPr lang="en-US" sz="1800" dirty="0">
                <a:solidFill>
                  <a:schemeClr val="tx1"/>
                </a:solidFill>
              </a:rPr>
              <a:t> health, labour, refugees, mandates</a:t>
            </a:r>
            <a:endParaRPr lang="en-US" sz="1800" dirty="0"/>
          </a:p>
          <a:p>
            <a:pPr algn="l" marL="190500" indent="-190500">
              <a:spcAft>
                <a:spcPts val="500"/>
              </a:spcAft>
              <a:buSzPct val="100000"/>
              <a:buChar char="•"/>
            </a:pPr>
            <a:r>
              <a:rPr lang="en-US" sz="1800" dirty="0">
                <a:solidFill>
                  <a:schemeClr val="tx1"/>
                </a:solidFill>
              </a:rPr>
              <a:t>Founded </a:t>
            </a:r>
            <a:r>
              <a:rPr lang="en-US" sz="1800" b="1" dirty="0">
                <a:solidFill>
                  <a:schemeClr val="tx1"/>
                </a:solidFill>
              </a:rPr>
              <a:t>10 January 1920</a:t>
            </a:r>
            <a:r>
              <a:rPr lang="en-US" sz="1800" dirty="0">
                <a:solidFill>
                  <a:schemeClr val="tx1"/>
                </a:solidFill>
              </a:rPr>
              <a:t>; HQ in </a:t>
            </a:r>
            <a:r>
              <a:rPr lang="en-US" sz="1800" b="1" dirty="0">
                <a:solidFill>
                  <a:schemeClr val="tx1"/>
                </a:solidFill>
              </a:rPr>
              <a:t>Geneva</a:t>
            </a:r>
            <a:r>
              <a:rPr lang="en-US" sz="1800" dirty="0">
                <a:solidFill>
                  <a:schemeClr val="tx1"/>
                </a:solidFill>
              </a:rPr>
              <a:t>; 42 founding members</a:t>
            </a:r>
            <a:endParaRPr lang="en-US" sz="1800" dirty="0"/>
          </a:p>
        </p:txBody>
      </p:sp>
      <p:sp>
        <p:nvSpPr>
          <p:cNvPr id="9" name="Text 1317"/>
          <p:cNvSpPr txBox="1"/>
          <p:nvPr/>
        </p:nvSpPr>
        <p:spPr>
          <a:xfrm>
            <a:off x="5943600" y="1481328"/>
            <a:ext cx="5699455" cy="365760"/>
          </a:xfrm>
          <a:prstGeom prst="rect">
            <a:avLst/>
          </a:prstGeom>
          <a:noFill/>
          <a:ln/>
        </p:spPr>
        <p:txBody>
          <a:bodyPr wrap="square" lIns="0" tIns="0" rIns="0" bIns="0" rtlCol="0" anchor="t"/>
          <a:lstStyle/>
          <a:p>
            <a:pPr algn="l" indent="0" marL="0">
              <a:spcAft>
                <a:spcPts val="600"/>
              </a:spcAft>
              <a:buNone/>
            </a:pPr>
            <a:r>
              <a:rPr lang="en-US" sz="1800" b="1" dirty="0">
                <a:solidFill>
                  <a:schemeClr val="accent2"/>
                </a:solidFill>
              </a:rPr>
              <a:t>How it could act — a ladder of pressure</a:t>
            </a:r>
            <a:endParaRPr lang="en-US" sz="1800" dirty="0"/>
          </a:p>
        </p:txBody>
      </p:sp>
      <p:sp>
        <p:nvSpPr>
          <p:cNvPr id="10" name="Ladder rung 1318"/>
          <p:cNvSpPr/>
          <p:nvPr/>
        </p:nvSpPr>
        <p:spPr>
          <a:xfrm>
            <a:off x="5943600" y="1984248"/>
            <a:ext cx="5699455" cy="966978"/>
          </a:xfrm>
          <a:prstGeom prst="roundRect">
            <a:avLst>
              <a:gd name="adj" fmla="val 7565"/>
            </a:avLst>
          </a:prstGeom>
          <a:solidFill>
            <a:schemeClr val="accent2">
              <a:alpha val="12000"/>
            </a:schemeClr>
          </a:solidFill>
          <a:ln/>
        </p:spPr>
      </p:sp>
      <p:sp>
        <p:nvSpPr>
          <p:cNvPr id="11" name="Text 1319"/>
          <p:cNvSpPr txBox="1"/>
          <p:nvPr/>
        </p:nvSpPr>
        <p:spPr>
          <a:xfrm>
            <a:off x="6126480" y="2057400"/>
            <a:ext cx="5333695" cy="329184"/>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1 · Moral condemnation</a:t>
            </a:r>
            <a:endParaRPr lang="en-US" sz="1600" dirty="0"/>
          </a:p>
        </p:txBody>
      </p:sp>
      <p:sp>
        <p:nvSpPr>
          <p:cNvPr id="12" name="Text 1320"/>
          <p:cNvSpPr txBox="1"/>
          <p:nvPr/>
        </p:nvSpPr>
        <p:spPr>
          <a:xfrm>
            <a:off x="6126480" y="2404872"/>
            <a:ext cx="5333695" cy="50977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Publicly blame the aggressor</a:t>
            </a:r>
            <a:endParaRPr lang="en-US" sz="1500" dirty="0"/>
          </a:p>
        </p:txBody>
      </p:sp>
      <p:sp>
        <p:nvSpPr>
          <p:cNvPr id="13" name="Ladder rung 1321"/>
          <p:cNvSpPr/>
          <p:nvPr/>
        </p:nvSpPr>
        <p:spPr>
          <a:xfrm>
            <a:off x="6263640" y="3088386"/>
            <a:ext cx="5379415" cy="966978"/>
          </a:xfrm>
          <a:prstGeom prst="roundRect">
            <a:avLst>
              <a:gd name="adj" fmla="val 7565"/>
            </a:avLst>
          </a:prstGeom>
          <a:solidFill>
            <a:schemeClr val="accent2">
              <a:alpha val="28000"/>
            </a:schemeClr>
          </a:solidFill>
          <a:ln/>
        </p:spPr>
      </p:sp>
      <p:sp>
        <p:nvSpPr>
          <p:cNvPr id="14" name="Text 1322"/>
          <p:cNvSpPr txBox="1"/>
          <p:nvPr/>
        </p:nvSpPr>
        <p:spPr>
          <a:xfrm>
            <a:off x="6446520" y="3161538"/>
            <a:ext cx="5013655" cy="329184"/>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2 · Arbitration &amp; the Court</a:t>
            </a:r>
            <a:endParaRPr lang="en-US" sz="1600" dirty="0"/>
          </a:p>
        </p:txBody>
      </p:sp>
      <p:sp>
        <p:nvSpPr>
          <p:cNvPr id="15" name="Text 1323"/>
          <p:cNvSpPr txBox="1"/>
          <p:nvPr/>
        </p:nvSpPr>
        <p:spPr>
          <a:xfrm>
            <a:off x="6446520" y="3509010"/>
            <a:ext cx="5013655" cy="50977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Settle disputes by judgement</a:t>
            </a:r>
            <a:endParaRPr lang="en-US" sz="1500" dirty="0"/>
          </a:p>
        </p:txBody>
      </p:sp>
      <p:sp>
        <p:nvSpPr>
          <p:cNvPr id="16" name="Ladder rung 1324"/>
          <p:cNvSpPr/>
          <p:nvPr/>
        </p:nvSpPr>
        <p:spPr>
          <a:xfrm>
            <a:off x="6583680" y="4192524"/>
            <a:ext cx="5059375" cy="966978"/>
          </a:xfrm>
          <a:prstGeom prst="roundRect">
            <a:avLst>
              <a:gd name="adj" fmla="val 7565"/>
            </a:avLst>
          </a:prstGeom>
          <a:solidFill>
            <a:schemeClr val="accent2">
              <a:alpha val="85000"/>
            </a:schemeClr>
          </a:solidFill>
          <a:ln/>
        </p:spPr>
      </p:sp>
      <p:sp>
        <p:nvSpPr>
          <p:cNvPr id="17" name="Text 1325"/>
          <p:cNvSpPr txBox="1"/>
          <p:nvPr/>
        </p:nvSpPr>
        <p:spPr>
          <a:xfrm>
            <a:off x="6766560" y="4265676"/>
            <a:ext cx="4693615" cy="329184"/>
          </a:xfrm>
          <a:prstGeom prst="rect">
            <a:avLst/>
          </a:prstGeom>
          <a:noFill/>
          <a:ln/>
        </p:spPr>
        <p:txBody>
          <a:bodyPr wrap="square" lIns="0" tIns="0" rIns="0" bIns="0" rtlCol="0" anchor="t"/>
          <a:lstStyle/>
          <a:p>
            <a:pPr algn="l" indent="0" marL="0">
              <a:spcAft>
                <a:spcPts val="600"/>
              </a:spcAft>
              <a:buNone/>
            </a:pPr>
            <a:r>
              <a:rPr lang="en-US" sz="1600" b="1" dirty="0">
                <a:solidFill>
                  <a:schemeClr val="bg1"/>
                </a:solidFill>
              </a:rPr>
              <a:t>3 · Economic sanctions</a:t>
            </a:r>
            <a:endParaRPr lang="en-US" sz="1600" dirty="0"/>
          </a:p>
        </p:txBody>
      </p:sp>
      <p:sp>
        <p:nvSpPr>
          <p:cNvPr id="18" name="Text 1326"/>
          <p:cNvSpPr txBox="1"/>
          <p:nvPr/>
        </p:nvSpPr>
        <p:spPr>
          <a:xfrm>
            <a:off x="6766560" y="4613148"/>
            <a:ext cx="4693615" cy="509778"/>
          </a:xfrm>
          <a:prstGeom prst="rect">
            <a:avLst/>
          </a:prstGeom>
          <a:noFill/>
          <a:ln/>
        </p:spPr>
        <p:txBody>
          <a:bodyPr wrap="square" lIns="0" tIns="0" rIns="0" bIns="0" rtlCol="0" anchor="t"/>
          <a:lstStyle/>
          <a:p>
            <a:pPr algn="l" indent="0" marL="0">
              <a:spcAft>
                <a:spcPts val="600"/>
              </a:spcAft>
              <a:buNone/>
            </a:pPr>
            <a:r>
              <a:rPr lang="en-US" sz="1500" dirty="0">
                <a:solidFill>
                  <a:schemeClr val="bg1"/>
                </a:solidFill>
              </a:rPr>
              <a:t>Article 16: stop trade with the aggressor</a:t>
            </a:r>
            <a:endParaRPr lang="en-US" sz="1500" dirty="0"/>
          </a:p>
        </p:txBody>
      </p:sp>
      <p:sp>
        <p:nvSpPr>
          <p:cNvPr id="19" name="Ladder rung 1327"/>
          <p:cNvSpPr/>
          <p:nvPr/>
        </p:nvSpPr>
        <p:spPr>
          <a:xfrm>
            <a:off x="6903720" y="5296662"/>
            <a:ext cx="4739335" cy="966978"/>
          </a:xfrm>
          <a:prstGeom prst="roundRect">
            <a:avLst>
              <a:gd name="adj" fmla="val 7565"/>
            </a:avLst>
          </a:prstGeom>
          <a:solidFill>
            <a:schemeClr val="accent2"/>
          </a:solidFill>
          <a:ln/>
        </p:spPr>
      </p:sp>
      <p:sp>
        <p:nvSpPr>
          <p:cNvPr id="20" name="Text 1328"/>
          <p:cNvSpPr txBox="1"/>
          <p:nvPr/>
        </p:nvSpPr>
        <p:spPr>
          <a:xfrm>
            <a:off x="7086600" y="5369814"/>
            <a:ext cx="4373575" cy="329184"/>
          </a:xfrm>
          <a:prstGeom prst="rect">
            <a:avLst/>
          </a:prstGeom>
          <a:noFill/>
          <a:ln/>
        </p:spPr>
        <p:txBody>
          <a:bodyPr wrap="square" lIns="0" tIns="0" rIns="0" bIns="0" rtlCol="0" anchor="t"/>
          <a:lstStyle/>
          <a:p>
            <a:pPr algn="l" indent="0" marL="0">
              <a:spcAft>
                <a:spcPts val="600"/>
              </a:spcAft>
              <a:buNone/>
            </a:pPr>
            <a:r>
              <a:rPr lang="en-US" sz="1600" b="1" dirty="0">
                <a:solidFill>
                  <a:schemeClr val="bg1"/>
                </a:solidFill>
              </a:rPr>
              <a:t>4 · Military force</a:t>
            </a:r>
            <a:endParaRPr lang="en-US" sz="1600" dirty="0"/>
          </a:p>
        </p:txBody>
      </p:sp>
      <p:sp>
        <p:nvSpPr>
          <p:cNvPr id="21" name="Text 1329"/>
          <p:cNvSpPr txBox="1"/>
          <p:nvPr/>
        </p:nvSpPr>
        <p:spPr>
          <a:xfrm>
            <a:off x="7086600" y="5717286"/>
            <a:ext cx="4373575" cy="509778"/>
          </a:xfrm>
          <a:prstGeom prst="rect">
            <a:avLst/>
          </a:prstGeom>
          <a:noFill/>
          <a:ln/>
        </p:spPr>
        <p:txBody>
          <a:bodyPr wrap="square" lIns="0" tIns="0" rIns="0" bIns="0" rtlCol="0" anchor="t"/>
          <a:lstStyle/>
          <a:p>
            <a:pPr algn="l" indent="0" marL="0">
              <a:spcAft>
                <a:spcPts val="600"/>
              </a:spcAft>
              <a:buNone/>
            </a:pPr>
            <a:r>
              <a:rPr lang="en-US" sz="1500" dirty="0">
                <a:solidFill>
                  <a:schemeClr val="bg1"/>
                </a:solidFill>
              </a:rPr>
              <a:t>Only if members supplied troops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Kicker 1330"/>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KQ2 · THE LEAGUE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How the League was organised</a:t>
            </a:r>
            <a:endParaRPr lang="en-US" sz="3400" dirty="0"/>
          </a:p>
        </p:txBody>
      </p:sp>
      <p:sp>
        <p:nvSpPr>
          <p:cNvPr id="4" name="Card 1331"/>
          <p:cNvSpPr/>
          <p:nvPr/>
        </p:nvSpPr>
        <p:spPr>
          <a:xfrm>
            <a:off x="548640" y="1481328"/>
            <a:ext cx="3515258" cy="2253996"/>
          </a:xfrm>
          <a:prstGeom prst="roundRect">
            <a:avLst>
              <a:gd name="adj" fmla="val 4057"/>
            </a:avLst>
          </a:prstGeom>
          <a:solidFill>
            <a:schemeClr val="accent2">
              <a:alpha val="10000"/>
            </a:schemeClr>
          </a:solidFill>
          <a:ln/>
        </p:spPr>
      </p:sp>
      <p:sp>
        <p:nvSpPr>
          <p:cNvPr id="5" name="Icon circle 1332"/>
          <p:cNvSpPr/>
          <p:nvPr/>
        </p:nvSpPr>
        <p:spPr>
          <a:xfrm>
            <a:off x="731520" y="1664208"/>
            <a:ext cx="475488" cy="475488"/>
          </a:xfrm>
          <a:prstGeom prst="ellipse">
            <a:avLst/>
          </a:prstGeom>
          <a:solidFill>
            <a:schemeClr val="accent2"/>
          </a:solidFill>
          <a:ln/>
        </p:spPr>
      </p:sp>
      <p:pic>
        <p:nvPicPr>
          <p:cNvPr id="6" name="Icon FaUsers 1333"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334"/>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Assembly</a:t>
            </a:r>
            <a:endParaRPr lang="en-US" sz="1600" dirty="0"/>
          </a:p>
        </p:txBody>
      </p:sp>
      <p:sp>
        <p:nvSpPr>
          <p:cNvPr id="8" name="Text 1335"/>
          <p:cNvSpPr txBox="1"/>
          <p:nvPr/>
        </p:nvSpPr>
        <p:spPr>
          <a:xfrm>
            <a:off x="731520"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Every member, one vote; met once a year. Decisions had to be unanimous.</a:t>
            </a:r>
            <a:endParaRPr lang="en-US" sz="2000" dirty="0"/>
          </a:p>
        </p:txBody>
      </p:sp>
      <p:sp>
        <p:nvSpPr>
          <p:cNvPr id="9" name="Card 1336"/>
          <p:cNvSpPr/>
          <p:nvPr/>
        </p:nvSpPr>
        <p:spPr>
          <a:xfrm>
            <a:off x="4338218" y="1481328"/>
            <a:ext cx="3515258" cy="2253996"/>
          </a:xfrm>
          <a:prstGeom prst="roundRect">
            <a:avLst>
              <a:gd name="adj" fmla="val 4057"/>
            </a:avLst>
          </a:prstGeom>
          <a:solidFill>
            <a:schemeClr val="accent2">
              <a:alpha val="10000"/>
            </a:schemeClr>
          </a:solidFill>
          <a:ln/>
        </p:spPr>
      </p:sp>
      <p:sp>
        <p:nvSpPr>
          <p:cNvPr id="10" name="Icon circle 1337"/>
          <p:cNvSpPr/>
          <p:nvPr/>
        </p:nvSpPr>
        <p:spPr>
          <a:xfrm>
            <a:off x="4521098" y="1664208"/>
            <a:ext cx="475488" cy="475488"/>
          </a:xfrm>
          <a:prstGeom prst="ellipse">
            <a:avLst/>
          </a:prstGeom>
          <a:solidFill>
            <a:schemeClr val="accent2"/>
          </a:solidFill>
          <a:ln/>
        </p:spPr>
      </p:sp>
      <p:pic>
        <p:nvPicPr>
          <p:cNvPr id="11" name="Icon FaLandmark 1338"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1339"/>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Council</a:t>
            </a:r>
            <a:endParaRPr lang="en-US" sz="1600" dirty="0"/>
          </a:p>
        </p:txBody>
      </p:sp>
      <p:sp>
        <p:nvSpPr>
          <p:cNvPr id="13" name="Text 1340"/>
          <p:cNvSpPr txBox="1"/>
          <p:nvPr/>
        </p:nvSpPr>
        <p:spPr>
          <a:xfrm>
            <a:off x="4521098"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Permanent: Britain, France, Italy, Japan (Germany 1926). Met several times a year; could order sanctions.</a:t>
            </a:r>
            <a:endParaRPr lang="en-US" sz="2000" dirty="0"/>
          </a:p>
        </p:txBody>
      </p:sp>
      <p:sp>
        <p:nvSpPr>
          <p:cNvPr id="14" name="Card 1341"/>
          <p:cNvSpPr/>
          <p:nvPr/>
        </p:nvSpPr>
        <p:spPr>
          <a:xfrm>
            <a:off x="8127797" y="1481328"/>
            <a:ext cx="3515258" cy="2253996"/>
          </a:xfrm>
          <a:prstGeom prst="roundRect">
            <a:avLst>
              <a:gd name="adj" fmla="val 4057"/>
            </a:avLst>
          </a:prstGeom>
          <a:solidFill>
            <a:schemeClr val="accent2">
              <a:alpha val="10000"/>
            </a:schemeClr>
          </a:solidFill>
          <a:ln/>
        </p:spPr>
      </p:sp>
      <p:sp>
        <p:nvSpPr>
          <p:cNvPr id="15" name="Icon circle 1342"/>
          <p:cNvSpPr/>
          <p:nvPr/>
        </p:nvSpPr>
        <p:spPr>
          <a:xfrm>
            <a:off x="8310677" y="1664208"/>
            <a:ext cx="475488" cy="475488"/>
          </a:xfrm>
          <a:prstGeom prst="ellipse">
            <a:avLst/>
          </a:prstGeom>
          <a:solidFill>
            <a:schemeClr val="accent2"/>
          </a:solidFill>
          <a:ln/>
        </p:spPr>
      </p:sp>
      <p:pic>
        <p:nvPicPr>
          <p:cNvPr id="16" name="Icon FaUserTie 1343"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1344"/>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Secretariat</a:t>
            </a:r>
            <a:endParaRPr lang="en-US" sz="1600" dirty="0"/>
          </a:p>
        </p:txBody>
      </p:sp>
      <p:sp>
        <p:nvSpPr>
          <p:cNvPr id="18" name="Text 1345"/>
          <p:cNvSpPr txBox="1"/>
          <p:nvPr/>
        </p:nvSpPr>
        <p:spPr>
          <a:xfrm>
            <a:off x="8310677"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The League's civil service — small and short of money.</a:t>
            </a:r>
            <a:endParaRPr lang="en-US" sz="2000" dirty="0"/>
          </a:p>
        </p:txBody>
      </p:sp>
      <p:sp>
        <p:nvSpPr>
          <p:cNvPr id="19" name="Card 1346"/>
          <p:cNvSpPr/>
          <p:nvPr/>
        </p:nvSpPr>
        <p:spPr>
          <a:xfrm>
            <a:off x="548640" y="4009644"/>
            <a:ext cx="3515258" cy="2253996"/>
          </a:xfrm>
          <a:prstGeom prst="roundRect">
            <a:avLst>
              <a:gd name="adj" fmla="val 4057"/>
            </a:avLst>
          </a:prstGeom>
          <a:solidFill>
            <a:schemeClr val="accent2">
              <a:alpha val="10000"/>
            </a:schemeClr>
          </a:solidFill>
          <a:ln/>
        </p:spPr>
      </p:sp>
      <p:sp>
        <p:nvSpPr>
          <p:cNvPr id="20" name="Icon circle 1347"/>
          <p:cNvSpPr/>
          <p:nvPr/>
        </p:nvSpPr>
        <p:spPr>
          <a:xfrm>
            <a:off x="731520" y="4192524"/>
            <a:ext cx="475488" cy="475488"/>
          </a:xfrm>
          <a:prstGeom prst="ellipse">
            <a:avLst/>
          </a:prstGeom>
          <a:solidFill>
            <a:schemeClr val="accent2"/>
          </a:solidFill>
          <a:ln/>
        </p:spPr>
      </p:sp>
      <p:pic>
        <p:nvPicPr>
          <p:cNvPr id="21" name="Icon FaGavel 1348"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2" name="Card title 1349"/>
          <p:cNvSpPr txBox="1"/>
          <p:nvPr/>
        </p:nvSpPr>
        <p:spPr>
          <a:xfrm>
            <a:off x="1335024"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Permanent Court</a:t>
            </a:r>
            <a:endParaRPr lang="en-US" sz="1600" dirty="0"/>
          </a:p>
        </p:txBody>
      </p:sp>
      <p:sp>
        <p:nvSpPr>
          <p:cNvPr id="23" name="Text 1350"/>
          <p:cNvSpPr txBox="1"/>
          <p:nvPr/>
        </p:nvSpPr>
        <p:spPr>
          <a:xfrm>
            <a:off x="731520"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At The Hague from 1922. Ruled on disputes only if both sides agreed; no way to enforce.</a:t>
            </a:r>
            <a:endParaRPr lang="en-US" sz="2000" dirty="0"/>
          </a:p>
        </p:txBody>
      </p:sp>
      <p:sp>
        <p:nvSpPr>
          <p:cNvPr id="24" name="Card 1351"/>
          <p:cNvSpPr/>
          <p:nvPr/>
        </p:nvSpPr>
        <p:spPr>
          <a:xfrm>
            <a:off x="4338218" y="4009644"/>
            <a:ext cx="3515258" cy="2253996"/>
          </a:xfrm>
          <a:prstGeom prst="roundRect">
            <a:avLst>
              <a:gd name="adj" fmla="val 4057"/>
            </a:avLst>
          </a:prstGeom>
          <a:solidFill>
            <a:schemeClr val="accent2">
              <a:alpha val="10000"/>
            </a:schemeClr>
          </a:solidFill>
          <a:ln/>
        </p:spPr>
      </p:sp>
      <p:sp>
        <p:nvSpPr>
          <p:cNvPr id="25" name="Icon circle 1352"/>
          <p:cNvSpPr/>
          <p:nvPr/>
        </p:nvSpPr>
        <p:spPr>
          <a:xfrm>
            <a:off x="4521098" y="4192524"/>
            <a:ext cx="475488" cy="475488"/>
          </a:xfrm>
          <a:prstGeom prst="ellipse">
            <a:avLst/>
          </a:prstGeom>
          <a:solidFill>
            <a:schemeClr val="accent2"/>
          </a:solidFill>
          <a:ln/>
        </p:spPr>
      </p:sp>
      <p:pic>
        <p:nvPicPr>
          <p:cNvPr id="26" name="Icon FaHardHat 1353"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27" name="Card title 1354"/>
          <p:cNvSpPr txBox="1"/>
          <p:nvPr/>
        </p:nvSpPr>
        <p:spPr>
          <a:xfrm>
            <a:off x="5124602"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ILO</a:t>
            </a:r>
            <a:endParaRPr lang="en-US" sz="1600" dirty="0"/>
          </a:p>
        </p:txBody>
      </p:sp>
      <p:sp>
        <p:nvSpPr>
          <p:cNvPr id="28" name="Text 1355"/>
          <p:cNvSpPr txBox="1"/>
          <p:nvPr/>
        </p:nvSpPr>
        <p:spPr>
          <a:xfrm>
            <a:off x="4521098"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International Labour Organisation, led by Albert Thomas: working conditions.</a:t>
            </a:r>
            <a:endParaRPr lang="en-US" sz="2000" dirty="0"/>
          </a:p>
        </p:txBody>
      </p:sp>
      <p:sp>
        <p:nvSpPr>
          <p:cNvPr id="29" name="Card 1356"/>
          <p:cNvSpPr/>
          <p:nvPr/>
        </p:nvSpPr>
        <p:spPr>
          <a:xfrm>
            <a:off x="8127797" y="4009644"/>
            <a:ext cx="3515258" cy="2253996"/>
          </a:xfrm>
          <a:prstGeom prst="roundRect">
            <a:avLst>
              <a:gd name="adj" fmla="val 4057"/>
            </a:avLst>
          </a:prstGeom>
          <a:solidFill>
            <a:schemeClr val="accent2">
              <a:alpha val="10000"/>
            </a:schemeClr>
          </a:solidFill>
          <a:ln/>
        </p:spPr>
      </p:sp>
      <p:sp>
        <p:nvSpPr>
          <p:cNvPr id="30" name="Icon circle 1357"/>
          <p:cNvSpPr/>
          <p:nvPr/>
        </p:nvSpPr>
        <p:spPr>
          <a:xfrm>
            <a:off x="8310677" y="4192524"/>
            <a:ext cx="475488" cy="475488"/>
          </a:xfrm>
          <a:prstGeom prst="ellipse">
            <a:avLst/>
          </a:prstGeom>
          <a:solidFill>
            <a:schemeClr val="accent2"/>
          </a:solidFill>
          <a:ln/>
        </p:spPr>
      </p:sp>
      <p:pic>
        <p:nvPicPr>
          <p:cNvPr id="31" name="Icon FaHeartbeat 1358"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2" name="Card title 1359"/>
          <p:cNvSpPr txBox="1"/>
          <p:nvPr/>
        </p:nvSpPr>
        <p:spPr>
          <a:xfrm>
            <a:off x="8914181"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Commissions</a:t>
            </a:r>
            <a:endParaRPr lang="en-US" sz="1600" dirty="0"/>
          </a:p>
        </p:txBody>
      </p:sp>
      <p:sp>
        <p:nvSpPr>
          <p:cNvPr id="33" name="Text 1360"/>
          <p:cNvSpPr txBox="1"/>
          <p:nvPr/>
        </p:nvSpPr>
        <p:spPr>
          <a:xfrm>
            <a:off x="8310677"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Mandates, Refugees, Health, Slavery, Disarmament, Minorities.</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Kicker 136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KQ2 · THE LEAGUE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was the League weak? Remember WEAK</a:t>
            </a:r>
            <a:endParaRPr lang="en-US" sz="3400" dirty="0"/>
          </a:p>
        </p:txBody>
      </p:sp>
      <p:sp>
        <p:nvSpPr>
          <p:cNvPr id="4" name="Mnemonic row 1362"/>
          <p:cNvSpPr/>
          <p:nvPr/>
        </p:nvSpPr>
        <p:spPr>
          <a:xfrm>
            <a:off x="548640" y="1481328"/>
            <a:ext cx="11094415" cy="852678"/>
          </a:xfrm>
          <a:prstGeom prst="roundRect">
            <a:avLst>
              <a:gd name="adj" fmla="val 8579"/>
            </a:avLst>
          </a:prstGeom>
          <a:solidFill>
            <a:schemeClr val="accent2">
              <a:alpha val="8000"/>
            </a:schemeClr>
          </a:solidFill>
          <a:ln/>
        </p:spPr>
      </p:sp>
      <p:sp>
        <p:nvSpPr>
          <p:cNvPr id="5" name="Letter circle 1363"/>
          <p:cNvSpPr/>
          <p:nvPr/>
        </p:nvSpPr>
        <p:spPr>
          <a:xfrm>
            <a:off x="676656" y="1578483"/>
            <a:ext cx="658368" cy="658368"/>
          </a:xfrm>
          <a:prstGeom prst="ellipse">
            <a:avLst/>
          </a:prstGeom>
          <a:solidFill>
            <a:schemeClr val="accent4"/>
          </a:solidFill>
          <a:ln/>
        </p:spPr>
      </p:sp>
      <p:sp>
        <p:nvSpPr>
          <p:cNvPr id="6" name="Text 1364"/>
          <p:cNvSpPr txBox="1"/>
          <p:nvPr/>
        </p:nvSpPr>
        <p:spPr>
          <a:xfrm>
            <a:off x="676656" y="1578483"/>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W</a:t>
            </a:r>
            <a:endParaRPr lang="en-US" sz="2800" dirty="0"/>
          </a:p>
        </p:txBody>
      </p:sp>
      <p:sp>
        <p:nvSpPr>
          <p:cNvPr id="7" name="Text 1365"/>
          <p:cNvSpPr txBox="1"/>
          <p:nvPr/>
        </p:nvSpPr>
        <p:spPr>
          <a:xfrm>
            <a:off x="1536192" y="1481328"/>
            <a:ext cx="292608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2"/>
                </a:solidFill>
              </a:rPr>
              <a:t>Without key powers</a:t>
            </a:r>
            <a:endParaRPr lang="en-US" sz="1800" dirty="0"/>
          </a:p>
        </p:txBody>
      </p:sp>
      <p:sp>
        <p:nvSpPr>
          <p:cNvPr id="8" name="Text 1366"/>
          <p:cNvSpPr txBox="1"/>
          <p:nvPr/>
        </p:nvSpPr>
        <p:spPr>
          <a:xfrm>
            <a:off x="4553712" y="1517904"/>
            <a:ext cx="690646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The USA never joined; Germany was out until 1926 and the USSR until 1934</a:t>
            </a:r>
            <a:endParaRPr lang="en-US" sz="1500" dirty="0"/>
          </a:p>
        </p:txBody>
      </p:sp>
      <p:sp>
        <p:nvSpPr>
          <p:cNvPr id="9" name="Mnemonic row 1367"/>
          <p:cNvSpPr/>
          <p:nvPr/>
        </p:nvSpPr>
        <p:spPr>
          <a:xfrm>
            <a:off x="548640" y="2462022"/>
            <a:ext cx="11094415" cy="852678"/>
          </a:xfrm>
          <a:prstGeom prst="roundRect">
            <a:avLst>
              <a:gd name="adj" fmla="val 8579"/>
            </a:avLst>
          </a:prstGeom>
          <a:solidFill>
            <a:schemeClr val="accent2">
              <a:alpha val="8000"/>
            </a:schemeClr>
          </a:solidFill>
          <a:ln/>
        </p:spPr>
      </p:sp>
      <p:sp>
        <p:nvSpPr>
          <p:cNvPr id="10" name="Letter circle 1368"/>
          <p:cNvSpPr/>
          <p:nvPr/>
        </p:nvSpPr>
        <p:spPr>
          <a:xfrm>
            <a:off x="676656" y="2559177"/>
            <a:ext cx="658368" cy="658368"/>
          </a:xfrm>
          <a:prstGeom prst="ellipse">
            <a:avLst/>
          </a:prstGeom>
          <a:solidFill>
            <a:schemeClr val="accent4"/>
          </a:solidFill>
          <a:ln/>
        </p:spPr>
      </p:sp>
      <p:sp>
        <p:nvSpPr>
          <p:cNvPr id="11" name="Text 1369"/>
          <p:cNvSpPr txBox="1"/>
          <p:nvPr/>
        </p:nvSpPr>
        <p:spPr>
          <a:xfrm>
            <a:off x="676656" y="2559177"/>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E</a:t>
            </a:r>
            <a:endParaRPr lang="en-US" sz="2800" dirty="0"/>
          </a:p>
        </p:txBody>
      </p:sp>
      <p:sp>
        <p:nvSpPr>
          <p:cNvPr id="12" name="Text 1370"/>
          <p:cNvSpPr txBox="1"/>
          <p:nvPr/>
        </p:nvSpPr>
        <p:spPr>
          <a:xfrm>
            <a:off x="1536192" y="2462022"/>
            <a:ext cx="292608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2"/>
                </a:solidFill>
              </a:rPr>
              <a:t>Economic sanctions only</a:t>
            </a:r>
            <a:endParaRPr lang="en-US" sz="1800" dirty="0"/>
          </a:p>
        </p:txBody>
      </p:sp>
      <p:sp>
        <p:nvSpPr>
          <p:cNvPr id="13" name="Text 1371"/>
          <p:cNvSpPr txBox="1"/>
          <p:nvPr/>
        </p:nvSpPr>
        <p:spPr>
          <a:xfrm>
            <a:off x="4553712" y="2498598"/>
            <a:ext cx="690646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Its main weapon — and hard to enforce while the USA kept trading</a:t>
            </a:r>
            <a:endParaRPr lang="en-US" sz="1500" dirty="0"/>
          </a:p>
        </p:txBody>
      </p:sp>
      <p:sp>
        <p:nvSpPr>
          <p:cNvPr id="14" name="Mnemonic row 1372"/>
          <p:cNvSpPr/>
          <p:nvPr/>
        </p:nvSpPr>
        <p:spPr>
          <a:xfrm>
            <a:off x="548640" y="3442716"/>
            <a:ext cx="11094415" cy="852678"/>
          </a:xfrm>
          <a:prstGeom prst="roundRect">
            <a:avLst>
              <a:gd name="adj" fmla="val 8579"/>
            </a:avLst>
          </a:prstGeom>
          <a:solidFill>
            <a:schemeClr val="accent2">
              <a:alpha val="8000"/>
            </a:schemeClr>
          </a:solidFill>
          <a:ln/>
        </p:spPr>
      </p:sp>
      <p:sp>
        <p:nvSpPr>
          <p:cNvPr id="15" name="Letter circle 1373"/>
          <p:cNvSpPr/>
          <p:nvPr/>
        </p:nvSpPr>
        <p:spPr>
          <a:xfrm>
            <a:off x="676656" y="3539871"/>
            <a:ext cx="658368" cy="658368"/>
          </a:xfrm>
          <a:prstGeom prst="ellipse">
            <a:avLst/>
          </a:prstGeom>
          <a:solidFill>
            <a:schemeClr val="accent4"/>
          </a:solidFill>
          <a:ln/>
        </p:spPr>
      </p:sp>
      <p:sp>
        <p:nvSpPr>
          <p:cNvPr id="16" name="Text 1374"/>
          <p:cNvSpPr txBox="1"/>
          <p:nvPr/>
        </p:nvSpPr>
        <p:spPr>
          <a:xfrm>
            <a:off x="676656" y="3539871"/>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A</a:t>
            </a:r>
            <a:endParaRPr lang="en-US" sz="2800" dirty="0"/>
          </a:p>
        </p:txBody>
      </p:sp>
      <p:sp>
        <p:nvSpPr>
          <p:cNvPr id="17" name="Text 1375"/>
          <p:cNvSpPr txBox="1"/>
          <p:nvPr/>
        </p:nvSpPr>
        <p:spPr>
          <a:xfrm>
            <a:off x="1536192" y="3442716"/>
            <a:ext cx="292608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2"/>
                </a:solidFill>
              </a:rPr>
              <a:t>Army: none</a:t>
            </a:r>
            <a:endParaRPr lang="en-US" sz="1800" dirty="0"/>
          </a:p>
        </p:txBody>
      </p:sp>
      <p:sp>
        <p:nvSpPr>
          <p:cNvPr id="18" name="Text 1376"/>
          <p:cNvSpPr txBox="1"/>
          <p:nvPr/>
        </p:nvSpPr>
        <p:spPr>
          <a:xfrm>
            <a:off x="4553712" y="3479292"/>
            <a:ext cx="690646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It had no forces of its own and relied on members to send troops</a:t>
            </a:r>
            <a:endParaRPr lang="en-US" sz="1500" dirty="0"/>
          </a:p>
        </p:txBody>
      </p:sp>
      <p:sp>
        <p:nvSpPr>
          <p:cNvPr id="19" name="Mnemonic row 1377"/>
          <p:cNvSpPr/>
          <p:nvPr/>
        </p:nvSpPr>
        <p:spPr>
          <a:xfrm>
            <a:off x="548640" y="4423410"/>
            <a:ext cx="11094415" cy="852678"/>
          </a:xfrm>
          <a:prstGeom prst="roundRect">
            <a:avLst>
              <a:gd name="adj" fmla="val 8579"/>
            </a:avLst>
          </a:prstGeom>
          <a:solidFill>
            <a:schemeClr val="accent2">
              <a:alpha val="8000"/>
            </a:schemeClr>
          </a:solidFill>
          <a:ln/>
        </p:spPr>
      </p:sp>
      <p:sp>
        <p:nvSpPr>
          <p:cNvPr id="20" name="Letter circle 1378"/>
          <p:cNvSpPr/>
          <p:nvPr/>
        </p:nvSpPr>
        <p:spPr>
          <a:xfrm>
            <a:off x="676656" y="4520565"/>
            <a:ext cx="658368" cy="658368"/>
          </a:xfrm>
          <a:prstGeom prst="ellipse">
            <a:avLst/>
          </a:prstGeom>
          <a:solidFill>
            <a:schemeClr val="accent4"/>
          </a:solidFill>
          <a:ln/>
        </p:spPr>
      </p:sp>
      <p:sp>
        <p:nvSpPr>
          <p:cNvPr id="21" name="Text 1379"/>
          <p:cNvSpPr txBox="1"/>
          <p:nvPr/>
        </p:nvSpPr>
        <p:spPr>
          <a:xfrm>
            <a:off x="676656" y="4520565"/>
            <a:ext cx="658368" cy="658368"/>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K</a:t>
            </a:r>
            <a:endParaRPr lang="en-US" sz="2800" dirty="0"/>
          </a:p>
        </p:txBody>
      </p:sp>
      <p:sp>
        <p:nvSpPr>
          <p:cNvPr id="22" name="Text 1380"/>
          <p:cNvSpPr txBox="1"/>
          <p:nvPr/>
        </p:nvSpPr>
        <p:spPr>
          <a:xfrm>
            <a:off x="1536192" y="4423410"/>
            <a:ext cx="2926080" cy="852678"/>
          </a:xfrm>
          <a:prstGeom prst="rect">
            <a:avLst/>
          </a:prstGeom>
          <a:noFill/>
          <a:ln/>
        </p:spPr>
        <p:txBody>
          <a:bodyPr wrap="square" lIns="0" tIns="0" rIns="0" bIns="0" rtlCol="0" anchor="ctr"/>
          <a:lstStyle/>
          <a:p>
            <a:pPr algn="l" indent="0" marL="0">
              <a:spcAft>
                <a:spcPts val="600"/>
              </a:spcAft>
              <a:buNone/>
            </a:pPr>
            <a:r>
              <a:rPr lang="en-US" sz="1800" b="1" dirty="0">
                <a:solidFill>
                  <a:schemeClr val="accent2"/>
                </a:solidFill>
              </a:rPr>
              <a:t>Key decisions unanimous</a:t>
            </a:r>
            <a:endParaRPr lang="en-US" sz="1800" dirty="0"/>
          </a:p>
        </p:txBody>
      </p:sp>
      <p:sp>
        <p:nvSpPr>
          <p:cNvPr id="23" name="Text 1381"/>
          <p:cNvSpPr txBox="1"/>
          <p:nvPr/>
        </p:nvSpPr>
        <p:spPr>
          <a:xfrm>
            <a:off x="4553712" y="4459986"/>
            <a:ext cx="6906463" cy="779526"/>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Every member had to agree, so action was slow and easily blocked</a:t>
            </a:r>
            <a:endParaRPr lang="en-US" sz="1500" dirty="0"/>
          </a:p>
        </p:txBody>
      </p:sp>
      <p:sp>
        <p:nvSpPr>
          <p:cNvPr id="24" name="Callout 1382"/>
          <p:cNvSpPr/>
          <p:nvPr/>
        </p:nvSpPr>
        <p:spPr>
          <a:xfrm>
            <a:off x="548640" y="5550408"/>
            <a:ext cx="11094415" cy="713232"/>
          </a:xfrm>
          <a:prstGeom prst="roundRect">
            <a:avLst>
              <a:gd name="adj" fmla="val 12821"/>
            </a:avLst>
          </a:prstGeom>
          <a:solidFill>
            <a:schemeClr val="accent4">
              <a:alpha val="20000"/>
            </a:schemeClr>
          </a:solidFill>
          <a:ln/>
        </p:spPr>
      </p:sp>
      <p:sp>
        <p:nvSpPr>
          <p:cNvPr id="25" name="Callout label 1383"/>
          <p:cNvSpPr/>
          <p:nvPr/>
        </p:nvSpPr>
        <p:spPr>
          <a:xfrm>
            <a:off x="731520" y="5751576"/>
            <a:ext cx="635290" cy="310896"/>
          </a:xfrm>
          <a:prstGeom prst="roundRect">
            <a:avLst>
              <a:gd name="adj" fmla="val 50000"/>
            </a:avLst>
          </a:prstGeom>
          <a:solidFill>
            <a:schemeClr val="accent4"/>
          </a:solidFill>
          <a:ln/>
        </p:spPr>
      </p:sp>
      <p:sp>
        <p:nvSpPr>
          <p:cNvPr id="26" name="Text 1384"/>
          <p:cNvSpPr txBox="1"/>
          <p:nvPr/>
        </p:nvSpPr>
        <p:spPr>
          <a:xfrm>
            <a:off x="731520" y="5751576"/>
            <a:ext cx="635290"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PLUS</a:t>
            </a:r>
            <a:endParaRPr lang="en-US" sz="1200" dirty="0"/>
          </a:p>
        </p:txBody>
      </p:sp>
      <p:sp>
        <p:nvSpPr>
          <p:cNvPr id="27" name="Text 1385"/>
          <p:cNvSpPr txBox="1"/>
          <p:nvPr/>
        </p:nvSpPr>
        <p:spPr>
          <a:xfrm>
            <a:off x="1549690" y="5623560"/>
            <a:ext cx="9910486"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Britain and France put their own interests first, and the League was tied to the hated peace treaties.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Kicker 138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KQ2 · PEACEKEEPING</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League's 1920s scorecard</a:t>
            </a:r>
            <a:endParaRPr lang="en-US" sz="3400" dirty="0"/>
          </a:p>
        </p:txBody>
      </p:sp>
      <p:graphicFrame>
        <p:nvGraphicFramePr>
          <p:cNvPr id="61" name="Table 1387"/>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783080"/>
                <a:gridCol w="1005840"/>
                <a:gridCol w="2057400"/>
                <a:gridCol w="5059375"/>
                <a:gridCol w="1188720"/>
              </a:tblGrid>
              <a:tr h="384048">
                <a:tc>
                  <a:txBody>
                    <a:bodyPr/>
                    <a:lstStyle/>
                    <a:p>
                      <a:pPr indent="0" marL="0">
                        <a:buNone/>
                      </a:pPr>
                      <a:r>
                        <a:rPr lang="en-US" sz="1400" b="1" dirty="0">
                          <a:solidFill>
                            <a:schemeClr val="bg1"/>
                          </a:solidFill>
                        </a:rPr>
                        <a:t>Dispute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Year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Who</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What happened</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Verdict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r>
              <a:tr h="627802">
                <a:tc>
                  <a:txBody>
                    <a:bodyPr/>
                    <a:lstStyle/>
                    <a:p>
                      <a:pPr algn="l" indent="0" marL="0">
                        <a:buNone/>
                      </a:pPr>
                      <a:r>
                        <a:rPr lang="en-US" sz="1400" b="1" dirty="0">
                          <a:solidFill>
                            <a:schemeClr val="tx1"/>
                          </a:solidFill>
                        </a:rPr>
                        <a:t>Åland Islands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1920–21</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Sweden v Finland</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Islands given to Finland, demilitarised, Swedish culture protected; Sweden accepted</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rPr>
                        <a:t>Success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r>
              <a:tr h="627802">
                <a:tc>
                  <a:txBody>
                    <a:bodyPr/>
                    <a:lstStyle/>
                    <a:p>
                      <a:pPr algn="l" indent="0" marL="0">
                        <a:buNone/>
                      </a:pPr>
                      <a:r>
                        <a:rPr lang="en-US" sz="1400" b="1" dirty="0">
                          <a:solidFill>
                            <a:schemeClr val="tx1"/>
                          </a:solidFill>
                        </a:rPr>
                        <a:t>Upper Silesia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1921</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Germany v Poland</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After a vote, split: Germany got most land, Poland most industry; both accepted</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rPr>
                        <a:t>Success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r>
              <a:tr h="449753">
                <a:tc>
                  <a:txBody>
                    <a:bodyPr/>
                    <a:lstStyle/>
                    <a:p>
                      <a:pPr algn="l" indent="0" marL="0">
                        <a:buNone/>
                      </a:pPr>
                      <a:r>
                        <a:rPr lang="en-US" sz="1400" b="1" dirty="0">
                          <a:solidFill>
                            <a:schemeClr val="tx1"/>
                          </a:solidFill>
                        </a:rPr>
                        <a:t>Vilna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1920–23</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Poland v Lithuania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Polish troops seized the city; the League did nothing; Poland kept it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rPr>
                        <a:t>Failure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r>
              <a:tr h="627802">
                <a:tc>
                  <a:txBody>
                    <a:bodyPr/>
                    <a:lstStyle/>
                    <a:p>
                      <a:pPr algn="l" indent="0" marL="0">
                        <a:buNone/>
                      </a:pPr>
                      <a:r>
                        <a:rPr lang="en-US" sz="1400" b="1" dirty="0">
                          <a:solidFill>
                            <a:schemeClr val="tx1"/>
                          </a:solidFill>
                        </a:rPr>
                        <a:t>Corfu</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1923</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Italy v Greece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Mussolini bombarded and occupied Corfu; Greece made to pay 50m lire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rPr>
                        <a:t>Failure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1"/>
                    </a:solidFill>
                  </a:tcPr>
                </a:tc>
              </a:tr>
              <a:tr h="449753">
                <a:tc>
                  <a:txBody>
                    <a:bodyPr/>
                    <a:lstStyle/>
                    <a:p>
                      <a:pPr algn="l" indent="0" marL="0">
                        <a:buNone/>
                      </a:pPr>
                      <a:r>
                        <a:rPr lang="en-US" sz="1400" b="1" dirty="0">
                          <a:solidFill>
                            <a:schemeClr val="tx1"/>
                          </a:solidFill>
                        </a:rPr>
                        <a:t>Mosul</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1924–26</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Britain (Iraq) v Turkey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League gave Mosul to British-run Iraq; Turkey accepted</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rPr>
                        <a:t>Success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r>
              <a:tr h="627802">
                <a:tc>
                  <a:txBody>
                    <a:bodyPr/>
                    <a:lstStyle/>
                    <a:p>
                      <a:pPr algn="l" indent="0" marL="0">
                        <a:buNone/>
                      </a:pPr>
                      <a:r>
                        <a:rPr lang="en-US" sz="1400" b="1" dirty="0">
                          <a:solidFill>
                            <a:schemeClr val="tx1"/>
                          </a:solidFill>
                        </a:rPr>
                        <a:t>Greece–Bulgaria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1925</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Greece v Bulgaria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League ordered Greece out of Bulgaria and to pay £45,000; Greece obeyed</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rPr>
                        <a:t>Success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r>
            </a:tbl>
          </a:graphicData>
        </a:graphic>
      </p:graphicFrame>
      <p:sp>
        <p:nvSpPr>
          <p:cNvPr id="5" name="Callout 1388"/>
          <p:cNvSpPr/>
          <p:nvPr/>
        </p:nvSpPr>
        <p:spPr>
          <a:xfrm>
            <a:off x="548640" y="5550408"/>
            <a:ext cx="11094415" cy="713232"/>
          </a:xfrm>
          <a:prstGeom prst="roundRect">
            <a:avLst>
              <a:gd name="adj" fmla="val 12821"/>
            </a:avLst>
          </a:prstGeom>
          <a:solidFill>
            <a:schemeClr val="accent4">
              <a:alpha val="20000"/>
            </a:schemeClr>
          </a:solidFill>
          <a:ln/>
        </p:spPr>
      </p:sp>
      <p:sp>
        <p:nvSpPr>
          <p:cNvPr id="6" name="Callout label 1389"/>
          <p:cNvSpPr/>
          <p:nvPr/>
        </p:nvSpPr>
        <p:spPr>
          <a:xfrm>
            <a:off x="731520" y="5751576"/>
            <a:ext cx="936024" cy="310896"/>
          </a:xfrm>
          <a:prstGeom prst="roundRect">
            <a:avLst>
              <a:gd name="adj" fmla="val 50000"/>
            </a:avLst>
          </a:prstGeom>
          <a:solidFill>
            <a:schemeClr val="accent4"/>
          </a:solidFill>
          <a:ln/>
        </p:spPr>
      </p:sp>
      <p:sp>
        <p:nvSpPr>
          <p:cNvPr id="7" name="Text 1390"/>
          <p:cNvSpPr txBox="1"/>
          <p:nvPr/>
        </p:nvSpPr>
        <p:spPr>
          <a:xfrm>
            <a:off x="731520" y="5751576"/>
            <a:ext cx="93602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PATTERN</a:t>
            </a:r>
            <a:endParaRPr lang="en-US" sz="1200" dirty="0"/>
          </a:p>
        </p:txBody>
      </p:sp>
      <p:sp>
        <p:nvSpPr>
          <p:cNvPr id="8" name="Text 1391"/>
          <p:cNvSpPr txBox="1"/>
          <p:nvPr/>
        </p:nvSpPr>
        <p:spPr>
          <a:xfrm>
            <a:off x="1850424" y="5623560"/>
            <a:ext cx="960975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The League settled disputes between smaller states — but failed when a great power was involved or backed one side.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Kicker 139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KQ2 · AGENCIES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Beyond peacekeeping: the agencies</a:t>
            </a:r>
            <a:endParaRPr lang="en-US" sz="3400" dirty="0"/>
          </a:p>
        </p:txBody>
      </p:sp>
      <p:sp>
        <p:nvSpPr>
          <p:cNvPr id="4" name="Card 1393"/>
          <p:cNvSpPr/>
          <p:nvPr/>
        </p:nvSpPr>
        <p:spPr>
          <a:xfrm>
            <a:off x="548640" y="1481328"/>
            <a:ext cx="3515258" cy="2253996"/>
          </a:xfrm>
          <a:prstGeom prst="roundRect">
            <a:avLst>
              <a:gd name="adj" fmla="val 4057"/>
            </a:avLst>
          </a:prstGeom>
          <a:solidFill>
            <a:schemeClr val="accent2">
              <a:alpha val="10000"/>
            </a:schemeClr>
          </a:solidFill>
          <a:ln/>
        </p:spPr>
      </p:sp>
      <p:sp>
        <p:nvSpPr>
          <p:cNvPr id="5" name="Icon circle 1394"/>
          <p:cNvSpPr/>
          <p:nvPr/>
        </p:nvSpPr>
        <p:spPr>
          <a:xfrm>
            <a:off x="731520" y="1664208"/>
            <a:ext cx="475488" cy="475488"/>
          </a:xfrm>
          <a:prstGeom prst="ellipse">
            <a:avLst/>
          </a:prstGeom>
          <a:solidFill>
            <a:schemeClr val="accent2"/>
          </a:solidFill>
          <a:ln/>
        </p:spPr>
      </p:sp>
      <p:pic>
        <p:nvPicPr>
          <p:cNvPr id="6" name="Icon FaPassport 1395"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396"/>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Refugees</a:t>
            </a:r>
            <a:endParaRPr lang="en-US" sz="1600" dirty="0"/>
          </a:p>
        </p:txBody>
      </p:sp>
      <p:sp>
        <p:nvSpPr>
          <p:cNvPr id="8" name="Text 1397"/>
          <p:cNvSpPr txBox="1"/>
          <p:nvPr/>
        </p:nvSpPr>
        <p:spPr>
          <a:xfrm>
            <a:off x="731520"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Nansen passports (1922); c.450,000 prisoners of war sent home (1920–22).</a:t>
            </a:r>
            <a:endParaRPr lang="en-US" sz="2000" dirty="0"/>
          </a:p>
        </p:txBody>
      </p:sp>
      <p:sp>
        <p:nvSpPr>
          <p:cNvPr id="9" name="Card 1398"/>
          <p:cNvSpPr/>
          <p:nvPr/>
        </p:nvSpPr>
        <p:spPr>
          <a:xfrm>
            <a:off x="4338218" y="1481328"/>
            <a:ext cx="3515258" cy="2253996"/>
          </a:xfrm>
          <a:prstGeom prst="roundRect">
            <a:avLst>
              <a:gd name="adj" fmla="val 4057"/>
            </a:avLst>
          </a:prstGeom>
          <a:solidFill>
            <a:schemeClr val="accent2">
              <a:alpha val="10000"/>
            </a:schemeClr>
          </a:solidFill>
          <a:ln/>
        </p:spPr>
      </p:sp>
      <p:sp>
        <p:nvSpPr>
          <p:cNvPr id="10" name="Icon circle 1399"/>
          <p:cNvSpPr/>
          <p:nvPr/>
        </p:nvSpPr>
        <p:spPr>
          <a:xfrm>
            <a:off x="4521098" y="1664208"/>
            <a:ext cx="475488" cy="475488"/>
          </a:xfrm>
          <a:prstGeom prst="ellipse">
            <a:avLst/>
          </a:prstGeom>
          <a:solidFill>
            <a:schemeClr val="accent2"/>
          </a:solidFill>
          <a:ln/>
        </p:spPr>
      </p:sp>
      <p:pic>
        <p:nvPicPr>
          <p:cNvPr id="11" name="Icon FaHospital 1400"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1401"/>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Health</a:t>
            </a:r>
            <a:endParaRPr lang="en-US" sz="1600" dirty="0"/>
          </a:p>
        </p:txBody>
      </p:sp>
      <p:sp>
        <p:nvSpPr>
          <p:cNvPr id="13" name="Text 1402"/>
          <p:cNvSpPr txBox="1"/>
          <p:nvPr/>
        </p:nvSpPr>
        <p:spPr>
          <a:xfrm>
            <a:off x="4521098"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Fought typhus in Poland and Russia; research on malaria and leprosy.</a:t>
            </a:r>
            <a:endParaRPr lang="en-US" sz="2000" dirty="0"/>
          </a:p>
        </p:txBody>
      </p:sp>
      <p:sp>
        <p:nvSpPr>
          <p:cNvPr id="14" name="Card 1403"/>
          <p:cNvSpPr/>
          <p:nvPr/>
        </p:nvSpPr>
        <p:spPr>
          <a:xfrm>
            <a:off x="8127797" y="1481328"/>
            <a:ext cx="3515258" cy="2253996"/>
          </a:xfrm>
          <a:prstGeom prst="roundRect">
            <a:avLst>
              <a:gd name="adj" fmla="val 4057"/>
            </a:avLst>
          </a:prstGeom>
          <a:solidFill>
            <a:schemeClr val="accent2">
              <a:alpha val="10000"/>
            </a:schemeClr>
          </a:solidFill>
          <a:ln/>
        </p:spPr>
      </p:sp>
      <p:sp>
        <p:nvSpPr>
          <p:cNvPr id="15" name="Icon circle 1404"/>
          <p:cNvSpPr/>
          <p:nvPr/>
        </p:nvSpPr>
        <p:spPr>
          <a:xfrm>
            <a:off x="8310677" y="1664208"/>
            <a:ext cx="475488" cy="475488"/>
          </a:xfrm>
          <a:prstGeom prst="ellipse">
            <a:avLst/>
          </a:prstGeom>
          <a:solidFill>
            <a:schemeClr val="accent2"/>
          </a:solidFill>
          <a:ln/>
        </p:spPr>
      </p:sp>
      <p:pic>
        <p:nvPicPr>
          <p:cNvPr id="16" name="Icon FaUnlink 1405"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1406"/>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Slavery</a:t>
            </a:r>
            <a:endParaRPr lang="en-US" sz="1600" dirty="0"/>
          </a:p>
        </p:txBody>
      </p:sp>
      <p:sp>
        <p:nvSpPr>
          <p:cNvPr id="18" name="Text 1407"/>
          <p:cNvSpPr txBox="1"/>
          <p:nvPr/>
        </p:nvSpPr>
        <p:spPr>
          <a:xfrm>
            <a:off x="8310677"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Slavery Convention (1926); freed c.200,000 slaves in Sierra Leone (1927).</a:t>
            </a:r>
            <a:endParaRPr lang="en-US" sz="2000" dirty="0"/>
          </a:p>
        </p:txBody>
      </p:sp>
      <p:sp>
        <p:nvSpPr>
          <p:cNvPr id="19" name="Card 1408"/>
          <p:cNvSpPr/>
          <p:nvPr/>
        </p:nvSpPr>
        <p:spPr>
          <a:xfrm>
            <a:off x="548640" y="4009644"/>
            <a:ext cx="3515258" cy="2253996"/>
          </a:xfrm>
          <a:prstGeom prst="roundRect">
            <a:avLst>
              <a:gd name="adj" fmla="val 4057"/>
            </a:avLst>
          </a:prstGeom>
          <a:solidFill>
            <a:schemeClr val="accent2">
              <a:alpha val="10000"/>
            </a:schemeClr>
          </a:solidFill>
          <a:ln/>
        </p:spPr>
      </p:sp>
      <p:sp>
        <p:nvSpPr>
          <p:cNvPr id="20" name="Icon circle 1409"/>
          <p:cNvSpPr/>
          <p:nvPr/>
        </p:nvSpPr>
        <p:spPr>
          <a:xfrm>
            <a:off x="731520" y="4192524"/>
            <a:ext cx="475488" cy="475488"/>
          </a:xfrm>
          <a:prstGeom prst="ellipse">
            <a:avLst/>
          </a:prstGeom>
          <a:solidFill>
            <a:schemeClr val="accent2"/>
          </a:solidFill>
          <a:ln/>
        </p:spPr>
      </p:sp>
      <p:pic>
        <p:nvPicPr>
          <p:cNvPr id="21" name="Icon FaHardHat 1410"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2" name="Card title 1411"/>
          <p:cNvSpPr txBox="1"/>
          <p:nvPr/>
        </p:nvSpPr>
        <p:spPr>
          <a:xfrm>
            <a:off x="1335024"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Labour (ILO)</a:t>
            </a:r>
            <a:endParaRPr lang="en-US" sz="1600" dirty="0"/>
          </a:p>
        </p:txBody>
      </p:sp>
      <p:sp>
        <p:nvSpPr>
          <p:cNvPr id="23" name="Text 1412"/>
          <p:cNvSpPr txBox="1"/>
          <p:nvPr/>
        </p:nvSpPr>
        <p:spPr>
          <a:xfrm>
            <a:off x="731520"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Standards on hours and child labour; banned white lead paint — but many ignored it.</a:t>
            </a:r>
            <a:endParaRPr lang="en-US" sz="2000" dirty="0"/>
          </a:p>
        </p:txBody>
      </p:sp>
      <p:sp>
        <p:nvSpPr>
          <p:cNvPr id="24" name="Card 1413"/>
          <p:cNvSpPr/>
          <p:nvPr/>
        </p:nvSpPr>
        <p:spPr>
          <a:xfrm>
            <a:off x="4338218" y="4009644"/>
            <a:ext cx="3515258" cy="2253996"/>
          </a:xfrm>
          <a:prstGeom prst="roundRect">
            <a:avLst>
              <a:gd name="adj" fmla="val 4057"/>
            </a:avLst>
          </a:prstGeom>
          <a:solidFill>
            <a:schemeClr val="accent2">
              <a:alpha val="10000"/>
            </a:schemeClr>
          </a:solidFill>
          <a:ln/>
        </p:spPr>
      </p:sp>
      <p:sp>
        <p:nvSpPr>
          <p:cNvPr id="25" name="Icon circle 1414"/>
          <p:cNvSpPr/>
          <p:nvPr/>
        </p:nvSpPr>
        <p:spPr>
          <a:xfrm>
            <a:off x="4521098" y="4192524"/>
            <a:ext cx="475488" cy="475488"/>
          </a:xfrm>
          <a:prstGeom prst="ellipse">
            <a:avLst/>
          </a:prstGeom>
          <a:solidFill>
            <a:schemeClr val="accent2"/>
          </a:solidFill>
          <a:ln/>
        </p:spPr>
      </p:sp>
      <p:pic>
        <p:nvPicPr>
          <p:cNvPr id="26" name="Icon FaMapMarkedAlt 1415"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27" name="Card title 1416"/>
          <p:cNvSpPr txBox="1"/>
          <p:nvPr/>
        </p:nvSpPr>
        <p:spPr>
          <a:xfrm>
            <a:off x="5124602"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Mandates</a:t>
            </a:r>
            <a:endParaRPr lang="en-US" sz="1600" dirty="0"/>
          </a:p>
        </p:txBody>
      </p:sp>
      <p:sp>
        <p:nvSpPr>
          <p:cNvPr id="28" name="Text 1417"/>
          <p:cNvSpPr txBox="1"/>
          <p:nvPr/>
        </p:nvSpPr>
        <p:spPr>
          <a:xfrm>
            <a:off x="4521098"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Supervised ex-German and Ottoman lands — yet Britain and France ruled them like colonies.</a:t>
            </a:r>
            <a:endParaRPr lang="en-US" sz="2000" dirty="0"/>
          </a:p>
        </p:txBody>
      </p:sp>
      <p:sp>
        <p:nvSpPr>
          <p:cNvPr id="29" name="Card 1418"/>
          <p:cNvSpPr/>
          <p:nvPr/>
        </p:nvSpPr>
        <p:spPr>
          <a:xfrm>
            <a:off x="8127797" y="4009644"/>
            <a:ext cx="3515258" cy="2253996"/>
          </a:xfrm>
          <a:prstGeom prst="roundRect">
            <a:avLst>
              <a:gd name="adj" fmla="val 4057"/>
            </a:avLst>
          </a:prstGeom>
          <a:solidFill>
            <a:schemeClr val="accent2">
              <a:alpha val="10000"/>
            </a:schemeClr>
          </a:solidFill>
          <a:ln/>
        </p:spPr>
      </p:sp>
      <p:sp>
        <p:nvSpPr>
          <p:cNvPr id="30" name="Icon circle 1419"/>
          <p:cNvSpPr/>
          <p:nvPr/>
        </p:nvSpPr>
        <p:spPr>
          <a:xfrm>
            <a:off x="8310677" y="4192524"/>
            <a:ext cx="475488" cy="475488"/>
          </a:xfrm>
          <a:prstGeom prst="ellipse">
            <a:avLst/>
          </a:prstGeom>
          <a:solidFill>
            <a:schemeClr val="accent2"/>
          </a:solidFill>
          <a:ln/>
        </p:spPr>
      </p:sp>
      <p:pic>
        <p:nvPicPr>
          <p:cNvPr id="31" name="Icon FaCoins 1420"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2" name="Card title 1421"/>
          <p:cNvSpPr txBox="1"/>
          <p:nvPr/>
        </p:nvSpPr>
        <p:spPr>
          <a:xfrm>
            <a:off x="8914181"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Finance</a:t>
            </a:r>
            <a:endParaRPr lang="en-US" sz="1600" dirty="0"/>
          </a:p>
        </p:txBody>
      </p:sp>
      <p:sp>
        <p:nvSpPr>
          <p:cNvPr id="33" name="Text 1422"/>
          <p:cNvSpPr txBox="1"/>
          <p:nvPr/>
        </p:nvSpPr>
        <p:spPr>
          <a:xfrm>
            <a:off x="8310677"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Rescue loans to Austria (1922) and Hungary (1924) stabilised their economies.</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Kicker 142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KQ2 · JUDGEMENT</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How successful was the League in the 1920s?</a:t>
            </a:r>
            <a:endParaRPr lang="en-US" sz="3400" dirty="0"/>
          </a:p>
        </p:txBody>
      </p:sp>
      <p:sp>
        <p:nvSpPr>
          <p:cNvPr id="4" name="Card 1424"/>
          <p:cNvSpPr/>
          <p:nvPr/>
        </p:nvSpPr>
        <p:spPr>
          <a:xfrm>
            <a:off x="548640" y="1481328"/>
            <a:ext cx="5410048" cy="3794760"/>
          </a:xfrm>
          <a:prstGeom prst="roundRect">
            <a:avLst>
              <a:gd name="adj" fmla="val 2410"/>
            </a:avLst>
          </a:prstGeom>
          <a:solidFill>
            <a:schemeClr val="accent2">
              <a:alpha val="10000"/>
            </a:schemeClr>
          </a:solidFill>
          <a:ln/>
        </p:spPr>
      </p:sp>
      <p:sp>
        <p:nvSpPr>
          <p:cNvPr id="5" name="Icon circle 1425"/>
          <p:cNvSpPr/>
          <p:nvPr/>
        </p:nvSpPr>
        <p:spPr>
          <a:xfrm>
            <a:off x="731520" y="1664208"/>
            <a:ext cx="475488" cy="475488"/>
          </a:xfrm>
          <a:prstGeom prst="ellipse">
            <a:avLst/>
          </a:prstGeom>
          <a:solidFill>
            <a:schemeClr val="accent2"/>
          </a:solidFill>
          <a:ln/>
        </p:spPr>
      </p:sp>
      <p:pic>
        <p:nvPicPr>
          <p:cNvPr id="6" name="Icon FaCircleCheck 1426"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427"/>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Successes</a:t>
            </a:r>
            <a:endParaRPr lang="en-US" sz="1700" dirty="0"/>
          </a:p>
        </p:txBody>
      </p:sp>
      <p:sp>
        <p:nvSpPr>
          <p:cNvPr id="8" name="Text 1428"/>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Settled disputes between smaller states (Åland, Upper Silesia, Mosul, Greece–Bulgaria)</a:t>
            </a:r>
            <a:endParaRPr lang="en-US" sz="2000" dirty="0"/>
          </a:p>
          <a:p>
            <a:pPr algn="l" marL="190500" indent="-190500">
              <a:spcAft>
                <a:spcPts val="800"/>
              </a:spcAft>
              <a:buSzPct val="100000"/>
              <a:buChar char="•"/>
            </a:pPr>
            <a:r>
              <a:rPr lang="en-US" sz="2000" dirty="0">
                <a:solidFill>
                  <a:schemeClr val="tx1"/>
                </a:solidFill>
              </a:rPr>
              <a:t>Humanitarian work saved many lives</a:t>
            </a:r>
            <a:endParaRPr lang="en-US" sz="2000" dirty="0"/>
          </a:p>
          <a:p>
            <a:pPr algn="l" marL="190500" indent="-190500">
              <a:spcAft>
                <a:spcPts val="800"/>
              </a:spcAft>
              <a:buSzPct val="100000"/>
              <a:buChar char="•"/>
            </a:pPr>
            <a:r>
              <a:rPr lang="en-US" sz="2000" dirty="0">
                <a:solidFill>
                  <a:schemeClr val="tx1"/>
                </a:solidFill>
              </a:rPr>
              <a:t>Germany joined in 1926</a:t>
            </a:r>
            <a:endParaRPr lang="en-US" sz="2000" dirty="0"/>
          </a:p>
          <a:p>
            <a:pPr algn="l" marL="190500" indent="-190500">
              <a:spcAft>
                <a:spcPts val="800"/>
              </a:spcAft>
              <a:buSzPct val="100000"/>
              <a:buChar char="•"/>
            </a:pPr>
            <a:r>
              <a:rPr lang="en-US" sz="2000" dirty="0">
                <a:solidFill>
                  <a:schemeClr val="tx1"/>
                </a:solidFill>
              </a:rPr>
              <a:t>Built habits of international cooperation</a:t>
            </a:r>
            <a:endParaRPr lang="en-US" sz="2000" dirty="0"/>
          </a:p>
        </p:txBody>
      </p:sp>
      <p:sp>
        <p:nvSpPr>
          <p:cNvPr id="9" name="Card 1429"/>
          <p:cNvSpPr/>
          <p:nvPr/>
        </p:nvSpPr>
        <p:spPr>
          <a:xfrm>
            <a:off x="6233008" y="1481328"/>
            <a:ext cx="5410048" cy="3794760"/>
          </a:xfrm>
          <a:prstGeom prst="roundRect">
            <a:avLst>
              <a:gd name="adj" fmla="val 2410"/>
            </a:avLst>
          </a:prstGeom>
          <a:solidFill>
            <a:schemeClr val="accent1">
              <a:alpha val="10000"/>
            </a:schemeClr>
          </a:solidFill>
          <a:ln/>
        </p:spPr>
      </p:sp>
      <p:sp>
        <p:nvSpPr>
          <p:cNvPr id="10" name="Icon circle 1430"/>
          <p:cNvSpPr/>
          <p:nvPr/>
        </p:nvSpPr>
        <p:spPr>
          <a:xfrm>
            <a:off x="6415888" y="1664208"/>
            <a:ext cx="475488" cy="475488"/>
          </a:xfrm>
          <a:prstGeom prst="ellipse">
            <a:avLst/>
          </a:prstGeom>
          <a:solidFill>
            <a:schemeClr val="accent1"/>
          </a:solidFill>
          <a:ln/>
        </p:spPr>
      </p:sp>
      <p:pic>
        <p:nvPicPr>
          <p:cNvPr id="11" name="Icon FaCircleXmark 1431"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1432"/>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Limits</a:t>
            </a:r>
            <a:endParaRPr lang="en-US" sz="1700" dirty="0"/>
          </a:p>
        </p:txBody>
      </p:sp>
      <p:sp>
        <p:nvSpPr>
          <p:cNvPr id="13" name="Text 1433"/>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Great powers ignored or bypassed it (Corfu, Vilna, the Ruhr)</a:t>
            </a:r>
            <a:endParaRPr lang="en-US" sz="2000" dirty="0"/>
          </a:p>
          <a:p>
            <a:pPr algn="l" marL="190500" indent="-190500">
              <a:spcAft>
                <a:spcPts val="800"/>
              </a:spcAft>
              <a:buSzPct val="100000"/>
              <a:buChar char="•"/>
            </a:pPr>
            <a:r>
              <a:rPr lang="en-US" sz="2000" dirty="0">
                <a:solidFill>
                  <a:schemeClr val="tx1"/>
                </a:solidFill>
              </a:rPr>
              <a:t>Big agreements were made outside it (Washington, Locarno, Kellogg–Briand)</a:t>
            </a:r>
            <a:endParaRPr lang="en-US" sz="2000" dirty="0"/>
          </a:p>
          <a:p>
            <a:pPr algn="l" marL="190500" indent="-190500">
              <a:spcAft>
                <a:spcPts val="800"/>
              </a:spcAft>
              <a:buSzPct val="100000"/>
              <a:buChar char="•"/>
            </a:pPr>
            <a:r>
              <a:rPr lang="en-US" sz="2000" dirty="0">
                <a:solidFill>
                  <a:schemeClr val="tx1"/>
                </a:solidFill>
              </a:rPr>
              <a:t>Disarmament made no progress</a:t>
            </a:r>
            <a:endParaRPr lang="en-US" sz="2000" dirty="0"/>
          </a:p>
          <a:p>
            <a:pPr algn="l" marL="190500" indent="-190500">
              <a:spcAft>
                <a:spcPts val="800"/>
              </a:spcAft>
              <a:buSzPct val="100000"/>
              <a:buChar char="•"/>
            </a:pPr>
            <a:r>
              <a:rPr lang="en-US" sz="2000" dirty="0">
                <a:solidFill>
                  <a:schemeClr val="tx1"/>
                </a:solidFill>
              </a:rPr>
              <a:t>Its success depended on prosperity and goodwill</a:t>
            </a:r>
            <a:endParaRPr lang="en-US" sz="2000" dirty="0"/>
          </a:p>
        </p:txBody>
      </p:sp>
      <p:sp>
        <p:nvSpPr>
          <p:cNvPr id="14" name="Callout 1434"/>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1435"/>
          <p:cNvSpPr/>
          <p:nvPr/>
        </p:nvSpPr>
        <p:spPr>
          <a:xfrm>
            <a:off x="731520" y="5751576"/>
            <a:ext cx="894203" cy="310896"/>
          </a:xfrm>
          <a:prstGeom prst="roundRect">
            <a:avLst>
              <a:gd name="adj" fmla="val 50000"/>
            </a:avLst>
          </a:prstGeom>
          <a:solidFill>
            <a:schemeClr val="accent4"/>
          </a:solidFill>
          <a:ln/>
        </p:spPr>
      </p:sp>
      <p:sp>
        <p:nvSpPr>
          <p:cNvPr id="16" name="Text 1436"/>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17" name="Text 1437"/>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Successful in small disputes and humanitarian work — but never tested against a determined great power until the 1930s.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Kicker 143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KQ3 · THE POWERS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What did each power want after 1919?</a:t>
            </a:r>
            <a:endParaRPr lang="en-US" sz="3400" dirty="0"/>
          </a:p>
        </p:txBody>
      </p:sp>
      <p:sp>
        <p:nvSpPr>
          <p:cNvPr id="4" name="Card 1439"/>
          <p:cNvSpPr/>
          <p:nvPr/>
        </p:nvSpPr>
        <p:spPr>
          <a:xfrm>
            <a:off x="548640" y="1481328"/>
            <a:ext cx="3515258" cy="2253996"/>
          </a:xfrm>
          <a:prstGeom prst="roundRect">
            <a:avLst>
              <a:gd name="adj" fmla="val 4057"/>
            </a:avLst>
          </a:prstGeom>
          <a:solidFill>
            <a:schemeClr val="accent2">
              <a:alpha val="10000"/>
            </a:schemeClr>
          </a:solidFill>
          <a:ln/>
        </p:spPr>
      </p:sp>
      <p:sp>
        <p:nvSpPr>
          <p:cNvPr id="5" name="Icon circle 1440"/>
          <p:cNvSpPr/>
          <p:nvPr/>
        </p:nvSpPr>
        <p:spPr>
          <a:xfrm>
            <a:off x="731520" y="1664208"/>
            <a:ext cx="475488" cy="475488"/>
          </a:xfrm>
          <a:prstGeom prst="ellipse">
            <a:avLst/>
          </a:prstGeom>
          <a:solidFill>
            <a:schemeClr val="accent2"/>
          </a:solidFill>
          <a:ln/>
        </p:spPr>
      </p:sp>
      <p:pic>
        <p:nvPicPr>
          <p:cNvPr id="6" name="Icon FaCrown 1441"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442"/>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Britain</a:t>
            </a:r>
            <a:endParaRPr lang="en-US" sz="1600" dirty="0"/>
          </a:p>
        </p:txBody>
      </p:sp>
      <p:sp>
        <p:nvSpPr>
          <p:cNvPr id="8" name="Text 1443"/>
          <p:cNvSpPr txBox="1"/>
          <p:nvPr/>
        </p:nvSpPr>
        <p:spPr>
          <a:xfrm>
            <a:off x="731520"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Revive trade, protect the empire, avoid European commitments; thought Versailles too harsh.</a:t>
            </a:r>
            <a:endParaRPr lang="en-US" sz="2000" dirty="0"/>
          </a:p>
        </p:txBody>
      </p:sp>
      <p:sp>
        <p:nvSpPr>
          <p:cNvPr id="9" name="Card 1444"/>
          <p:cNvSpPr/>
          <p:nvPr/>
        </p:nvSpPr>
        <p:spPr>
          <a:xfrm>
            <a:off x="4338218" y="1481328"/>
            <a:ext cx="3515258" cy="2253996"/>
          </a:xfrm>
          <a:prstGeom prst="roundRect">
            <a:avLst>
              <a:gd name="adj" fmla="val 4057"/>
            </a:avLst>
          </a:prstGeom>
          <a:solidFill>
            <a:schemeClr val="accent2">
              <a:alpha val="10000"/>
            </a:schemeClr>
          </a:solidFill>
          <a:ln/>
        </p:spPr>
      </p:sp>
      <p:sp>
        <p:nvSpPr>
          <p:cNvPr id="10" name="Icon circle 1445"/>
          <p:cNvSpPr/>
          <p:nvPr/>
        </p:nvSpPr>
        <p:spPr>
          <a:xfrm>
            <a:off x="4521098" y="1664208"/>
            <a:ext cx="475488" cy="475488"/>
          </a:xfrm>
          <a:prstGeom prst="ellipse">
            <a:avLst/>
          </a:prstGeom>
          <a:solidFill>
            <a:schemeClr val="accent2"/>
          </a:solidFill>
          <a:ln/>
        </p:spPr>
      </p:sp>
      <p:pic>
        <p:nvPicPr>
          <p:cNvPr id="11" name="Icon FaShieldAlt 1446"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1447"/>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France</a:t>
            </a:r>
            <a:endParaRPr lang="en-US" sz="1600" dirty="0"/>
          </a:p>
        </p:txBody>
      </p:sp>
      <p:sp>
        <p:nvSpPr>
          <p:cNvPr id="13" name="Text 1448"/>
          <p:cNvSpPr txBox="1"/>
          <p:nvPr/>
        </p:nvSpPr>
        <p:spPr>
          <a:xfrm>
            <a:off x="4521098"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Security: enforce Versailles and reparations; alliances with Poland (1921) and Czechoslovakia (1924).</a:t>
            </a:r>
            <a:endParaRPr lang="en-US" sz="2000" dirty="0"/>
          </a:p>
        </p:txBody>
      </p:sp>
      <p:sp>
        <p:nvSpPr>
          <p:cNvPr id="14" name="Card 1449"/>
          <p:cNvSpPr/>
          <p:nvPr/>
        </p:nvSpPr>
        <p:spPr>
          <a:xfrm>
            <a:off x="8127797" y="1481328"/>
            <a:ext cx="3515258" cy="2253996"/>
          </a:xfrm>
          <a:prstGeom prst="roundRect">
            <a:avLst>
              <a:gd name="adj" fmla="val 4057"/>
            </a:avLst>
          </a:prstGeom>
          <a:solidFill>
            <a:schemeClr val="accent2">
              <a:alpha val="10000"/>
            </a:schemeClr>
          </a:solidFill>
          <a:ln/>
        </p:spPr>
      </p:sp>
      <p:sp>
        <p:nvSpPr>
          <p:cNvPr id="15" name="Icon circle 1450"/>
          <p:cNvSpPr/>
          <p:nvPr/>
        </p:nvSpPr>
        <p:spPr>
          <a:xfrm>
            <a:off x="8310677" y="1664208"/>
            <a:ext cx="475488" cy="475488"/>
          </a:xfrm>
          <a:prstGeom prst="ellipse">
            <a:avLst/>
          </a:prstGeom>
          <a:solidFill>
            <a:schemeClr val="accent2"/>
          </a:solidFill>
          <a:ln/>
        </p:spPr>
      </p:sp>
      <p:pic>
        <p:nvPicPr>
          <p:cNvPr id="16" name="Icon FaGavel 1451"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1452"/>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Germany</a:t>
            </a:r>
            <a:endParaRPr lang="en-US" sz="1600" dirty="0"/>
          </a:p>
        </p:txBody>
      </p:sp>
      <p:sp>
        <p:nvSpPr>
          <p:cNvPr id="18" name="Text 1453"/>
          <p:cNvSpPr txBox="1"/>
          <p:nvPr/>
        </p:nvSpPr>
        <p:spPr>
          <a:xfrm>
            <a:off x="8310677" y="2249424"/>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Revise Versailles: cut reparations, regain land, end isolation — from a weak Weimar Republic.</a:t>
            </a:r>
            <a:endParaRPr lang="en-US" sz="2000" dirty="0"/>
          </a:p>
        </p:txBody>
      </p:sp>
      <p:sp>
        <p:nvSpPr>
          <p:cNvPr id="19" name="Card 1454"/>
          <p:cNvSpPr/>
          <p:nvPr/>
        </p:nvSpPr>
        <p:spPr>
          <a:xfrm>
            <a:off x="548640" y="4009644"/>
            <a:ext cx="3515258" cy="2253996"/>
          </a:xfrm>
          <a:prstGeom prst="roundRect">
            <a:avLst>
              <a:gd name="adj" fmla="val 4057"/>
            </a:avLst>
          </a:prstGeom>
          <a:solidFill>
            <a:schemeClr val="accent2">
              <a:alpha val="10000"/>
            </a:schemeClr>
          </a:solidFill>
          <a:ln/>
        </p:spPr>
      </p:sp>
      <p:sp>
        <p:nvSpPr>
          <p:cNvPr id="20" name="Icon circle 1455"/>
          <p:cNvSpPr/>
          <p:nvPr/>
        </p:nvSpPr>
        <p:spPr>
          <a:xfrm>
            <a:off x="731520" y="4192524"/>
            <a:ext cx="475488" cy="475488"/>
          </a:xfrm>
          <a:prstGeom prst="ellipse">
            <a:avLst/>
          </a:prstGeom>
          <a:solidFill>
            <a:schemeClr val="accent2"/>
          </a:solidFill>
          <a:ln/>
        </p:spPr>
      </p:sp>
      <p:pic>
        <p:nvPicPr>
          <p:cNvPr id="21" name="Icon FaFlagUsa 1456"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2" name="Card title 1457"/>
          <p:cNvSpPr txBox="1"/>
          <p:nvPr/>
        </p:nvSpPr>
        <p:spPr>
          <a:xfrm>
            <a:off x="1335024"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USA</a:t>
            </a:r>
            <a:endParaRPr lang="en-US" sz="1600" dirty="0"/>
          </a:p>
        </p:txBody>
      </p:sp>
      <p:sp>
        <p:nvSpPr>
          <p:cNvPr id="23" name="Text 1458"/>
          <p:cNvSpPr txBox="1"/>
          <p:nvPr/>
        </p:nvSpPr>
        <p:spPr>
          <a:xfrm>
            <a:off x="731520"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Stay out of the League and European politics — but lend money and demand war-debt repayment.</a:t>
            </a:r>
            <a:endParaRPr lang="en-US" sz="2000" dirty="0"/>
          </a:p>
        </p:txBody>
      </p:sp>
      <p:sp>
        <p:nvSpPr>
          <p:cNvPr id="24" name="Card 1459"/>
          <p:cNvSpPr/>
          <p:nvPr/>
        </p:nvSpPr>
        <p:spPr>
          <a:xfrm>
            <a:off x="4338218" y="4009644"/>
            <a:ext cx="3515258" cy="2253996"/>
          </a:xfrm>
          <a:prstGeom prst="roundRect">
            <a:avLst>
              <a:gd name="adj" fmla="val 4057"/>
            </a:avLst>
          </a:prstGeom>
          <a:solidFill>
            <a:schemeClr val="accent2">
              <a:alpha val="10000"/>
            </a:schemeClr>
          </a:solidFill>
          <a:ln/>
        </p:spPr>
      </p:sp>
      <p:sp>
        <p:nvSpPr>
          <p:cNvPr id="25" name="Icon circle 1460"/>
          <p:cNvSpPr/>
          <p:nvPr/>
        </p:nvSpPr>
        <p:spPr>
          <a:xfrm>
            <a:off x="4521098" y="4192524"/>
            <a:ext cx="475488" cy="475488"/>
          </a:xfrm>
          <a:prstGeom prst="ellipse">
            <a:avLst/>
          </a:prstGeom>
          <a:solidFill>
            <a:schemeClr val="accent2"/>
          </a:solidFill>
          <a:ln/>
        </p:spPr>
      </p:sp>
      <p:pic>
        <p:nvPicPr>
          <p:cNvPr id="26" name="Icon FaHandFist 1461"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27" name="Card title 1462"/>
          <p:cNvSpPr txBox="1"/>
          <p:nvPr/>
        </p:nvSpPr>
        <p:spPr>
          <a:xfrm>
            <a:off x="5124602"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USSR</a:t>
            </a:r>
            <a:endParaRPr lang="en-US" sz="1600" dirty="0"/>
          </a:p>
        </p:txBody>
      </p:sp>
      <p:sp>
        <p:nvSpPr>
          <p:cNvPr id="28" name="Text 1463"/>
          <p:cNvSpPr txBox="1"/>
          <p:nvPr/>
        </p:nvSpPr>
        <p:spPr>
          <a:xfrm>
            <a:off x="4521098"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Spread revolution (Comintern, 1919) vs need for trade and security; 'socialism in one country'.</a:t>
            </a:r>
            <a:endParaRPr lang="en-US" sz="2000" dirty="0"/>
          </a:p>
        </p:txBody>
      </p:sp>
      <p:sp>
        <p:nvSpPr>
          <p:cNvPr id="29" name="Card 1464"/>
          <p:cNvSpPr/>
          <p:nvPr/>
        </p:nvSpPr>
        <p:spPr>
          <a:xfrm>
            <a:off x="8127797" y="4009644"/>
            <a:ext cx="3515258" cy="2253996"/>
          </a:xfrm>
          <a:prstGeom prst="roundRect">
            <a:avLst>
              <a:gd name="adj" fmla="val 4057"/>
            </a:avLst>
          </a:prstGeom>
          <a:solidFill>
            <a:schemeClr val="accent2">
              <a:alpha val="10000"/>
            </a:schemeClr>
          </a:solidFill>
          <a:ln/>
        </p:spPr>
      </p:sp>
      <p:sp>
        <p:nvSpPr>
          <p:cNvPr id="30" name="Icon circle 1465"/>
          <p:cNvSpPr/>
          <p:nvPr/>
        </p:nvSpPr>
        <p:spPr>
          <a:xfrm>
            <a:off x="8310677" y="4192524"/>
            <a:ext cx="475488" cy="475488"/>
          </a:xfrm>
          <a:prstGeom prst="ellipse">
            <a:avLst/>
          </a:prstGeom>
          <a:solidFill>
            <a:schemeClr val="accent2"/>
          </a:solidFill>
          <a:ln/>
        </p:spPr>
      </p:sp>
      <p:pic>
        <p:nvPicPr>
          <p:cNvPr id="31" name="Icon FaFlag 1466"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2" name="Card title 1467"/>
          <p:cNvSpPr txBox="1"/>
          <p:nvPr/>
        </p:nvSpPr>
        <p:spPr>
          <a:xfrm>
            <a:off x="8914181" y="4192524"/>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Italy</a:t>
            </a:r>
            <a:endParaRPr lang="en-US" sz="1600" dirty="0"/>
          </a:p>
        </p:txBody>
      </p:sp>
      <p:sp>
        <p:nvSpPr>
          <p:cNvPr id="33" name="Text 1468"/>
          <p:cNvSpPr txBox="1"/>
          <p:nvPr/>
        </p:nvSpPr>
        <p:spPr>
          <a:xfrm>
            <a:off x="8310677" y="4777740"/>
            <a:ext cx="314949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Mussolini (from Oct 1922) wanted prestige and expansion: Corfu (1923), Fiume (1924).</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Kicker 146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KQ3 · WASHINGTON CONFERENCE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Washington Conference, 1921–22</a:t>
            </a:r>
            <a:endParaRPr lang="en-US" sz="3400" dirty="0"/>
          </a:p>
        </p:txBody>
      </p:sp>
      <p:sp>
        <p:nvSpPr>
          <p:cNvPr id="4" name="Chart panel 1470"/>
          <p:cNvSpPr/>
          <p:nvPr/>
        </p:nvSpPr>
        <p:spPr>
          <a:xfrm>
            <a:off x="548640" y="1481328"/>
            <a:ext cx="6400800" cy="4782312"/>
          </a:xfrm>
          <a:prstGeom prst="roundRect">
            <a:avLst>
              <a:gd name="adj" fmla="val 1912"/>
            </a:avLst>
          </a:prstGeom>
          <a:solidFill>
            <a:schemeClr val="bg2"/>
          </a:solidFill>
          <a:ln/>
        </p:spPr>
      </p:sp>
      <p:graphicFrame>
        <p:nvGraphicFramePr>
          <p:cNvPr id="5" name="Chart 1471" descr=""/>
          <p:cNvGraphicFramePr/>
          <p:nvPr/>
        </p:nvGraphicFramePr>
        <p:xfrm>
          <a:off x="685800" y="1572768"/>
          <a:ext cx="6126480" cy="4599432"/>
        </p:xfrm>
        <a:graphic xmlns:a="http://schemas.openxmlformats.org/drawingml/2006/main">
          <a:graphicData uri="http://schemas.openxmlformats.org/drawingml/2006/chart">
            <c:chart xmlns:c="http://schemas.openxmlformats.org/drawingml/2006/chart" r:id="rId1"/>
          </a:graphicData>
        </a:graphic>
      </p:graphicFrame>
      <p:sp>
        <p:nvSpPr>
          <p:cNvPr id="6" name="Card 1472"/>
          <p:cNvSpPr/>
          <p:nvPr/>
        </p:nvSpPr>
        <p:spPr>
          <a:xfrm>
            <a:off x="7223760" y="1481328"/>
            <a:ext cx="4419295" cy="1459992"/>
          </a:xfrm>
          <a:prstGeom prst="roundRect">
            <a:avLst>
              <a:gd name="adj" fmla="val 6263"/>
            </a:avLst>
          </a:prstGeom>
          <a:solidFill>
            <a:schemeClr val="accent2">
              <a:alpha val="10000"/>
            </a:schemeClr>
          </a:solidFill>
          <a:ln/>
        </p:spPr>
      </p:sp>
      <p:sp>
        <p:nvSpPr>
          <p:cNvPr id="7" name="Icon circle 1473"/>
          <p:cNvSpPr/>
          <p:nvPr/>
        </p:nvSpPr>
        <p:spPr>
          <a:xfrm>
            <a:off x="7370064" y="1627632"/>
            <a:ext cx="402336" cy="402336"/>
          </a:xfrm>
          <a:prstGeom prst="ellipse">
            <a:avLst/>
          </a:prstGeom>
          <a:solidFill>
            <a:schemeClr val="accent2"/>
          </a:solidFill>
          <a:ln/>
        </p:spPr>
      </p:sp>
      <p:pic>
        <p:nvPicPr>
          <p:cNvPr id="8" name="Icon GiBattleship 1474" descr="preencoded.png">    </p:cNvPr>
          <p:cNvPicPr>
            <a:picLocks noChangeAspect="1"/>
          </p:cNvPicPr>
          <p:nvPr/>
        </p:nvPicPr>
        <p:blipFill>
          <a:blip r:embed="rId2"/>
          <a:stretch>
            <a:fillRect/>
          </a:stretch>
        </p:blipFill>
        <p:spPr>
          <a:xfrm>
            <a:off x="7458578" y="1716146"/>
            <a:ext cx="225308" cy="225308"/>
          </a:xfrm>
          <a:prstGeom prst="rect">
            <a:avLst/>
          </a:prstGeom>
        </p:spPr>
      </p:pic>
      <p:sp>
        <p:nvSpPr>
          <p:cNvPr id="9" name="Card title 1475"/>
          <p:cNvSpPr txBox="1"/>
          <p:nvPr/>
        </p:nvSpPr>
        <p:spPr>
          <a:xfrm>
            <a:off x="7900416" y="162763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Five-Power Treaty</a:t>
            </a:r>
            <a:endParaRPr lang="en-US" sz="1600" dirty="0"/>
          </a:p>
        </p:txBody>
      </p:sp>
      <p:sp>
        <p:nvSpPr>
          <p:cNvPr id="10" name="Text 1476"/>
          <p:cNvSpPr txBox="1"/>
          <p:nvPr/>
        </p:nvSpPr>
        <p:spPr>
          <a:xfrm>
            <a:off x="7370064" y="2139696"/>
            <a:ext cx="4126687" cy="655320"/>
          </a:xfrm>
          <a:prstGeom prst="rect">
            <a:avLst/>
          </a:prstGeom>
          <a:noFill/>
          <a:ln/>
        </p:spPr>
        <p:txBody>
          <a:bodyPr wrap="square" lIns="0" tIns="0" rIns="0" bIns="0" rtlCol="0" anchor="t"/>
          <a:lstStyle/>
          <a:p>
            <a:pPr algn="l" indent="0" marL="0">
              <a:spcAft>
                <a:spcPts val="500"/>
              </a:spcAft>
              <a:buNone/>
            </a:pPr>
            <a:r>
              <a:rPr lang="en-US" sz="1400" dirty="0">
                <a:solidFill>
                  <a:schemeClr val="tx1"/>
                </a:solidFill>
              </a:rPr>
              <a:t>Battleship ratio 5:5:3:1.75:1.75 and a 10-year halt on building.</a:t>
            </a:r>
            <a:endParaRPr lang="en-US" sz="1400" dirty="0"/>
          </a:p>
        </p:txBody>
      </p:sp>
      <p:sp>
        <p:nvSpPr>
          <p:cNvPr id="11" name="Card 1477"/>
          <p:cNvSpPr/>
          <p:nvPr/>
        </p:nvSpPr>
        <p:spPr>
          <a:xfrm>
            <a:off x="7223760" y="3142488"/>
            <a:ext cx="4419295" cy="1459992"/>
          </a:xfrm>
          <a:prstGeom prst="roundRect">
            <a:avLst>
              <a:gd name="adj" fmla="val 6263"/>
            </a:avLst>
          </a:prstGeom>
          <a:solidFill>
            <a:schemeClr val="accent2">
              <a:alpha val="10000"/>
            </a:schemeClr>
          </a:solidFill>
          <a:ln/>
        </p:spPr>
      </p:sp>
      <p:sp>
        <p:nvSpPr>
          <p:cNvPr id="12" name="Icon circle 1478"/>
          <p:cNvSpPr/>
          <p:nvPr/>
        </p:nvSpPr>
        <p:spPr>
          <a:xfrm>
            <a:off x="7370064" y="3288792"/>
            <a:ext cx="402336" cy="402336"/>
          </a:xfrm>
          <a:prstGeom prst="ellipse">
            <a:avLst/>
          </a:prstGeom>
          <a:solidFill>
            <a:schemeClr val="accent2"/>
          </a:solidFill>
          <a:ln/>
        </p:spPr>
      </p:sp>
      <p:pic>
        <p:nvPicPr>
          <p:cNvPr id="13" name="Icon FaHandshake 1479" descr="preencoded.png">    </p:cNvPr>
          <p:cNvPicPr>
            <a:picLocks noChangeAspect="1"/>
          </p:cNvPicPr>
          <p:nvPr/>
        </p:nvPicPr>
        <p:blipFill>
          <a:blip r:embed="rId3"/>
          <a:stretch>
            <a:fillRect/>
          </a:stretch>
        </p:blipFill>
        <p:spPr>
          <a:xfrm>
            <a:off x="7458578" y="3377306"/>
            <a:ext cx="225308" cy="225308"/>
          </a:xfrm>
          <a:prstGeom prst="rect">
            <a:avLst/>
          </a:prstGeom>
        </p:spPr>
      </p:pic>
      <p:sp>
        <p:nvSpPr>
          <p:cNvPr id="14" name="Card title 1480"/>
          <p:cNvSpPr txBox="1"/>
          <p:nvPr/>
        </p:nvSpPr>
        <p:spPr>
          <a:xfrm>
            <a:off x="7900416" y="328879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Four- and Nine-Power Treaties</a:t>
            </a:r>
            <a:endParaRPr lang="en-US" sz="1600" dirty="0"/>
          </a:p>
        </p:txBody>
      </p:sp>
      <p:sp>
        <p:nvSpPr>
          <p:cNvPr id="15" name="Text 1481"/>
          <p:cNvSpPr txBox="1"/>
          <p:nvPr/>
        </p:nvSpPr>
        <p:spPr>
          <a:xfrm>
            <a:off x="7370064" y="3800856"/>
            <a:ext cx="4126687" cy="655320"/>
          </a:xfrm>
          <a:prstGeom prst="rect">
            <a:avLst/>
          </a:prstGeom>
          <a:noFill/>
          <a:ln/>
        </p:spPr>
        <p:txBody>
          <a:bodyPr wrap="square" lIns="0" tIns="0" rIns="0" bIns="0" rtlCol="0" anchor="t"/>
          <a:lstStyle/>
          <a:p>
            <a:pPr algn="l" indent="0" marL="0">
              <a:spcAft>
                <a:spcPts val="500"/>
              </a:spcAft>
              <a:buNone/>
            </a:pPr>
            <a:r>
              <a:rPr lang="en-US" sz="1400" dirty="0">
                <a:solidFill>
                  <a:schemeClr val="tx1"/>
                </a:solidFill>
              </a:rPr>
              <a:t>Pacific possessions respected; Anglo-Japanese Alliance ended; Open Door in China; Shandong back to China.</a:t>
            </a:r>
            <a:endParaRPr lang="en-US" sz="1400" dirty="0"/>
          </a:p>
        </p:txBody>
      </p:sp>
      <p:sp>
        <p:nvSpPr>
          <p:cNvPr id="16" name="Card 1482"/>
          <p:cNvSpPr/>
          <p:nvPr/>
        </p:nvSpPr>
        <p:spPr>
          <a:xfrm>
            <a:off x="7223760" y="4803648"/>
            <a:ext cx="4419295" cy="1459992"/>
          </a:xfrm>
          <a:prstGeom prst="roundRect">
            <a:avLst>
              <a:gd name="adj" fmla="val 6263"/>
            </a:avLst>
          </a:prstGeom>
          <a:solidFill>
            <a:schemeClr val="accent2">
              <a:alpha val="10000"/>
            </a:schemeClr>
          </a:solidFill>
          <a:ln/>
        </p:spPr>
      </p:sp>
      <p:sp>
        <p:nvSpPr>
          <p:cNvPr id="17" name="Icon circle 1483"/>
          <p:cNvSpPr/>
          <p:nvPr/>
        </p:nvSpPr>
        <p:spPr>
          <a:xfrm>
            <a:off x="7370064" y="4949952"/>
            <a:ext cx="402336" cy="402336"/>
          </a:xfrm>
          <a:prstGeom prst="ellipse">
            <a:avLst/>
          </a:prstGeom>
          <a:solidFill>
            <a:schemeClr val="accent2"/>
          </a:solidFill>
          <a:ln/>
        </p:spPr>
      </p:sp>
      <p:pic>
        <p:nvPicPr>
          <p:cNvPr id="18" name="Icon FaBalanceScale 1484" descr="preencoded.png">    </p:cNvPr>
          <p:cNvPicPr>
            <a:picLocks noChangeAspect="1"/>
          </p:cNvPicPr>
          <p:nvPr/>
        </p:nvPicPr>
        <p:blipFill>
          <a:blip r:embed="rId4"/>
          <a:stretch>
            <a:fillRect/>
          </a:stretch>
        </p:blipFill>
        <p:spPr>
          <a:xfrm>
            <a:off x="7458578" y="5038466"/>
            <a:ext cx="225308" cy="225308"/>
          </a:xfrm>
          <a:prstGeom prst="rect">
            <a:avLst/>
          </a:prstGeom>
        </p:spPr>
      </p:pic>
      <p:sp>
        <p:nvSpPr>
          <p:cNvPr id="19" name="Card title 1485"/>
          <p:cNvSpPr txBox="1"/>
          <p:nvPr/>
        </p:nvSpPr>
        <p:spPr>
          <a:xfrm>
            <a:off x="7900416" y="494995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Verdict</a:t>
            </a:r>
            <a:endParaRPr lang="en-US" sz="1600" dirty="0"/>
          </a:p>
        </p:txBody>
      </p:sp>
      <p:sp>
        <p:nvSpPr>
          <p:cNvPr id="20" name="Text 1486"/>
          <p:cNvSpPr txBox="1"/>
          <p:nvPr/>
        </p:nvSpPr>
        <p:spPr>
          <a:xfrm>
            <a:off x="7370064" y="5462016"/>
            <a:ext cx="4126687" cy="655320"/>
          </a:xfrm>
          <a:prstGeom prst="rect">
            <a:avLst/>
          </a:prstGeom>
          <a:noFill/>
          <a:ln/>
        </p:spPr>
        <p:txBody>
          <a:bodyPr wrap="square" lIns="0" tIns="0" rIns="0" bIns="0" rtlCol="0" anchor="t"/>
          <a:lstStyle/>
          <a:p>
            <a:pPr algn="l" indent="0" marL="0">
              <a:spcAft>
                <a:spcPts val="500"/>
              </a:spcAft>
              <a:buNone/>
            </a:pPr>
            <a:r>
              <a:rPr lang="en-US" sz="1400" dirty="0">
                <a:solidFill>
                  <a:schemeClr val="tx1"/>
                </a:solidFill>
              </a:rPr>
              <a:t>The decade's one real arms deal — but Japan resented '3', and cruisers were not limited.</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Kicker 148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KQ3 · 1922</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Genoa and Rapallo, 1922</a:t>
            </a:r>
            <a:endParaRPr lang="en-US" sz="3400" dirty="0"/>
          </a:p>
        </p:txBody>
      </p:sp>
      <p:sp>
        <p:nvSpPr>
          <p:cNvPr id="4" name="Card 1488"/>
          <p:cNvSpPr/>
          <p:nvPr/>
        </p:nvSpPr>
        <p:spPr>
          <a:xfrm>
            <a:off x="548640" y="1481328"/>
            <a:ext cx="5410048" cy="3794760"/>
          </a:xfrm>
          <a:prstGeom prst="roundRect">
            <a:avLst>
              <a:gd name="adj" fmla="val 2410"/>
            </a:avLst>
          </a:prstGeom>
          <a:solidFill>
            <a:schemeClr val="bg2"/>
          </a:solidFill>
          <a:ln/>
        </p:spPr>
      </p:sp>
      <p:sp>
        <p:nvSpPr>
          <p:cNvPr id="5" name="Icon circle 1489"/>
          <p:cNvSpPr/>
          <p:nvPr/>
        </p:nvSpPr>
        <p:spPr>
          <a:xfrm>
            <a:off x="731520" y="1664208"/>
            <a:ext cx="475488" cy="475488"/>
          </a:xfrm>
          <a:prstGeom prst="ellipse">
            <a:avLst/>
          </a:prstGeom>
          <a:solidFill>
            <a:schemeClr val="accent2"/>
          </a:solidFill>
          <a:ln/>
        </p:spPr>
      </p:sp>
      <p:pic>
        <p:nvPicPr>
          <p:cNvPr id="6" name="Icon FaUsers 1490"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491"/>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Genoa Conference (Apr–May 1922)</a:t>
            </a:r>
            <a:endParaRPr lang="en-US" sz="1700" dirty="0"/>
          </a:p>
        </p:txBody>
      </p:sp>
      <p:sp>
        <p:nvSpPr>
          <p:cNvPr id="8" name="Text 1492"/>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Lloyd George's plan to rebuild Europe's economy, including Germany and Soviet Russia</a:t>
            </a:r>
            <a:endParaRPr lang="en-US" sz="2000" dirty="0"/>
          </a:p>
          <a:p>
            <a:pPr algn="l" marL="190500" indent="-190500">
              <a:spcAft>
                <a:spcPts val="800"/>
              </a:spcAft>
              <a:buSzPct val="100000"/>
              <a:buChar char="•"/>
            </a:pPr>
            <a:r>
              <a:rPr lang="en-US" sz="2000" dirty="0">
                <a:solidFill>
                  <a:schemeClr val="tx1"/>
                </a:solidFill>
              </a:rPr>
              <a:t>34 states attended</a:t>
            </a:r>
            <a:endParaRPr lang="en-US" sz="2000" dirty="0"/>
          </a:p>
          <a:p>
            <a:pPr algn="l" marL="190500" indent="-190500">
              <a:spcAft>
                <a:spcPts val="800"/>
              </a:spcAft>
              <a:buSzPct val="100000"/>
              <a:buChar char="•"/>
            </a:pPr>
            <a:r>
              <a:rPr lang="en-US" sz="2000" dirty="0">
                <a:solidFill>
                  <a:schemeClr val="tx1"/>
                </a:solidFill>
              </a:rPr>
              <a:t>Failed: France insisted on reparations; Russia refused to repay Tsarist debts</a:t>
            </a:r>
            <a:endParaRPr lang="en-US" sz="2000" dirty="0"/>
          </a:p>
        </p:txBody>
      </p:sp>
      <p:sp>
        <p:nvSpPr>
          <p:cNvPr id="9" name="Card 1493"/>
          <p:cNvSpPr/>
          <p:nvPr/>
        </p:nvSpPr>
        <p:spPr>
          <a:xfrm>
            <a:off x="6233008" y="1481328"/>
            <a:ext cx="5410048" cy="3794760"/>
          </a:xfrm>
          <a:prstGeom prst="roundRect">
            <a:avLst>
              <a:gd name="adj" fmla="val 2410"/>
            </a:avLst>
          </a:prstGeom>
          <a:solidFill>
            <a:schemeClr val="accent2">
              <a:alpha val="10000"/>
            </a:schemeClr>
          </a:solidFill>
          <a:ln/>
        </p:spPr>
      </p:sp>
      <p:sp>
        <p:nvSpPr>
          <p:cNvPr id="10" name="Icon circle 1494"/>
          <p:cNvSpPr/>
          <p:nvPr/>
        </p:nvSpPr>
        <p:spPr>
          <a:xfrm>
            <a:off x="6415888" y="1664208"/>
            <a:ext cx="475488" cy="475488"/>
          </a:xfrm>
          <a:prstGeom prst="ellipse">
            <a:avLst/>
          </a:prstGeom>
          <a:solidFill>
            <a:schemeClr val="accent2"/>
          </a:solidFill>
          <a:ln/>
        </p:spPr>
      </p:sp>
      <p:pic>
        <p:nvPicPr>
          <p:cNvPr id="11" name="Icon FaHandshake 1495"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1496"/>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Treaty of Rapallo (16 Apr 1922)</a:t>
            </a:r>
            <a:endParaRPr lang="en-US" sz="1700" dirty="0"/>
          </a:p>
        </p:txBody>
      </p:sp>
      <p:sp>
        <p:nvSpPr>
          <p:cNvPr id="13" name="Text 1497"/>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Germany and Soviet Russia restored diplomatic relations</a:t>
            </a:r>
            <a:endParaRPr lang="en-US" sz="2000" dirty="0"/>
          </a:p>
          <a:p>
            <a:pPr algn="l" marL="190500" indent="-190500">
              <a:spcAft>
                <a:spcPts val="800"/>
              </a:spcAft>
              <a:buSzPct val="100000"/>
              <a:buChar char="•"/>
            </a:pPr>
            <a:r>
              <a:rPr lang="en-US" sz="2000" dirty="0">
                <a:solidFill>
                  <a:schemeClr val="tx1"/>
                </a:solidFill>
              </a:rPr>
              <a:t>Cancelled claims against each other</a:t>
            </a:r>
            <a:endParaRPr lang="en-US" sz="2000" dirty="0"/>
          </a:p>
          <a:p>
            <a:pPr algn="l" marL="190500" indent="-190500">
              <a:spcAft>
                <a:spcPts val="800"/>
              </a:spcAft>
              <a:buSzPct val="100000"/>
              <a:buChar char="•"/>
            </a:pPr>
            <a:r>
              <a:rPr lang="en-US" sz="2000" dirty="0">
                <a:solidFill>
                  <a:schemeClr val="tx1"/>
                </a:solidFill>
              </a:rPr>
              <a:t>Trade links — and secret military cooperation: German forces trained with tanks and aircraft inside Russia</a:t>
            </a:r>
            <a:endParaRPr lang="en-US" sz="2000" dirty="0"/>
          </a:p>
        </p:txBody>
      </p:sp>
      <p:sp>
        <p:nvSpPr>
          <p:cNvPr id="14" name="Callout 1498"/>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1499"/>
          <p:cNvSpPr/>
          <p:nvPr/>
        </p:nvSpPr>
        <p:spPr>
          <a:xfrm>
            <a:off x="731520" y="5751576"/>
            <a:ext cx="1295763" cy="310896"/>
          </a:xfrm>
          <a:prstGeom prst="roundRect">
            <a:avLst>
              <a:gd name="adj" fmla="val 50000"/>
            </a:avLst>
          </a:prstGeom>
          <a:solidFill>
            <a:schemeClr val="accent4"/>
          </a:solidFill>
          <a:ln/>
        </p:spPr>
      </p:sp>
      <p:sp>
        <p:nvSpPr>
          <p:cNvPr id="16" name="Text 1500"/>
          <p:cNvSpPr txBox="1"/>
          <p:nvPr/>
        </p:nvSpPr>
        <p:spPr>
          <a:xfrm>
            <a:off x="731520" y="5751576"/>
            <a:ext cx="129576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SIGNIFICANCE</a:t>
            </a:r>
            <a:endParaRPr lang="en-US" sz="1200" dirty="0"/>
          </a:p>
        </p:txBody>
      </p:sp>
      <p:sp>
        <p:nvSpPr>
          <p:cNvPr id="17" name="Text 1501"/>
          <p:cNvSpPr txBox="1"/>
          <p:nvPr/>
        </p:nvSpPr>
        <p:spPr>
          <a:xfrm>
            <a:off x="2210163" y="5623560"/>
            <a:ext cx="9250013"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Europe's two outcasts broke their isolation. Britain and France were shocked, and French suspicion of Germany grew — leading to the Ruhr.</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Kicker 150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KQ3 · CRISIS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Ruhr Crisis, 1923</a:t>
            </a:r>
            <a:endParaRPr lang="en-US" sz="3400" dirty="0"/>
          </a:p>
        </p:txBody>
      </p:sp>
      <p:sp>
        <p:nvSpPr>
          <p:cNvPr id="4" name="Step 1503"/>
          <p:cNvSpPr/>
          <p:nvPr/>
        </p:nvSpPr>
        <p:spPr>
          <a:xfrm>
            <a:off x="548640" y="1481328"/>
            <a:ext cx="2365248" cy="2331720"/>
          </a:xfrm>
          <a:prstGeom prst="roundRect">
            <a:avLst>
              <a:gd name="adj" fmla="val 3922"/>
            </a:avLst>
          </a:prstGeom>
          <a:solidFill>
            <a:schemeClr val="accent2">
              <a:alpha val="10000"/>
            </a:schemeClr>
          </a:solidFill>
          <a:ln/>
        </p:spPr>
      </p:sp>
      <p:sp>
        <p:nvSpPr>
          <p:cNvPr id="5" name="Step number 1504"/>
          <p:cNvSpPr/>
          <p:nvPr/>
        </p:nvSpPr>
        <p:spPr>
          <a:xfrm>
            <a:off x="713232" y="1645920"/>
            <a:ext cx="420624" cy="420624"/>
          </a:xfrm>
          <a:prstGeom prst="ellipse">
            <a:avLst/>
          </a:prstGeom>
          <a:solidFill>
            <a:schemeClr val="accent2"/>
          </a:solidFill>
          <a:ln/>
        </p:spPr>
      </p:sp>
      <p:sp>
        <p:nvSpPr>
          <p:cNvPr id="6" name="Text 1505"/>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1506"/>
          <p:cNvSpPr txBox="1"/>
          <p:nvPr/>
        </p:nvSpPr>
        <p:spPr>
          <a:xfrm>
            <a:off x="1243584" y="1645920"/>
            <a:ext cx="154228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Cause</a:t>
            </a:r>
            <a:endParaRPr lang="en-US" sz="1600" dirty="0"/>
          </a:p>
        </p:txBody>
      </p:sp>
      <p:sp>
        <p:nvSpPr>
          <p:cNvPr id="8" name="Text 1507"/>
          <p:cNvSpPr txBox="1"/>
          <p:nvPr/>
        </p:nvSpPr>
        <p:spPr>
          <a:xfrm>
            <a:off x="713232" y="2176272"/>
            <a:ext cx="2036064" cy="149961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Germany fell behind on reparation deliveries of coal and timber (late 1922).</a:t>
            </a:r>
            <a:endParaRPr lang="en-US" sz="1800" dirty="0"/>
          </a:p>
        </p:txBody>
      </p:sp>
      <p:sp>
        <p:nvSpPr>
          <p:cNvPr id="9" name="Arrow 1508"/>
          <p:cNvSpPr/>
          <p:nvPr/>
        </p:nvSpPr>
        <p:spPr>
          <a:xfrm>
            <a:off x="2977896" y="2500884"/>
            <a:ext cx="256032" cy="292608"/>
          </a:xfrm>
          <a:prstGeom prst="chevron">
            <a:avLst/>
          </a:prstGeom>
          <a:solidFill>
            <a:schemeClr val="accent2"/>
          </a:solidFill>
          <a:ln/>
        </p:spPr>
      </p:sp>
      <p:sp>
        <p:nvSpPr>
          <p:cNvPr id="10" name="Step 1509"/>
          <p:cNvSpPr/>
          <p:nvPr/>
        </p:nvSpPr>
        <p:spPr>
          <a:xfrm>
            <a:off x="3297936" y="1481328"/>
            <a:ext cx="2365248" cy="2331720"/>
          </a:xfrm>
          <a:prstGeom prst="roundRect">
            <a:avLst>
              <a:gd name="adj" fmla="val 3922"/>
            </a:avLst>
          </a:prstGeom>
          <a:solidFill>
            <a:schemeClr val="accent2">
              <a:alpha val="10000"/>
            </a:schemeClr>
          </a:solidFill>
          <a:ln/>
        </p:spPr>
      </p:sp>
      <p:sp>
        <p:nvSpPr>
          <p:cNvPr id="11" name="Step number 1510"/>
          <p:cNvSpPr/>
          <p:nvPr/>
        </p:nvSpPr>
        <p:spPr>
          <a:xfrm>
            <a:off x="3462528" y="1645920"/>
            <a:ext cx="420624" cy="420624"/>
          </a:xfrm>
          <a:prstGeom prst="ellipse">
            <a:avLst/>
          </a:prstGeom>
          <a:solidFill>
            <a:schemeClr val="accent2"/>
          </a:solidFill>
          <a:ln/>
        </p:spPr>
      </p:sp>
      <p:sp>
        <p:nvSpPr>
          <p:cNvPr id="12" name="Text 1511"/>
          <p:cNvSpPr txBox="1"/>
          <p:nvPr/>
        </p:nvSpPr>
        <p:spPr>
          <a:xfrm>
            <a:off x="3462528"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1512"/>
          <p:cNvSpPr txBox="1"/>
          <p:nvPr/>
        </p:nvSpPr>
        <p:spPr>
          <a:xfrm>
            <a:off x="3992880" y="1645920"/>
            <a:ext cx="154228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Occupation</a:t>
            </a:r>
            <a:endParaRPr lang="en-US" sz="1600" dirty="0"/>
          </a:p>
        </p:txBody>
      </p:sp>
      <p:sp>
        <p:nvSpPr>
          <p:cNvPr id="14" name="Text 1513"/>
          <p:cNvSpPr txBox="1"/>
          <p:nvPr/>
        </p:nvSpPr>
        <p:spPr>
          <a:xfrm>
            <a:off x="3462528" y="2176272"/>
            <a:ext cx="2036064" cy="149961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Jan 1923: c.60,000 French and Belgian troops occupied the Ruhr.</a:t>
            </a:r>
            <a:endParaRPr lang="en-US" sz="1800" dirty="0"/>
          </a:p>
        </p:txBody>
      </p:sp>
      <p:sp>
        <p:nvSpPr>
          <p:cNvPr id="15" name="Arrow 1514"/>
          <p:cNvSpPr/>
          <p:nvPr/>
        </p:nvSpPr>
        <p:spPr>
          <a:xfrm>
            <a:off x="5727192" y="2500884"/>
            <a:ext cx="256032" cy="292608"/>
          </a:xfrm>
          <a:prstGeom prst="chevron">
            <a:avLst/>
          </a:prstGeom>
          <a:solidFill>
            <a:schemeClr val="accent2"/>
          </a:solidFill>
          <a:ln/>
        </p:spPr>
      </p:sp>
      <p:sp>
        <p:nvSpPr>
          <p:cNvPr id="16" name="Step 1515"/>
          <p:cNvSpPr/>
          <p:nvPr/>
        </p:nvSpPr>
        <p:spPr>
          <a:xfrm>
            <a:off x="6047232" y="1481328"/>
            <a:ext cx="2365248" cy="2331720"/>
          </a:xfrm>
          <a:prstGeom prst="roundRect">
            <a:avLst>
              <a:gd name="adj" fmla="val 3922"/>
            </a:avLst>
          </a:prstGeom>
          <a:solidFill>
            <a:schemeClr val="accent2">
              <a:alpha val="10000"/>
            </a:schemeClr>
          </a:solidFill>
          <a:ln/>
        </p:spPr>
      </p:sp>
      <p:sp>
        <p:nvSpPr>
          <p:cNvPr id="17" name="Step number 1516"/>
          <p:cNvSpPr/>
          <p:nvPr/>
        </p:nvSpPr>
        <p:spPr>
          <a:xfrm>
            <a:off x="6211824" y="1645920"/>
            <a:ext cx="420624" cy="420624"/>
          </a:xfrm>
          <a:prstGeom prst="ellipse">
            <a:avLst/>
          </a:prstGeom>
          <a:solidFill>
            <a:schemeClr val="accent2"/>
          </a:solidFill>
          <a:ln/>
        </p:spPr>
      </p:sp>
      <p:sp>
        <p:nvSpPr>
          <p:cNvPr id="18" name="Text 1517"/>
          <p:cNvSpPr txBox="1"/>
          <p:nvPr/>
        </p:nvSpPr>
        <p:spPr>
          <a:xfrm>
            <a:off x="6211824"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1518"/>
          <p:cNvSpPr txBox="1"/>
          <p:nvPr/>
        </p:nvSpPr>
        <p:spPr>
          <a:xfrm>
            <a:off x="6742176" y="1645920"/>
            <a:ext cx="154228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Response</a:t>
            </a:r>
            <a:endParaRPr lang="en-US" sz="1600" dirty="0"/>
          </a:p>
        </p:txBody>
      </p:sp>
      <p:sp>
        <p:nvSpPr>
          <p:cNvPr id="20" name="Text 1519"/>
          <p:cNvSpPr txBox="1"/>
          <p:nvPr/>
        </p:nvSpPr>
        <p:spPr>
          <a:xfrm>
            <a:off x="6211824" y="2176272"/>
            <a:ext cx="2036064" cy="149961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Passive resistance and strikes; money printed → hyperinflation.</a:t>
            </a:r>
            <a:endParaRPr lang="en-US" sz="1800" dirty="0"/>
          </a:p>
        </p:txBody>
      </p:sp>
      <p:sp>
        <p:nvSpPr>
          <p:cNvPr id="21" name="Card 1520"/>
          <p:cNvSpPr/>
          <p:nvPr/>
        </p:nvSpPr>
        <p:spPr>
          <a:xfrm>
            <a:off x="548640" y="4087368"/>
            <a:ext cx="3794760" cy="2176272"/>
          </a:xfrm>
          <a:prstGeom prst="roundRect">
            <a:avLst>
              <a:gd name="adj" fmla="val 4202"/>
            </a:avLst>
          </a:prstGeom>
          <a:solidFill>
            <a:schemeClr val="accent2">
              <a:alpha val="10000"/>
            </a:schemeClr>
          </a:solidFill>
          <a:ln/>
        </p:spPr>
      </p:sp>
      <p:sp>
        <p:nvSpPr>
          <p:cNvPr id="22" name="Icon circle 1521"/>
          <p:cNvSpPr/>
          <p:nvPr/>
        </p:nvSpPr>
        <p:spPr>
          <a:xfrm>
            <a:off x="731520" y="4270248"/>
            <a:ext cx="475488" cy="475488"/>
          </a:xfrm>
          <a:prstGeom prst="ellipse">
            <a:avLst/>
          </a:prstGeom>
          <a:solidFill>
            <a:schemeClr val="accent2"/>
          </a:solidFill>
          <a:ln/>
        </p:spPr>
      </p:sp>
      <p:pic>
        <p:nvPicPr>
          <p:cNvPr id="23" name="Icon FaArrowTrendDown 1522" descr="preencoded.png">    </p:cNvPr>
          <p:cNvPicPr>
            <a:picLocks noChangeAspect="1"/>
          </p:cNvPicPr>
          <p:nvPr/>
        </p:nvPicPr>
        <p:blipFill>
          <a:blip r:embed="rId1"/>
          <a:stretch>
            <a:fillRect/>
          </a:stretch>
        </p:blipFill>
        <p:spPr>
          <a:xfrm>
            <a:off x="836127" y="4374855"/>
            <a:ext cx="266273" cy="266273"/>
          </a:xfrm>
          <a:prstGeom prst="rect">
            <a:avLst/>
          </a:prstGeom>
        </p:spPr>
      </p:pic>
      <p:sp>
        <p:nvSpPr>
          <p:cNvPr id="24" name="Card title 1523"/>
          <p:cNvSpPr txBox="1"/>
          <p:nvPr/>
        </p:nvSpPr>
        <p:spPr>
          <a:xfrm>
            <a:off x="1335024" y="4270248"/>
            <a:ext cx="2825496"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Consequences</a:t>
            </a:r>
            <a:endParaRPr lang="en-US" sz="1700" dirty="0"/>
          </a:p>
        </p:txBody>
      </p:sp>
      <p:sp>
        <p:nvSpPr>
          <p:cNvPr id="25" name="Text 1524"/>
          <p:cNvSpPr txBox="1"/>
          <p:nvPr/>
        </p:nvSpPr>
        <p:spPr>
          <a:xfrm>
            <a:off x="731520" y="4855464"/>
            <a:ext cx="3429000" cy="1225296"/>
          </a:xfrm>
          <a:prstGeom prst="rect">
            <a:avLst/>
          </a:prstGeom>
          <a:noFill/>
          <a:ln/>
        </p:spPr>
        <p:txBody>
          <a:bodyPr wrap="square" lIns="0" tIns="0" rIns="0" bIns="0" rtlCol="0" anchor="t"/>
          <a:lstStyle/>
          <a:p>
            <a:pPr algn="l" marL="190500" indent="-190500">
              <a:spcAft>
                <a:spcPts val="500"/>
              </a:spcAft>
              <a:buSzPct val="100000"/>
              <a:buChar char="•"/>
            </a:pPr>
            <a:r>
              <a:rPr lang="en-US" sz="1400" dirty="0">
                <a:solidFill>
                  <a:schemeClr val="tx1"/>
                </a:solidFill>
              </a:rPr>
              <a:t>Stresemann ended passive resistance (Sept 1923)</a:t>
            </a:r>
            <a:endParaRPr lang="en-US" sz="1400" dirty="0"/>
          </a:p>
          <a:p>
            <a:pPr algn="l" marL="190500" indent="-190500">
              <a:spcAft>
                <a:spcPts val="500"/>
              </a:spcAft>
              <a:buSzPct val="100000"/>
              <a:buChar char="•"/>
            </a:pPr>
            <a:r>
              <a:rPr lang="en-US" sz="1400" dirty="0">
                <a:solidFill>
                  <a:schemeClr val="tx1"/>
                </a:solidFill>
              </a:rPr>
              <a:t>France isolated: Britain and USA critical; the franc fell</a:t>
            </a:r>
            <a:endParaRPr lang="en-US" sz="1400" dirty="0"/>
          </a:p>
          <a:p>
            <a:pPr algn="l" marL="190500" indent="-190500">
              <a:spcAft>
                <a:spcPts val="500"/>
              </a:spcAft>
              <a:buSzPct val="100000"/>
              <a:buChar char="•"/>
            </a:pPr>
            <a:r>
              <a:rPr lang="en-US" sz="1400" dirty="0">
                <a:solidFill>
                  <a:schemeClr val="tx1"/>
                </a:solidFill>
              </a:rPr>
              <a:t>Hitler's Munich Putsch (Nov 1923)</a:t>
            </a:r>
            <a:endParaRPr lang="en-US" sz="1400" dirty="0"/>
          </a:p>
        </p:txBody>
      </p:sp>
      <p:sp>
        <p:nvSpPr>
          <p:cNvPr id="26" name="Card 1525"/>
          <p:cNvSpPr/>
          <p:nvPr/>
        </p:nvSpPr>
        <p:spPr>
          <a:xfrm>
            <a:off x="4617720" y="4087368"/>
            <a:ext cx="3794760" cy="2176272"/>
          </a:xfrm>
          <a:prstGeom prst="roundRect">
            <a:avLst>
              <a:gd name="adj" fmla="val 4202"/>
            </a:avLst>
          </a:prstGeom>
          <a:solidFill>
            <a:schemeClr val="accent2">
              <a:alpha val="10000"/>
            </a:schemeClr>
          </a:solidFill>
          <a:ln/>
        </p:spPr>
      </p:sp>
      <p:sp>
        <p:nvSpPr>
          <p:cNvPr id="27" name="Icon circle 1526"/>
          <p:cNvSpPr/>
          <p:nvPr/>
        </p:nvSpPr>
        <p:spPr>
          <a:xfrm>
            <a:off x="4800600" y="4270248"/>
            <a:ext cx="475488" cy="475488"/>
          </a:xfrm>
          <a:prstGeom prst="ellipse">
            <a:avLst/>
          </a:prstGeom>
          <a:solidFill>
            <a:schemeClr val="accent2"/>
          </a:solidFill>
          <a:ln/>
        </p:spPr>
      </p:sp>
      <p:pic>
        <p:nvPicPr>
          <p:cNvPr id="28" name="Icon FaRoute 1527" descr="preencoded.png">    </p:cNvPr>
          <p:cNvPicPr>
            <a:picLocks noChangeAspect="1"/>
          </p:cNvPicPr>
          <p:nvPr/>
        </p:nvPicPr>
        <p:blipFill>
          <a:blip r:embed="rId2"/>
          <a:stretch>
            <a:fillRect/>
          </a:stretch>
        </p:blipFill>
        <p:spPr>
          <a:xfrm>
            <a:off x="4905207" y="4374855"/>
            <a:ext cx="266273" cy="266273"/>
          </a:xfrm>
          <a:prstGeom prst="rect">
            <a:avLst/>
          </a:prstGeom>
        </p:spPr>
      </p:pic>
      <p:sp>
        <p:nvSpPr>
          <p:cNvPr id="29" name="Card title 1528"/>
          <p:cNvSpPr txBox="1"/>
          <p:nvPr/>
        </p:nvSpPr>
        <p:spPr>
          <a:xfrm>
            <a:off x="5404104" y="4270248"/>
            <a:ext cx="2825496"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Turning point</a:t>
            </a:r>
            <a:endParaRPr lang="en-US" sz="1700" dirty="0"/>
          </a:p>
        </p:txBody>
      </p:sp>
      <p:sp>
        <p:nvSpPr>
          <p:cNvPr id="30" name="Text 1529"/>
          <p:cNvSpPr txBox="1"/>
          <p:nvPr/>
        </p:nvSpPr>
        <p:spPr>
          <a:xfrm>
            <a:off x="4800600" y="4855464"/>
            <a:ext cx="3429000" cy="122529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Force had failed. The crisis led straight to the Dawes Plan (1924) and a new era of negotiation.</a:t>
            </a:r>
            <a:endParaRPr lang="en-US" sz="1800" dirty="0"/>
          </a:p>
        </p:txBody>
      </p:sp>
      <p:sp>
        <p:nvSpPr>
          <p:cNvPr id="31" name="Stat panel 1530"/>
          <p:cNvSpPr/>
          <p:nvPr/>
        </p:nvSpPr>
        <p:spPr>
          <a:xfrm>
            <a:off x="8686800" y="1481328"/>
            <a:ext cx="2956255" cy="4782312"/>
          </a:xfrm>
          <a:prstGeom prst="roundRect">
            <a:avLst>
              <a:gd name="adj" fmla="val 3093"/>
            </a:avLst>
          </a:prstGeom>
          <a:solidFill>
            <a:schemeClr val="tx2"/>
          </a:solidFill>
          <a:ln/>
        </p:spPr>
      </p:sp>
      <p:sp>
        <p:nvSpPr>
          <p:cNvPr id="32" name="Text 1531"/>
          <p:cNvSpPr txBox="1"/>
          <p:nvPr/>
        </p:nvSpPr>
        <p:spPr>
          <a:xfrm>
            <a:off x="8961120" y="1801368"/>
            <a:ext cx="2407615" cy="365760"/>
          </a:xfrm>
          <a:prstGeom prst="rect">
            <a:avLst/>
          </a:prstGeom>
          <a:noFill/>
          <a:ln/>
        </p:spPr>
        <p:txBody>
          <a:bodyPr wrap="square" lIns="0" tIns="0" rIns="0" bIns="0" rtlCol="0" anchor="t"/>
          <a:lstStyle/>
          <a:p>
            <a:pPr algn="l" indent="0" marL="0">
              <a:spcAft>
                <a:spcPts val="600"/>
              </a:spcAft>
              <a:buNone/>
            </a:pPr>
            <a:r>
              <a:rPr lang="en-US" sz="1500" b="1" dirty="0">
                <a:solidFill>
                  <a:schemeClr val="accent4"/>
                </a:solidFill>
              </a:rPr>
              <a:t>Hyperinflation, Nov 1923</a:t>
            </a:r>
            <a:endParaRPr lang="en-US" sz="1500" dirty="0"/>
          </a:p>
        </p:txBody>
      </p:sp>
      <p:sp>
        <p:nvSpPr>
          <p:cNvPr id="33" name="Text 1532"/>
          <p:cNvSpPr txBox="1"/>
          <p:nvPr/>
        </p:nvSpPr>
        <p:spPr>
          <a:xfrm>
            <a:off x="8961120" y="2258568"/>
            <a:ext cx="2407615" cy="1188720"/>
          </a:xfrm>
          <a:prstGeom prst="rect">
            <a:avLst/>
          </a:prstGeom>
          <a:noFill/>
          <a:ln/>
        </p:spPr>
        <p:txBody>
          <a:bodyPr wrap="square" lIns="0" tIns="0" rIns="0" bIns="0" rtlCol="0" anchor="ctr"/>
          <a:lstStyle/>
          <a:p>
            <a:pPr algn="l" indent="0" marL="0">
              <a:spcAft>
                <a:spcPts val="600"/>
              </a:spcAft>
              <a:buNone/>
            </a:pPr>
            <a:r>
              <a:rPr lang="en-US" sz="4000" b="1" dirty="0">
                <a:solidFill>
                  <a:schemeClr val="bg1"/>
                </a:solidFill>
                <a:latin typeface="+mj-lt" pitchFamily="34" charset="0"/>
                <a:ea typeface="+mj-lt" pitchFamily="34" charset="-122"/>
                <a:cs typeface="+mj-lt" pitchFamily="34" charset="-120"/>
              </a:rPr>
              <a:t>4.2 trillion</a:t>
            </a:r>
            <a:endParaRPr lang="en-US" sz="4000" dirty="0"/>
          </a:p>
        </p:txBody>
      </p:sp>
      <p:sp>
        <p:nvSpPr>
          <p:cNvPr id="34" name="Text 1533"/>
          <p:cNvSpPr txBox="1"/>
          <p:nvPr/>
        </p:nvSpPr>
        <p:spPr>
          <a:xfrm>
            <a:off x="8961120" y="3493008"/>
            <a:ext cx="2407615" cy="365760"/>
          </a:xfrm>
          <a:prstGeom prst="rect">
            <a:avLst/>
          </a:prstGeom>
          <a:noFill/>
          <a:ln/>
        </p:spPr>
        <p:txBody>
          <a:bodyPr wrap="square" lIns="0" tIns="0" rIns="0" bIns="0" rtlCol="0" anchor="t"/>
          <a:lstStyle/>
          <a:p>
            <a:pPr algn="l" indent="0" marL="0">
              <a:spcAft>
                <a:spcPts val="600"/>
              </a:spcAft>
              <a:buNone/>
            </a:pPr>
            <a:r>
              <a:rPr lang="en-US" sz="1600" dirty="0">
                <a:solidFill>
                  <a:schemeClr val="bg1"/>
                </a:solidFill>
              </a:rPr>
              <a:t>marks to one US dollar</a:t>
            </a:r>
            <a:endParaRPr lang="en-US" sz="1600" dirty="0"/>
          </a:p>
        </p:txBody>
      </p:sp>
      <p:sp>
        <p:nvSpPr>
          <p:cNvPr id="35" name="Text 1534"/>
          <p:cNvSpPr txBox="1"/>
          <p:nvPr/>
        </p:nvSpPr>
        <p:spPr>
          <a:xfrm>
            <a:off x="8961120" y="4224528"/>
            <a:ext cx="2407615" cy="1645920"/>
          </a:xfrm>
          <a:prstGeom prst="rect">
            <a:avLst/>
          </a:prstGeom>
          <a:noFill/>
          <a:ln/>
        </p:spPr>
        <p:txBody>
          <a:bodyPr wrap="square" lIns="0" tIns="0" rIns="0" bIns="0" rtlCol="0" anchor="t"/>
          <a:lstStyle/>
          <a:p>
            <a:pPr algn="l" indent="0" marL="0">
              <a:spcAft>
                <a:spcPts val="600"/>
              </a:spcAft>
              <a:buNone/>
            </a:pPr>
            <a:r>
              <a:rPr lang="en-US" sz="1500" dirty="0">
                <a:solidFill>
                  <a:schemeClr val="bg2"/>
                </a:solidFill>
              </a:rPr>
              <a:t>In 1914 a dollar cost about 4 marks. Savings were wiped out — and many Germans blamed Versailles.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Kicker 1535"/>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KQ3 · TURKEY</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Turkey revises its treaty: Chanak and Lausanne</a:t>
            </a:r>
            <a:endParaRPr lang="en-US" sz="3400" dirty="0"/>
          </a:p>
        </p:txBody>
      </p:sp>
      <p:sp>
        <p:nvSpPr>
          <p:cNvPr id="4" name="Step 1536"/>
          <p:cNvSpPr/>
          <p:nvPr/>
        </p:nvSpPr>
        <p:spPr>
          <a:xfrm>
            <a:off x="548640" y="1481328"/>
            <a:ext cx="3442106" cy="3794760"/>
          </a:xfrm>
          <a:prstGeom prst="roundRect">
            <a:avLst>
              <a:gd name="adj" fmla="val 2657"/>
            </a:avLst>
          </a:prstGeom>
          <a:solidFill>
            <a:schemeClr val="accent2">
              <a:alpha val="10000"/>
            </a:schemeClr>
          </a:solidFill>
          <a:ln/>
        </p:spPr>
      </p:sp>
      <p:sp>
        <p:nvSpPr>
          <p:cNvPr id="5" name="Step number 1537"/>
          <p:cNvSpPr/>
          <p:nvPr/>
        </p:nvSpPr>
        <p:spPr>
          <a:xfrm>
            <a:off x="713232" y="1645920"/>
            <a:ext cx="420624" cy="420624"/>
          </a:xfrm>
          <a:prstGeom prst="ellipse">
            <a:avLst/>
          </a:prstGeom>
          <a:solidFill>
            <a:schemeClr val="accent2"/>
          </a:solidFill>
          <a:ln/>
        </p:spPr>
      </p:sp>
      <p:sp>
        <p:nvSpPr>
          <p:cNvPr id="6" name="Text 1538"/>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1539"/>
          <p:cNvSpPr txBox="1"/>
          <p:nvPr/>
        </p:nvSpPr>
        <p:spPr>
          <a:xfrm>
            <a:off x="1243584" y="1645920"/>
            <a:ext cx="2619146"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Greco-Turkish War (1919–22)</a:t>
            </a:r>
            <a:endParaRPr lang="en-US" sz="1600" dirty="0"/>
          </a:p>
        </p:txBody>
      </p:sp>
      <p:sp>
        <p:nvSpPr>
          <p:cNvPr id="8" name="Text 1540"/>
          <p:cNvSpPr txBox="1"/>
          <p:nvPr/>
        </p:nvSpPr>
        <p:spPr>
          <a:xfrm>
            <a:off x="713232" y="2176272"/>
            <a:ext cx="3112922"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Greece invaded Anatolia</a:t>
            </a:r>
            <a:endParaRPr lang="en-US" sz="1800" dirty="0"/>
          </a:p>
          <a:p>
            <a:pPr algn="l" marL="190500" indent="-190500">
              <a:spcAft>
                <a:spcPts val="400"/>
              </a:spcAft>
              <a:buSzPct val="100000"/>
              <a:buChar char="•"/>
            </a:pPr>
            <a:r>
              <a:rPr lang="en-US" sz="1800" dirty="0">
                <a:solidFill>
                  <a:schemeClr val="tx1"/>
                </a:solidFill>
              </a:rPr>
              <a:t>Mustafa Kemal's nationalists drove the Greeks out (Smyrna, Sept 1922)</a:t>
            </a:r>
            <a:endParaRPr lang="en-US" sz="1800" dirty="0"/>
          </a:p>
        </p:txBody>
      </p:sp>
      <p:sp>
        <p:nvSpPr>
          <p:cNvPr id="9" name="Arrow 1541"/>
          <p:cNvSpPr/>
          <p:nvPr/>
        </p:nvSpPr>
        <p:spPr>
          <a:xfrm>
            <a:off x="4054754" y="3232404"/>
            <a:ext cx="256032" cy="292608"/>
          </a:xfrm>
          <a:prstGeom prst="chevron">
            <a:avLst/>
          </a:prstGeom>
          <a:solidFill>
            <a:schemeClr val="accent2"/>
          </a:solidFill>
          <a:ln/>
        </p:spPr>
      </p:sp>
      <p:sp>
        <p:nvSpPr>
          <p:cNvPr id="10" name="Step 1542"/>
          <p:cNvSpPr/>
          <p:nvPr/>
        </p:nvSpPr>
        <p:spPr>
          <a:xfrm>
            <a:off x="4374794" y="1481328"/>
            <a:ext cx="3442106" cy="3794760"/>
          </a:xfrm>
          <a:prstGeom prst="roundRect">
            <a:avLst>
              <a:gd name="adj" fmla="val 2657"/>
            </a:avLst>
          </a:prstGeom>
          <a:solidFill>
            <a:schemeClr val="accent2">
              <a:alpha val="10000"/>
            </a:schemeClr>
          </a:solidFill>
          <a:ln/>
        </p:spPr>
      </p:sp>
      <p:sp>
        <p:nvSpPr>
          <p:cNvPr id="11" name="Step number 1543"/>
          <p:cNvSpPr/>
          <p:nvPr/>
        </p:nvSpPr>
        <p:spPr>
          <a:xfrm>
            <a:off x="4539386" y="1645920"/>
            <a:ext cx="420624" cy="420624"/>
          </a:xfrm>
          <a:prstGeom prst="ellipse">
            <a:avLst/>
          </a:prstGeom>
          <a:solidFill>
            <a:schemeClr val="accent2"/>
          </a:solidFill>
          <a:ln/>
        </p:spPr>
      </p:sp>
      <p:sp>
        <p:nvSpPr>
          <p:cNvPr id="12" name="Text 1544"/>
          <p:cNvSpPr txBox="1"/>
          <p:nvPr/>
        </p:nvSpPr>
        <p:spPr>
          <a:xfrm>
            <a:off x="4539386"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1545"/>
          <p:cNvSpPr txBox="1"/>
          <p:nvPr/>
        </p:nvSpPr>
        <p:spPr>
          <a:xfrm>
            <a:off x="5069738" y="1645920"/>
            <a:ext cx="2619146"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Chanak Crisis (Sept 1922)</a:t>
            </a:r>
            <a:endParaRPr lang="en-US" sz="1600" dirty="0"/>
          </a:p>
        </p:txBody>
      </p:sp>
      <p:sp>
        <p:nvSpPr>
          <p:cNvPr id="14" name="Text 1546"/>
          <p:cNvSpPr txBox="1"/>
          <p:nvPr/>
        </p:nvSpPr>
        <p:spPr>
          <a:xfrm>
            <a:off x="4539386" y="2176272"/>
            <a:ext cx="3112922"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Turkish troops faced British forces at the Straits</a:t>
            </a:r>
            <a:endParaRPr lang="en-US" sz="1800" dirty="0"/>
          </a:p>
          <a:p>
            <a:pPr algn="l" marL="190500" indent="-190500">
              <a:spcAft>
                <a:spcPts val="400"/>
              </a:spcAft>
              <a:buSzPct val="100000"/>
              <a:buChar char="•"/>
            </a:pPr>
            <a:r>
              <a:rPr lang="en-US" sz="1800" dirty="0">
                <a:solidFill>
                  <a:schemeClr val="tx1"/>
                </a:solidFill>
              </a:rPr>
              <a:t>France and Italy pulled out; most Dominions refused to help</a:t>
            </a:r>
            <a:endParaRPr lang="en-US" sz="1800" dirty="0"/>
          </a:p>
          <a:p>
            <a:pPr algn="l" marL="190500" indent="-190500">
              <a:spcAft>
                <a:spcPts val="400"/>
              </a:spcAft>
              <a:buSzPct val="100000"/>
              <a:buChar char="•"/>
            </a:pPr>
            <a:r>
              <a:rPr lang="en-US" sz="1800" dirty="0">
                <a:solidFill>
                  <a:schemeClr val="tx1"/>
                </a:solidFill>
              </a:rPr>
              <a:t>Lloyd George fell (Oct 1922)</a:t>
            </a:r>
            <a:endParaRPr lang="en-US" sz="1800" dirty="0"/>
          </a:p>
        </p:txBody>
      </p:sp>
      <p:sp>
        <p:nvSpPr>
          <p:cNvPr id="15" name="Arrow 1547"/>
          <p:cNvSpPr/>
          <p:nvPr/>
        </p:nvSpPr>
        <p:spPr>
          <a:xfrm>
            <a:off x="7880909" y="3232404"/>
            <a:ext cx="256032" cy="292608"/>
          </a:xfrm>
          <a:prstGeom prst="chevron">
            <a:avLst/>
          </a:prstGeom>
          <a:solidFill>
            <a:schemeClr val="accent2"/>
          </a:solidFill>
          <a:ln/>
        </p:spPr>
      </p:sp>
      <p:sp>
        <p:nvSpPr>
          <p:cNvPr id="16" name="Step 1548"/>
          <p:cNvSpPr/>
          <p:nvPr/>
        </p:nvSpPr>
        <p:spPr>
          <a:xfrm>
            <a:off x="8200949" y="1481328"/>
            <a:ext cx="3442106" cy="3794760"/>
          </a:xfrm>
          <a:prstGeom prst="roundRect">
            <a:avLst>
              <a:gd name="adj" fmla="val 2657"/>
            </a:avLst>
          </a:prstGeom>
          <a:solidFill>
            <a:schemeClr val="accent2">
              <a:alpha val="10000"/>
            </a:schemeClr>
          </a:solidFill>
          <a:ln/>
        </p:spPr>
      </p:sp>
      <p:sp>
        <p:nvSpPr>
          <p:cNvPr id="17" name="Step number 1549"/>
          <p:cNvSpPr/>
          <p:nvPr/>
        </p:nvSpPr>
        <p:spPr>
          <a:xfrm>
            <a:off x="8365541" y="1645920"/>
            <a:ext cx="420624" cy="420624"/>
          </a:xfrm>
          <a:prstGeom prst="ellipse">
            <a:avLst/>
          </a:prstGeom>
          <a:solidFill>
            <a:schemeClr val="accent2"/>
          </a:solidFill>
          <a:ln/>
        </p:spPr>
      </p:sp>
      <p:sp>
        <p:nvSpPr>
          <p:cNvPr id="18" name="Text 1550"/>
          <p:cNvSpPr txBox="1"/>
          <p:nvPr/>
        </p:nvSpPr>
        <p:spPr>
          <a:xfrm>
            <a:off x="8365541"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1551"/>
          <p:cNvSpPr txBox="1"/>
          <p:nvPr/>
        </p:nvSpPr>
        <p:spPr>
          <a:xfrm>
            <a:off x="8895893" y="1645920"/>
            <a:ext cx="2619146"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Treaty of Lausanne (July 1923)</a:t>
            </a:r>
            <a:endParaRPr lang="en-US" sz="1600" dirty="0"/>
          </a:p>
        </p:txBody>
      </p:sp>
      <p:sp>
        <p:nvSpPr>
          <p:cNvPr id="20" name="Text 1552"/>
          <p:cNvSpPr txBox="1"/>
          <p:nvPr/>
        </p:nvSpPr>
        <p:spPr>
          <a:xfrm>
            <a:off x="8365541" y="2176272"/>
            <a:ext cx="3112922"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Replaced Sèvres: modern Turkey's borders</a:t>
            </a:r>
            <a:endParaRPr lang="en-US" sz="1800" dirty="0"/>
          </a:p>
          <a:p>
            <a:pPr algn="l" marL="190500" indent="-190500">
              <a:spcAft>
                <a:spcPts val="400"/>
              </a:spcAft>
              <a:buSzPct val="100000"/>
              <a:buChar char="•"/>
            </a:pPr>
            <a:r>
              <a:rPr lang="en-US" sz="1800" dirty="0">
                <a:solidFill>
                  <a:schemeClr val="tx1"/>
                </a:solidFill>
              </a:rPr>
              <a:t>No reparations; Straits demilitarised</a:t>
            </a:r>
            <a:endParaRPr lang="en-US" sz="1800" dirty="0"/>
          </a:p>
          <a:p>
            <a:pPr algn="l" marL="190500" indent="-190500">
              <a:spcAft>
                <a:spcPts val="400"/>
              </a:spcAft>
              <a:buSzPct val="100000"/>
              <a:buChar char="•"/>
            </a:pPr>
            <a:r>
              <a:rPr lang="en-US" sz="1800" dirty="0">
                <a:solidFill>
                  <a:schemeClr val="tx1"/>
                </a:solidFill>
              </a:rPr>
              <a:t>Greek–Turkish population exchange</a:t>
            </a:r>
            <a:endParaRPr lang="en-US" sz="1800" dirty="0"/>
          </a:p>
        </p:txBody>
      </p:sp>
      <p:sp>
        <p:nvSpPr>
          <p:cNvPr id="21" name="Callout 1553"/>
          <p:cNvSpPr/>
          <p:nvPr/>
        </p:nvSpPr>
        <p:spPr>
          <a:xfrm>
            <a:off x="548640" y="5550408"/>
            <a:ext cx="11094415" cy="713232"/>
          </a:xfrm>
          <a:prstGeom prst="roundRect">
            <a:avLst>
              <a:gd name="adj" fmla="val 12821"/>
            </a:avLst>
          </a:prstGeom>
          <a:solidFill>
            <a:schemeClr val="accent4">
              <a:alpha val="20000"/>
            </a:schemeClr>
          </a:solidFill>
          <a:ln/>
        </p:spPr>
      </p:sp>
      <p:sp>
        <p:nvSpPr>
          <p:cNvPr id="22" name="Callout label 1554"/>
          <p:cNvSpPr/>
          <p:nvPr/>
        </p:nvSpPr>
        <p:spPr>
          <a:xfrm>
            <a:off x="731520" y="5751576"/>
            <a:ext cx="1295763" cy="310896"/>
          </a:xfrm>
          <a:prstGeom prst="roundRect">
            <a:avLst>
              <a:gd name="adj" fmla="val 50000"/>
            </a:avLst>
          </a:prstGeom>
          <a:solidFill>
            <a:schemeClr val="accent4"/>
          </a:solidFill>
          <a:ln/>
        </p:spPr>
      </p:sp>
      <p:sp>
        <p:nvSpPr>
          <p:cNvPr id="23" name="Text 1555"/>
          <p:cNvSpPr txBox="1"/>
          <p:nvPr/>
        </p:nvSpPr>
        <p:spPr>
          <a:xfrm>
            <a:off x="731520" y="5751576"/>
            <a:ext cx="129576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SIGNIFICANCE</a:t>
            </a:r>
            <a:endParaRPr lang="en-US" sz="1200" dirty="0"/>
          </a:p>
        </p:txBody>
      </p:sp>
      <p:sp>
        <p:nvSpPr>
          <p:cNvPr id="24" name="Text 1556"/>
          <p:cNvSpPr txBox="1"/>
          <p:nvPr/>
        </p:nvSpPr>
        <p:spPr>
          <a:xfrm>
            <a:off x="2210163" y="5623560"/>
            <a:ext cx="9250013"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Proof that the peace settlement could be overturned by force — and of the limits of British power. The League played no part.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Kicker 155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KQ3 · THE USSR</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USSR and the West, 1919–29</a:t>
            </a:r>
            <a:endParaRPr lang="en-US" sz="3400" dirty="0"/>
          </a:p>
        </p:txBody>
      </p:sp>
      <p:sp>
        <p:nvSpPr>
          <p:cNvPr id="4" name="Connector 1558"/>
          <p:cNvSpPr/>
          <p:nvPr/>
        </p:nvSpPr>
        <p:spPr>
          <a:xfrm>
            <a:off x="640080" y="3378708"/>
            <a:ext cx="10911535" cy="0"/>
          </a:xfrm>
          <a:prstGeom prst="line">
            <a:avLst/>
          </a:prstGeom>
          <a:noFill/>
          <a:ln w="31750">
            <a:solidFill>
              <a:schemeClr val="accent2"/>
            </a:solidFill>
            <a:prstDash val="solid"/>
          </a:ln>
        </p:spPr>
      </p:sp>
      <p:sp>
        <p:nvSpPr>
          <p:cNvPr id="5" name="Timeline dot 1559"/>
          <p:cNvSpPr/>
          <p:nvPr/>
        </p:nvSpPr>
        <p:spPr>
          <a:xfrm>
            <a:off x="1300603" y="3259836"/>
            <a:ext cx="237744" cy="237744"/>
          </a:xfrm>
          <a:prstGeom prst="ellipse">
            <a:avLst/>
          </a:prstGeom>
          <a:solidFill>
            <a:schemeClr val="accent2"/>
          </a:solidFill>
          <a:ln/>
        </p:spPr>
      </p:sp>
      <p:sp>
        <p:nvSpPr>
          <p:cNvPr id="6" name="Connector 1560"/>
          <p:cNvSpPr/>
          <p:nvPr/>
        </p:nvSpPr>
        <p:spPr>
          <a:xfrm flipV="1">
            <a:off x="1419475" y="3086100"/>
            <a:ext cx="0" cy="173736"/>
          </a:xfrm>
          <a:prstGeom prst="line">
            <a:avLst/>
          </a:prstGeom>
          <a:noFill/>
          <a:ln w="12700">
            <a:solidFill>
              <a:schemeClr val="accent2"/>
            </a:solidFill>
            <a:prstDash val="solid"/>
          </a:ln>
        </p:spPr>
      </p:sp>
      <p:sp>
        <p:nvSpPr>
          <p:cNvPr id="7" name="Text 1561"/>
          <p:cNvSpPr txBox="1"/>
          <p:nvPr/>
        </p:nvSpPr>
        <p:spPr>
          <a:xfrm>
            <a:off x="640080" y="2775204"/>
            <a:ext cx="219456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2"/>
                </a:solidFill>
              </a:rPr>
              <a:t>1918–20</a:t>
            </a:r>
            <a:endParaRPr lang="en-US" sz="1500" dirty="0"/>
          </a:p>
        </p:txBody>
      </p:sp>
      <p:sp>
        <p:nvSpPr>
          <p:cNvPr id="8" name="Text 1562"/>
          <p:cNvSpPr txBox="1"/>
          <p:nvPr/>
        </p:nvSpPr>
        <p:spPr>
          <a:xfrm>
            <a:off x="640080" y="1481328"/>
            <a:ext cx="219456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Allied intervention in the Civil War</a:t>
            </a:r>
            <a:endParaRPr lang="en-US" sz="1400" dirty="0"/>
          </a:p>
        </p:txBody>
      </p:sp>
      <p:sp>
        <p:nvSpPr>
          <p:cNvPr id="9" name="Timeline dot 1563"/>
          <p:cNvSpPr/>
          <p:nvPr/>
        </p:nvSpPr>
        <p:spPr>
          <a:xfrm>
            <a:off x="2859394" y="3259836"/>
            <a:ext cx="237744" cy="237744"/>
          </a:xfrm>
          <a:prstGeom prst="ellipse">
            <a:avLst/>
          </a:prstGeom>
          <a:solidFill>
            <a:schemeClr val="accent2"/>
          </a:solidFill>
          <a:ln/>
        </p:spPr>
      </p:sp>
      <p:sp>
        <p:nvSpPr>
          <p:cNvPr id="10" name="Connector 1564"/>
          <p:cNvSpPr/>
          <p:nvPr/>
        </p:nvSpPr>
        <p:spPr>
          <a:xfrm>
            <a:off x="2978266" y="3497580"/>
            <a:ext cx="0" cy="173736"/>
          </a:xfrm>
          <a:prstGeom prst="line">
            <a:avLst/>
          </a:prstGeom>
          <a:noFill/>
          <a:ln w="12700">
            <a:solidFill>
              <a:schemeClr val="accent2"/>
            </a:solidFill>
            <a:prstDash val="solid"/>
          </a:ln>
        </p:spPr>
      </p:sp>
      <p:sp>
        <p:nvSpPr>
          <p:cNvPr id="11" name="Text 1565"/>
          <p:cNvSpPr txBox="1"/>
          <p:nvPr/>
        </p:nvSpPr>
        <p:spPr>
          <a:xfrm>
            <a:off x="1880986" y="3671316"/>
            <a:ext cx="219456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2"/>
                </a:solidFill>
              </a:rPr>
              <a:t>1920–21</a:t>
            </a:r>
            <a:endParaRPr lang="en-US" sz="1500" dirty="0"/>
          </a:p>
        </p:txBody>
      </p:sp>
      <p:sp>
        <p:nvSpPr>
          <p:cNvPr id="12" name="Text 1566"/>
          <p:cNvSpPr txBox="1"/>
          <p:nvPr/>
        </p:nvSpPr>
        <p:spPr>
          <a:xfrm>
            <a:off x="1880986" y="4018788"/>
            <a:ext cx="2194560" cy="12938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Polish–Soviet War; Treaty of Riga</a:t>
            </a:r>
            <a:endParaRPr lang="en-US" sz="1400" dirty="0"/>
          </a:p>
        </p:txBody>
      </p:sp>
      <p:sp>
        <p:nvSpPr>
          <p:cNvPr id="13" name="Timeline dot 1567"/>
          <p:cNvSpPr/>
          <p:nvPr/>
        </p:nvSpPr>
        <p:spPr>
          <a:xfrm>
            <a:off x="4418185" y="3259836"/>
            <a:ext cx="237744" cy="237744"/>
          </a:xfrm>
          <a:prstGeom prst="ellipse">
            <a:avLst/>
          </a:prstGeom>
          <a:solidFill>
            <a:schemeClr val="accent2"/>
          </a:solidFill>
          <a:ln/>
        </p:spPr>
      </p:sp>
      <p:sp>
        <p:nvSpPr>
          <p:cNvPr id="14" name="Connector 1568"/>
          <p:cNvSpPr/>
          <p:nvPr/>
        </p:nvSpPr>
        <p:spPr>
          <a:xfrm flipV="1">
            <a:off x="4537057" y="3086100"/>
            <a:ext cx="0" cy="173736"/>
          </a:xfrm>
          <a:prstGeom prst="line">
            <a:avLst/>
          </a:prstGeom>
          <a:noFill/>
          <a:ln w="12700">
            <a:solidFill>
              <a:schemeClr val="accent2"/>
            </a:solidFill>
            <a:prstDash val="solid"/>
          </a:ln>
        </p:spPr>
      </p:sp>
      <p:sp>
        <p:nvSpPr>
          <p:cNvPr id="15" name="Text 1569"/>
          <p:cNvSpPr txBox="1"/>
          <p:nvPr/>
        </p:nvSpPr>
        <p:spPr>
          <a:xfrm>
            <a:off x="3439777" y="2775204"/>
            <a:ext cx="219456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2"/>
                </a:solidFill>
              </a:rPr>
              <a:t>1921</a:t>
            </a:r>
            <a:endParaRPr lang="en-US" sz="1500" dirty="0"/>
          </a:p>
        </p:txBody>
      </p:sp>
      <p:sp>
        <p:nvSpPr>
          <p:cNvPr id="16" name="Text 1570"/>
          <p:cNvSpPr txBox="1"/>
          <p:nvPr/>
        </p:nvSpPr>
        <p:spPr>
          <a:xfrm>
            <a:off x="3439777" y="1481328"/>
            <a:ext cx="219456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Anglo-Soviet Trade Agreement</a:t>
            </a:r>
            <a:endParaRPr lang="en-US" sz="1400" dirty="0"/>
          </a:p>
        </p:txBody>
      </p:sp>
      <p:sp>
        <p:nvSpPr>
          <p:cNvPr id="17" name="Timeline dot 1571"/>
          <p:cNvSpPr/>
          <p:nvPr/>
        </p:nvSpPr>
        <p:spPr>
          <a:xfrm>
            <a:off x="5976976" y="3259836"/>
            <a:ext cx="237744" cy="237744"/>
          </a:xfrm>
          <a:prstGeom prst="ellipse">
            <a:avLst/>
          </a:prstGeom>
          <a:solidFill>
            <a:schemeClr val="accent2"/>
          </a:solidFill>
          <a:ln/>
        </p:spPr>
      </p:sp>
      <p:sp>
        <p:nvSpPr>
          <p:cNvPr id="18" name="Connector 1572"/>
          <p:cNvSpPr/>
          <p:nvPr/>
        </p:nvSpPr>
        <p:spPr>
          <a:xfrm>
            <a:off x="6095848" y="3497580"/>
            <a:ext cx="0" cy="173736"/>
          </a:xfrm>
          <a:prstGeom prst="line">
            <a:avLst/>
          </a:prstGeom>
          <a:noFill/>
          <a:ln w="12700">
            <a:solidFill>
              <a:schemeClr val="accent2"/>
            </a:solidFill>
            <a:prstDash val="solid"/>
          </a:ln>
        </p:spPr>
      </p:sp>
      <p:sp>
        <p:nvSpPr>
          <p:cNvPr id="19" name="Text 1573"/>
          <p:cNvSpPr txBox="1"/>
          <p:nvPr/>
        </p:nvSpPr>
        <p:spPr>
          <a:xfrm>
            <a:off x="4998568" y="3671316"/>
            <a:ext cx="219456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2"/>
                </a:solidFill>
              </a:rPr>
              <a:t>1922</a:t>
            </a:r>
            <a:endParaRPr lang="en-US" sz="1500" dirty="0"/>
          </a:p>
        </p:txBody>
      </p:sp>
      <p:sp>
        <p:nvSpPr>
          <p:cNvPr id="20" name="Text 1574"/>
          <p:cNvSpPr txBox="1"/>
          <p:nvPr/>
        </p:nvSpPr>
        <p:spPr>
          <a:xfrm>
            <a:off x="4998568" y="4018788"/>
            <a:ext cx="2194560" cy="12938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Rapallo with Germany</a:t>
            </a:r>
            <a:endParaRPr lang="en-US" sz="1400" dirty="0"/>
          </a:p>
        </p:txBody>
      </p:sp>
      <p:sp>
        <p:nvSpPr>
          <p:cNvPr id="21" name="Timeline dot 1575"/>
          <p:cNvSpPr/>
          <p:nvPr/>
        </p:nvSpPr>
        <p:spPr>
          <a:xfrm>
            <a:off x="7535766" y="3259836"/>
            <a:ext cx="237744" cy="237744"/>
          </a:xfrm>
          <a:prstGeom prst="ellipse">
            <a:avLst/>
          </a:prstGeom>
          <a:solidFill>
            <a:schemeClr val="accent2"/>
          </a:solidFill>
          <a:ln/>
        </p:spPr>
      </p:sp>
      <p:sp>
        <p:nvSpPr>
          <p:cNvPr id="22" name="Connector 1576"/>
          <p:cNvSpPr/>
          <p:nvPr/>
        </p:nvSpPr>
        <p:spPr>
          <a:xfrm flipV="1">
            <a:off x="7654638" y="3086100"/>
            <a:ext cx="0" cy="173736"/>
          </a:xfrm>
          <a:prstGeom prst="line">
            <a:avLst/>
          </a:prstGeom>
          <a:noFill/>
          <a:ln w="12700">
            <a:solidFill>
              <a:schemeClr val="accent2"/>
            </a:solidFill>
            <a:prstDash val="solid"/>
          </a:ln>
        </p:spPr>
      </p:sp>
      <p:sp>
        <p:nvSpPr>
          <p:cNvPr id="23" name="Text 1577"/>
          <p:cNvSpPr txBox="1"/>
          <p:nvPr/>
        </p:nvSpPr>
        <p:spPr>
          <a:xfrm>
            <a:off x="6557358" y="2775204"/>
            <a:ext cx="219456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2"/>
                </a:solidFill>
              </a:rPr>
              <a:t>1924</a:t>
            </a:r>
            <a:endParaRPr lang="en-US" sz="1500" dirty="0"/>
          </a:p>
        </p:txBody>
      </p:sp>
      <p:sp>
        <p:nvSpPr>
          <p:cNvPr id="24" name="Text 1578"/>
          <p:cNvSpPr txBox="1"/>
          <p:nvPr/>
        </p:nvSpPr>
        <p:spPr>
          <a:xfrm>
            <a:off x="6557358" y="1481328"/>
            <a:ext cx="219456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Recognised by Britain, Italy and France</a:t>
            </a:r>
            <a:endParaRPr lang="en-US" sz="1400" dirty="0"/>
          </a:p>
        </p:txBody>
      </p:sp>
      <p:sp>
        <p:nvSpPr>
          <p:cNvPr id="25" name="Timeline dot 1579"/>
          <p:cNvSpPr/>
          <p:nvPr/>
        </p:nvSpPr>
        <p:spPr>
          <a:xfrm>
            <a:off x="9094557" y="3259836"/>
            <a:ext cx="237744" cy="237744"/>
          </a:xfrm>
          <a:prstGeom prst="ellipse">
            <a:avLst/>
          </a:prstGeom>
          <a:solidFill>
            <a:schemeClr val="accent2"/>
          </a:solidFill>
          <a:ln/>
        </p:spPr>
      </p:sp>
      <p:sp>
        <p:nvSpPr>
          <p:cNvPr id="26" name="Connector 1580"/>
          <p:cNvSpPr/>
          <p:nvPr/>
        </p:nvSpPr>
        <p:spPr>
          <a:xfrm>
            <a:off x="9213429" y="3497580"/>
            <a:ext cx="0" cy="173736"/>
          </a:xfrm>
          <a:prstGeom prst="line">
            <a:avLst/>
          </a:prstGeom>
          <a:noFill/>
          <a:ln w="12700">
            <a:solidFill>
              <a:schemeClr val="accent2"/>
            </a:solidFill>
            <a:prstDash val="solid"/>
          </a:ln>
        </p:spPr>
      </p:sp>
      <p:sp>
        <p:nvSpPr>
          <p:cNvPr id="27" name="Text 1581"/>
          <p:cNvSpPr txBox="1"/>
          <p:nvPr/>
        </p:nvSpPr>
        <p:spPr>
          <a:xfrm>
            <a:off x="8116149" y="3671316"/>
            <a:ext cx="219456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2"/>
                </a:solidFill>
              </a:rPr>
              <a:t>1927</a:t>
            </a:r>
            <a:endParaRPr lang="en-US" sz="1500" dirty="0"/>
          </a:p>
        </p:txBody>
      </p:sp>
      <p:sp>
        <p:nvSpPr>
          <p:cNvPr id="28" name="Text 1582"/>
          <p:cNvSpPr txBox="1"/>
          <p:nvPr/>
        </p:nvSpPr>
        <p:spPr>
          <a:xfrm>
            <a:off x="8116149" y="4018788"/>
            <a:ext cx="2194560" cy="12938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Britain breaks relations (restored 1929)</a:t>
            </a:r>
            <a:endParaRPr lang="en-US" sz="1400" dirty="0"/>
          </a:p>
        </p:txBody>
      </p:sp>
      <p:sp>
        <p:nvSpPr>
          <p:cNvPr id="29" name="Timeline dot 1583"/>
          <p:cNvSpPr/>
          <p:nvPr/>
        </p:nvSpPr>
        <p:spPr>
          <a:xfrm>
            <a:off x="10653348" y="3259836"/>
            <a:ext cx="237744" cy="237744"/>
          </a:xfrm>
          <a:prstGeom prst="ellipse">
            <a:avLst/>
          </a:prstGeom>
          <a:solidFill>
            <a:schemeClr val="accent2"/>
          </a:solidFill>
          <a:ln/>
        </p:spPr>
      </p:sp>
      <p:sp>
        <p:nvSpPr>
          <p:cNvPr id="30" name="Connector 1584"/>
          <p:cNvSpPr/>
          <p:nvPr/>
        </p:nvSpPr>
        <p:spPr>
          <a:xfrm flipV="1">
            <a:off x="10772220" y="3086100"/>
            <a:ext cx="0" cy="173736"/>
          </a:xfrm>
          <a:prstGeom prst="line">
            <a:avLst/>
          </a:prstGeom>
          <a:noFill/>
          <a:ln w="12700">
            <a:solidFill>
              <a:schemeClr val="accent2"/>
            </a:solidFill>
            <a:prstDash val="solid"/>
          </a:ln>
        </p:spPr>
      </p:sp>
      <p:sp>
        <p:nvSpPr>
          <p:cNvPr id="31" name="Text 1585"/>
          <p:cNvSpPr txBox="1"/>
          <p:nvPr/>
        </p:nvSpPr>
        <p:spPr>
          <a:xfrm>
            <a:off x="9357055" y="2775204"/>
            <a:ext cx="219456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2"/>
                </a:solidFill>
              </a:rPr>
              <a:t>1928</a:t>
            </a:r>
            <a:endParaRPr lang="en-US" sz="1500" dirty="0"/>
          </a:p>
        </p:txBody>
      </p:sp>
      <p:sp>
        <p:nvSpPr>
          <p:cNvPr id="32" name="Text 1586"/>
          <p:cNvSpPr txBox="1"/>
          <p:nvPr/>
        </p:nvSpPr>
        <p:spPr>
          <a:xfrm>
            <a:off x="9357055" y="1481328"/>
            <a:ext cx="219456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Signs the Kellogg–Briand Pact</a:t>
            </a:r>
            <a:endParaRPr lang="en-US" sz="1400" dirty="0"/>
          </a:p>
        </p:txBody>
      </p:sp>
      <p:sp>
        <p:nvSpPr>
          <p:cNvPr id="33" name="Callout 1587"/>
          <p:cNvSpPr/>
          <p:nvPr/>
        </p:nvSpPr>
        <p:spPr>
          <a:xfrm>
            <a:off x="548640" y="5550408"/>
            <a:ext cx="11094415" cy="713232"/>
          </a:xfrm>
          <a:prstGeom prst="roundRect">
            <a:avLst>
              <a:gd name="adj" fmla="val 12821"/>
            </a:avLst>
          </a:prstGeom>
          <a:solidFill>
            <a:schemeClr val="accent4">
              <a:alpha val="20000"/>
            </a:schemeClr>
          </a:solidFill>
          <a:ln/>
        </p:spPr>
      </p:sp>
      <p:sp>
        <p:nvSpPr>
          <p:cNvPr id="34" name="Callout label 1588"/>
          <p:cNvSpPr/>
          <p:nvPr/>
        </p:nvSpPr>
        <p:spPr>
          <a:xfrm>
            <a:off x="731520" y="5751576"/>
            <a:ext cx="1045034" cy="310896"/>
          </a:xfrm>
          <a:prstGeom prst="roundRect">
            <a:avLst>
              <a:gd name="adj" fmla="val 50000"/>
            </a:avLst>
          </a:prstGeom>
          <a:solidFill>
            <a:schemeClr val="accent4"/>
          </a:solidFill>
          <a:ln/>
        </p:spPr>
      </p:sp>
      <p:sp>
        <p:nvSpPr>
          <p:cNvPr id="35" name="Text 1589"/>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36" name="Text 1590"/>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Mutual suspicion: the USSR wanted trade and security; the West feared the Comintern spreading revolution.</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Kicker 159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KQ3 · THE USA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USA: isolationist — or not?</a:t>
            </a:r>
            <a:endParaRPr lang="en-US" sz="3400" dirty="0"/>
          </a:p>
        </p:txBody>
      </p:sp>
      <p:sp>
        <p:nvSpPr>
          <p:cNvPr id="4" name="Card 1592"/>
          <p:cNvSpPr/>
          <p:nvPr/>
        </p:nvSpPr>
        <p:spPr>
          <a:xfrm>
            <a:off x="548640" y="1481328"/>
            <a:ext cx="5212080" cy="2253996"/>
          </a:xfrm>
          <a:prstGeom prst="roundRect">
            <a:avLst>
              <a:gd name="adj" fmla="val 4057"/>
            </a:avLst>
          </a:prstGeom>
          <a:solidFill>
            <a:schemeClr val="bg2"/>
          </a:solidFill>
          <a:ln/>
        </p:spPr>
      </p:sp>
      <p:sp>
        <p:nvSpPr>
          <p:cNvPr id="5" name="Icon circle 1593"/>
          <p:cNvSpPr/>
          <p:nvPr/>
        </p:nvSpPr>
        <p:spPr>
          <a:xfrm>
            <a:off x="731520" y="1664208"/>
            <a:ext cx="475488" cy="475488"/>
          </a:xfrm>
          <a:prstGeom prst="ellipse">
            <a:avLst/>
          </a:prstGeom>
          <a:solidFill>
            <a:schemeClr val="accent2"/>
          </a:solidFill>
          <a:ln/>
        </p:spPr>
      </p:sp>
      <p:pic>
        <p:nvPicPr>
          <p:cNvPr id="6" name="Icon FaBan 1594"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595"/>
          <p:cNvSpPr txBox="1"/>
          <p:nvPr/>
        </p:nvSpPr>
        <p:spPr>
          <a:xfrm>
            <a:off x="1335024" y="1664208"/>
            <a:ext cx="4242816"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Political isolation</a:t>
            </a:r>
            <a:endParaRPr lang="en-US" sz="1700" dirty="0"/>
          </a:p>
        </p:txBody>
      </p:sp>
      <p:sp>
        <p:nvSpPr>
          <p:cNvPr id="8" name="Text 1596"/>
          <p:cNvSpPr txBox="1"/>
          <p:nvPr/>
        </p:nvSpPr>
        <p:spPr>
          <a:xfrm>
            <a:off x="731520" y="2249424"/>
            <a:ext cx="4846320" cy="1303020"/>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Senate rejected Versailles and the League (1919–20)</a:t>
            </a:r>
            <a:endParaRPr lang="en-US" sz="1800" dirty="0"/>
          </a:p>
          <a:p>
            <a:pPr algn="l" marL="190500" indent="-190500">
              <a:spcAft>
                <a:spcPts val="500"/>
              </a:spcAft>
              <a:buSzPct val="100000"/>
              <a:buChar char="•"/>
            </a:pPr>
            <a:r>
              <a:rPr lang="en-US" sz="1800" dirty="0">
                <a:solidFill>
                  <a:schemeClr val="tx1"/>
                </a:solidFill>
              </a:rPr>
              <a:t>Separate peace with Germany (1921)</a:t>
            </a:r>
            <a:endParaRPr lang="en-US" sz="1800" dirty="0"/>
          </a:p>
          <a:p>
            <a:pPr algn="l" marL="190500" indent="-190500">
              <a:spcAft>
                <a:spcPts val="500"/>
              </a:spcAft>
              <a:buSzPct val="100000"/>
              <a:buChar char="•"/>
            </a:pPr>
            <a:r>
              <a:rPr lang="en-US" sz="1800" dirty="0">
                <a:solidFill>
                  <a:schemeClr val="tx1"/>
                </a:solidFill>
              </a:rPr>
              <a:t>High tariffs (1922) and immigration limits (1924)</a:t>
            </a:r>
            <a:endParaRPr lang="en-US" sz="1800" dirty="0"/>
          </a:p>
        </p:txBody>
      </p:sp>
      <p:sp>
        <p:nvSpPr>
          <p:cNvPr id="9" name="Card 1597"/>
          <p:cNvSpPr/>
          <p:nvPr/>
        </p:nvSpPr>
        <p:spPr>
          <a:xfrm>
            <a:off x="548640" y="4009644"/>
            <a:ext cx="5212080" cy="2253996"/>
          </a:xfrm>
          <a:prstGeom prst="roundRect">
            <a:avLst>
              <a:gd name="adj" fmla="val 4057"/>
            </a:avLst>
          </a:prstGeom>
          <a:solidFill>
            <a:schemeClr val="accent2">
              <a:alpha val="10000"/>
            </a:schemeClr>
          </a:solidFill>
          <a:ln/>
        </p:spPr>
      </p:sp>
      <p:sp>
        <p:nvSpPr>
          <p:cNvPr id="10" name="Icon circle 1598"/>
          <p:cNvSpPr/>
          <p:nvPr/>
        </p:nvSpPr>
        <p:spPr>
          <a:xfrm>
            <a:off x="731520" y="4192524"/>
            <a:ext cx="475488" cy="475488"/>
          </a:xfrm>
          <a:prstGeom prst="ellipse">
            <a:avLst/>
          </a:prstGeom>
          <a:solidFill>
            <a:schemeClr val="accent2"/>
          </a:solidFill>
          <a:ln/>
        </p:spPr>
      </p:sp>
      <p:pic>
        <p:nvPicPr>
          <p:cNvPr id="11" name="Icon FaHandHoldingUsd 1599" descr="preencoded.png">    </p:cNvPr>
          <p:cNvPicPr>
            <a:picLocks noChangeAspect="1"/>
          </p:cNvPicPr>
          <p:nvPr/>
        </p:nvPicPr>
        <p:blipFill>
          <a:blip r:embed="rId2"/>
          <a:stretch>
            <a:fillRect/>
          </a:stretch>
        </p:blipFill>
        <p:spPr>
          <a:xfrm>
            <a:off x="836127" y="4297131"/>
            <a:ext cx="266273" cy="266273"/>
          </a:xfrm>
          <a:prstGeom prst="rect">
            <a:avLst/>
          </a:prstGeom>
        </p:spPr>
      </p:pic>
      <p:sp>
        <p:nvSpPr>
          <p:cNvPr id="12" name="Card title 1600"/>
          <p:cNvSpPr txBox="1"/>
          <p:nvPr/>
        </p:nvSpPr>
        <p:spPr>
          <a:xfrm>
            <a:off x="1335024" y="4192524"/>
            <a:ext cx="4242816"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Economic involvement</a:t>
            </a:r>
            <a:endParaRPr lang="en-US" sz="1700" dirty="0"/>
          </a:p>
        </p:txBody>
      </p:sp>
      <p:sp>
        <p:nvSpPr>
          <p:cNvPr id="13" name="Text 1601"/>
          <p:cNvSpPr txBox="1"/>
          <p:nvPr/>
        </p:nvSpPr>
        <p:spPr>
          <a:xfrm>
            <a:off x="731520" y="4777740"/>
            <a:ext cx="4846320" cy="1303020"/>
          </a:xfrm>
          <a:prstGeom prst="rect">
            <a:avLst/>
          </a:prstGeom>
          <a:noFill/>
          <a:ln/>
        </p:spPr>
        <p:txBody>
          <a:bodyPr wrap="square" lIns="0" tIns="0" rIns="0" bIns="0" rtlCol="0" anchor="t"/>
          <a:lstStyle/>
          <a:p>
            <a:pPr algn="l" marL="190500" indent="-190500">
              <a:spcAft>
                <a:spcPts val="500"/>
              </a:spcAft>
              <a:buSzPct val="100000"/>
              <a:buChar char="•"/>
            </a:pPr>
            <a:r>
              <a:rPr lang="en-US" sz="1600" dirty="0">
                <a:solidFill>
                  <a:schemeClr val="tx1"/>
                </a:solidFill>
              </a:rPr>
              <a:t>Washington Conference (1921–22)</a:t>
            </a:r>
            <a:endParaRPr lang="en-US" sz="1600" dirty="0"/>
          </a:p>
          <a:p>
            <a:pPr algn="l" marL="190500" indent="-190500">
              <a:spcAft>
                <a:spcPts val="500"/>
              </a:spcAft>
              <a:buSzPct val="100000"/>
              <a:buChar char="•"/>
            </a:pPr>
            <a:r>
              <a:rPr lang="en-US" sz="1600" dirty="0">
                <a:solidFill>
                  <a:schemeClr val="tx1"/>
                </a:solidFill>
              </a:rPr>
              <a:t>Dawes (1924) and Young (1929) Plans led by Americans</a:t>
            </a:r>
            <a:endParaRPr lang="en-US" sz="1600" dirty="0"/>
          </a:p>
          <a:p>
            <a:pPr algn="l" marL="190500" indent="-190500">
              <a:spcAft>
                <a:spcPts val="500"/>
              </a:spcAft>
              <a:buSzPct val="100000"/>
              <a:buChar char="•"/>
            </a:pPr>
            <a:r>
              <a:rPr lang="en-US" sz="1600" dirty="0">
                <a:solidFill>
                  <a:schemeClr val="tx1"/>
                </a:solidFill>
              </a:rPr>
              <a:t>Kellogg–Briand Pact (1928); insisted war debts be repaid</a:t>
            </a:r>
            <a:endParaRPr lang="en-US" sz="1600" dirty="0"/>
          </a:p>
        </p:txBody>
      </p:sp>
      <p:sp>
        <p:nvSpPr>
          <p:cNvPr id="14" name="Cycle panel 1602"/>
          <p:cNvSpPr/>
          <p:nvPr/>
        </p:nvSpPr>
        <p:spPr>
          <a:xfrm>
            <a:off x="6035040" y="1481328"/>
            <a:ext cx="5608015" cy="4782312"/>
          </a:xfrm>
          <a:prstGeom prst="roundRect">
            <a:avLst>
              <a:gd name="adj" fmla="val 1912"/>
            </a:avLst>
          </a:prstGeom>
          <a:solidFill>
            <a:schemeClr val="accent2">
              <a:alpha val="8000"/>
            </a:schemeClr>
          </a:solidFill>
          <a:ln/>
        </p:spPr>
      </p:sp>
      <p:sp>
        <p:nvSpPr>
          <p:cNvPr id="15" name="Text 1603"/>
          <p:cNvSpPr txBox="1"/>
          <p:nvPr/>
        </p:nvSpPr>
        <p:spPr>
          <a:xfrm>
            <a:off x="6309360" y="1664208"/>
            <a:ext cx="5059375" cy="365760"/>
          </a:xfrm>
          <a:prstGeom prst="rect">
            <a:avLst/>
          </a:prstGeom>
          <a:noFill/>
          <a:ln/>
        </p:spPr>
        <p:txBody>
          <a:bodyPr wrap="square" lIns="0" tIns="0" rIns="0" bIns="0" rtlCol="0" anchor="t"/>
          <a:lstStyle/>
          <a:p>
            <a:pPr algn="l" indent="0" marL="0">
              <a:spcAft>
                <a:spcPts val="600"/>
              </a:spcAft>
              <a:buNone/>
            </a:pPr>
            <a:r>
              <a:rPr lang="en-US" sz="1800" b="1" dirty="0">
                <a:solidFill>
                  <a:schemeClr val="accent2"/>
                </a:solidFill>
              </a:rPr>
              <a:t>The circle of money, 1924–29</a:t>
            </a:r>
            <a:endParaRPr lang="en-US" sz="1800" dirty="0"/>
          </a:p>
        </p:txBody>
      </p:sp>
      <p:sp>
        <p:nvSpPr>
          <p:cNvPr id="16" name="Cycle node 1604"/>
          <p:cNvSpPr/>
          <p:nvPr/>
        </p:nvSpPr>
        <p:spPr>
          <a:xfrm>
            <a:off x="7970368" y="2212848"/>
            <a:ext cx="1737360" cy="914400"/>
          </a:xfrm>
          <a:prstGeom prst="ellipse">
            <a:avLst/>
          </a:prstGeom>
          <a:solidFill>
            <a:schemeClr val="accent2"/>
          </a:solidFill>
          <a:ln/>
        </p:spPr>
      </p:sp>
      <p:sp>
        <p:nvSpPr>
          <p:cNvPr id="17" name="Text 1605"/>
          <p:cNvSpPr txBox="1"/>
          <p:nvPr/>
        </p:nvSpPr>
        <p:spPr>
          <a:xfrm>
            <a:off x="7970368" y="2212848"/>
            <a:ext cx="1737360" cy="914400"/>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USA</a:t>
            </a:r>
            <a:endParaRPr lang="en-US" sz="1600" dirty="0"/>
          </a:p>
        </p:txBody>
      </p:sp>
      <p:sp>
        <p:nvSpPr>
          <p:cNvPr id="18" name="Cycle node 1606"/>
          <p:cNvSpPr/>
          <p:nvPr/>
        </p:nvSpPr>
        <p:spPr>
          <a:xfrm>
            <a:off x="9585655" y="4270248"/>
            <a:ext cx="1737360" cy="914400"/>
          </a:xfrm>
          <a:prstGeom prst="ellipse">
            <a:avLst/>
          </a:prstGeom>
          <a:solidFill>
            <a:schemeClr val="accent2"/>
          </a:solidFill>
          <a:ln/>
        </p:spPr>
      </p:sp>
      <p:sp>
        <p:nvSpPr>
          <p:cNvPr id="19" name="Text 1607"/>
          <p:cNvSpPr txBox="1"/>
          <p:nvPr/>
        </p:nvSpPr>
        <p:spPr>
          <a:xfrm>
            <a:off x="9585655" y="4270248"/>
            <a:ext cx="1737360" cy="914400"/>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Germany</a:t>
            </a:r>
            <a:endParaRPr lang="en-US" sz="1600" dirty="0"/>
          </a:p>
        </p:txBody>
      </p:sp>
      <p:sp>
        <p:nvSpPr>
          <p:cNvPr id="20" name="Cycle node 1608"/>
          <p:cNvSpPr/>
          <p:nvPr/>
        </p:nvSpPr>
        <p:spPr>
          <a:xfrm>
            <a:off x="6355080" y="4270248"/>
            <a:ext cx="1737360" cy="914400"/>
          </a:xfrm>
          <a:prstGeom prst="ellipse">
            <a:avLst/>
          </a:prstGeom>
          <a:solidFill>
            <a:schemeClr val="accent2"/>
          </a:solidFill>
          <a:ln/>
        </p:spPr>
      </p:sp>
      <p:sp>
        <p:nvSpPr>
          <p:cNvPr id="21" name="Text 1609"/>
          <p:cNvSpPr txBox="1"/>
          <p:nvPr/>
        </p:nvSpPr>
        <p:spPr>
          <a:xfrm>
            <a:off x="6355080" y="4270248"/>
            <a:ext cx="1737360" cy="914400"/>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Britain &amp; France</a:t>
            </a:r>
            <a:endParaRPr lang="en-US" sz="1600" dirty="0"/>
          </a:p>
        </p:txBody>
      </p:sp>
      <p:sp>
        <p:nvSpPr>
          <p:cNvPr id="22" name="Connector 1610"/>
          <p:cNvSpPr/>
          <p:nvPr/>
        </p:nvSpPr>
        <p:spPr>
          <a:xfrm>
            <a:off x="9570568" y="2990088"/>
            <a:ext cx="883768" cy="1280160"/>
          </a:xfrm>
          <a:prstGeom prst="line">
            <a:avLst/>
          </a:prstGeom>
          <a:noFill/>
          <a:ln w="25400">
            <a:solidFill>
              <a:schemeClr val="tx2"/>
            </a:solidFill>
            <a:prstDash val="solid"/>
            <a:tailEnd type="triangle"/>
          </a:ln>
        </p:spPr>
      </p:sp>
      <p:sp>
        <p:nvSpPr>
          <p:cNvPr id="23" name="Connector 1611"/>
          <p:cNvSpPr/>
          <p:nvPr/>
        </p:nvSpPr>
        <p:spPr>
          <a:xfrm flipH="1">
            <a:off x="8092440" y="4727448"/>
            <a:ext cx="1493215" cy="0"/>
          </a:xfrm>
          <a:prstGeom prst="line">
            <a:avLst/>
          </a:prstGeom>
          <a:noFill/>
          <a:ln w="25400">
            <a:solidFill>
              <a:schemeClr val="tx2"/>
            </a:solidFill>
            <a:prstDash val="solid"/>
            <a:tailEnd type="triangle"/>
          </a:ln>
        </p:spPr>
      </p:sp>
      <p:sp>
        <p:nvSpPr>
          <p:cNvPr id="24" name="Connector 1612"/>
          <p:cNvSpPr/>
          <p:nvPr/>
        </p:nvSpPr>
        <p:spPr>
          <a:xfrm flipV="1">
            <a:off x="7223760" y="2990088"/>
            <a:ext cx="883768" cy="1280160"/>
          </a:xfrm>
          <a:prstGeom prst="line">
            <a:avLst/>
          </a:prstGeom>
          <a:noFill/>
          <a:ln w="25400">
            <a:solidFill>
              <a:schemeClr val="tx2"/>
            </a:solidFill>
            <a:prstDash val="solid"/>
            <a:tailEnd type="triangle"/>
          </a:ln>
        </p:spPr>
      </p:sp>
      <p:sp>
        <p:nvSpPr>
          <p:cNvPr id="25" name="Text 1613"/>
          <p:cNvSpPr txBox="1"/>
          <p:nvPr/>
        </p:nvSpPr>
        <p:spPr>
          <a:xfrm>
            <a:off x="10225735" y="3172968"/>
            <a:ext cx="1097280" cy="320040"/>
          </a:xfrm>
          <a:prstGeom prst="rect">
            <a:avLst/>
          </a:prstGeom>
          <a:noFill/>
          <a:ln/>
        </p:spPr>
        <p:txBody>
          <a:bodyPr wrap="square" lIns="0" tIns="0" rIns="0" bIns="0" rtlCol="0" anchor="t"/>
          <a:lstStyle/>
          <a:p>
            <a:pPr algn="l" indent="0" marL="0">
              <a:spcAft>
                <a:spcPts val="600"/>
              </a:spcAft>
              <a:buNone/>
            </a:pPr>
            <a:r>
              <a:rPr lang="en-US" sz="1500" b="1" dirty="0">
                <a:solidFill>
                  <a:schemeClr val="tx2"/>
                </a:solidFill>
              </a:rPr>
              <a:t>loans</a:t>
            </a:r>
            <a:endParaRPr lang="en-US" sz="1500" dirty="0"/>
          </a:p>
        </p:txBody>
      </p:sp>
      <p:sp>
        <p:nvSpPr>
          <p:cNvPr id="26" name="Text 1614"/>
          <p:cNvSpPr txBox="1"/>
          <p:nvPr/>
        </p:nvSpPr>
        <p:spPr>
          <a:xfrm>
            <a:off x="8016088" y="4818888"/>
            <a:ext cx="1645920" cy="320040"/>
          </a:xfrm>
          <a:prstGeom prst="rect">
            <a:avLst/>
          </a:prstGeom>
          <a:noFill/>
          <a:ln/>
        </p:spPr>
        <p:txBody>
          <a:bodyPr wrap="square" lIns="0" tIns="0" rIns="0" bIns="0" rtlCol="0" anchor="t"/>
          <a:lstStyle/>
          <a:p>
            <a:pPr algn="ctr" indent="0" marL="0">
              <a:spcAft>
                <a:spcPts val="600"/>
              </a:spcAft>
              <a:buNone/>
            </a:pPr>
            <a:r>
              <a:rPr lang="en-US" sz="1500" b="1" dirty="0">
                <a:solidFill>
                  <a:schemeClr val="tx2"/>
                </a:solidFill>
              </a:rPr>
              <a:t>reparations</a:t>
            </a:r>
            <a:endParaRPr lang="en-US" sz="1500" dirty="0"/>
          </a:p>
        </p:txBody>
      </p:sp>
      <p:sp>
        <p:nvSpPr>
          <p:cNvPr id="27" name="Text 1615"/>
          <p:cNvSpPr txBox="1"/>
          <p:nvPr/>
        </p:nvSpPr>
        <p:spPr>
          <a:xfrm>
            <a:off x="6217920" y="3172968"/>
            <a:ext cx="1188720" cy="320040"/>
          </a:xfrm>
          <a:prstGeom prst="rect">
            <a:avLst/>
          </a:prstGeom>
          <a:noFill/>
          <a:ln/>
        </p:spPr>
        <p:txBody>
          <a:bodyPr wrap="square" lIns="0" tIns="0" rIns="0" bIns="0" rtlCol="0" anchor="t"/>
          <a:lstStyle/>
          <a:p>
            <a:pPr algn="l" indent="0" marL="0">
              <a:spcAft>
                <a:spcPts val="600"/>
              </a:spcAft>
              <a:buNone/>
            </a:pPr>
            <a:r>
              <a:rPr lang="en-US" sz="1500" b="1" dirty="0">
                <a:solidFill>
                  <a:schemeClr val="tx2"/>
                </a:solidFill>
              </a:rPr>
              <a:t>war debts</a:t>
            </a:r>
            <a:endParaRPr lang="en-US" sz="1500" dirty="0"/>
          </a:p>
        </p:txBody>
      </p:sp>
      <p:sp>
        <p:nvSpPr>
          <p:cNvPr id="28" name="Text 1616"/>
          <p:cNvSpPr txBox="1"/>
          <p:nvPr/>
        </p:nvSpPr>
        <p:spPr>
          <a:xfrm>
            <a:off x="6309360" y="5458968"/>
            <a:ext cx="5059375" cy="640080"/>
          </a:xfrm>
          <a:prstGeom prst="rect">
            <a:avLst/>
          </a:prstGeom>
          <a:noFill/>
          <a:ln/>
        </p:spPr>
        <p:txBody>
          <a:bodyPr wrap="square" lIns="0" tIns="0" rIns="0" bIns="0" rtlCol="0" anchor="t"/>
          <a:lstStyle/>
          <a:p>
            <a:pPr algn="l" indent="0" marL="0">
              <a:spcAft>
                <a:spcPts val="600"/>
              </a:spcAft>
              <a:buNone/>
            </a:pPr>
            <a:r>
              <a:rPr lang="en-US" sz="1500" b="1" dirty="0">
                <a:solidFill>
                  <a:schemeClr val="accent2"/>
                </a:solidFill>
              </a:rPr>
              <a:t>When US loans stopped after the 1929 Crash, the whole circle broke.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Kicker 161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KQ4 · IMPROVEMENT</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did relations improve after 1923?</a:t>
            </a:r>
            <a:endParaRPr lang="en-US" sz="3400" dirty="0"/>
          </a:p>
        </p:txBody>
      </p:sp>
      <p:sp>
        <p:nvSpPr>
          <p:cNvPr id="4" name="Card 1618"/>
          <p:cNvSpPr/>
          <p:nvPr/>
        </p:nvSpPr>
        <p:spPr>
          <a:xfrm>
            <a:off x="548640" y="1481328"/>
            <a:ext cx="5410048" cy="1760220"/>
          </a:xfrm>
          <a:prstGeom prst="roundRect">
            <a:avLst>
              <a:gd name="adj" fmla="val 5195"/>
            </a:avLst>
          </a:prstGeom>
          <a:solidFill>
            <a:schemeClr val="accent2">
              <a:alpha val="10000"/>
            </a:schemeClr>
          </a:solidFill>
          <a:ln/>
        </p:spPr>
      </p:sp>
      <p:sp>
        <p:nvSpPr>
          <p:cNvPr id="5" name="Icon circle 1619"/>
          <p:cNvSpPr/>
          <p:nvPr/>
        </p:nvSpPr>
        <p:spPr>
          <a:xfrm>
            <a:off x="731520" y="1664208"/>
            <a:ext cx="475488" cy="475488"/>
          </a:xfrm>
          <a:prstGeom prst="ellipse">
            <a:avLst/>
          </a:prstGeom>
          <a:solidFill>
            <a:schemeClr val="accent2"/>
          </a:solidFill>
          <a:ln/>
        </p:spPr>
      </p:sp>
      <p:pic>
        <p:nvPicPr>
          <p:cNvPr id="6" name="Icon FaRoute 1620"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621"/>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Lessons of the Ruhr</a:t>
            </a:r>
            <a:endParaRPr lang="en-US" sz="1700" dirty="0"/>
          </a:p>
        </p:txBody>
      </p:sp>
      <p:sp>
        <p:nvSpPr>
          <p:cNvPr id="8" name="Text 1622"/>
          <p:cNvSpPr txBox="1"/>
          <p:nvPr/>
        </p:nvSpPr>
        <p:spPr>
          <a:xfrm>
            <a:off x="731520" y="224942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Force had failed. France needed cooperation; Germany needed foreign loans.</a:t>
            </a:r>
            <a:endParaRPr lang="en-US" sz="1700" dirty="0"/>
          </a:p>
        </p:txBody>
      </p:sp>
      <p:sp>
        <p:nvSpPr>
          <p:cNvPr id="9" name="Card 1623"/>
          <p:cNvSpPr/>
          <p:nvPr/>
        </p:nvSpPr>
        <p:spPr>
          <a:xfrm>
            <a:off x="6233008" y="1481328"/>
            <a:ext cx="5410048" cy="1760220"/>
          </a:xfrm>
          <a:prstGeom prst="roundRect">
            <a:avLst>
              <a:gd name="adj" fmla="val 5195"/>
            </a:avLst>
          </a:prstGeom>
          <a:solidFill>
            <a:schemeClr val="accent2">
              <a:alpha val="10000"/>
            </a:schemeClr>
          </a:solidFill>
          <a:ln/>
        </p:spPr>
      </p:sp>
      <p:sp>
        <p:nvSpPr>
          <p:cNvPr id="10" name="Icon circle 1624"/>
          <p:cNvSpPr/>
          <p:nvPr/>
        </p:nvSpPr>
        <p:spPr>
          <a:xfrm>
            <a:off x="6415888" y="1664208"/>
            <a:ext cx="475488" cy="475488"/>
          </a:xfrm>
          <a:prstGeom prst="ellipse">
            <a:avLst/>
          </a:prstGeom>
          <a:solidFill>
            <a:schemeClr val="accent2"/>
          </a:solidFill>
          <a:ln/>
        </p:spPr>
      </p:sp>
      <p:pic>
        <p:nvPicPr>
          <p:cNvPr id="11" name="Icon FaUsers 1625"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1626"/>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New leaders</a:t>
            </a:r>
            <a:endParaRPr lang="en-US" sz="1700" dirty="0"/>
          </a:p>
        </p:txBody>
      </p:sp>
      <p:sp>
        <p:nvSpPr>
          <p:cNvPr id="13" name="Text 1627"/>
          <p:cNvSpPr txBox="1"/>
          <p:nvPr/>
        </p:nvSpPr>
        <p:spPr>
          <a:xfrm>
            <a:off x="6415888" y="224942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Stresemann (Germany), Briand (France), Austen Chamberlain and MacDonald (Britain) all preferred negotiation.</a:t>
            </a:r>
            <a:endParaRPr lang="en-US" sz="1700" dirty="0"/>
          </a:p>
        </p:txBody>
      </p:sp>
      <p:sp>
        <p:nvSpPr>
          <p:cNvPr id="14" name="Card 1628"/>
          <p:cNvSpPr/>
          <p:nvPr/>
        </p:nvSpPr>
        <p:spPr>
          <a:xfrm>
            <a:off x="548640" y="3515868"/>
            <a:ext cx="5410048" cy="1760220"/>
          </a:xfrm>
          <a:prstGeom prst="roundRect">
            <a:avLst>
              <a:gd name="adj" fmla="val 5195"/>
            </a:avLst>
          </a:prstGeom>
          <a:solidFill>
            <a:schemeClr val="accent2">
              <a:alpha val="10000"/>
            </a:schemeClr>
          </a:solidFill>
          <a:ln/>
        </p:spPr>
      </p:sp>
      <p:sp>
        <p:nvSpPr>
          <p:cNvPr id="15" name="Icon circle 1629"/>
          <p:cNvSpPr/>
          <p:nvPr/>
        </p:nvSpPr>
        <p:spPr>
          <a:xfrm>
            <a:off x="731520" y="3698748"/>
            <a:ext cx="475488" cy="475488"/>
          </a:xfrm>
          <a:prstGeom prst="ellipse">
            <a:avLst/>
          </a:prstGeom>
          <a:solidFill>
            <a:schemeClr val="accent2"/>
          </a:solidFill>
          <a:ln/>
        </p:spPr>
      </p:sp>
      <p:pic>
        <p:nvPicPr>
          <p:cNvPr id="16" name="Icon FaHandHoldingUsd 1630" descr="preencoded.png">    </p:cNvPr>
          <p:cNvPicPr>
            <a:picLocks noChangeAspect="1"/>
          </p:cNvPicPr>
          <p:nvPr/>
        </p:nvPicPr>
        <p:blipFill>
          <a:blip r:embed="rId3"/>
          <a:stretch>
            <a:fillRect/>
          </a:stretch>
        </p:blipFill>
        <p:spPr>
          <a:xfrm>
            <a:off x="836127" y="3803355"/>
            <a:ext cx="266273" cy="266273"/>
          </a:xfrm>
          <a:prstGeom prst="rect">
            <a:avLst/>
          </a:prstGeom>
        </p:spPr>
      </p:pic>
      <p:sp>
        <p:nvSpPr>
          <p:cNvPr id="17" name="Card title 1631"/>
          <p:cNvSpPr txBox="1"/>
          <p:nvPr/>
        </p:nvSpPr>
        <p:spPr>
          <a:xfrm>
            <a:off x="1335024"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American money</a:t>
            </a:r>
            <a:endParaRPr lang="en-US" sz="1700" dirty="0"/>
          </a:p>
        </p:txBody>
      </p:sp>
      <p:sp>
        <p:nvSpPr>
          <p:cNvPr id="18" name="Text 1632"/>
          <p:cNvSpPr txBox="1"/>
          <p:nvPr/>
        </p:nvSpPr>
        <p:spPr>
          <a:xfrm>
            <a:off x="731520" y="428396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Dawes Plan loans fuelled recovery: Germany's 'Golden Twenties' (1924–29).</a:t>
            </a:r>
            <a:endParaRPr lang="en-US" sz="1700" dirty="0"/>
          </a:p>
        </p:txBody>
      </p:sp>
      <p:sp>
        <p:nvSpPr>
          <p:cNvPr id="19" name="Card 1633"/>
          <p:cNvSpPr/>
          <p:nvPr/>
        </p:nvSpPr>
        <p:spPr>
          <a:xfrm>
            <a:off x="6233008" y="3515868"/>
            <a:ext cx="5410048" cy="1760220"/>
          </a:xfrm>
          <a:prstGeom prst="roundRect">
            <a:avLst>
              <a:gd name="adj" fmla="val 5195"/>
            </a:avLst>
          </a:prstGeom>
          <a:solidFill>
            <a:schemeClr val="accent2">
              <a:alpha val="10000"/>
            </a:schemeClr>
          </a:solidFill>
          <a:ln/>
        </p:spPr>
      </p:sp>
      <p:sp>
        <p:nvSpPr>
          <p:cNvPr id="20" name="Icon circle 1634"/>
          <p:cNvSpPr/>
          <p:nvPr/>
        </p:nvSpPr>
        <p:spPr>
          <a:xfrm>
            <a:off x="6415888" y="3698748"/>
            <a:ext cx="475488" cy="475488"/>
          </a:xfrm>
          <a:prstGeom prst="ellipse">
            <a:avLst/>
          </a:prstGeom>
          <a:solidFill>
            <a:schemeClr val="accent2"/>
          </a:solidFill>
          <a:ln/>
        </p:spPr>
      </p:sp>
      <p:pic>
        <p:nvPicPr>
          <p:cNvPr id="21" name="Icon FaArrowTrendUp 1635" descr="preencoded.png">    </p:cNvPr>
          <p:cNvPicPr>
            <a:picLocks noChangeAspect="1"/>
          </p:cNvPicPr>
          <p:nvPr/>
        </p:nvPicPr>
        <p:blipFill>
          <a:blip r:embed="rId4"/>
          <a:stretch>
            <a:fillRect/>
          </a:stretch>
        </p:blipFill>
        <p:spPr>
          <a:xfrm>
            <a:off x="6520495" y="3803355"/>
            <a:ext cx="266273" cy="266273"/>
          </a:xfrm>
          <a:prstGeom prst="rect">
            <a:avLst/>
          </a:prstGeom>
        </p:spPr>
      </p:pic>
      <p:sp>
        <p:nvSpPr>
          <p:cNvPr id="22" name="Card title 1636"/>
          <p:cNvSpPr txBox="1"/>
          <p:nvPr/>
        </p:nvSpPr>
        <p:spPr>
          <a:xfrm>
            <a:off x="7019392"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Prosperity</a:t>
            </a:r>
            <a:endParaRPr lang="en-US" sz="1700" dirty="0"/>
          </a:p>
        </p:txBody>
      </p:sp>
      <p:sp>
        <p:nvSpPr>
          <p:cNvPr id="23" name="Text 1637"/>
          <p:cNvSpPr txBox="1"/>
          <p:nvPr/>
        </p:nvSpPr>
        <p:spPr>
          <a:xfrm>
            <a:off x="6415888" y="428396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Growing trade and stable currencies eased tension and let Germany pay reparations.</a:t>
            </a:r>
            <a:endParaRPr lang="en-US" sz="1700" dirty="0"/>
          </a:p>
        </p:txBody>
      </p:sp>
      <p:sp>
        <p:nvSpPr>
          <p:cNvPr id="24" name="Callout 1638"/>
          <p:cNvSpPr/>
          <p:nvPr/>
        </p:nvSpPr>
        <p:spPr>
          <a:xfrm>
            <a:off x="548640" y="5550408"/>
            <a:ext cx="11094415" cy="713232"/>
          </a:xfrm>
          <a:prstGeom prst="roundRect">
            <a:avLst>
              <a:gd name="adj" fmla="val 12821"/>
            </a:avLst>
          </a:prstGeom>
          <a:solidFill>
            <a:schemeClr val="accent4">
              <a:alpha val="20000"/>
            </a:schemeClr>
          </a:solidFill>
          <a:ln/>
        </p:spPr>
      </p:sp>
      <p:sp>
        <p:nvSpPr>
          <p:cNvPr id="25" name="Callout label 1639"/>
          <p:cNvSpPr/>
          <p:nvPr/>
        </p:nvSpPr>
        <p:spPr>
          <a:xfrm>
            <a:off x="731520" y="5751576"/>
            <a:ext cx="977581" cy="310896"/>
          </a:xfrm>
          <a:prstGeom prst="roundRect">
            <a:avLst>
              <a:gd name="adj" fmla="val 50000"/>
            </a:avLst>
          </a:prstGeom>
          <a:solidFill>
            <a:schemeClr val="accent4"/>
          </a:solidFill>
          <a:ln/>
        </p:spPr>
      </p:sp>
      <p:sp>
        <p:nvSpPr>
          <p:cNvPr id="26" name="Text 1640"/>
          <p:cNvSpPr txBox="1"/>
          <p:nvPr/>
        </p:nvSpPr>
        <p:spPr>
          <a:xfrm>
            <a:off x="731520" y="5751576"/>
            <a:ext cx="97758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EXAM TIP</a:t>
            </a:r>
            <a:endParaRPr lang="en-US" sz="1200" dirty="0"/>
          </a:p>
        </p:txBody>
      </p:sp>
      <p:sp>
        <p:nvSpPr>
          <p:cNvPr id="27" name="Text 1641"/>
          <p:cNvSpPr txBox="1"/>
          <p:nvPr/>
        </p:nvSpPr>
        <p:spPr>
          <a:xfrm>
            <a:off x="1891981" y="5623560"/>
            <a:ext cx="956819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For 'Explain why' questions, rank these: the Ruhr crisis was the trigger, US money the condition, the leaders the means.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Kicker 164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KQ4 · REPARATIONS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Dawes Plan (1924) and Young Plan (1929)</a:t>
            </a:r>
            <a:endParaRPr lang="en-US" sz="3400" dirty="0"/>
          </a:p>
        </p:txBody>
      </p:sp>
      <p:sp>
        <p:nvSpPr>
          <p:cNvPr id="4" name="Card 1643"/>
          <p:cNvSpPr/>
          <p:nvPr/>
        </p:nvSpPr>
        <p:spPr>
          <a:xfrm>
            <a:off x="548640" y="1481328"/>
            <a:ext cx="5410048" cy="3794760"/>
          </a:xfrm>
          <a:prstGeom prst="roundRect">
            <a:avLst>
              <a:gd name="adj" fmla="val 2410"/>
            </a:avLst>
          </a:prstGeom>
          <a:solidFill>
            <a:schemeClr val="accent2">
              <a:alpha val="10000"/>
            </a:schemeClr>
          </a:solidFill>
          <a:ln/>
        </p:spPr>
      </p:sp>
      <p:sp>
        <p:nvSpPr>
          <p:cNvPr id="5" name="Icon circle 1644"/>
          <p:cNvSpPr/>
          <p:nvPr/>
        </p:nvSpPr>
        <p:spPr>
          <a:xfrm>
            <a:off x="731520" y="1664208"/>
            <a:ext cx="475488" cy="475488"/>
          </a:xfrm>
          <a:prstGeom prst="ellipse">
            <a:avLst/>
          </a:prstGeom>
          <a:solidFill>
            <a:schemeClr val="accent2"/>
          </a:solidFill>
          <a:ln/>
        </p:spPr>
      </p:sp>
      <p:pic>
        <p:nvPicPr>
          <p:cNvPr id="6" name="Icon FaHandHoldingUsd 1645"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646"/>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Dawes Plan (Aug 1924)</a:t>
            </a:r>
            <a:endParaRPr lang="en-US" sz="1700" dirty="0"/>
          </a:p>
        </p:txBody>
      </p:sp>
      <p:sp>
        <p:nvSpPr>
          <p:cNvPr id="8" name="Text 1647"/>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Payments rescheduled: 1bn marks a year, rising to 2.5bn by 1928–29</a:t>
            </a:r>
            <a:endParaRPr lang="en-US" sz="2000" dirty="0"/>
          </a:p>
          <a:p>
            <a:pPr algn="l" marL="190500" indent="-190500">
              <a:spcAft>
                <a:spcPts val="800"/>
              </a:spcAft>
              <a:buSzPct val="100000"/>
              <a:buChar char="•"/>
            </a:pPr>
            <a:r>
              <a:rPr lang="en-US" sz="2000" dirty="0">
                <a:solidFill>
                  <a:schemeClr val="tx1"/>
                </a:solidFill>
              </a:rPr>
              <a:t>800m-mark international loan, mostly American</a:t>
            </a:r>
            <a:endParaRPr lang="en-US" sz="2000" dirty="0"/>
          </a:p>
          <a:p>
            <a:pPr algn="l" marL="190500" indent="-190500">
              <a:spcAft>
                <a:spcPts val="800"/>
              </a:spcAft>
              <a:buSzPct val="100000"/>
              <a:buChar char="•"/>
            </a:pPr>
            <a:r>
              <a:rPr lang="en-US" sz="2000" dirty="0">
                <a:solidFill>
                  <a:schemeClr val="tx1"/>
                </a:solidFill>
              </a:rPr>
              <a:t>Reichsbank reorganised; Ruhr evacuated by 1925</a:t>
            </a:r>
            <a:endParaRPr lang="en-US" sz="2000" dirty="0"/>
          </a:p>
          <a:p>
            <a:pPr algn="l" marL="190500" indent="-190500">
              <a:spcAft>
                <a:spcPts val="800"/>
              </a:spcAft>
              <a:buSzPct val="100000"/>
              <a:buChar char="•"/>
            </a:pPr>
            <a:r>
              <a:rPr lang="en-US" sz="2000" dirty="0">
                <a:solidFill>
                  <a:schemeClr val="tx1"/>
                </a:solidFill>
              </a:rPr>
              <a:t>Total bill not reduced</a:t>
            </a:r>
            <a:endParaRPr lang="en-US" sz="2000" dirty="0"/>
          </a:p>
        </p:txBody>
      </p:sp>
      <p:sp>
        <p:nvSpPr>
          <p:cNvPr id="9" name="Card 1648"/>
          <p:cNvSpPr/>
          <p:nvPr/>
        </p:nvSpPr>
        <p:spPr>
          <a:xfrm>
            <a:off x="6233008" y="1481328"/>
            <a:ext cx="5410048" cy="3794760"/>
          </a:xfrm>
          <a:prstGeom prst="roundRect">
            <a:avLst>
              <a:gd name="adj" fmla="val 2410"/>
            </a:avLst>
          </a:prstGeom>
          <a:solidFill>
            <a:schemeClr val="bg2"/>
          </a:solidFill>
          <a:ln/>
        </p:spPr>
      </p:sp>
      <p:sp>
        <p:nvSpPr>
          <p:cNvPr id="10" name="Icon circle 1649"/>
          <p:cNvSpPr/>
          <p:nvPr/>
        </p:nvSpPr>
        <p:spPr>
          <a:xfrm>
            <a:off x="6415888" y="1664208"/>
            <a:ext cx="475488" cy="475488"/>
          </a:xfrm>
          <a:prstGeom prst="ellipse">
            <a:avLst/>
          </a:prstGeom>
          <a:solidFill>
            <a:schemeClr val="accent2"/>
          </a:solidFill>
          <a:ln/>
        </p:spPr>
      </p:sp>
      <p:pic>
        <p:nvPicPr>
          <p:cNvPr id="11" name="Icon FaFileContract 1650"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1651"/>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Young Plan (1929)</a:t>
            </a:r>
            <a:endParaRPr lang="en-US" sz="1700" dirty="0"/>
          </a:p>
        </p:txBody>
      </p:sp>
      <p:sp>
        <p:nvSpPr>
          <p:cNvPr id="13" name="Text 1652"/>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Total cut to c.112bn gold marks, paid over 59 years</a:t>
            </a:r>
            <a:endParaRPr lang="en-US" sz="2000" dirty="0"/>
          </a:p>
          <a:p>
            <a:pPr algn="l" marL="190500" indent="-190500">
              <a:spcAft>
                <a:spcPts val="800"/>
              </a:spcAft>
              <a:buSzPct val="100000"/>
              <a:buChar char="•"/>
            </a:pPr>
            <a:r>
              <a:rPr lang="en-US" sz="2000" dirty="0">
                <a:solidFill>
                  <a:schemeClr val="tx1"/>
                </a:solidFill>
              </a:rPr>
              <a:t>Allied control of German finances ended</a:t>
            </a:r>
            <a:endParaRPr lang="en-US" sz="2000" dirty="0"/>
          </a:p>
          <a:p>
            <a:pPr algn="l" marL="190500" indent="-190500">
              <a:spcAft>
                <a:spcPts val="800"/>
              </a:spcAft>
              <a:buSzPct val="100000"/>
              <a:buChar char="•"/>
            </a:pPr>
            <a:r>
              <a:rPr lang="en-US" sz="2000" dirty="0">
                <a:solidFill>
                  <a:schemeClr val="tx1"/>
                </a:solidFill>
              </a:rPr>
              <a:t>Rhineland evacuated early (by June 1930)</a:t>
            </a:r>
            <a:endParaRPr lang="en-US" sz="2000" dirty="0"/>
          </a:p>
          <a:p>
            <a:pPr algn="l" marL="190500" indent="-190500">
              <a:spcAft>
                <a:spcPts val="800"/>
              </a:spcAft>
              <a:buSzPct val="100000"/>
              <a:buChar char="•"/>
            </a:pPr>
            <a:r>
              <a:rPr lang="en-US" sz="2000" dirty="0">
                <a:solidFill>
                  <a:schemeClr val="tx1"/>
                </a:solidFill>
              </a:rPr>
              <a:t>Hugenberg and Hitler campaigned against it — a 1929 referendum failed</a:t>
            </a:r>
            <a:endParaRPr lang="en-US" sz="2000" dirty="0"/>
          </a:p>
        </p:txBody>
      </p:sp>
      <p:sp>
        <p:nvSpPr>
          <p:cNvPr id="14" name="Callout 1653"/>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1654"/>
          <p:cNvSpPr/>
          <p:nvPr/>
        </p:nvSpPr>
        <p:spPr>
          <a:xfrm>
            <a:off x="731520" y="5751576"/>
            <a:ext cx="1045034" cy="310896"/>
          </a:xfrm>
          <a:prstGeom prst="roundRect">
            <a:avLst>
              <a:gd name="adj" fmla="val 50000"/>
            </a:avLst>
          </a:prstGeom>
          <a:solidFill>
            <a:schemeClr val="accent4"/>
          </a:solidFill>
          <a:ln/>
        </p:spPr>
      </p:sp>
      <p:sp>
        <p:nvSpPr>
          <p:cNvPr id="16" name="Text 1655"/>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17" name="Text 1656"/>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Both plans depended on American loans. The Hoover Moratorium (1931) suspended payments, and Lausanne (1932) ended them in practice.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Kicker 165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KQ4 · LOCARNO</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Locarno Treaties, 1925</a:t>
            </a:r>
            <a:endParaRPr lang="en-US" sz="3400" dirty="0"/>
          </a:p>
        </p:txBody>
      </p:sp>
      <p:sp>
        <p:nvSpPr>
          <p:cNvPr id="4" name="Text 1658"/>
          <p:cNvSpPr txBox="1"/>
          <p:nvPr/>
        </p:nvSpPr>
        <p:spPr>
          <a:xfrm>
            <a:off x="548640" y="1481328"/>
            <a:ext cx="5669280" cy="365760"/>
          </a:xfrm>
          <a:prstGeom prst="rect">
            <a:avLst/>
          </a:prstGeom>
          <a:noFill/>
          <a:ln/>
        </p:spPr>
        <p:txBody>
          <a:bodyPr wrap="square" lIns="0" tIns="0" rIns="0" bIns="0" rtlCol="0" anchor="t"/>
          <a:lstStyle/>
          <a:p>
            <a:pPr algn="l" indent="0" marL="0">
              <a:spcAft>
                <a:spcPts val="600"/>
              </a:spcAft>
              <a:buNone/>
            </a:pPr>
            <a:r>
              <a:rPr lang="en-US" sz="1700" b="1" dirty="0">
                <a:solidFill>
                  <a:schemeClr val="accent2"/>
                </a:solidFill>
              </a:rPr>
              <a:t>What was agreed (Oct 1925, signed in London, Dec 1925)</a:t>
            </a:r>
            <a:endParaRPr lang="en-US" sz="1700" dirty="0"/>
          </a:p>
        </p:txBody>
      </p:sp>
      <p:sp>
        <p:nvSpPr>
          <p:cNvPr id="5" name="Number 1659"/>
          <p:cNvSpPr/>
          <p:nvPr/>
        </p:nvSpPr>
        <p:spPr>
          <a:xfrm>
            <a:off x="548640" y="2039112"/>
            <a:ext cx="365760" cy="365760"/>
          </a:xfrm>
          <a:prstGeom prst="ellipse">
            <a:avLst/>
          </a:prstGeom>
          <a:solidFill>
            <a:schemeClr val="accent2"/>
          </a:solidFill>
          <a:ln/>
        </p:spPr>
      </p:sp>
      <p:sp>
        <p:nvSpPr>
          <p:cNvPr id="6" name="Text 1660"/>
          <p:cNvSpPr txBox="1"/>
          <p:nvPr/>
        </p:nvSpPr>
        <p:spPr>
          <a:xfrm>
            <a:off x="548640" y="2039112"/>
            <a:ext cx="365760"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bg1"/>
                </a:solidFill>
              </a:rPr>
              <a:t>1</a:t>
            </a:r>
            <a:endParaRPr lang="en-US" sz="1400" dirty="0"/>
          </a:p>
        </p:txBody>
      </p:sp>
      <p:sp>
        <p:nvSpPr>
          <p:cNvPr id="7" name="Text 1661"/>
          <p:cNvSpPr txBox="1"/>
          <p:nvPr/>
        </p:nvSpPr>
        <p:spPr>
          <a:xfrm>
            <a:off x="1051560" y="1984248"/>
            <a:ext cx="5166360" cy="810158"/>
          </a:xfrm>
          <a:prstGeom prst="rect">
            <a:avLst/>
          </a:prstGeom>
          <a:noFill/>
          <a:ln/>
        </p:spPr>
        <p:txBody>
          <a:bodyPr wrap="square" lIns="0" tIns="0" rIns="0" bIns="0" rtlCol="0" anchor="t"/>
          <a:lstStyle/>
          <a:p>
            <a:pPr algn="l" indent="0" marL="0">
              <a:spcAft>
                <a:spcPts val="600"/>
              </a:spcAft>
              <a:buNone/>
            </a:pPr>
            <a:r>
              <a:rPr lang="en-US" sz="1600" b="1" dirty="0">
                <a:solidFill>
                  <a:schemeClr val="tx1"/>
                </a:solidFill>
              </a:rPr>
              <a:t>Rhineland Pact:</a:t>
            </a:r>
            <a:r>
              <a:rPr lang="en-US" sz="1600" dirty="0">
                <a:solidFill>
                  <a:schemeClr val="tx1"/>
                </a:solidFill>
              </a:rPr>
              <a:t> Germany, France and Belgium accepted their shared borders; Britain and Italy guaranteed them</a:t>
            </a:r>
            <a:endParaRPr lang="en-US" sz="1600" dirty="0"/>
          </a:p>
        </p:txBody>
      </p:sp>
      <p:sp>
        <p:nvSpPr>
          <p:cNvPr id="8" name="Number 1662"/>
          <p:cNvSpPr/>
          <p:nvPr/>
        </p:nvSpPr>
        <p:spPr>
          <a:xfrm>
            <a:off x="548640" y="2894990"/>
            <a:ext cx="365760" cy="365760"/>
          </a:xfrm>
          <a:prstGeom prst="ellipse">
            <a:avLst/>
          </a:prstGeom>
          <a:solidFill>
            <a:schemeClr val="accent2"/>
          </a:solidFill>
          <a:ln/>
        </p:spPr>
      </p:sp>
      <p:sp>
        <p:nvSpPr>
          <p:cNvPr id="9" name="Text 1663"/>
          <p:cNvSpPr txBox="1"/>
          <p:nvPr/>
        </p:nvSpPr>
        <p:spPr>
          <a:xfrm>
            <a:off x="548640" y="2894990"/>
            <a:ext cx="365760"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bg1"/>
                </a:solidFill>
              </a:rPr>
              <a:t>2</a:t>
            </a:r>
            <a:endParaRPr lang="en-US" sz="1400" dirty="0"/>
          </a:p>
        </p:txBody>
      </p:sp>
      <p:sp>
        <p:nvSpPr>
          <p:cNvPr id="10" name="Text 1664"/>
          <p:cNvSpPr txBox="1"/>
          <p:nvPr/>
        </p:nvSpPr>
        <p:spPr>
          <a:xfrm>
            <a:off x="1051560" y="2840126"/>
            <a:ext cx="5166360" cy="810158"/>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The Rhineland would stay demilitarised</a:t>
            </a:r>
            <a:endParaRPr lang="en-US" sz="1600" dirty="0"/>
          </a:p>
        </p:txBody>
      </p:sp>
      <p:sp>
        <p:nvSpPr>
          <p:cNvPr id="11" name="Number 1665"/>
          <p:cNvSpPr/>
          <p:nvPr/>
        </p:nvSpPr>
        <p:spPr>
          <a:xfrm>
            <a:off x="548640" y="3750869"/>
            <a:ext cx="365760" cy="365760"/>
          </a:xfrm>
          <a:prstGeom prst="ellipse">
            <a:avLst/>
          </a:prstGeom>
          <a:solidFill>
            <a:schemeClr val="accent2"/>
          </a:solidFill>
          <a:ln/>
        </p:spPr>
      </p:sp>
      <p:sp>
        <p:nvSpPr>
          <p:cNvPr id="12" name="Text 1666"/>
          <p:cNvSpPr txBox="1"/>
          <p:nvPr/>
        </p:nvSpPr>
        <p:spPr>
          <a:xfrm>
            <a:off x="548640" y="3750869"/>
            <a:ext cx="365760"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bg1"/>
                </a:solidFill>
              </a:rPr>
              <a:t>3</a:t>
            </a:r>
            <a:endParaRPr lang="en-US" sz="1400" dirty="0"/>
          </a:p>
        </p:txBody>
      </p:sp>
      <p:sp>
        <p:nvSpPr>
          <p:cNvPr id="13" name="Text 1667"/>
          <p:cNvSpPr txBox="1"/>
          <p:nvPr/>
        </p:nvSpPr>
        <p:spPr>
          <a:xfrm>
            <a:off x="1051560" y="3696005"/>
            <a:ext cx="5166360" cy="810158"/>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Germany signed arbitration treaties with Poland and Czechoslovakia — but did </a:t>
            </a:r>
            <a:r>
              <a:rPr lang="en-US" sz="1600" b="1" dirty="0">
                <a:solidFill>
                  <a:schemeClr val="tx1"/>
                </a:solidFill>
              </a:rPr>
              <a:t>not</a:t>
            </a:r>
            <a:r>
              <a:rPr lang="en-US" sz="1600" dirty="0">
                <a:solidFill>
                  <a:schemeClr val="tx1"/>
                </a:solidFill>
              </a:rPr>
              <a:t> guarantee its eastern borders</a:t>
            </a:r>
            <a:endParaRPr lang="en-US" sz="1600" dirty="0"/>
          </a:p>
        </p:txBody>
      </p:sp>
      <p:sp>
        <p:nvSpPr>
          <p:cNvPr id="14" name="Number 1668"/>
          <p:cNvSpPr/>
          <p:nvPr/>
        </p:nvSpPr>
        <p:spPr>
          <a:xfrm>
            <a:off x="548640" y="4606747"/>
            <a:ext cx="365760" cy="365760"/>
          </a:xfrm>
          <a:prstGeom prst="ellipse">
            <a:avLst/>
          </a:prstGeom>
          <a:solidFill>
            <a:schemeClr val="accent2"/>
          </a:solidFill>
          <a:ln/>
        </p:spPr>
      </p:sp>
      <p:sp>
        <p:nvSpPr>
          <p:cNvPr id="15" name="Text 1669"/>
          <p:cNvSpPr txBox="1"/>
          <p:nvPr/>
        </p:nvSpPr>
        <p:spPr>
          <a:xfrm>
            <a:off x="548640" y="4606747"/>
            <a:ext cx="365760"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bg1"/>
                </a:solidFill>
              </a:rPr>
              <a:t>4</a:t>
            </a:r>
            <a:endParaRPr lang="en-US" sz="1400" dirty="0"/>
          </a:p>
        </p:txBody>
      </p:sp>
      <p:sp>
        <p:nvSpPr>
          <p:cNvPr id="16" name="Text 1670"/>
          <p:cNvSpPr txBox="1"/>
          <p:nvPr/>
        </p:nvSpPr>
        <p:spPr>
          <a:xfrm>
            <a:off x="1051560" y="4551883"/>
            <a:ext cx="5166360" cy="810158"/>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France made mutual-assistance treaties with Poland and Czechoslovakia</a:t>
            </a:r>
            <a:endParaRPr lang="en-US" sz="1600" dirty="0"/>
          </a:p>
        </p:txBody>
      </p:sp>
      <p:sp>
        <p:nvSpPr>
          <p:cNvPr id="17" name="Number 1671"/>
          <p:cNvSpPr/>
          <p:nvPr/>
        </p:nvSpPr>
        <p:spPr>
          <a:xfrm>
            <a:off x="548640" y="5462626"/>
            <a:ext cx="365760" cy="365760"/>
          </a:xfrm>
          <a:prstGeom prst="ellipse">
            <a:avLst/>
          </a:prstGeom>
          <a:solidFill>
            <a:schemeClr val="accent2"/>
          </a:solidFill>
          <a:ln/>
        </p:spPr>
      </p:sp>
      <p:sp>
        <p:nvSpPr>
          <p:cNvPr id="18" name="Text 1672"/>
          <p:cNvSpPr txBox="1"/>
          <p:nvPr/>
        </p:nvSpPr>
        <p:spPr>
          <a:xfrm>
            <a:off x="548640" y="5462626"/>
            <a:ext cx="365760"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bg1"/>
                </a:solidFill>
              </a:rPr>
              <a:t>5</a:t>
            </a:r>
            <a:endParaRPr lang="en-US" sz="1400" dirty="0"/>
          </a:p>
        </p:txBody>
      </p:sp>
      <p:sp>
        <p:nvSpPr>
          <p:cNvPr id="19" name="Text 1673"/>
          <p:cNvSpPr txBox="1"/>
          <p:nvPr/>
        </p:nvSpPr>
        <p:spPr>
          <a:xfrm>
            <a:off x="1051560" y="5407762"/>
            <a:ext cx="5166360" cy="810158"/>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Germany would join the League (1926)</a:t>
            </a:r>
            <a:endParaRPr lang="en-US" sz="1600" dirty="0"/>
          </a:p>
        </p:txBody>
      </p:sp>
      <p:sp>
        <p:nvSpPr>
          <p:cNvPr id="20" name="Card 1674"/>
          <p:cNvSpPr/>
          <p:nvPr/>
        </p:nvSpPr>
        <p:spPr>
          <a:xfrm>
            <a:off x="6492240" y="1481328"/>
            <a:ext cx="5150815" cy="2253996"/>
          </a:xfrm>
          <a:prstGeom prst="roundRect">
            <a:avLst>
              <a:gd name="adj" fmla="val 4057"/>
            </a:avLst>
          </a:prstGeom>
          <a:solidFill>
            <a:schemeClr val="accent2">
              <a:alpha val="10000"/>
            </a:schemeClr>
          </a:solidFill>
          <a:ln/>
        </p:spPr>
      </p:sp>
      <p:sp>
        <p:nvSpPr>
          <p:cNvPr id="21" name="Icon circle 1675"/>
          <p:cNvSpPr/>
          <p:nvPr/>
        </p:nvSpPr>
        <p:spPr>
          <a:xfrm>
            <a:off x="6675120" y="1664208"/>
            <a:ext cx="475488" cy="475488"/>
          </a:xfrm>
          <a:prstGeom prst="ellipse">
            <a:avLst/>
          </a:prstGeom>
          <a:solidFill>
            <a:schemeClr val="accent2"/>
          </a:solidFill>
          <a:ln/>
        </p:spPr>
      </p:sp>
      <p:pic>
        <p:nvPicPr>
          <p:cNvPr id="22" name="Icon FaCircleCheck 1676" descr="preencoded.png">    </p:cNvPr>
          <p:cNvPicPr>
            <a:picLocks noChangeAspect="1"/>
          </p:cNvPicPr>
          <p:nvPr/>
        </p:nvPicPr>
        <p:blipFill>
          <a:blip r:embed="rId1"/>
          <a:stretch>
            <a:fillRect/>
          </a:stretch>
        </p:blipFill>
        <p:spPr>
          <a:xfrm>
            <a:off x="6779727" y="1768815"/>
            <a:ext cx="266273" cy="266273"/>
          </a:xfrm>
          <a:prstGeom prst="rect">
            <a:avLst/>
          </a:prstGeom>
        </p:spPr>
      </p:pic>
      <p:sp>
        <p:nvSpPr>
          <p:cNvPr id="23" name="Card title 1677"/>
          <p:cNvSpPr txBox="1"/>
          <p:nvPr/>
        </p:nvSpPr>
        <p:spPr>
          <a:xfrm>
            <a:off x="7278624" y="1664208"/>
            <a:ext cx="4181551"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Why it mattered</a:t>
            </a:r>
            <a:endParaRPr lang="en-US" sz="1700" dirty="0"/>
          </a:p>
        </p:txBody>
      </p:sp>
      <p:sp>
        <p:nvSpPr>
          <p:cNvPr id="24" name="Text 1678"/>
          <p:cNvSpPr txBox="1"/>
          <p:nvPr/>
        </p:nvSpPr>
        <p:spPr>
          <a:xfrm>
            <a:off x="6675120" y="2249424"/>
            <a:ext cx="4785055" cy="1303020"/>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Germany treated as an equal, not an enemy</a:t>
            </a:r>
            <a:endParaRPr lang="en-US" sz="1800" dirty="0"/>
          </a:p>
          <a:p>
            <a:pPr algn="l" marL="190500" indent="-190500">
              <a:spcAft>
                <a:spcPts val="500"/>
              </a:spcAft>
              <a:buSzPct val="100000"/>
              <a:buChar char="•"/>
            </a:pPr>
            <a:r>
              <a:rPr lang="en-US" sz="1800" dirty="0">
                <a:solidFill>
                  <a:schemeClr val="tx1"/>
                </a:solidFill>
              </a:rPr>
              <a:t>The 'Spirit of Locarno': a new mood of trust</a:t>
            </a:r>
            <a:endParaRPr lang="en-US" sz="1800" dirty="0"/>
          </a:p>
          <a:p>
            <a:pPr algn="l" marL="190500" indent="-190500">
              <a:spcAft>
                <a:spcPts val="500"/>
              </a:spcAft>
              <a:buSzPct val="100000"/>
              <a:buChar char="•"/>
            </a:pPr>
            <a:r>
              <a:rPr lang="en-US" sz="1800" dirty="0">
                <a:solidFill>
                  <a:schemeClr val="tx1"/>
                </a:solidFill>
              </a:rPr>
              <a:t>Nobel Peace Prizes for Chamberlain (1925), Briand and Stresemann (1926)</a:t>
            </a:r>
            <a:endParaRPr lang="en-US" sz="1800" dirty="0"/>
          </a:p>
        </p:txBody>
      </p:sp>
      <p:sp>
        <p:nvSpPr>
          <p:cNvPr id="25" name="Card 1679"/>
          <p:cNvSpPr/>
          <p:nvPr/>
        </p:nvSpPr>
        <p:spPr>
          <a:xfrm>
            <a:off x="6492240" y="4009644"/>
            <a:ext cx="5150815" cy="2253996"/>
          </a:xfrm>
          <a:prstGeom prst="roundRect">
            <a:avLst>
              <a:gd name="adj" fmla="val 4057"/>
            </a:avLst>
          </a:prstGeom>
          <a:solidFill>
            <a:schemeClr val="accent1">
              <a:alpha val="10000"/>
            </a:schemeClr>
          </a:solidFill>
          <a:ln/>
        </p:spPr>
      </p:sp>
      <p:sp>
        <p:nvSpPr>
          <p:cNvPr id="26" name="Icon circle 1680"/>
          <p:cNvSpPr/>
          <p:nvPr/>
        </p:nvSpPr>
        <p:spPr>
          <a:xfrm>
            <a:off x="6675120" y="4192524"/>
            <a:ext cx="475488" cy="475488"/>
          </a:xfrm>
          <a:prstGeom prst="ellipse">
            <a:avLst/>
          </a:prstGeom>
          <a:solidFill>
            <a:schemeClr val="accent1"/>
          </a:solidFill>
          <a:ln/>
        </p:spPr>
      </p:sp>
      <p:pic>
        <p:nvPicPr>
          <p:cNvPr id="27" name="Icon FaExclamationTriangle 1681" descr="preencoded.png">    </p:cNvPr>
          <p:cNvPicPr>
            <a:picLocks noChangeAspect="1"/>
          </p:cNvPicPr>
          <p:nvPr/>
        </p:nvPicPr>
        <p:blipFill>
          <a:blip r:embed="rId2"/>
          <a:stretch>
            <a:fillRect/>
          </a:stretch>
        </p:blipFill>
        <p:spPr>
          <a:xfrm>
            <a:off x="6779727" y="4297131"/>
            <a:ext cx="266273" cy="266273"/>
          </a:xfrm>
          <a:prstGeom prst="rect">
            <a:avLst/>
          </a:prstGeom>
        </p:spPr>
      </p:pic>
      <p:sp>
        <p:nvSpPr>
          <p:cNvPr id="28" name="Card title 1682"/>
          <p:cNvSpPr txBox="1"/>
          <p:nvPr/>
        </p:nvSpPr>
        <p:spPr>
          <a:xfrm>
            <a:off x="7278624" y="4192524"/>
            <a:ext cx="4181551"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Its limits</a:t>
            </a:r>
            <a:endParaRPr lang="en-US" sz="1700" dirty="0"/>
          </a:p>
        </p:txBody>
      </p:sp>
      <p:sp>
        <p:nvSpPr>
          <p:cNvPr id="29" name="Text 1683"/>
          <p:cNvSpPr txBox="1"/>
          <p:nvPr/>
        </p:nvSpPr>
        <p:spPr>
          <a:xfrm>
            <a:off x="6675120" y="4777740"/>
            <a:ext cx="4785055" cy="1303020"/>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No 'Eastern Locarno': implied Germany's eastern borders could change</a:t>
            </a:r>
            <a:endParaRPr lang="en-US" sz="1800" dirty="0"/>
          </a:p>
          <a:p>
            <a:pPr algn="l" marL="190500" indent="-190500">
              <a:spcAft>
                <a:spcPts val="500"/>
              </a:spcAft>
              <a:buSzPct val="100000"/>
              <a:buChar char="•"/>
            </a:pPr>
            <a:r>
              <a:rPr lang="en-US" sz="1800" dirty="0">
                <a:solidFill>
                  <a:schemeClr val="tx1"/>
                </a:solidFill>
              </a:rPr>
              <a:t>Britain's guarantee was vague</a:t>
            </a:r>
            <a:endParaRPr lang="en-US" sz="1800" dirty="0"/>
          </a:p>
          <a:p>
            <a:pPr algn="l" marL="190500" indent="-190500">
              <a:spcAft>
                <a:spcPts val="500"/>
              </a:spcAft>
              <a:buSzPct val="100000"/>
              <a:buChar char="•"/>
            </a:pPr>
            <a:r>
              <a:rPr lang="en-US" sz="1800" dirty="0">
                <a:solidFill>
                  <a:schemeClr val="tx1"/>
                </a:solidFill>
              </a:rPr>
              <a:t>Made outside the League</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Kicker 168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KQ4 · STRESEMANN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Stresemann: good European or nationalist?</a:t>
            </a:r>
            <a:endParaRPr lang="en-US" sz="3400" dirty="0"/>
          </a:p>
        </p:txBody>
      </p:sp>
      <p:sp>
        <p:nvSpPr>
          <p:cNvPr id="4" name="Card 1685"/>
          <p:cNvSpPr/>
          <p:nvPr/>
        </p:nvSpPr>
        <p:spPr>
          <a:xfrm>
            <a:off x="548640" y="1481328"/>
            <a:ext cx="5410048" cy="3794760"/>
          </a:xfrm>
          <a:prstGeom prst="roundRect">
            <a:avLst>
              <a:gd name="adj" fmla="val 2410"/>
            </a:avLst>
          </a:prstGeom>
          <a:solidFill>
            <a:schemeClr val="accent2">
              <a:alpha val="10000"/>
            </a:schemeClr>
          </a:solidFill>
          <a:ln/>
        </p:spPr>
      </p:sp>
      <p:sp>
        <p:nvSpPr>
          <p:cNvPr id="5" name="Icon circle 1686"/>
          <p:cNvSpPr/>
          <p:nvPr/>
        </p:nvSpPr>
        <p:spPr>
          <a:xfrm>
            <a:off x="731520" y="1664208"/>
            <a:ext cx="475488" cy="475488"/>
          </a:xfrm>
          <a:prstGeom prst="ellipse">
            <a:avLst/>
          </a:prstGeom>
          <a:solidFill>
            <a:schemeClr val="accent2"/>
          </a:solidFill>
          <a:ln/>
        </p:spPr>
      </p:sp>
      <p:pic>
        <p:nvPicPr>
          <p:cNvPr id="6" name="Icon FaDove 1687"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688"/>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 'good European'</a:t>
            </a:r>
            <a:endParaRPr lang="en-US" sz="1700" dirty="0"/>
          </a:p>
        </p:txBody>
      </p:sp>
      <p:sp>
        <p:nvSpPr>
          <p:cNvPr id="8" name="Text 1689"/>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Ended passive resistance in the Ruhr (1923)</a:t>
            </a:r>
            <a:endParaRPr lang="en-US" sz="2000" dirty="0"/>
          </a:p>
          <a:p>
            <a:pPr algn="l" marL="190500" indent="-190500">
              <a:spcAft>
                <a:spcPts val="800"/>
              </a:spcAft>
              <a:buSzPct val="100000"/>
              <a:buChar char="•"/>
            </a:pPr>
            <a:r>
              <a:rPr lang="en-US" sz="2000" dirty="0">
                <a:solidFill>
                  <a:schemeClr val="tx1"/>
                </a:solidFill>
              </a:rPr>
              <a:t>Accepted the Dawes and Young Plans</a:t>
            </a:r>
            <a:endParaRPr lang="en-US" sz="2000" dirty="0"/>
          </a:p>
          <a:p>
            <a:pPr algn="l" marL="190500" indent="-190500">
              <a:spcAft>
                <a:spcPts val="800"/>
              </a:spcAft>
              <a:buSzPct val="100000"/>
              <a:buChar char="•"/>
            </a:pPr>
            <a:r>
              <a:rPr lang="en-US" sz="2000" dirty="0">
                <a:solidFill>
                  <a:schemeClr val="tx1"/>
                </a:solidFill>
              </a:rPr>
              <a:t>Locarno: accepted the western borders</a:t>
            </a:r>
            <a:endParaRPr lang="en-US" sz="2000" dirty="0"/>
          </a:p>
          <a:p>
            <a:pPr algn="l" marL="190500" indent="-190500">
              <a:spcAft>
                <a:spcPts val="800"/>
              </a:spcAft>
              <a:buSzPct val="100000"/>
              <a:buChar char="•"/>
            </a:pPr>
            <a:r>
              <a:rPr lang="en-US" sz="2000" dirty="0">
                <a:solidFill>
                  <a:schemeClr val="tx1"/>
                </a:solidFill>
              </a:rPr>
              <a:t>Took Germany into the League (1926); Nobel Peace Prize</a:t>
            </a:r>
            <a:endParaRPr lang="en-US" sz="2000" dirty="0"/>
          </a:p>
        </p:txBody>
      </p:sp>
      <p:sp>
        <p:nvSpPr>
          <p:cNvPr id="9" name="Card 1690"/>
          <p:cNvSpPr/>
          <p:nvPr/>
        </p:nvSpPr>
        <p:spPr>
          <a:xfrm>
            <a:off x="6233008" y="1481328"/>
            <a:ext cx="5410048" cy="3794760"/>
          </a:xfrm>
          <a:prstGeom prst="roundRect">
            <a:avLst>
              <a:gd name="adj" fmla="val 2410"/>
            </a:avLst>
          </a:prstGeom>
          <a:solidFill>
            <a:schemeClr val="bg2"/>
          </a:solidFill>
          <a:ln/>
        </p:spPr>
      </p:sp>
      <p:sp>
        <p:nvSpPr>
          <p:cNvPr id="10" name="Icon circle 1691"/>
          <p:cNvSpPr/>
          <p:nvPr/>
        </p:nvSpPr>
        <p:spPr>
          <a:xfrm>
            <a:off x="6415888" y="1664208"/>
            <a:ext cx="475488" cy="475488"/>
          </a:xfrm>
          <a:prstGeom prst="ellipse">
            <a:avLst/>
          </a:prstGeom>
          <a:solidFill>
            <a:schemeClr val="accent2"/>
          </a:solidFill>
          <a:ln/>
        </p:spPr>
      </p:sp>
      <p:pic>
        <p:nvPicPr>
          <p:cNvPr id="11" name="Icon FaFlag 1692"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1693"/>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 clever nationalist</a:t>
            </a:r>
            <a:endParaRPr lang="en-US" sz="1700" dirty="0"/>
          </a:p>
        </p:txBody>
      </p:sp>
      <p:sp>
        <p:nvSpPr>
          <p:cNvPr id="13" name="Text 1694"/>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'Fulfilment' was a tactic to revise Versailles step by step</a:t>
            </a:r>
            <a:endParaRPr lang="en-US" sz="2000" dirty="0"/>
          </a:p>
          <a:p>
            <a:pPr algn="l" marL="190500" indent="-190500">
              <a:spcAft>
                <a:spcPts val="800"/>
              </a:spcAft>
              <a:buSzPct val="100000"/>
              <a:buChar char="•"/>
            </a:pPr>
            <a:r>
              <a:rPr lang="en-US" sz="2000" dirty="0">
                <a:solidFill>
                  <a:schemeClr val="tx1"/>
                </a:solidFill>
              </a:rPr>
              <a:t>Wanted to regain Danzig and the Polish Corridor</a:t>
            </a:r>
            <a:endParaRPr lang="en-US" sz="2000" dirty="0"/>
          </a:p>
          <a:p>
            <a:pPr algn="l" marL="190500" indent="-190500">
              <a:spcAft>
                <a:spcPts val="800"/>
              </a:spcAft>
              <a:buSzPct val="100000"/>
              <a:buChar char="•"/>
            </a:pPr>
            <a:r>
              <a:rPr lang="en-US" sz="2000" dirty="0">
                <a:solidFill>
                  <a:schemeClr val="tx1"/>
                </a:solidFill>
              </a:rPr>
              <a:t>Kept secret military links with the USSR (Treaty of Berlin, 1926)</a:t>
            </a:r>
            <a:endParaRPr lang="en-US" sz="2000" dirty="0"/>
          </a:p>
          <a:p>
            <a:pPr algn="l" marL="190500" indent="-190500">
              <a:spcAft>
                <a:spcPts val="800"/>
              </a:spcAft>
              <a:buSzPct val="100000"/>
              <a:buChar char="•"/>
            </a:pPr>
            <a:r>
              <a:rPr lang="en-US" sz="2000" dirty="0">
                <a:solidFill>
                  <a:schemeClr val="tx1"/>
                </a:solidFill>
              </a:rPr>
              <a:t>Aims: end reparations, free the Rhineland, union with Austria</a:t>
            </a:r>
            <a:endParaRPr lang="en-US" sz="2000" dirty="0"/>
          </a:p>
        </p:txBody>
      </p:sp>
      <p:sp>
        <p:nvSpPr>
          <p:cNvPr id="14" name="Callout 1695"/>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1696"/>
          <p:cNvSpPr/>
          <p:nvPr/>
        </p:nvSpPr>
        <p:spPr>
          <a:xfrm>
            <a:off x="731520" y="5751576"/>
            <a:ext cx="894203" cy="310896"/>
          </a:xfrm>
          <a:prstGeom prst="roundRect">
            <a:avLst>
              <a:gd name="adj" fmla="val 50000"/>
            </a:avLst>
          </a:prstGeom>
          <a:solidFill>
            <a:schemeClr val="accent4"/>
          </a:solidFill>
          <a:ln/>
        </p:spPr>
      </p:sp>
      <p:sp>
        <p:nvSpPr>
          <p:cNvPr id="16" name="Text 1697"/>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17" name="Text 1698"/>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Best seen as a realist: a German nationalist who chose peaceful negotiation as the surest way to revise Versailles.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Kicker 169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KQ4 · KELLOGG–BRIAND</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Kellogg–Briand Pact, 1928</a:t>
            </a:r>
            <a:endParaRPr lang="en-US" sz="3400" dirty="0"/>
          </a:p>
        </p:txBody>
      </p:sp>
      <p:sp>
        <p:nvSpPr>
          <p:cNvPr id="4" name="Stat panel 1700"/>
          <p:cNvSpPr/>
          <p:nvPr/>
        </p:nvSpPr>
        <p:spPr>
          <a:xfrm>
            <a:off x="548640" y="1481328"/>
            <a:ext cx="3657600" cy="4782312"/>
          </a:xfrm>
          <a:prstGeom prst="roundRect">
            <a:avLst>
              <a:gd name="adj" fmla="val 2500"/>
            </a:avLst>
          </a:prstGeom>
          <a:solidFill>
            <a:schemeClr val="tx2"/>
          </a:solidFill>
          <a:ln/>
        </p:spPr>
      </p:sp>
      <p:sp>
        <p:nvSpPr>
          <p:cNvPr id="5" name="Text 1701"/>
          <p:cNvSpPr txBox="1"/>
          <p:nvPr/>
        </p:nvSpPr>
        <p:spPr>
          <a:xfrm>
            <a:off x="822960" y="1801368"/>
            <a:ext cx="3108960" cy="1188720"/>
          </a:xfrm>
          <a:prstGeom prst="rect">
            <a:avLst/>
          </a:prstGeom>
          <a:noFill/>
          <a:ln/>
        </p:spPr>
        <p:txBody>
          <a:bodyPr wrap="square" lIns="0" tIns="0" rIns="0" bIns="0" rtlCol="0" anchor="ctr"/>
          <a:lstStyle/>
          <a:p>
            <a:pPr algn="l" indent="0" marL="0">
              <a:spcAft>
                <a:spcPts val="600"/>
              </a:spcAft>
              <a:buNone/>
            </a:pPr>
            <a:r>
              <a:rPr lang="en-US" sz="6600" b="1" dirty="0">
                <a:solidFill>
                  <a:schemeClr val="bg1"/>
                </a:solidFill>
                <a:latin typeface="+mj-lt" pitchFamily="34" charset="0"/>
                <a:ea typeface="+mj-lt" pitchFamily="34" charset="-122"/>
                <a:cs typeface="+mj-lt" pitchFamily="34" charset="-120"/>
              </a:rPr>
              <a:t>62+</a:t>
            </a:r>
            <a:endParaRPr lang="en-US" sz="6600" dirty="0"/>
          </a:p>
        </p:txBody>
      </p:sp>
      <p:sp>
        <p:nvSpPr>
          <p:cNvPr id="6" name="Text 1702"/>
          <p:cNvSpPr txBox="1"/>
          <p:nvPr/>
        </p:nvSpPr>
        <p:spPr>
          <a:xfrm>
            <a:off x="822960" y="3081528"/>
            <a:ext cx="3108960" cy="1005840"/>
          </a:xfrm>
          <a:prstGeom prst="rect">
            <a:avLst/>
          </a:prstGeom>
          <a:noFill/>
          <a:ln/>
        </p:spPr>
        <p:txBody>
          <a:bodyPr wrap="square" lIns="0" tIns="0" rIns="0" bIns="0" rtlCol="0" anchor="t"/>
          <a:lstStyle/>
          <a:p>
            <a:pPr algn="l" indent="0" marL="0">
              <a:spcAft>
                <a:spcPts val="600"/>
              </a:spcAft>
              <a:buNone/>
            </a:pPr>
            <a:r>
              <a:rPr lang="en-US" sz="1600" dirty="0">
                <a:solidFill>
                  <a:schemeClr val="bg1"/>
                </a:solidFill>
              </a:rPr>
              <a:t>states eventually signed — including Germany, Italy, Japan and the USSR</a:t>
            </a:r>
            <a:endParaRPr lang="en-US" sz="1600" dirty="0"/>
          </a:p>
        </p:txBody>
      </p:sp>
      <p:sp>
        <p:nvSpPr>
          <p:cNvPr id="7" name="Text 1703"/>
          <p:cNvSpPr txBox="1"/>
          <p:nvPr/>
        </p:nvSpPr>
        <p:spPr>
          <a:xfrm>
            <a:off x="822960" y="4361688"/>
            <a:ext cx="3108960" cy="1280160"/>
          </a:xfrm>
          <a:prstGeom prst="rect">
            <a:avLst/>
          </a:prstGeom>
          <a:noFill/>
          <a:ln/>
        </p:spPr>
        <p:txBody>
          <a:bodyPr wrap="square" lIns="0" tIns="0" rIns="0" bIns="0" rtlCol="0" anchor="t"/>
          <a:lstStyle/>
          <a:p>
            <a:pPr algn="l" indent="0" marL="0">
              <a:spcAft>
                <a:spcPts val="600"/>
              </a:spcAft>
              <a:buNone/>
            </a:pPr>
            <a:r>
              <a:rPr lang="en-US" sz="1600" i="1" dirty="0">
                <a:solidFill>
                  <a:schemeClr val="accent4"/>
                </a:solidFill>
                <a:latin typeface="+mj-lt" pitchFamily="34" charset="0"/>
                <a:ea typeface="+mj-lt" pitchFamily="34" charset="-122"/>
                <a:cs typeface="+mj-lt" pitchFamily="34" charset="-120"/>
              </a:rPr>
              <a:t>Signatories agreed to 'renounce war as an instrument of national policy'.</a:t>
            </a:r>
            <a:endParaRPr lang="en-US" sz="1600" dirty="0"/>
          </a:p>
        </p:txBody>
      </p:sp>
      <p:sp>
        <p:nvSpPr>
          <p:cNvPr id="8" name="Card 1704"/>
          <p:cNvSpPr/>
          <p:nvPr/>
        </p:nvSpPr>
        <p:spPr>
          <a:xfrm>
            <a:off x="4480560" y="1481328"/>
            <a:ext cx="7162495" cy="1441704"/>
          </a:xfrm>
          <a:prstGeom prst="roundRect">
            <a:avLst>
              <a:gd name="adj" fmla="val 6342"/>
            </a:avLst>
          </a:prstGeom>
          <a:solidFill>
            <a:schemeClr val="accent2">
              <a:alpha val="10000"/>
            </a:schemeClr>
          </a:solidFill>
          <a:ln/>
        </p:spPr>
      </p:sp>
      <p:sp>
        <p:nvSpPr>
          <p:cNvPr id="9" name="Icon circle 1705"/>
          <p:cNvSpPr/>
          <p:nvPr/>
        </p:nvSpPr>
        <p:spPr>
          <a:xfrm>
            <a:off x="4645152" y="1645920"/>
            <a:ext cx="475488" cy="475488"/>
          </a:xfrm>
          <a:prstGeom prst="ellipse">
            <a:avLst/>
          </a:prstGeom>
          <a:solidFill>
            <a:schemeClr val="accent2"/>
          </a:solidFill>
          <a:ln/>
        </p:spPr>
      </p:sp>
      <p:pic>
        <p:nvPicPr>
          <p:cNvPr id="10" name="Icon FaFileSignature 1706" descr="preencoded.png">    </p:cNvPr>
          <p:cNvPicPr>
            <a:picLocks noChangeAspect="1"/>
          </p:cNvPicPr>
          <p:nvPr/>
        </p:nvPicPr>
        <p:blipFill>
          <a:blip r:embed="rId1"/>
          <a:stretch>
            <a:fillRect/>
          </a:stretch>
        </p:blipFill>
        <p:spPr>
          <a:xfrm>
            <a:off x="4749759" y="1750527"/>
            <a:ext cx="266273" cy="266273"/>
          </a:xfrm>
          <a:prstGeom prst="rect">
            <a:avLst/>
          </a:prstGeom>
        </p:spPr>
      </p:pic>
      <p:sp>
        <p:nvSpPr>
          <p:cNvPr id="11" name="Card title 1707"/>
          <p:cNvSpPr txBox="1"/>
          <p:nvPr/>
        </p:nvSpPr>
        <p:spPr>
          <a:xfrm>
            <a:off x="5248656" y="1645920"/>
            <a:ext cx="6229807"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What happened</a:t>
            </a:r>
            <a:endParaRPr lang="en-US" sz="1700" dirty="0"/>
          </a:p>
        </p:txBody>
      </p:sp>
      <p:sp>
        <p:nvSpPr>
          <p:cNvPr id="12" name="Text 1708"/>
          <p:cNvSpPr txBox="1"/>
          <p:nvPr/>
        </p:nvSpPr>
        <p:spPr>
          <a:xfrm>
            <a:off x="4645152" y="2231136"/>
            <a:ext cx="6833311" cy="527304"/>
          </a:xfrm>
          <a:prstGeom prst="rect">
            <a:avLst/>
          </a:prstGeom>
          <a:noFill/>
          <a:ln/>
        </p:spPr>
        <p:txBody>
          <a:bodyPr wrap="square" lIns="0" tIns="0" rIns="0" bIns="0" rtlCol="0" anchor="t"/>
          <a:lstStyle/>
          <a:p>
            <a:pPr algn="l" indent="0" marL="0">
              <a:spcAft>
                <a:spcPts val="500"/>
              </a:spcAft>
              <a:buNone/>
            </a:pPr>
            <a:r>
              <a:rPr lang="en-US" sz="1600" dirty="0">
                <a:solidFill>
                  <a:schemeClr val="tx1"/>
                </a:solidFill>
              </a:rPr>
              <a:t>French Foreign Minister Briand proposed a Franco-American pact; US Secretary of State Kellogg widened it to all nations. 15 states signed in Paris (Aug 1928).</a:t>
            </a:r>
            <a:endParaRPr lang="en-US" sz="1600" dirty="0"/>
          </a:p>
        </p:txBody>
      </p:sp>
      <p:sp>
        <p:nvSpPr>
          <p:cNvPr id="13" name="Card 1709"/>
          <p:cNvSpPr/>
          <p:nvPr/>
        </p:nvSpPr>
        <p:spPr>
          <a:xfrm>
            <a:off x="4480560" y="3151632"/>
            <a:ext cx="7162495" cy="1441704"/>
          </a:xfrm>
          <a:prstGeom prst="roundRect">
            <a:avLst>
              <a:gd name="adj" fmla="val 6342"/>
            </a:avLst>
          </a:prstGeom>
          <a:solidFill>
            <a:schemeClr val="accent2">
              <a:alpha val="10000"/>
            </a:schemeClr>
          </a:solidFill>
          <a:ln/>
        </p:spPr>
      </p:sp>
      <p:sp>
        <p:nvSpPr>
          <p:cNvPr id="14" name="Icon circle 1710"/>
          <p:cNvSpPr/>
          <p:nvPr/>
        </p:nvSpPr>
        <p:spPr>
          <a:xfrm>
            <a:off x="4645152" y="3316224"/>
            <a:ext cx="475488" cy="475488"/>
          </a:xfrm>
          <a:prstGeom prst="ellipse">
            <a:avLst/>
          </a:prstGeom>
          <a:solidFill>
            <a:schemeClr val="accent2"/>
          </a:solidFill>
          <a:ln/>
        </p:spPr>
      </p:sp>
      <p:pic>
        <p:nvPicPr>
          <p:cNvPr id="15" name="Icon FaCircleCheck 1711" descr="preencoded.png">    </p:cNvPr>
          <p:cNvPicPr>
            <a:picLocks noChangeAspect="1"/>
          </p:cNvPicPr>
          <p:nvPr/>
        </p:nvPicPr>
        <p:blipFill>
          <a:blip r:embed="rId2"/>
          <a:stretch>
            <a:fillRect/>
          </a:stretch>
        </p:blipFill>
        <p:spPr>
          <a:xfrm>
            <a:off x="4749759" y="3420831"/>
            <a:ext cx="266273" cy="266273"/>
          </a:xfrm>
          <a:prstGeom prst="rect">
            <a:avLst/>
          </a:prstGeom>
        </p:spPr>
      </p:pic>
      <p:sp>
        <p:nvSpPr>
          <p:cNvPr id="16" name="Card title 1712"/>
          <p:cNvSpPr txBox="1"/>
          <p:nvPr/>
        </p:nvSpPr>
        <p:spPr>
          <a:xfrm>
            <a:off x="5248656" y="3316224"/>
            <a:ext cx="6229807"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Strengths</a:t>
            </a:r>
            <a:endParaRPr lang="en-US" sz="1700" dirty="0"/>
          </a:p>
        </p:txBody>
      </p:sp>
      <p:sp>
        <p:nvSpPr>
          <p:cNvPr id="17" name="Text 1713"/>
          <p:cNvSpPr txBox="1"/>
          <p:nvPr/>
        </p:nvSpPr>
        <p:spPr>
          <a:xfrm>
            <a:off x="4645152" y="3901440"/>
            <a:ext cx="6833311" cy="52730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The high point of 1920s optimism; showed a wide desire for peace; drew the USA into European peace-making (morally).</a:t>
            </a:r>
            <a:endParaRPr lang="en-US" sz="1700" dirty="0"/>
          </a:p>
        </p:txBody>
      </p:sp>
      <p:sp>
        <p:nvSpPr>
          <p:cNvPr id="18" name="Card 1714"/>
          <p:cNvSpPr/>
          <p:nvPr/>
        </p:nvSpPr>
        <p:spPr>
          <a:xfrm>
            <a:off x="4480560" y="4821936"/>
            <a:ext cx="7162495" cy="1441704"/>
          </a:xfrm>
          <a:prstGeom prst="roundRect">
            <a:avLst>
              <a:gd name="adj" fmla="val 6342"/>
            </a:avLst>
          </a:prstGeom>
          <a:solidFill>
            <a:schemeClr val="accent1">
              <a:alpha val="10000"/>
            </a:schemeClr>
          </a:solidFill>
          <a:ln/>
        </p:spPr>
      </p:sp>
      <p:sp>
        <p:nvSpPr>
          <p:cNvPr id="19" name="Icon circle 1715"/>
          <p:cNvSpPr/>
          <p:nvPr/>
        </p:nvSpPr>
        <p:spPr>
          <a:xfrm>
            <a:off x="4645152" y="4986528"/>
            <a:ext cx="475488" cy="475488"/>
          </a:xfrm>
          <a:prstGeom prst="ellipse">
            <a:avLst/>
          </a:prstGeom>
          <a:solidFill>
            <a:schemeClr val="accent1"/>
          </a:solidFill>
          <a:ln/>
        </p:spPr>
      </p:sp>
      <p:pic>
        <p:nvPicPr>
          <p:cNvPr id="20" name="Icon FaCircleXmark 1716" descr="preencoded.png">    </p:cNvPr>
          <p:cNvPicPr>
            <a:picLocks noChangeAspect="1"/>
          </p:cNvPicPr>
          <p:nvPr/>
        </p:nvPicPr>
        <p:blipFill>
          <a:blip r:embed="rId3"/>
          <a:stretch>
            <a:fillRect/>
          </a:stretch>
        </p:blipFill>
        <p:spPr>
          <a:xfrm>
            <a:off x="4749759" y="5091135"/>
            <a:ext cx="266273" cy="266273"/>
          </a:xfrm>
          <a:prstGeom prst="rect">
            <a:avLst/>
          </a:prstGeom>
        </p:spPr>
      </p:pic>
      <p:sp>
        <p:nvSpPr>
          <p:cNvPr id="21" name="Card title 1717"/>
          <p:cNvSpPr txBox="1"/>
          <p:nvPr/>
        </p:nvSpPr>
        <p:spPr>
          <a:xfrm>
            <a:off x="5248656" y="4986528"/>
            <a:ext cx="6229807"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Weaknesses</a:t>
            </a:r>
            <a:endParaRPr lang="en-US" sz="1700" dirty="0"/>
          </a:p>
        </p:txBody>
      </p:sp>
      <p:sp>
        <p:nvSpPr>
          <p:cNvPr id="22" name="Text 1718"/>
          <p:cNvSpPr txBox="1"/>
          <p:nvPr/>
        </p:nvSpPr>
        <p:spPr>
          <a:xfrm>
            <a:off x="4645152" y="5571744"/>
            <a:ext cx="6833311" cy="52730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No enforcement and a self-defence loophole. Signatories Japan (1931) and Italy (1935) later invaded other countries.</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Kicker 171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KQ4 · DISARMAMENT</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Disarmament in the 1920s: little progress</a:t>
            </a:r>
            <a:endParaRPr lang="en-US" sz="3400" dirty="0"/>
          </a:p>
        </p:txBody>
      </p:sp>
      <p:sp>
        <p:nvSpPr>
          <p:cNvPr id="4" name="Connector 1720"/>
          <p:cNvSpPr/>
          <p:nvPr/>
        </p:nvSpPr>
        <p:spPr>
          <a:xfrm>
            <a:off x="640080" y="3378708"/>
            <a:ext cx="10911535" cy="0"/>
          </a:xfrm>
          <a:prstGeom prst="line">
            <a:avLst/>
          </a:prstGeom>
          <a:noFill/>
          <a:ln w="31750">
            <a:solidFill>
              <a:schemeClr val="accent2"/>
            </a:solidFill>
            <a:prstDash val="solid"/>
          </a:ln>
        </p:spPr>
      </p:sp>
      <p:sp>
        <p:nvSpPr>
          <p:cNvPr id="5" name="Timeline dot 1721"/>
          <p:cNvSpPr/>
          <p:nvPr/>
        </p:nvSpPr>
        <p:spPr>
          <a:xfrm>
            <a:off x="1430503" y="3259836"/>
            <a:ext cx="237744" cy="237744"/>
          </a:xfrm>
          <a:prstGeom prst="ellipse">
            <a:avLst/>
          </a:prstGeom>
          <a:solidFill>
            <a:schemeClr val="accent2"/>
          </a:solidFill>
          <a:ln/>
        </p:spPr>
      </p:sp>
      <p:sp>
        <p:nvSpPr>
          <p:cNvPr id="6" name="Connector 1722"/>
          <p:cNvSpPr/>
          <p:nvPr/>
        </p:nvSpPr>
        <p:spPr>
          <a:xfrm flipV="1">
            <a:off x="1549375" y="3086100"/>
            <a:ext cx="0" cy="173736"/>
          </a:xfrm>
          <a:prstGeom prst="line">
            <a:avLst/>
          </a:prstGeom>
          <a:noFill/>
          <a:ln w="12700">
            <a:solidFill>
              <a:schemeClr val="accent2"/>
            </a:solidFill>
            <a:prstDash val="solid"/>
          </a:ln>
        </p:spPr>
      </p:sp>
      <p:sp>
        <p:nvSpPr>
          <p:cNvPr id="7" name="Text 1723"/>
          <p:cNvSpPr txBox="1"/>
          <p:nvPr/>
        </p:nvSpPr>
        <p:spPr>
          <a:xfrm>
            <a:off x="640080" y="2775204"/>
            <a:ext cx="246888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2"/>
                </a:solidFill>
              </a:rPr>
              <a:t>1919</a:t>
            </a:r>
            <a:endParaRPr lang="en-US" sz="1500" dirty="0"/>
          </a:p>
        </p:txBody>
      </p:sp>
      <p:sp>
        <p:nvSpPr>
          <p:cNvPr id="8" name="Text 1724"/>
          <p:cNvSpPr txBox="1"/>
          <p:nvPr/>
        </p:nvSpPr>
        <p:spPr>
          <a:xfrm>
            <a:off x="640080" y="1481328"/>
            <a:ext cx="246888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Versailles disarms Germany; others promise to follow</a:t>
            </a:r>
            <a:endParaRPr lang="en-US" sz="1400" dirty="0"/>
          </a:p>
        </p:txBody>
      </p:sp>
      <p:sp>
        <p:nvSpPr>
          <p:cNvPr id="9" name="Timeline dot 1725"/>
          <p:cNvSpPr/>
          <p:nvPr/>
        </p:nvSpPr>
        <p:spPr>
          <a:xfrm>
            <a:off x="3249092" y="3259836"/>
            <a:ext cx="237744" cy="237744"/>
          </a:xfrm>
          <a:prstGeom prst="ellipse">
            <a:avLst/>
          </a:prstGeom>
          <a:solidFill>
            <a:schemeClr val="accent2"/>
          </a:solidFill>
          <a:ln/>
        </p:spPr>
      </p:sp>
      <p:sp>
        <p:nvSpPr>
          <p:cNvPr id="10" name="Connector 1726"/>
          <p:cNvSpPr/>
          <p:nvPr/>
        </p:nvSpPr>
        <p:spPr>
          <a:xfrm>
            <a:off x="3367964" y="3497580"/>
            <a:ext cx="0" cy="173736"/>
          </a:xfrm>
          <a:prstGeom prst="line">
            <a:avLst/>
          </a:prstGeom>
          <a:noFill/>
          <a:ln w="12700">
            <a:solidFill>
              <a:schemeClr val="accent2"/>
            </a:solidFill>
            <a:prstDash val="solid"/>
          </a:ln>
        </p:spPr>
      </p:sp>
      <p:sp>
        <p:nvSpPr>
          <p:cNvPr id="11" name="Text 1727"/>
          <p:cNvSpPr txBox="1"/>
          <p:nvPr/>
        </p:nvSpPr>
        <p:spPr>
          <a:xfrm>
            <a:off x="2133524" y="3671316"/>
            <a:ext cx="246888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2"/>
                </a:solidFill>
              </a:rPr>
              <a:t>1922</a:t>
            </a:r>
            <a:endParaRPr lang="en-US" sz="1500" dirty="0"/>
          </a:p>
        </p:txBody>
      </p:sp>
      <p:sp>
        <p:nvSpPr>
          <p:cNvPr id="12" name="Text 1728"/>
          <p:cNvSpPr txBox="1"/>
          <p:nvPr/>
        </p:nvSpPr>
        <p:spPr>
          <a:xfrm>
            <a:off x="2133524" y="4018788"/>
            <a:ext cx="2468880" cy="12938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Washington: the one real naval deal</a:t>
            </a:r>
            <a:endParaRPr lang="en-US" sz="1400" dirty="0"/>
          </a:p>
        </p:txBody>
      </p:sp>
      <p:sp>
        <p:nvSpPr>
          <p:cNvPr id="13" name="Timeline dot 1729"/>
          <p:cNvSpPr/>
          <p:nvPr/>
        </p:nvSpPr>
        <p:spPr>
          <a:xfrm>
            <a:off x="5067681" y="3259836"/>
            <a:ext cx="237744" cy="237744"/>
          </a:xfrm>
          <a:prstGeom prst="ellipse">
            <a:avLst/>
          </a:prstGeom>
          <a:solidFill>
            <a:schemeClr val="accent2"/>
          </a:solidFill>
          <a:ln/>
        </p:spPr>
      </p:sp>
      <p:sp>
        <p:nvSpPr>
          <p:cNvPr id="14" name="Connector 1730"/>
          <p:cNvSpPr/>
          <p:nvPr/>
        </p:nvSpPr>
        <p:spPr>
          <a:xfrm flipV="1">
            <a:off x="5186553" y="3086100"/>
            <a:ext cx="0" cy="173736"/>
          </a:xfrm>
          <a:prstGeom prst="line">
            <a:avLst/>
          </a:prstGeom>
          <a:noFill/>
          <a:ln w="12700">
            <a:solidFill>
              <a:schemeClr val="accent2"/>
            </a:solidFill>
            <a:prstDash val="solid"/>
          </a:ln>
        </p:spPr>
      </p:sp>
      <p:sp>
        <p:nvSpPr>
          <p:cNvPr id="15" name="Text 1731"/>
          <p:cNvSpPr txBox="1"/>
          <p:nvPr/>
        </p:nvSpPr>
        <p:spPr>
          <a:xfrm>
            <a:off x="3952113" y="2775204"/>
            <a:ext cx="246888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2"/>
                </a:solidFill>
              </a:rPr>
              <a:t>1924–25</a:t>
            </a:r>
            <a:endParaRPr lang="en-US" sz="1500" dirty="0"/>
          </a:p>
        </p:txBody>
      </p:sp>
      <p:sp>
        <p:nvSpPr>
          <p:cNvPr id="16" name="Text 1732"/>
          <p:cNvSpPr txBox="1"/>
          <p:nvPr/>
        </p:nvSpPr>
        <p:spPr>
          <a:xfrm>
            <a:off x="3952113" y="1481328"/>
            <a:ext cx="246888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Geneva Protocol rejected by Britain</a:t>
            </a:r>
            <a:endParaRPr lang="en-US" sz="1400" dirty="0"/>
          </a:p>
        </p:txBody>
      </p:sp>
      <p:sp>
        <p:nvSpPr>
          <p:cNvPr id="17" name="Timeline dot 1733"/>
          <p:cNvSpPr/>
          <p:nvPr/>
        </p:nvSpPr>
        <p:spPr>
          <a:xfrm>
            <a:off x="6886270" y="3259836"/>
            <a:ext cx="237744" cy="237744"/>
          </a:xfrm>
          <a:prstGeom prst="ellipse">
            <a:avLst/>
          </a:prstGeom>
          <a:solidFill>
            <a:schemeClr val="accent2"/>
          </a:solidFill>
          <a:ln/>
        </p:spPr>
      </p:sp>
      <p:sp>
        <p:nvSpPr>
          <p:cNvPr id="18" name="Connector 1734"/>
          <p:cNvSpPr/>
          <p:nvPr/>
        </p:nvSpPr>
        <p:spPr>
          <a:xfrm>
            <a:off x="7005142" y="3497580"/>
            <a:ext cx="0" cy="173736"/>
          </a:xfrm>
          <a:prstGeom prst="line">
            <a:avLst/>
          </a:prstGeom>
          <a:noFill/>
          <a:ln w="12700">
            <a:solidFill>
              <a:schemeClr val="accent2"/>
            </a:solidFill>
            <a:prstDash val="solid"/>
          </a:ln>
        </p:spPr>
      </p:sp>
      <p:sp>
        <p:nvSpPr>
          <p:cNvPr id="19" name="Text 1735"/>
          <p:cNvSpPr txBox="1"/>
          <p:nvPr/>
        </p:nvSpPr>
        <p:spPr>
          <a:xfrm>
            <a:off x="5770702" y="3671316"/>
            <a:ext cx="246888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2"/>
                </a:solidFill>
              </a:rPr>
              <a:t>1926–30</a:t>
            </a:r>
            <a:endParaRPr lang="en-US" sz="1500" dirty="0"/>
          </a:p>
        </p:txBody>
      </p:sp>
      <p:sp>
        <p:nvSpPr>
          <p:cNvPr id="20" name="Text 1736"/>
          <p:cNvSpPr txBox="1"/>
          <p:nvPr/>
        </p:nvSpPr>
        <p:spPr>
          <a:xfrm>
            <a:off x="5770702" y="4018788"/>
            <a:ext cx="2468880" cy="12938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League's Preparatory Commission makes little progress</a:t>
            </a:r>
            <a:endParaRPr lang="en-US" sz="1400" dirty="0"/>
          </a:p>
        </p:txBody>
      </p:sp>
      <p:sp>
        <p:nvSpPr>
          <p:cNvPr id="21" name="Timeline dot 1737"/>
          <p:cNvSpPr/>
          <p:nvPr/>
        </p:nvSpPr>
        <p:spPr>
          <a:xfrm>
            <a:off x="8704859" y="3259836"/>
            <a:ext cx="237744" cy="237744"/>
          </a:xfrm>
          <a:prstGeom prst="ellipse">
            <a:avLst/>
          </a:prstGeom>
          <a:solidFill>
            <a:schemeClr val="accent2"/>
          </a:solidFill>
          <a:ln/>
        </p:spPr>
      </p:sp>
      <p:sp>
        <p:nvSpPr>
          <p:cNvPr id="22" name="Connector 1738"/>
          <p:cNvSpPr/>
          <p:nvPr/>
        </p:nvSpPr>
        <p:spPr>
          <a:xfrm flipV="1">
            <a:off x="8823731" y="3086100"/>
            <a:ext cx="0" cy="173736"/>
          </a:xfrm>
          <a:prstGeom prst="line">
            <a:avLst/>
          </a:prstGeom>
          <a:noFill/>
          <a:ln w="12700">
            <a:solidFill>
              <a:schemeClr val="accent2"/>
            </a:solidFill>
            <a:prstDash val="solid"/>
          </a:ln>
        </p:spPr>
      </p:sp>
      <p:sp>
        <p:nvSpPr>
          <p:cNvPr id="23" name="Text 1739"/>
          <p:cNvSpPr txBox="1"/>
          <p:nvPr/>
        </p:nvSpPr>
        <p:spPr>
          <a:xfrm>
            <a:off x="7589291" y="2775204"/>
            <a:ext cx="246888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2"/>
                </a:solidFill>
              </a:rPr>
              <a:t>1927</a:t>
            </a:r>
            <a:endParaRPr lang="en-US" sz="1500" dirty="0"/>
          </a:p>
        </p:txBody>
      </p:sp>
      <p:sp>
        <p:nvSpPr>
          <p:cNvPr id="24" name="Text 1740"/>
          <p:cNvSpPr txBox="1"/>
          <p:nvPr/>
        </p:nvSpPr>
        <p:spPr>
          <a:xfrm>
            <a:off x="7589291" y="1481328"/>
            <a:ext cx="246888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Geneva Naval Conference fails</a:t>
            </a:r>
            <a:endParaRPr lang="en-US" sz="1400" dirty="0"/>
          </a:p>
        </p:txBody>
      </p:sp>
      <p:sp>
        <p:nvSpPr>
          <p:cNvPr id="25" name="Timeline dot 1741"/>
          <p:cNvSpPr/>
          <p:nvPr/>
        </p:nvSpPr>
        <p:spPr>
          <a:xfrm>
            <a:off x="10523449" y="3259836"/>
            <a:ext cx="237744" cy="237744"/>
          </a:xfrm>
          <a:prstGeom prst="ellipse">
            <a:avLst/>
          </a:prstGeom>
          <a:solidFill>
            <a:schemeClr val="accent2"/>
          </a:solidFill>
          <a:ln/>
        </p:spPr>
      </p:sp>
      <p:sp>
        <p:nvSpPr>
          <p:cNvPr id="26" name="Connector 1742"/>
          <p:cNvSpPr/>
          <p:nvPr/>
        </p:nvSpPr>
        <p:spPr>
          <a:xfrm>
            <a:off x="10642321" y="3497580"/>
            <a:ext cx="0" cy="173736"/>
          </a:xfrm>
          <a:prstGeom prst="line">
            <a:avLst/>
          </a:prstGeom>
          <a:noFill/>
          <a:ln w="12700">
            <a:solidFill>
              <a:schemeClr val="accent2"/>
            </a:solidFill>
            <a:prstDash val="solid"/>
          </a:ln>
        </p:spPr>
      </p:sp>
      <p:sp>
        <p:nvSpPr>
          <p:cNvPr id="27" name="Text 1743"/>
          <p:cNvSpPr txBox="1"/>
          <p:nvPr/>
        </p:nvSpPr>
        <p:spPr>
          <a:xfrm>
            <a:off x="9082735" y="3671316"/>
            <a:ext cx="246888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2"/>
                </a:solidFill>
              </a:rPr>
              <a:t>1930</a:t>
            </a:r>
            <a:endParaRPr lang="en-US" sz="1500" dirty="0"/>
          </a:p>
        </p:txBody>
      </p:sp>
      <p:sp>
        <p:nvSpPr>
          <p:cNvPr id="28" name="Text 1744"/>
          <p:cNvSpPr txBox="1"/>
          <p:nvPr/>
        </p:nvSpPr>
        <p:spPr>
          <a:xfrm>
            <a:off x="9082735" y="4018788"/>
            <a:ext cx="2468880" cy="12938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London Naval Treaty extends limits</a:t>
            </a:r>
            <a:endParaRPr lang="en-US" sz="1400" dirty="0"/>
          </a:p>
        </p:txBody>
      </p:sp>
      <p:sp>
        <p:nvSpPr>
          <p:cNvPr id="29" name="Callout 1745"/>
          <p:cNvSpPr/>
          <p:nvPr/>
        </p:nvSpPr>
        <p:spPr>
          <a:xfrm>
            <a:off x="548640" y="5550408"/>
            <a:ext cx="11094415" cy="713232"/>
          </a:xfrm>
          <a:prstGeom prst="roundRect">
            <a:avLst>
              <a:gd name="adj" fmla="val 12821"/>
            </a:avLst>
          </a:prstGeom>
          <a:solidFill>
            <a:schemeClr val="accent4">
              <a:alpha val="20000"/>
            </a:schemeClr>
          </a:solidFill>
          <a:ln/>
        </p:spPr>
      </p:sp>
      <p:sp>
        <p:nvSpPr>
          <p:cNvPr id="30" name="Callout label 1746"/>
          <p:cNvSpPr/>
          <p:nvPr/>
        </p:nvSpPr>
        <p:spPr>
          <a:xfrm>
            <a:off x="731520" y="5751576"/>
            <a:ext cx="1045034" cy="310896"/>
          </a:xfrm>
          <a:prstGeom prst="roundRect">
            <a:avLst>
              <a:gd name="adj" fmla="val 50000"/>
            </a:avLst>
          </a:prstGeom>
          <a:solidFill>
            <a:schemeClr val="accent4"/>
          </a:solidFill>
          <a:ln/>
        </p:spPr>
      </p:sp>
      <p:sp>
        <p:nvSpPr>
          <p:cNvPr id="31" name="Text 1747"/>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32" name="Text 1748"/>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Why it failed: France wanted security before disarming, while Germany demanded equal treatment.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Kicker 174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KQ4 · JUDGEMENT</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How far did relations really improve, 1924–29?</a:t>
            </a:r>
            <a:endParaRPr lang="en-US" sz="3400" dirty="0"/>
          </a:p>
        </p:txBody>
      </p:sp>
      <p:sp>
        <p:nvSpPr>
          <p:cNvPr id="4" name="Card 1750"/>
          <p:cNvSpPr/>
          <p:nvPr/>
        </p:nvSpPr>
        <p:spPr>
          <a:xfrm>
            <a:off x="548640" y="1481328"/>
            <a:ext cx="5410048" cy="3794760"/>
          </a:xfrm>
          <a:prstGeom prst="roundRect">
            <a:avLst>
              <a:gd name="adj" fmla="val 2410"/>
            </a:avLst>
          </a:prstGeom>
          <a:solidFill>
            <a:schemeClr val="accent2">
              <a:alpha val="10000"/>
            </a:schemeClr>
          </a:solidFill>
          <a:ln/>
        </p:spPr>
      </p:sp>
      <p:sp>
        <p:nvSpPr>
          <p:cNvPr id="5" name="Icon circle 1751"/>
          <p:cNvSpPr/>
          <p:nvPr/>
        </p:nvSpPr>
        <p:spPr>
          <a:xfrm>
            <a:off x="731520" y="1664208"/>
            <a:ext cx="475488" cy="475488"/>
          </a:xfrm>
          <a:prstGeom prst="ellipse">
            <a:avLst/>
          </a:prstGeom>
          <a:solidFill>
            <a:schemeClr val="accent2"/>
          </a:solidFill>
          <a:ln/>
        </p:spPr>
      </p:sp>
      <p:pic>
        <p:nvPicPr>
          <p:cNvPr id="6" name="Icon FaArrowTrendUp 1752"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1753"/>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 real improvement</a:t>
            </a:r>
            <a:endParaRPr lang="en-US" sz="1700" dirty="0"/>
          </a:p>
        </p:txBody>
      </p:sp>
      <p:sp>
        <p:nvSpPr>
          <p:cNvPr id="8" name="Text 1754"/>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Locarno: genuine Franco-German reconciliation</a:t>
            </a:r>
            <a:endParaRPr lang="en-US" sz="2000" dirty="0"/>
          </a:p>
          <a:p>
            <a:pPr algn="l" marL="190500" indent="-190500">
              <a:spcAft>
                <a:spcPts val="800"/>
              </a:spcAft>
              <a:buSzPct val="100000"/>
              <a:buChar char="•"/>
            </a:pPr>
            <a:r>
              <a:rPr lang="en-US" sz="2000" dirty="0">
                <a:solidFill>
                  <a:schemeClr val="tx1"/>
                </a:solidFill>
              </a:rPr>
              <a:t>Germany in the League (1926)</a:t>
            </a:r>
            <a:endParaRPr lang="en-US" sz="2000" dirty="0"/>
          </a:p>
          <a:p>
            <a:pPr algn="l" marL="190500" indent="-190500">
              <a:spcAft>
                <a:spcPts val="800"/>
              </a:spcAft>
              <a:buSzPct val="100000"/>
              <a:buChar char="•"/>
            </a:pPr>
            <a:r>
              <a:rPr lang="en-US" sz="2000" dirty="0">
                <a:solidFill>
                  <a:schemeClr val="tx1"/>
                </a:solidFill>
              </a:rPr>
              <a:t>Dawes and Young eased the reparations crisis</a:t>
            </a:r>
            <a:endParaRPr lang="en-US" sz="2000" dirty="0"/>
          </a:p>
          <a:p>
            <a:pPr algn="l" marL="190500" indent="-190500">
              <a:spcAft>
                <a:spcPts val="800"/>
              </a:spcAft>
              <a:buSzPct val="100000"/>
              <a:buChar char="•"/>
            </a:pPr>
            <a:r>
              <a:rPr lang="en-US" sz="2000" dirty="0">
                <a:solidFill>
                  <a:schemeClr val="tx1"/>
                </a:solidFill>
              </a:rPr>
              <a:t>Kellogg–Briand; prosperity; no major war</a:t>
            </a:r>
            <a:endParaRPr lang="en-US" sz="2000" dirty="0"/>
          </a:p>
        </p:txBody>
      </p:sp>
      <p:sp>
        <p:nvSpPr>
          <p:cNvPr id="9" name="Card 1755"/>
          <p:cNvSpPr/>
          <p:nvPr/>
        </p:nvSpPr>
        <p:spPr>
          <a:xfrm>
            <a:off x="6233008" y="1481328"/>
            <a:ext cx="5410048" cy="3794760"/>
          </a:xfrm>
          <a:prstGeom prst="roundRect">
            <a:avLst>
              <a:gd name="adj" fmla="val 2410"/>
            </a:avLst>
          </a:prstGeom>
          <a:solidFill>
            <a:schemeClr val="bg2"/>
          </a:solidFill>
          <a:ln/>
        </p:spPr>
      </p:sp>
      <p:sp>
        <p:nvSpPr>
          <p:cNvPr id="10" name="Icon circle 1756"/>
          <p:cNvSpPr/>
          <p:nvPr/>
        </p:nvSpPr>
        <p:spPr>
          <a:xfrm>
            <a:off x="6415888" y="1664208"/>
            <a:ext cx="475488" cy="475488"/>
          </a:xfrm>
          <a:prstGeom prst="ellipse">
            <a:avLst/>
          </a:prstGeom>
          <a:solidFill>
            <a:schemeClr val="accent2"/>
          </a:solidFill>
          <a:ln/>
        </p:spPr>
      </p:sp>
      <p:pic>
        <p:nvPicPr>
          <p:cNvPr id="11" name="Icon FaExclamationTriangle 1757"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1758"/>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Fragile foundations</a:t>
            </a:r>
            <a:endParaRPr lang="en-US" sz="1700" dirty="0"/>
          </a:p>
        </p:txBody>
      </p:sp>
      <p:sp>
        <p:nvSpPr>
          <p:cNvPr id="13" name="Text 1759"/>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Built on short-term American loans</a:t>
            </a:r>
            <a:endParaRPr lang="en-US" sz="2000" dirty="0"/>
          </a:p>
          <a:p>
            <a:pPr algn="l" marL="190500" indent="-190500">
              <a:spcAft>
                <a:spcPts val="800"/>
              </a:spcAft>
              <a:buSzPct val="100000"/>
              <a:buChar char="•"/>
            </a:pPr>
            <a:r>
              <a:rPr lang="en-US" sz="2000" dirty="0">
                <a:solidFill>
                  <a:schemeClr val="tx1"/>
                </a:solidFill>
              </a:rPr>
              <a:t>Eastern borders left open</a:t>
            </a:r>
            <a:endParaRPr lang="en-US" sz="2000" dirty="0"/>
          </a:p>
          <a:p>
            <a:pPr algn="l" marL="190500" indent="-190500">
              <a:spcAft>
                <a:spcPts val="800"/>
              </a:spcAft>
              <a:buSzPct val="100000"/>
              <a:buChar char="•"/>
            </a:pPr>
            <a:r>
              <a:rPr lang="en-US" sz="2000" dirty="0">
                <a:solidFill>
                  <a:schemeClr val="tx1"/>
                </a:solidFill>
              </a:rPr>
              <a:t>Kellogg–Briand had no teeth; disarmament stalled</a:t>
            </a:r>
            <a:endParaRPr lang="en-US" sz="2000" dirty="0"/>
          </a:p>
          <a:p>
            <a:pPr algn="l" marL="190500" indent="-190500">
              <a:spcAft>
                <a:spcPts val="800"/>
              </a:spcAft>
              <a:buSzPct val="100000"/>
              <a:buChar char="•"/>
            </a:pPr>
            <a:r>
              <a:rPr lang="en-US" sz="2000" dirty="0">
                <a:solidFill>
                  <a:schemeClr val="tx1"/>
                </a:solidFill>
              </a:rPr>
              <a:t>Nationalists in Germany, Mussolini in Italy and the USSR unconvinced</a:t>
            </a:r>
            <a:endParaRPr lang="en-US" sz="2000" dirty="0"/>
          </a:p>
        </p:txBody>
      </p:sp>
      <p:sp>
        <p:nvSpPr>
          <p:cNvPr id="14" name="Callout 1760"/>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1761"/>
          <p:cNvSpPr/>
          <p:nvPr/>
        </p:nvSpPr>
        <p:spPr>
          <a:xfrm>
            <a:off x="731520" y="5751576"/>
            <a:ext cx="894203" cy="310896"/>
          </a:xfrm>
          <a:prstGeom prst="roundRect">
            <a:avLst>
              <a:gd name="adj" fmla="val 50000"/>
            </a:avLst>
          </a:prstGeom>
          <a:solidFill>
            <a:schemeClr val="accent4"/>
          </a:solidFill>
          <a:ln/>
        </p:spPr>
      </p:sp>
      <p:sp>
        <p:nvSpPr>
          <p:cNvPr id="16" name="Text 1762"/>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17" name="Text 1763"/>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 genuine thaw built on prosperity: the 'Spirit of Locarno' could not survive the Depression.</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Kicker 176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KEY PEOPLE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people: the peacemakers</a:t>
            </a:r>
            <a:endParaRPr lang="en-US" sz="3400" dirty="0"/>
          </a:p>
        </p:txBody>
      </p:sp>
      <p:sp>
        <p:nvSpPr>
          <p:cNvPr id="4" name="Person card 1765"/>
          <p:cNvSpPr/>
          <p:nvPr/>
        </p:nvSpPr>
        <p:spPr>
          <a:xfrm>
            <a:off x="548640" y="1481328"/>
            <a:ext cx="3515258" cy="2253996"/>
          </a:xfrm>
          <a:prstGeom prst="roundRect">
            <a:avLst>
              <a:gd name="adj" fmla="val 4057"/>
            </a:avLst>
          </a:prstGeom>
          <a:solidFill>
            <a:schemeClr val="accent2">
              <a:alpha val="9000"/>
            </a:schemeClr>
          </a:solidFill>
          <a:ln/>
        </p:spPr>
      </p:sp>
      <p:sp>
        <p:nvSpPr>
          <p:cNvPr id="5" name="Icon circle 1766"/>
          <p:cNvSpPr/>
          <p:nvPr/>
        </p:nvSpPr>
        <p:spPr>
          <a:xfrm>
            <a:off x="731520" y="1664208"/>
            <a:ext cx="475488" cy="475488"/>
          </a:xfrm>
          <a:prstGeom prst="ellipse">
            <a:avLst/>
          </a:prstGeom>
          <a:solidFill>
            <a:schemeClr val="accent2"/>
          </a:solidFill>
          <a:ln/>
        </p:spPr>
      </p:sp>
      <p:pic>
        <p:nvPicPr>
          <p:cNvPr id="6" name="Icon FaFlagUsa 1767"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Text 1768"/>
          <p:cNvSpPr txBox="1"/>
          <p:nvPr/>
        </p:nvSpPr>
        <p:spPr>
          <a:xfrm>
            <a:off x="1335024"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Woodrow Wilson</a:t>
            </a:r>
            <a:endParaRPr lang="en-US" sz="1700" dirty="0"/>
          </a:p>
        </p:txBody>
      </p:sp>
      <p:sp>
        <p:nvSpPr>
          <p:cNvPr id="8" name="Text 1769"/>
          <p:cNvSpPr txBox="1"/>
          <p:nvPr/>
        </p:nvSpPr>
        <p:spPr>
          <a:xfrm>
            <a:off x="1335024"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US President, 1913–21</a:t>
            </a:r>
            <a:endParaRPr lang="en-US" sz="1300" dirty="0"/>
          </a:p>
        </p:txBody>
      </p:sp>
      <p:sp>
        <p:nvSpPr>
          <p:cNvPr id="9" name="Text 1770"/>
          <p:cNvSpPr txBox="1"/>
          <p:nvPr/>
        </p:nvSpPr>
        <p:spPr>
          <a:xfrm>
            <a:off x="731520"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Fourteen Points and the League — but the Senate rejected both.</a:t>
            </a:r>
            <a:endParaRPr lang="en-US" sz="1800" dirty="0"/>
          </a:p>
        </p:txBody>
      </p:sp>
      <p:sp>
        <p:nvSpPr>
          <p:cNvPr id="10" name="Person card 1771"/>
          <p:cNvSpPr/>
          <p:nvPr/>
        </p:nvSpPr>
        <p:spPr>
          <a:xfrm>
            <a:off x="4338218" y="1481328"/>
            <a:ext cx="3515258" cy="2253996"/>
          </a:xfrm>
          <a:prstGeom prst="roundRect">
            <a:avLst>
              <a:gd name="adj" fmla="val 4057"/>
            </a:avLst>
          </a:prstGeom>
          <a:solidFill>
            <a:schemeClr val="accent2">
              <a:alpha val="9000"/>
            </a:schemeClr>
          </a:solidFill>
          <a:ln/>
        </p:spPr>
      </p:sp>
      <p:sp>
        <p:nvSpPr>
          <p:cNvPr id="11" name="Icon circle 1772"/>
          <p:cNvSpPr/>
          <p:nvPr/>
        </p:nvSpPr>
        <p:spPr>
          <a:xfrm>
            <a:off x="4521098" y="1664208"/>
            <a:ext cx="475488" cy="475488"/>
          </a:xfrm>
          <a:prstGeom prst="ellipse">
            <a:avLst/>
          </a:prstGeom>
          <a:solidFill>
            <a:schemeClr val="accent2"/>
          </a:solidFill>
          <a:ln/>
        </p:spPr>
      </p:sp>
      <p:pic>
        <p:nvPicPr>
          <p:cNvPr id="12" name="Icon FaShieldAlt 1773"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3" name="Text 1774"/>
          <p:cNvSpPr txBox="1"/>
          <p:nvPr/>
        </p:nvSpPr>
        <p:spPr>
          <a:xfrm>
            <a:off x="5124602"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Georges Clemenceau</a:t>
            </a:r>
            <a:endParaRPr lang="en-US" sz="1700" dirty="0"/>
          </a:p>
        </p:txBody>
      </p:sp>
      <p:sp>
        <p:nvSpPr>
          <p:cNvPr id="14" name="Text 1775"/>
          <p:cNvSpPr txBox="1"/>
          <p:nvPr/>
        </p:nvSpPr>
        <p:spPr>
          <a:xfrm>
            <a:off x="5124602"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French Prime Minister, 1917–20</a:t>
            </a:r>
            <a:endParaRPr lang="en-US" sz="1300" dirty="0"/>
          </a:p>
        </p:txBody>
      </p:sp>
      <p:sp>
        <p:nvSpPr>
          <p:cNvPr id="15" name="Text 1776"/>
          <p:cNvSpPr txBox="1"/>
          <p:nvPr/>
        </p:nvSpPr>
        <p:spPr>
          <a:xfrm>
            <a:off x="4521098"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'The Tiger': wanted security and a weak Germany.</a:t>
            </a:r>
            <a:endParaRPr lang="en-US" sz="1800" dirty="0"/>
          </a:p>
        </p:txBody>
      </p:sp>
      <p:sp>
        <p:nvSpPr>
          <p:cNvPr id="16" name="Person card 1777"/>
          <p:cNvSpPr/>
          <p:nvPr/>
        </p:nvSpPr>
        <p:spPr>
          <a:xfrm>
            <a:off x="8127797" y="1481328"/>
            <a:ext cx="3515258" cy="2253996"/>
          </a:xfrm>
          <a:prstGeom prst="roundRect">
            <a:avLst>
              <a:gd name="adj" fmla="val 4057"/>
            </a:avLst>
          </a:prstGeom>
          <a:solidFill>
            <a:schemeClr val="accent2">
              <a:alpha val="9000"/>
            </a:schemeClr>
          </a:solidFill>
          <a:ln/>
        </p:spPr>
      </p:sp>
      <p:sp>
        <p:nvSpPr>
          <p:cNvPr id="17" name="Icon circle 1778"/>
          <p:cNvSpPr/>
          <p:nvPr/>
        </p:nvSpPr>
        <p:spPr>
          <a:xfrm>
            <a:off x="8310677" y="1664208"/>
            <a:ext cx="475488" cy="475488"/>
          </a:xfrm>
          <a:prstGeom prst="ellipse">
            <a:avLst/>
          </a:prstGeom>
          <a:solidFill>
            <a:schemeClr val="accent2"/>
          </a:solidFill>
          <a:ln/>
        </p:spPr>
      </p:sp>
      <p:pic>
        <p:nvPicPr>
          <p:cNvPr id="18" name="Icon FaCrown 1779"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9" name="Text 1780"/>
          <p:cNvSpPr txBox="1"/>
          <p:nvPr/>
        </p:nvSpPr>
        <p:spPr>
          <a:xfrm>
            <a:off x="8914181"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David Lloyd George</a:t>
            </a:r>
            <a:endParaRPr lang="en-US" sz="1700" dirty="0"/>
          </a:p>
        </p:txBody>
      </p:sp>
      <p:sp>
        <p:nvSpPr>
          <p:cNvPr id="20" name="Text 1781"/>
          <p:cNvSpPr txBox="1"/>
          <p:nvPr/>
        </p:nvSpPr>
        <p:spPr>
          <a:xfrm>
            <a:off x="8914181"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British Prime Minister, 1916–22</a:t>
            </a:r>
            <a:endParaRPr lang="en-US" sz="1300" dirty="0"/>
          </a:p>
        </p:txBody>
      </p:sp>
      <p:sp>
        <p:nvSpPr>
          <p:cNvPr id="21" name="Text 1782"/>
          <p:cNvSpPr txBox="1"/>
          <p:nvPr/>
        </p:nvSpPr>
        <p:spPr>
          <a:xfrm>
            <a:off x="8310677"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Wanted a moderate peace; fell after the Chanak Crisis.</a:t>
            </a:r>
            <a:endParaRPr lang="en-US" sz="1800" dirty="0"/>
          </a:p>
        </p:txBody>
      </p:sp>
      <p:sp>
        <p:nvSpPr>
          <p:cNvPr id="22" name="Person card 1783"/>
          <p:cNvSpPr/>
          <p:nvPr/>
        </p:nvSpPr>
        <p:spPr>
          <a:xfrm>
            <a:off x="548640" y="4009644"/>
            <a:ext cx="3515258" cy="2253996"/>
          </a:xfrm>
          <a:prstGeom prst="roundRect">
            <a:avLst>
              <a:gd name="adj" fmla="val 4057"/>
            </a:avLst>
          </a:prstGeom>
          <a:solidFill>
            <a:schemeClr val="accent2">
              <a:alpha val="9000"/>
            </a:schemeClr>
          </a:solidFill>
          <a:ln/>
        </p:spPr>
      </p:sp>
      <p:sp>
        <p:nvSpPr>
          <p:cNvPr id="23" name="Icon circle 1784"/>
          <p:cNvSpPr/>
          <p:nvPr/>
        </p:nvSpPr>
        <p:spPr>
          <a:xfrm>
            <a:off x="731520" y="4192524"/>
            <a:ext cx="475488" cy="475488"/>
          </a:xfrm>
          <a:prstGeom prst="ellipse">
            <a:avLst/>
          </a:prstGeom>
          <a:solidFill>
            <a:schemeClr val="accent2"/>
          </a:solidFill>
          <a:ln/>
        </p:spPr>
      </p:sp>
      <p:pic>
        <p:nvPicPr>
          <p:cNvPr id="24" name="Icon FaFlag 1785"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5" name="Text 1786"/>
          <p:cNvSpPr txBox="1"/>
          <p:nvPr/>
        </p:nvSpPr>
        <p:spPr>
          <a:xfrm>
            <a:off x="1335024"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Vittorio Orlando</a:t>
            </a:r>
            <a:endParaRPr lang="en-US" sz="1700" dirty="0"/>
          </a:p>
        </p:txBody>
      </p:sp>
      <p:sp>
        <p:nvSpPr>
          <p:cNvPr id="26" name="Text 1787"/>
          <p:cNvSpPr txBox="1"/>
          <p:nvPr/>
        </p:nvSpPr>
        <p:spPr>
          <a:xfrm>
            <a:off x="1335024"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Italian Prime Minister, 1917–19</a:t>
            </a:r>
            <a:endParaRPr lang="en-US" sz="1300" dirty="0"/>
          </a:p>
        </p:txBody>
      </p:sp>
      <p:sp>
        <p:nvSpPr>
          <p:cNvPr id="27" name="Text 1788"/>
          <p:cNvSpPr txBox="1"/>
          <p:nvPr/>
        </p:nvSpPr>
        <p:spPr>
          <a:xfrm>
            <a:off x="731520"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Walked out over Fiume — the 'mutilated victory'.</a:t>
            </a:r>
            <a:endParaRPr lang="en-US" sz="1800" dirty="0"/>
          </a:p>
        </p:txBody>
      </p:sp>
      <p:sp>
        <p:nvSpPr>
          <p:cNvPr id="28" name="Person card 1789"/>
          <p:cNvSpPr/>
          <p:nvPr/>
        </p:nvSpPr>
        <p:spPr>
          <a:xfrm>
            <a:off x="4338218" y="4009644"/>
            <a:ext cx="3515258" cy="2253996"/>
          </a:xfrm>
          <a:prstGeom prst="roundRect">
            <a:avLst>
              <a:gd name="adj" fmla="val 4057"/>
            </a:avLst>
          </a:prstGeom>
          <a:solidFill>
            <a:schemeClr val="accent2">
              <a:alpha val="9000"/>
            </a:schemeClr>
          </a:solidFill>
          <a:ln/>
        </p:spPr>
      </p:sp>
      <p:sp>
        <p:nvSpPr>
          <p:cNvPr id="29" name="Icon circle 1790"/>
          <p:cNvSpPr/>
          <p:nvPr/>
        </p:nvSpPr>
        <p:spPr>
          <a:xfrm>
            <a:off x="4521098" y="4192524"/>
            <a:ext cx="475488" cy="475488"/>
          </a:xfrm>
          <a:prstGeom prst="ellipse">
            <a:avLst/>
          </a:prstGeom>
          <a:solidFill>
            <a:schemeClr val="accent2"/>
          </a:solidFill>
          <a:ln/>
        </p:spPr>
      </p:sp>
      <p:pic>
        <p:nvPicPr>
          <p:cNvPr id="30" name="Icon FaHandFist 1791"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31" name="Text 1792"/>
          <p:cNvSpPr txBox="1"/>
          <p:nvPr/>
        </p:nvSpPr>
        <p:spPr>
          <a:xfrm>
            <a:off x="5124602"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Mustafa Kemal</a:t>
            </a:r>
            <a:endParaRPr lang="en-US" sz="1700" dirty="0"/>
          </a:p>
        </p:txBody>
      </p:sp>
      <p:sp>
        <p:nvSpPr>
          <p:cNvPr id="32" name="Text 1793"/>
          <p:cNvSpPr txBox="1"/>
          <p:nvPr/>
        </p:nvSpPr>
        <p:spPr>
          <a:xfrm>
            <a:off x="5124602"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Turkish nationalist leader</a:t>
            </a:r>
            <a:endParaRPr lang="en-US" sz="1300" dirty="0"/>
          </a:p>
        </p:txBody>
      </p:sp>
      <p:sp>
        <p:nvSpPr>
          <p:cNvPr id="33" name="Text 1794"/>
          <p:cNvSpPr txBox="1"/>
          <p:nvPr/>
        </p:nvSpPr>
        <p:spPr>
          <a:xfrm>
            <a:off x="4521098"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Tore up Sèvres by force; won Lausanne (1923).</a:t>
            </a:r>
            <a:endParaRPr lang="en-US" sz="1800" dirty="0"/>
          </a:p>
        </p:txBody>
      </p:sp>
      <p:sp>
        <p:nvSpPr>
          <p:cNvPr id="34" name="Person card 1795"/>
          <p:cNvSpPr/>
          <p:nvPr/>
        </p:nvSpPr>
        <p:spPr>
          <a:xfrm>
            <a:off x="8127797" y="4009644"/>
            <a:ext cx="3515258" cy="2253996"/>
          </a:xfrm>
          <a:prstGeom prst="roundRect">
            <a:avLst>
              <a:gd name="adj" fmla="val 4057"/>
            </a:avLst>
          </a:prstGeom>
          <a:solidFill>
            <a:schemeClr val="accent2">
              <a:alpha val="9000"/>
            </a:schemeClr>
          </a:solidFill>
          <a:ln/>
        </p:spPr>
      </p:sp>
      <p:sp>
        <p:nvSpPr>
          <p:cNvPr id="35" name="Icon circle 1796"/>
          <p:cNvSpPr/>
          <p:nvPr/>
        </p:nvSpPr>
        <p:spPr>
          <a:xfrm>
            <a:off x="8310677" y="4192524"/>
            <a:ext cx="475488" cy="475488"/>
          </a:xfrm>
          <a:prstGeom prst="ellipse">
            <a:avLst/>
          </a:prstGeom>
          <a:solidFill>
            <a:schemeClr val="accent2"/>
          </a:solidFill>
          <a:ln/>
        </p:spPr>
      </p:sp>
      <p:pic>
        <p:nvPicPr>
          <p:cNvPr id="36" name="Icon FaGavel 1797"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7" name="Text 1798"/>
          <p:cNvSpPr txBox="1"/>
          <p:nvPr/>
        </p:nvSpPr>
        <p:spPr>
          <a:xfrm>
            <a:off x="8914181"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Raymond Poincaré</a:t>
            </a:r>
            <a:endParaRPr lang="en-US" sz="1700" dirty="0"/>
          </a:p>
        </p:txBody>
      </p:sp>
      <p:sp>
        <p:nvSpPr>
          <p:cNvPr id="38" name="Text 1799"/>
          <p:cNvSpPr txBox="1"/>
          <p:nvPr/>
        </p:nvSpPr>
        <p:spPr>
          <a:xfrm>
            <a:off x="8914181"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French Prime Minister, 1922–24</a:t>
            </a:r>
            <a:endParaRPr lang="en-US" sz="1300" dirty="0"/>
          </a:p>
        </p:txBody>
      </p:sp>
      <p:sp>
        <p:nvSpPr>
          <p:cNvPr id="39" name="Text 1800"/>
          <p:cNvSpPr txBox="1"/>
          <p:nvPr/>
        </p:nvSpPr>
        <p:spPr>
          <a:xfrm>
            <a:off x="8310677"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Hard-liner who sent troops into the Ruhr (1923).</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Kicker 180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KEY PEOPLE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people: the 1920s</a:t>
            </a:r>
            <a:endParaRPr lang="en-US" sz="3400" dirty="0"/>
          </a:p>
        </p:txBody>
      </p:sp>
      <p:sp>
        <p:nvSpPr>
          <p:cNvPr id="4" name="Person card 1802"/>
          <p:cNvSpPr/>
          <p:nvPr/>
        </p:nvSpPr>
        <p:spPr>
          <a:xfrm>
            <a:off x="548640" y="1481328"/>
            <a:ext cx="3515258" cy="2253996"/>
          </a:xfrm>
          <a:prstGeom prst="roundRect">
            <a:avLst>
              <a:gd name="adj" fmla="val 4057"/>
            </a:avLst>
          </a:prstGeom>
          <a:solidFill>
            <a:schemeClr val="accent2">
              <a:alpha val="9000"/>
            </a:schemeClr>
          </a:solidFill>
          <a:ln/>
        </p:spPr>
      </p:sp>
      <p:sp>
        <p:nvSpPr>
          <p:cNvPr id="5" name="Icon circle 1803"/>
          <p:cNvSpPr/>
          <p:nvPr/>
        </p:nvSpPr>
        <p:spPr>
          <a:xfrm>
            <a:off x="731520" y="1664208"/>
            <a:ext cx="475488" cy="475488"/>
          </a:xfrm>
          <a:prstGeom prst="ellipse">
            <a:avLst/>
          </a:prstGeom>
          <a:solidFill>
            <a:schemeClr val="accent2"/>
          </a:solidFill>
          <a:ln/>
        </p:spPr>
      </p:sp>
      <p:pic>
        <p:nvPicPr>
          <p:cNvPr id="6" name="Icon FaUserTie 1804"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Text 1805"/>
          <p:cNvSpPr txBox="1"/>
          <p:nvPr/>
        </p:nvSpPr>
        <p:spPr>
          <a:xfrm>
            <a:off x="1335024"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Gustav Stresemann</a:t>
            </a:r>
            <a:endParaRPr lang="en-US" sz="1700" dirty="0"/>
          </a:p>
        </p:txBody>
      </p:sp>
      <p:sp>
        <p:nvSpPr>
          <p:cNvPr id="8" name="Text 1806"/>
          <p:cNvSpPr txBox="1"/>
          <p:nvPr/>
        </p:nvSpPr>
        <p:spPr>
          <a:xfrm>
            <a:off x="1335024"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German Foreign Minister, 1923–29</a:t>
            </a:r>
            <a:endParaRPr lang="en-US" sz="1300" dirty="0"/>
          </a:p>
        </p:txBody>
      </p:sp>
      <p:sp>
        <p:nvSpPr>
          <p:cNvPr id="9" name="Text 1807"/>
          <p:cNvSpPr txBox="1"/>
          <p:nvPr/>
        </p:nvSpPr>
        <p:spPr>
          <a:xfrm>
            <a:off x="731520"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'Fulfilment', Locarno, League entry; died Oct 1929.</a:t>
            </a:r>
            <a:endParaRPr lang="en-US" sz="1800" dirty="0"/>
          </a:p>
        </p:txBody>
      </p:sp>
      <p:sp>
        <p:nvSpPr>
          <p:cNvPr id="10" name="Person card 1808"/>
          <p:cNvSpPr/>
          <p:nvPr/>
        </p:nvSpPr>
        <p:spPr>
          <a:xfrm>
            <a:off x="4338218" y="1481328"/>
            <a:ext cx="3515258" cy="2253996"/>
          </a:xfrm>
          <a:prstGeom prst="roundRect">
            <a:avLst>
              <a:gd name="adj" fmla="val 4057"/>
            </a:avLst>
          </a:prstGeom>
          <a:solidFill>
            <a:schemeClr val="accent2">
              <a:alpha val="9000"/>
            </a:schemeClr>
          </a:solidFill>
          <a:ln/>
        </p:spPr>
      </p:sp>
      <p:sp>
        <p:nvSpPr>
          <p:cNvPr id="11" name="Icon circle 1809"/>
          <p:cNvSpPr/>
          <p:nvPr/>
        </p:nvSpPr>
        <p:spPr>
          <a:xfrm>
            <a:off x="4521098" y="1664208"/>
            <a:ext cx="475488" cy="475488"/>
          </a:xfrm>
          <a:prstGeom prst="ellipse">
            <a:avLst/>
          </a:prstGeom>
          <a:solidFill>
            <a:schemeClr val="accent2"/>
          </a:solidFill>
          <a:ln/>
        </p:spPr>
      </p:sp>
      <p:pic>
        <p:nvPicPr>
          <p:cNvPr id="12" name="Icon FaDove 1810"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3" name="Text 1811"/>
          <p:cNvSpPr txBox="1"/>
          <p:nvPr/>
        </p:nvSpPr>
        <p:spPr>
          <a:xfrm>
            <a:off x="5124602"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Aristide Briand</a:t>
            </a:r>
            <a:endParaRPr lang="en-US" sz="1700" dirty="0"/>
          </a:p>
        </p:txBody>
      </p:sp>
      <p:sp>
        <p:nvSpPr>
          <p:cNvPr id="14" name="Text 1812"/>
          <p:cNvSpPr txBox="1"/>
          <p:nvPr/>
        </p:nvSpPr>
        <p:spPr>
          <a:xfrm>
            <a:off x="5124602"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French Foreign Minister, 1925–32</a:t>
            </a:r>
            <a:endParaRPr lang="en-US" sz="1300" dirty="0"/>
          </a:p>
        </p:txBody>
      </p:sp>
      <p:sp>
        <p:nvSpPr>
          <p:cNvPr id="15" name="Text 1813"/>
          <p:cNvSpPr txBox="1"/>
          <p:nvPr/>
        </p:nvSpPr>
        <p:spPr>
          <a:xfrm>
            <a:off x="4521098"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Locarno and Kellogg–Briand; proposed a European union (1929).</a:t>
            </a:r>
            <a:endParaRPr lang="en-US" sz="1800" dirty="0"/>
          </a:p>
        </p:txBody>
      </p:sp>
      <p:sp>
        <p:nvSpPr>
          <p:cNvPr id="16" name="Person card 1814"/>
          <p:cNvSpPr/>
          <p:nvPr/>
        </p:nvSpPr>
        <p:spPr>
          <a:xfrm>
            <a:off x="8127797" y="1481328"/>
            <a:ext cx="3515258" cy="2253996"/>
          </a:xfrm>
          <a:prstGeom prst="roundRect">
            <a:avLst>
              <a:gd name="adj" fmla="val 4057"/>
            </a:avLst>
          </a:prstGeom>
          <a:solidFill>
            <a:schemeClr val="accent2">
              <a:alpha val="9000"/>
            </a:schemeClr>
          </a:solidFill>
          <a:ln/>
        </p:spPr>
      </p:sp>
      <p:sp>
        <p:nvSpPr>
          <p:cNvPr id="17" name="Icon circle 1815"/>
          <p:cNvSpPr/>
          <p:nvPr/>
        </p:nvSpPr>
        <p:spPr>
          <a:xfrm>
            <a:off x="8310677" y="1664208"/>
            <a:ext cx="475488" cy="475488"/>
          </a:xfrm>
          <a:prstGeom prst="ellipse">
            <a:avLst/>
          </a:prstGeom>
          <a:solidFill>
            <a:schemeClr val="accent2"/>
          </a:solidFill>
          <a:ln/>
        </p:spPr>
      </p:sp>
      <p:pic>
        <p:nvPicPr>
          <p:cNvPr id="18" name="Icon FaCrown 1816"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9" name="Text 1817"/>
          <p:cNvSpPr txBox="1"/>
          <p:nvPr/>
        </p:nvSpPr>
        <p:spPr>
          <a:xfrm>
            <a:off x="8914181"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Austen Chamberlain</a:t>
            </a:r>
            <a:endParaRPr lang="en-US" sz="1700" dirty="0"/>
          </a:p>
        </p:txBody>
      </p:sp>
      <p:sp>
        <p:nvSpPr>
          <p:cNvPr id="20" name="Text 1818"/>
          <p:cNvSpPr txBox="1"/>
          <p:nvPr/>
        </p:nvSpPr>
        <p:spPr>
          <a:xfrm>
            <a:off x="8914181"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British Foreign Secretary, 1924–29</a:t>
            </a:r>
            <a:endParaRPr lang="en-US" sz="1300" dirty="0"/>
          </a:p>
        </p:txBody>
      </p:sp>
      <p:sp>
        <p:nvSpPr>
          <p:cNvPr id="21" name="Text 1819"/>
          <p:cNvSpPr txBox="1"/>
          <p:nvPr/>
        </p:nvSpPr>
        <p:spPr>
          <a:xfrm>
            <a:off x="8310677"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Key architect of Locarno; Nobel Peace Prize 1925.</a:t>
            </a:r>
            <a:endParaRPr lang="en-US" sz="1800" dirty="0"/>
          </a:p>
        </p:txBody>
      </p:sp>
      <p:sp>
        <p:nvSpPr>
          <p:cNvPr id="22" name="Person card 1820"/>
          <p:cNvSpPr/>
          <p:nvPr/>
        </p:nvSpPr>
        <p:spPr>
          <a:xfrm>
            <a:off x="548640" y="4009644"/>
            <a:ext cx="3515258" cy="2253996"/>
          </a:xfrm>
          <a:prstGeom prst="roundRect">
            <a:avLst>
              <a:gd name="adj" fmla="val 4057"/>
            </a:avLst>
          </a:prstGeom>
          <a:solidFill>
            <a:schemeClr val="accent2">
              <a:alpha val="9000"/>
            </a:schemeClr>
          </a:solidFill>
          <a:ln/>
        </p:spPr>
      </p:sp>
      <p:sp>
        <p:nvSpPr>
          <p:cNvPr id="23" name="Icon circle 1821"/>
          <p:cNvSpPr/>
          <p:nvPr/>
        </p:nvSpPr>
        <p:spPr>
          <a:xfrm>
            <a:off x="731520" y="4192524"/>
            <a:ext cx="475488" cy="475488"/>
          </a:xfrm>
          <a:prstGeom prst="ellipse">
            <a:avLst/>
          </a:prstGeom>
          <a:solidFill>
            <a:schemeClr val="accent2"/>
          </a:solidFill>
          <a:ln/>
        </p:spPr>
      </p:sp>
      <p:pic>
        <p:nvPicPr>
          <p:cNvPr id="24" name="Icon FaFistRaised 1822"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5" name="Text 1823"/>
          <p:cNvSpPr txBox="1"/>
          <p:nvPr/>
        </p:nvSpPr>
        <p:spPr>
          <a:xfrm>
            <a:off x="1335024"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Benito Mussolini</a:t>
            </a:r>
            <a:endParaRPr lang="en-US" sz="1700" dirty="0"/>
          </a:p>
        </p:txBody>
      </p:sp>
      <p:sp>
        <p:nvSpPr>
          <p:cNvPr id="26" name="Text 1824"/>
          <p:cNvSpPr txBox="1"/>
          <p:nvPr/>
        </p:nvSpPr>
        <p:spPr>
          <a:xfrm>
            <a:off x="1335024"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Italian leader from 1922</a:t>
            </a:r>
            <a:endParaRPr lang="en-US" sz="1300" dirty="0"/>
          </a:p>
        </p:txBody>
      </p:sp>
      <p:sp>
        <p:nvSpPr>
          <p:cNvPr id="27" name="Text 1825"/>
          <p:cNvSpPr txBox="1"/>
          <p:nvPr/>
        </p:nvSpPr>
        <p:spPr>
          <a:xfrm>
            <a:off x="731520"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Defied the League over Corfu (1923).</a:t>
            </a:r>
            <a:endParaRPr lang="en-US" sz="1800" dirty="0"/>
          </a:p>
        </p:txBody>
      </p:sp>
      <p:sp>
        <p:nvSpPr>
          <p:cNvPr id="28" name="Person card 1826"/>
          <p:cNvSpPr/>
          <p:nvPr/>
        </p:nvSpPr>
        <p:spPr>
          <a:xfrm>
            <a:off x="4338218" y="4009644"/>
            <a:ext cx="3515258" cy="2253996"/>
          </a:xfrm>
          <a:prstGeom prst="roundRect">
            <a:avLst>
              <a:gd name="adj" fmla="val 4057"/>
            </a:avLst>
          </a:prstGeom>
          <a:solidFill>
            <a:schemeClr val="accent2">
              <a:alpha val="9000"/>
            </a:schemeClr>
          </a:solidFill>
          <a:ln/>
        </p:spPr>
      </p:sp>
      <p:sp>
        <p:nvSpPr>
          <p:cNvPr id="29" name="Icon circle 1827"/>
          <p:cNvSpPr/>
          <p:nvPr/>
        </p:nvSpPr>
        <p:spPr>
          <a:xfrm>
            <a:off x="4521098" y="4192524"/>
            <a:ext cx="475488" cy="475488"/>
          </a:xfrm>
          <a:prstGeom prst="ellipse">
            <a:avLst/>
          </a:prstGeom>
          <a:solidFill>
            <a:schemeClr val="accent2"/>
          </a:solidFill>
          <a:ln/>
        </p:spPr>
      </p:sp>
      <p:pic>
        <p:nvPicPr>
          <p:cNvPr id="30" name="Icon FaHandHoldingUsd 1828"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31" name="Text 1829"/>
          <p:cNvSpPr txBox="1"/>
          <p:nvPr/>
        </p:nvSpPr>
        <p:spPr>
          <a:xfrm>
            <a:off x="5124602"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Charles Dawes</a:t>
            </a:r>
            <a:endParaRPr lang="en-US" sz="1700" dirty="0"/>
          </a:p>
        </p:txBody>
      </p:sp>
      <p:sp>
        <p:nvSpPr>
          <p:cNvPr id="32" name="Text 1830"/>
          <p:cNvSpPr txBox="1"/>
          <p:nvPr/>
        </p:nvSpPr>
        <p:spPr>
          <a:xfrm>
            <a:off x="5124602"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US banker and diplomat</a:t>
            </a:r>
            <a:endParaRPr lang="en-US" sz="1300" dirty="0"/>
          </a:p>
        </p:txBody>
      </p:sp>
      <p:sp>
        <p:nvSpPr>
          <p:cNvPr id="33" name="Text 1831"/>
          <p:cNvSpPr txBox="1"/>
          <p:nvPr/>
        </p:nvSpPr>
        <p:spPr>
          <a:xfrm>
            <a:off x="4521098"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Led the 1924 reparations plan; Nobel Peace Prize 1925.</a:t>
            </a:r>
            <a:endParaRPr lang="en-US" sz="1800" dirty="0"/>
          </a:p>
        </p:txBody>
      </p:sp>
      <p:sp>
        <p:nvSpPr>
          <p:cNvPr id="34" name="Person card 1832"/>
          <p:cNvSpPr/>
          <p:nvPr/>
        </p:nvSpPr>
        <p:spPr>
          <a:xfrm>
            <a:off x="8127797" y="4009644"/>
            <a:ext cx="3515258" cy="2253996"/>
          </a:xfrm>
          <a:prstGeom prst="roundRect">
            <a:avLst>
              <a:gd name="adj" fmla="val 4057"/>
            </a:avLst>
          </a:prstGeom>
          <a:solidFill>
            <a:schemeClr val="accent2">
              <a:alpha val="9000"/>
            </a:schemeClr>
          </a:solidFill>
          <a:ln/>
        </p:spPr>
      </p:sp>
      <p:sp>
        <p:nvSpPr>
          <p:cNvPr id="35" name="Icon circle 1833"/>
          <p:cNvSpPr/>
          <p:nvPr/>
        </p:nvSpPr>
        <p:spPr>
          <a:xfrm>
            <a:off x="8310677" y="4192524"/>
            <a:ext cx="475488" cy="475488"/>
          </a:xfrm>
          <a:prstGeom prst="ellipse">
            <a:avLst/>
          </a:prstGeom>
          <a:solidFill>
            <a:schemeClr val="accent2"/>
          </a:solidFill>
          <a:ln/>
        </p:spPr>
      </p:sp>
      <p:pic>
        <p:nvPicPr>
          <p:cNvPr id="36" name="Icon FaPassport 1834"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7" name="Text 1835"/>
          <p:cNvSpPr txBox="1"/>
          <p:nvPr/>
        </p:nvSpPr>
        <p:spPr>
          <a:xfrm>
            <a:off x="8914181"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Fridtjof Nansen</a:t>
            </a:r>
            <a:endParaRPr lang="en-US" sz="1700" dirty="0"/>
          </a:p>
        </p:txBody>
      </p:sp>
      <p:sp>
        <p:nvSpPr>
          <p:cNvPr id="38" name="Text 1836"/>
          <p:cNvSpPr txBox="1"/>
          <p:nvPr/>
        </p:nvSpPr>
        <p:spPr>
          <a:xfrm>
            <a:off x="8914181"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2"/>
                </a:solidFill>
              </a:rPr>
              <a:t>League High Commissioner</a:t>
            </a:r>
            <a:endParaRPr lang="en-US" sz="1300" dirty="0"/>
          </a:p>
        </p:txBody>
      </p:sp>
      <p:sp>
        <p:nvSpPr>
          <p:cNvPr id="39" name="Text 1837"/>
          <p:cNvSpPr txBox="1"/>
          <p:nvPr/>
        </p:nvSpPr>
        <p:spPr>
          <a:xfrm>
            <a:off x="8310677"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Helped refugees and POWs; 'Nansen passports'.</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Kicker 183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KEY TERMS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terms: Topic 2</a:t>
            </a:r>
            <a:endParaRPr lang="en-US" sz="3400" dirty="0"/>
          </a:p>
        </p:txBody>
      </p:sp>
      <p:graphicFrame>
        <p:nvGraphicFramePr>
          <p:cNvPr id="80" name="Table 1839"/>
          <p:cNvGraphicFramePr>
            <a:graphicFrameLocks noGrp="1"/>
          </p:cNvGraphicFramePr>
          <p:nvPr>
            <p:extLst>
              <p:ext uri="{D42A27DB-BD31-4B8C-83A1-F6EECF244321}">
                <p14:modId xmlns:p14="http://schemas.microsoft.com/office/powerpoint/2010/main" val="1579011935"/>
              </p:ext>
            </p:extLst>
          </p:nvPr>
        </p:nvGraphicFramePr>
        <p:xfrm>
          <a:off x="548640" y="1481328"/>
          <a:ext cx="5410048" cy="914400"/>
        </p:xfrm>
        <a:graphic>
          <a:graphicData uri="http://schemas.openxmlformats.org/drawingml/2006/table">
            <a:tbl>
              <a:tblPr/>
              <a:tblGrid>
                <a:gridCol w="1874520"/>
                <a:gridCol w="3535528"/>
              </a:tblGrid>
              <a:tr h="384048">
                <a:tc>
                  <a:txBody>
                    <a:bodyPr/>
                    <a:lstStyle/>
                    <a:p>
                      <a:pPr indent="0" marL="0">
                        <a:buNone/>
                      </a:pPr>
                      <a:r>
                        <a:rPr lang="en-US" sz="1400" b="1" dirty="0">
                          <a:solidFill>
                            <a:schemeClr val="bg1"/>
                          </a:solidFill>
                        </a:rPr>
                        <a:t>Term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Meaning</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r>
              <a:tr h="594360">
                <a:tc>
                  <a:txBody>
                    <a:bodyPr/>
                    <a:lstStyle/>
                    <a:p>
                      <a:pPr algn="l" indent="0" marL="0">
                        <a:buNone/>
                      </a:pPr>
                      <a:r>
                        <a:rPr lang="en-US" sz="1400" b="1" dirty="0">
                          <a:solidFill>
                            <a:schemeClr val="accent2"/>
                          </a:solidFill>
                        </a:rPr>
                        <a:t>Diktat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 dictated peace: German name for Versailles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72409">
                <a:tc>
                  <a:txBody>
                    <a:bodyPr/>
                    <a:lstStyle/>
                    <a:p>
                      <a:pPr algn="l" indent="0" marL="0">
                        <a:buNone/>
                      </a:pPr>
                      <a:r>
                        <a:rPr lang="en-US" sz="1400" b="1" dirty="0">
                          <a:solidFill>
                            <a:schemeClr val="accent2"/>
                          </a:solidFill>
                        </a:rPr>
                        <a:t>Reparations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Payments for war damage demanded from Germany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72409">
                <a:tc>
                  <a:txBody>
                    <a:bodyPr/>
                    <a:lstStyle/>
                    <a:p>
                      <a:pPr algn="l" indent="0" marL="0">
                        <a:buNone/>
                      </a:pPr>
                      <a:r>
                        <a:rPr lang="en-US" sz="1400" b="1" dirty="0">
                          <a:solidFill>
                            <a:schemeClr val="accent2"/>
                          </a:solidFill>
                        </a:rPr>
                        <a:t>War guilt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Article 231: Germany accepted blame for the war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94360">
                <a:tc>
                  <a:txBody>
                    <a:bodyPr/>
                    <a:lstStyle/>
                    <a:p>
                      <a:pPr algn="l" indent="0" marL="0">
                        <a:buNone/>
                      </a:pPr>
                      <a:r>
                        <a:rPr lang="en-US" sz="1400" b="1" dirty="0">
                          <a:solidFill>
                            <a:schemeClr val="accent2"/>
                          </a:solidFill>
                        </a:rPr>
                        <a:t>Self-determination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Right of a people to rule themselves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72409">
                <a:tc>
                  <a:txBody>
                    <a:bodyPr/>
                    <a:lstStyle/>
                    <a:p>
                      <a:pPr algn="l" indent="0" marL="0">
                        <a:buNone/>
                      </a:pPr>
                      <a:r>
                        <a:rPr lang="en-US" sz="1400" b="1" dirty="0">
                          <a:solidFill>
                            <a:schemeClr val="accent2"/>
                          </a:solidFill>
                        </a:rPr>
                        <a:t>Mandate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Ex-enemy colony run by a victor under League supervision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72409">
                <a:tc>
                  <a:txBody>
                    <a:bodyPr/>
                    <a:lstStyle/>
                    <a:p>
                      <a:pPr algn="l" indent="0" marL="0">
                        <a:buNone/>
                      </a:pPr>
                      <a:r>
                        <a:rPr lang="en-US" sz="1400" b="1" dirty="0">
                          <a:solidFill>
                            <a:schemeClr val="accent2"/>
                          </a:solidFill>
                        </a:rPr>
                        <a:t>Plebiscite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 vote by local people on a single question, e.g. borders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graphicFrame>
        <p:nvGraphicFramePr>
          <p:cNvPr id="159" name="Table 1840"/>
          <p:cNvGraphicFramePr>
            <a:graphicFrameLocks noGrp="1"/>
          </p:cNvGraphicFramePr>
          <p:nvPr>
            <p:extLst>
              <p:ext uri="{D42A27DB-BD31-4B8C-83A1-F6EECF244321}">
                <p14:modId xmlns:p14="http://schemas.microsoft.com/office/powerpoint/2010/main" val="1579011935"/>
              </p:ext>
            </p:extLst>
          </p:nvPr>
        </p:nvGraphicFramePr>
        <p:xfrm>
          <a:off x="6233008" y="1481328"/>
          <a:ext cx="5410048" cy="914400"/>
        </p:xfrm>
        <a:graphic>
          <a:graphicData uri="http://schemas.openxmlformats.org/drawingml/2006/table">
            <a:tbl>
              <a:tblPr/>
              <a:tblGrid>
                <a:gridCol w="1874520"/>
                <a:gridCol w="3535528"/>
              </a:tblGrid>
              <a:tr h="384048">
                <a:tc>
                  <a:txBody>
                    <a:bodyPr/>
                    <a:lstStyle/>
                    <a:p>
                      <a:pPr indent="0" marL="0">
                        <a:buNone/>
                      </a:pPr>
                      <a:r>
                        <a:rPr lang="en-US" sz="1400" b="1" dirty="0">
                          <a:solidFill>
                            <a:schemeClr val="bg1"/>
                          </a:solidFill>
                        </a:rPr>
                        <a:t>Term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Meaning</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r>
              <a:tr h="733044">
                <a:tc>
                  <a:txBody>
                    <a:bodyPr/>
                    <a:lstStyle/>
                    <a:p>
                      <a:pPr algn="l" indent="0" marL="0">
                        <a:buNone/>
                      </a:pPr>
                      <a:r>
                        <a:rPr lang="en-US" sz="1400" b="1" dirty="0">
                          <a:solidFill>
                            <a:schemeClr val="accent2"/>
                          </a:solidFill>
                        </a:rPr>
                        <a:t>Collective security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All members act together against an aggressor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33044">
                <a:tc>
                  <a:txBody>
                    <a:bodyPr/>
                    <a:lstStyle/>
                    <a:p>
                      <a:pPr algn="l" indent="0" marL="0">
                        <a:buNone/>
                      </a:pPr>
                      <a:r>
                        <a:rPr lang="en-US" sz="1400" b="1" dirty="0">
                          <a:solidFill>
                            <a:schemeClr val="accent2"/>
                          </a:solidFill>
                        </a:rPr>
                        <a:t>Sanctions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Penalties, usually economic, imposed on an aggressor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33044">
                <a:tc>
                  <a:txBody>
                    <a:bodyPr/>
                    <a:lstStyle/>
                    <a:p>
                      <a:pPr algn="l" indent="0" marL="0">
                        <a:buNone/>
                      </a:pPr>
                      <a:r>
                        <a:rPr lang="en-US" sz="1400" b="1" dirty="0">
                          <a:solidFill>
                            <a:schemeClr val="accent2"/>
                          </a:solidFill>
                        </a:rPr>
                        <a:t>Conference of Ambassadors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Allied body that enforced the treaties — and overruled the League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33044">
                <a:tc>
                  <a:txBody>
                    <a:bodyPr/>
                    <a:lstStyle/>
                    <a:p>
                      <a:pPr algn="l" indent="0" marL="0">
                        <a:buNone/>
                      </a:pPr>
                      <a:r>
                        <a:rPr lang="en-US" sz="1400" b="1" dirty="0">
                          <a:solidFill>
                            <a:schemeClr val="accent2"/>
                          </a:solidFill>
                        </a:rPr>
                        <a:t>Fulfilment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Stresemann's policy of meeting treaty terms to win revision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33044">
                <a:tc>
                  <a:txBody>
                    <a:bodyPr/>
                    <a:lstStyle/>
                    <a:p>
                      <a:pPr algn="l" indent="0" marL="0">
                        <a:buNone/>
                      </a:pPr>
                      <a:r>
                        <a:rPr lang="en-US" sz="1400" b="1" dirty="0">
                          <a:solidFill>
                            <a:schemeClr val="accent2"/>
                          </a:solidFill>
                        </a:rPr>
                        <a:t>Spirit of Locarno</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The optimistic mood of cooperation after 1925</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33044">
                <a:tc>
                  <a:txBody>
                    <a:bodyPr/>
                    <a:lstStyle/>
                    <a:p>
                      <a:pPr algn="l" indent="0" marL="0">
                        <a:buNone/>
                      </a:pPr>
                      <a:r>
                        <a:rPr lang="en-US" sz="1400" b="1" dirty="0">
                          <a:solidFill>
                            <a:schemeClr val="accent2"/>
                          </a:solidFill>
                        </a:rPr>
                        <a:t>Revisionism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The aim of changing (revising) the peace treaties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Kicker 184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4"/>
                </a:solidFill>
              </a:rPr>
              <a:t>TOPIC 2 · QUICK-FIRE QUIZ</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bg1"/>
                </a:solidFill>
              </a:rPr>
              <a:t>Test yourself: Topic 2</a:t>
            </a:r>
            <a:endParaRPr lang="en-US" sz="3400" dirty="0"/>
          </a:p>
        </p:txBody>
      </p:sp>
      <p:sp>
        <p:nvSpPr>
          <p:cNvPr id="4" name="Question number 1842"/>
          <p:cNvSpPr/>
          <p:nvPr/>
        </p:nvSpPr>
        <p:spPr>
          <a:xfrm>
            <a:off x="548640" y="1517904"/>
            <a:ext cx="457200" cy="457200"/>
          </a:xfrm>
          <a:prstGeom prst="ellipse">
            <a:avLst/>
          </a:prstGeom>
          <a:solidFill>
            <a:schemeClr val="accent4"/>
          </a:solidFill>
          <a:ln/>
        </p:spPr>
      </p:sp>
      <p:sp>
        <p:nvSpPr>
          <p:cNvPr id="5" name="Text 1843"/>
          <p:cNvSpPr txBox="1"/>
          <p:nvPr/>
        </p:nvSpPr>
        <p:spPr>
          <a:xfrm>
            <a:off x="548640" y="1517904"/>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1</a:t>
            </a:r>
            <a:endParaRPr lang="en-US" sz="1600" dirty="0"/>
          </a:p>
        </p:txBody>
      </p:sp>
      <p:sp>
        <p:nvSpPr>
          <p:cNvPr id="6" name="Text 1844"/>
          <p:cNvSpPr txBox="1"/>
          <p:nvPr/>
        </p:nvSpPr>
        <p:spPr>
          <a:xfrm>
            <a:off x="1170432" y="1499616"/>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does LAMB stand for in the Treaty of Versailles?</a:t>
            </a:r>
            <a:endParaRPr lang="en-US" sz="1700" dirty="0"/>
          </a:p>
        </p:txBody>
      </p:sp>
      <p:sp>
        <p:nvSpPr>
          <p:cNvPr id="7" name="Question number 1845"/>
          <p:cNvSpPr/>
          <p:nvPr/>
        </p:nvSpPr>
        <p:spPr>
          <a:xfrm>
            <a:off x="548640" y="2690622"/>
            <a:ext cx="457200" cy="457200"/>
          </a:xfrm>
          <a:prstGeom prst="ellipse">
            <a:avLst/>
          </a:prstGeom>
          <a:solidFill>
            <a:schemeClr val="accent4"/>
          </a:solidFill>
          <a:ln/>
        </p:spPr>
      </p:sp>
      <p:sp>
        <p:nvSpPr>
          <p:cNvPr id="8" name="Text 1846"/>
          <p:cNvSpPr txBox="1"/>
          <p:nvPr/>
        </p:nvSpPr>
        <p:spPr>
          <a:xfrm>
            <a:off x="548640" y="2690622"/>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2</a:t>
            </a:r>
            <a:endParaRPr lang="en-US" sz="1600" dirty="0"/>
          </a:p>
        </p:txBody>
      </p:sp>
      <p:sp>
        <p:nvSpPr>
          <p:cNvPr id="9" name="Text 1847"/>
          <p:cNvSpPr txBox="1"/>
          <p:nvPr/>
        </p:nvSpPr>
        <p:spPr>
          <a:xfrm>
            <a:off x="1170432" y="2672334"/>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Which treaty dealt with Hungary, and how much land did it lose?</a:t>
            </a:r>
            <a:endParaRPr lang="en-US" sz="1700" dirty="0"/>
          </a:p>
        </p:txBody>
      </p:sp>
      <p:sp>
        <p:nvSpPr>
          <p:cNvPr id="10" name="Question number 1848"/>
          <p:cNvSpPr/>
          <p:nvPr/>
        </p:nvSpPr>
        <p:spPr>
          <a:xfrm>
            <a:off x="548640" y="3863340"/>
            <a:ext cx="457200" cy="457200"/>
          </a:xfrm>
          <a:prstGeom prst="ellipse">
            <a:avLst/>
          </a:prstGeom>
          <a:solidFill>
            <a:schemeClr val="accent4"/>
          </a:solidFill>
          <a:ln/>
        </p:spPr>
      </p:sp>
      <p:sp>
        <p:nvSpPr>
          <p:cNvPr id="11" name="Text 1849"/>
          <p:cNvSpPr txBox="1"/>
          <p:nvPr/>
        </p:nvSpPr>
        <p:spPr>
          <a:xfrm>
            <a:off x="548640" y="3863340"/>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3</a:t>
            </a:r>
            <a:endParaRPr lang="en-US" sz="1600" dirty="0"/>
          </a:p>
        </p:txBody>
      </p:sp>
      <p:sp>
        <p:nvSpPr>
          <p:cNvPr id="12" name="Text 1850"/>
          <p:cNvSpPr txBox="1"/>
          <p:nvPr/>
        </p:nvSpPr>
        <p:spPr>
          <a:xfrm>
            <a:off x="1170432" y="3845052"/>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did the US Senate reject the Treaty of Versailles?</a:t>
            </a:r>
            <a:endParaRPr lang="en-US" sz="1700" dirty="0"/>
          </a:p>
        </p:txBody>
      </p:sp>
      <p:sp>
        <p:nvSpPr>
          <p:cNvPr id="13" name="Question number 1851"/>
          <p:cNvSpPr/>
          <p:nvPr/>
        </p:nvSpPr>
        <p:spPr>
          <a:xfrm>
            <a:off x="548640" y="5036058"/>
            <a:ext cx="457200" cy="457200"/>
          </a:xfrm>
          <a:prstGeom prst="ellipse">
            <a:avLst/>
          </a:prstGeom>
          <a:solidFill>
            <a:schemeClr val="accent4"/>
          </a:solidFill>
          <a:ln/>
        </p:spPr>
      </p:sp>
      <p:sp>
        <p:nvSpPr>
          <p:cNvPr id="14" name="Text 1852"/>
          <p:cNvSpPr txBox="1"/>
          <p:nvPr/>
        </p:nvSpPr>
        <p:spPr>
          <a:xfrm>
            <a:off x="548640" y="5036058"/>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4</a:t>
            </a:r>
            <a:endParaRPr lang="en-US" sz="1600" dirty="0"/>
          </a:p>
        </p:txBody>
      </p:sp>
      <p:sp>
        <p:nvSpPr>
          <p:cNvPr id="15" name="Text 1853"/>
          <p:cNvSpPr txBox="1"/>
          <p:nvPr/>
        </p:nvSpPr>
        <p:spPr>
          <a:xfrm>
            <a:off x="1170432" y="5017770"/>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Name two disputes the League settled successfully in the 1920s.</a:t>
            </a:r>
            <a:endParaRPr lang="en-US" sz="1700" dirty="0"/>
          </a:p>
        </p:txBody>
      </p:sp>
      <p:sp>
        <p:nvSpPr>
          <p:cNvPr id="16" name="Question number 1854"/>
          <p:cNvSpPr/>
          <p:nvPr/>
        </p:nvSpPr>
        <p:spPr>
          <a:xfrm>
            <a:off x="6324448" y="1517904"/>
            <a:ext cx="457200" cy="457200"/>
          </a:xfrm>
          <a:prstGeom prst="ellipse">
            <a:avLst/>
          </a:prstGeom>
          <a:solidFill>
            <a:schemeClr val="accent4"/>
          </a:solidFill>
          <a:ln/>
        </p:spPr>
      </p:sp>
      <p:sp>
        <p:nvSpPr>
          <p:cNvPr id="17" name="Text 1855"/>
          <p:cNvSpPr txBox="1"/>
          <p:nvPr/>
        </p:nvSpPr>
        <p:spPr>
          <a:xfrm>
            <a:off x="6324448" y="1517904"/>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5</a:t>
            </a:r>
            <a:endParaRPr lang="en-US" sz="1600" dirty="0"/>
          </a:p>
        </p:txBody>
      </p:sp>
      <p:sp>
        <p:nvSpPr>
          <p:cNvPr id="18" name="Text 1856"/>
          <p:cNvSpPr txBox="1"/>
          <p:nvPr/>
        </p:nvSpPr>
        <p:spPr>
          <a:xfrm>
            <a:off x="6946240" y="1499616"/>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happened in the Corfu Incident (1923)?</a:t>
            </a:r>
            <a:endParaRPr lang="en-US" sz="1700" dirty="0"/>
          </a:p>
        </p:txBody>
      </p:sp>
      <p:sp>
        <p:nvSpPr>
          <p:cNvPr id="19" name="Question number 1857"/>
          <p:cNvSpPr/>
          <p:nvPr/>
        </p:nvSpPr>
        <p:spPr>
          <a:xfrm>
            <a:off x="6324448" y="2690622"/>
            <a:ext cx="457200" cy="457200"/>
          </a:xfrm>
          <a:prstGeom prst="ellipse">
            <a:avLst/>
          </a:prstGeom>
          <a:solidFill>
            <a:schemeClr val="accent4"/>
          </a:solidFill>
          <a:ln/>
        </p:spPr>
      </p:sp>
      <p:sp>
        <p:nvSpPr>
          <p:cNvPr id="20" name="Text 1858"/>
          <p:cNvSpPr txBox="1"/>
          <p:nvPr/>
        </p:nvSpPr>
        <p:spPr>
          <a:xfrm>
            <a:off x="6324448" y="2690622"/>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6</a:t>
            </a:r>
            <a:endParaRPr lang="en-US" sz="1600" dirty="0"/>
          </a:p>
        </p:txBody>
      </p:sp>
      <p:sp>
        <p:nvSpPr>
          <p:cNvPr id="21" name="Text 1859"/>
          <p:cNvSpPr txBox="1"/>
          <p:nvPr/>
        </p:nvSpPr>
        <p:spPr>
          <a:xfrm>
            <a:off x="6946240" y="2672334"/>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did Germany and Soviet Russia agree at Rapallo (1922)?</a:t>
            </a:r>
            <a:endParaRPr lang="en-US" sz="1700" dirty="0"/>
          </a:p>
        </p:txBody>
      </p:sp>
      <p:sp>
        <p:nvSpPr>
          <p:cNvPr id="22" name="Question number 1860"/>
          <p:cNvSpPr/>
          <p:nvPr/>
        </p:nvSpPr>
        <p:spPr>
          <a:xfrm>
            <a:off x="6324448" y="3863340"/>
            <a:ext cx="457200" cy="457200"/>
          </a:xfrm>
          <a:prstGeom prst="ellipse">
            <a:avLst/>
          </a:prstGeom>
          <a:solidFill>
            <a:schemeClr val="accent4"/>
          </a:solidFill>
          <a:ln/>
        </p:spPr>
      </p:sp>
      <p:sp>
        <p:nvSpPr>
          <p:cNvPr id="23" name="Text 1861"/>
          <p:cNvSpPr txBox="1"/>
          <p:nvPr/>
        </p:nvSpPr>
        <p:spPr>
          <a:xfrm>
            <a:off x="6324448" y="3863340"/>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7</a:t>
            </a:r>
            <a:endParaRPr lang="en-US" sz="1600" dirty="0"/>
          </a:p>
        </p:txBody>
      </p:sp>
      <p:sp>
        <p:nvSpPr>
          <p:cNvPr id="24" name="Text 1862"/>
          <p:cNvSpPr txBox="1"/>
          <p:nvPr/>
        </p:nvSpPr>
        <p:spPr>
          <a:xfrm>
            <a:off x="6946240" y="3845052"/>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did France occupy the Ruhr in 1923 — and what followed?</a:t>
            </a:r>
            <a:endParaRPr lang="en-US" sz="1700" dirty="0"/>
          </a:p>
        </p:txBody>
      </p:sp>
      <p:sp>
        <p:nvSpPr>
          <p:cNvPr id="25" name="Question number 1863"/>
          <p:cNvSpPr/>
          <p:nvPr/>
        </p:nvSpPr>
        <p:spPr>
          <a:xfrm>
            <a:off x="6324448" y="5036058"/>
            <a:ext cx="457200" cy="457200"/>
          </a:xfrm>
          <a:prstGeom prst="ellipse">
            <a:avLst/>
          </a:prstGeom>
          <a:solidFill>
            <a:schemeClr val="accent4"/>
          </a:solidFill>
          <a:ln/>
        </p:spPr>
      </p:sp>
      <p:sp>
        <p:nvSpPr>
          <p:cNvPr id="26" name="Text 1864"/>
          <p:cNvSpPr txBox="1"/>
          <p:nvPr/>
        </p:nvSpPr>
        <p:spPr>
          <a:xfrm>
            <a:off x="6324448" y="5036058"/>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8</a:t>
            </a:r>
            <a:endParaRPr lang="en-US" sz="1600" dirty="0"/>
          </a:p>
        </p:txBody>
      </p:sp>
      <p:sp>
        <p:nvSpPr>
          <p:cNvPr id="27" name="Text 1865"/>
          <p:cNvSpPr txBox="1"/>
          <p:nvPr/>
        </p:nvSpPr>
        <p:spPr>
          <a:xfrm>
            <a:off x="6946240" y="5017770"/>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was missing from the Locarno Treaties?</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F1F3F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Kicker 186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QUIZ ANSWERS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Answers: Topic 2</a:t>
            </a:r>
            <a:endParaRPr lang="en-US" sz="3400" dirty="0"/>
          </a:p>
        </p:txBody>
      </p:sp>
      <p:graphicFrame>
        <p:nvGraphicFramePr>
          <p:cNvPr id="82" name="Table 1867"/>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457200"/>
                <a:gridCol w="3657600"/>
                <a:gridCol w="6979615"/>
              </a:tblGrid>
              <a:tr h="384048">
                <a:tc>
                  <a:txBody>
                    <a:bodyPr/>
                    <a:lstStyle/>
                    <a:p>
                      <a:pPr indent="0" marL="0">
                        <a:buNone/>
                      </a:pPr>
                      <a:r>
                        <a:rPr lang="en-US" sz="1400" b="1" dirty="0">
                          <a:solidFill>
                            <a:schemeClr val="bg1"/>
                          </a:solidFill>
                        </a:rPr>
                        <a: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Question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Answer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2"/>
                    </a:solidFill>
                  </a:tcPr>
                </a:tc>
              </a:tr>
              <a:tr h="549783">
                <a:tc>
                  <a:txBody>
                    <a:bodyPr/>
                    <a:lstStyle/>
                    <a:p>
                      <a:pPr algn="ctr" indent="0" marL="0">
                        <a:buNone/>
                      </a:pPr>
                      <a:r>
                        <a:rPr lang="en-US" sz="1400" b="1" dirty="0">
                          <a:solidFill>
                            <a:schemeClr val="accent2"/>
                          </a:solidFill>
                        </a:rPr>
                        <a:t>1</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LAMB</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Land, Army, Money (reparations), Blame (Article 231)</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49783">
                <a:tc>
                  <a:txBody>
                    <a:bodyPr/>
                    <a:lstStyle/>
                    <a:p>
                      <a:pPr algn="ctr" indent="0" marL="0">
                        <a:buNone/>
                      </a:pPr>
                      <a:r>
                        <a:rPr lang="en-US" sz="1400" b="1" dirty="0">
                          <a:solidFill>
                            <a:schemeClr val="accent2"/>
                          </a:solidFill>
                        </a:rPr>
                        <a:t>2</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Hungary's treaty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Trianon (1920): lost about two-thirds of its land</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549783">
                <a:tc>
                  <a:txBody>
                    <a:bodyPr/>
                    <a:lstStyle/>
                    <a:p>
                      <a:pPr algn="ctr" indent="0" marL="0">
                        <a:buNone/>
                      </a:pPr>
                      <a:r>
                        <a:rPr lang="en-US" sz="1400" b="1" dirty="0">
                          <a:solidFill>
                            <a:schemeClr val="accent2"/>
                          </a:solidFill>
                        </a:rPr>
                        <a:t>3</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US Senate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Feared Article 10 would drag the USA into foreign wars; party politics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49783">
                <a:tc>
                  <a:txBody>
                    <a:bodyPr/>
                    <a:lstStyle/>
                    <a:p>
                      <a:pPr algn="ctr" indent="0" marL="0">
                        <a:buNone/>
                      </a:pPr>
                      <a:r>
                        <a:rPr lang="en-US" sz="1400" b="1" dirty="0">
                          <a:solidFill>
                            <a:schemeClr val="accent2"/>
                          </a:solidFill>
                        </a:rPr>
                        <a:t>4</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League successes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Any two: Åland Islands, Upper Silesia, Mosul, Greece–Bulgaria (1925)</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549783">
                <a:tc>
                  <a:txBody>
                    <a:bodyPr/>
                    <a:lstStyle/>
                    <a:p>
                      <a:pPr algn="ctr" indent="0" marL="0">
                        <a:buNone/>
                      </a:pPr>
                      <a:r>
                        <a:rPr lang="en-US" sz="1400" b="1" dirty="0">
                          <a:solidFill>
                            <a:schemeClr val="accent2"/>
                          </a:solidFill>
                        </a:rPr>
                        <a:t>5</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Corfu</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Mussolini occupied Corfu; Conference of Ambassadors made Greece pay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49783">
                <a:tc>
                  <a:txBody>
                    <a:bodyPr/>
                    <a:lstStyle/>
                    <a:p>
                      <a:pPr algn="ctr" indent="0" marL="0">
                        <a:buNone/>
                      </a:pPr>
                      <a:r>
                        <a:rPr lang="en-US" sz="1400" b="1" dirty="0">
                          <a:solidFill>
                            <a:schemeClr val="accent2"/>
                          </a:solidFill>
                        </a:rPr>
                        <a:t>6</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Rapallo</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Restored relations, cancelled claims, trade and secret military cooperation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549783">
                <a:tc>
                  <a:txBody>
                    <a:bodyPr/>
                    <a:lstStyle/>
                    <a:p>
                      <a:pPr algn="ctr" indent="0" marL="0">
                        <a:buNone/>
                      </a:pPr>
                      <a:r>
                        <a:rPr lang="en-US" sz="1400" b="1" dirty="0">
                          <a:solidFill>
                            <a:schemeClr val="accent2"/>
                          </a:solidFill>
                        </a:rPr>
                        <a:t>7</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Ruhr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Missed reparation deliveries → hyperinflation, then Dawes Plan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49783">
                <a:tc>
                  <a:txBody>
                    <a:bodyPr/>
                    <a:lstStyle/>
                    <a:p>
                      <a:pPr algn="ctr" indent="0" marL="0">
                        <a:buNone/>
                      </a:pPr>
                      <a:r>
                        <a:rPr lang="en-US" sz="1400" b="1" dirty="0">
                          <a:solidFill>
                            <a:schemeClr val="accent2"/>
                          </a:solidFill>
                        </a:rPr>
                        <a:t>8</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Locarno's gap</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No guarantee of Germany's eastern borders ('Eastern Locarno')</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Kicker 186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EXAM FOCUS · (A)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Plan it: an (a) question</a:t>
            </a:r>
            <a:endParaRPr lang="en-US" sz="3400" dirty="0"/>
          </a:p>
        </p:txBody>
      </p:sp>
      <p:sp>
        <p:nvSpPr>
          <p:cNvPr id="4" name="Question banner 1869"/>
          <p:cNvSpPr/>
          <p:nvPr/>
        </p:nvSpPr>
        <p:spPr>
          <a:xfrm>
            <a:off x="548640" y="1481328"/>
            <a:ext cx="11094415" cy="960120"/>
          </a:xfrm>
          <a:prstGeom prst="roundRect">
            <a:avLst>
              <a:gd name="adj" fmla="val 9524"/>
            </a:avLst>
          </a:prstGeom>
          <a:solidFill>
            <a:schemeClr val="tx2"/>
          </a:solidFill>
          <a:ln/>
        </p:spPr>
      </p:sp>
      <p:sp>
        <p:nvSpPr>
          <p:cNvPr id="5" name="Icon circle 1870"/>
          <p:cNvSpPr/>
          <p:nvPr/>
        </p:nvSpPr>
        <p:spPr>
          <a:xfrm>
            <a:off x="749808" y="1709928"/>
            <a:ext cx="502920" cy="502920"/>
          </a:xfrm>
          <a:prstGeom prst="ellipse">
            <a:avLst/>
          </a:prstGeom>
          <a:solidFill>
            <a:schemeClr val="accent2"/>
          </a:solidFill>
          <a:ln/>
        </p:spPr>
      </p:sp>
      <p:pic>
        <p:nvPicPr>
          <p:cNvPr id="6" name="Icon FaQuestion 1871" descr="preencoded.png">    </p:cNvPr>
          <p:cNvPicPr>
            <a:picLocks noChangeAspect="1"/>
          </p:cNvPicPr>
          <p:nvPr/>
        </p:nvPicPr>
        <p:blipFill>
          <a:blip r:embed="rId1"/>
          <a:stretch>
            <a:fillRect/>
          </a:stretch>
        </p:blipFill>
        <p:spPr>
          <a:xfrm>
            <a:off x="860450" y="1820570"/>
            <a:ext cx="281635" cy="281635"/>
          </a:xfrm>
          <a:prstGeom prst="rect">
            <a:avLst/>
          </a:prstGeom>
        </p:spPr>
      </p:pic>
      <p:sp>
        <p:nvSpPr>
          <p:cNvPr id="7" name="Text 1872"/>
          <p:cNvSpPr txBox="1"/>
          <p:nvPr/>
        </p:nvSpPr>
        <p:spPr>
          <a:xfrm>
            <a:off x="1417320" y="1554480"/>
            <a:ext cx="8625535" cy="813816"/>
          </a:xfrm>
          <a:prstGeom prst="rect">
            <a:avLst/>
          </a:prstGeom>
          <a:noFill/>
          <a:ln/>
        </p:spPr>
        <p:txBody>
          <a:bodyPr wrap="square" lIns="0" tIns="0" rIns="0" bIns="0" rtlCol="0" anchor="ctr"/>
          <a:lstStyle/>
          <a:p>
            <a:pPr algn="l" indent="0" marL="0">
              <a:spcAft>
                <a:spcPts val="600"/>
              </a:spcAft>
              <a:buNone/>
            </a:pPr>
            <a:r>
              <a:rPr lang="en-US" sz="2000" i="1" dirty="0">
                <a:solidFill>
                  <a:schemeClr val="bg1"/>
                </a:solidFill>
                <a:latin typeface="+mj-lt" pitchFamily="34" charset="0"/>
                <a:ea typeface="+mj-lt" pitchFamily="34" charset="-122"/>
                <a:cs typeface="+mj-lt" pitchFamily="34" charset="-120"/>
              </a:rPr>
              <a:t>Explain why France occupied the Ruhr in 1923.</a:t>
            </a:r>
            <a:endParaRPr lang="en-US" sz="2000" dirty="0"/>
          </a:p>
        </p:txBody>
      </p:sp>
      <p:sp>
        <p:nvSpPr>
          <p:cNvPr id="8" name="Marks pill 1873"/>
          <p:cNvSpPr/>
          <p:nvPr/>
        </p:nvSpPr>
        <p:spPr>
          <a:xfrm>
            <a:off x="10225735" y="1760220"/>
            <a:ext cx="1234440" cy="402336"/>
          </a:xfrm>
          <a:prstGeom prst="roundRect">
            <a:avLst>
              <a:gd name="adj" fmla="val 50000"/>
            </a:avLst>
          </a:prstGeom>
          <a:solidFill>
            <a:schemeClr val="accent4"/>
          </a:solidFill>
          <a:ln/>
        </p:spPr>
      </p:sp>
      <p:sp>
        <p:nvSpPr>
          <p:cNvPr id="9" name="Text 1874"/>
          <p:cNvSpPr txBox="1"/>
          <p:nvPr/>
        </p:nvSpPr>
        <p:spPr>
          <a:xfrm>
            <a:off x="10225735" y="1760220"/>
            <a:ext cx="1234440" cy="402336"/>
          </a:xfrm>
          <a:prstGeom prst="rect">
            <a:avLst/>
          </a:prstGeom>
          <a:noFill/>
          <a:ln/>
        </p:spPr>
        <p:txBody>
          <a:bodyPr wrap="square" lIns="0" tIns="0" rIns="0" bIns="0" rtlCol="0" anchor="ctr"/>
          <a:lstStyle/>
          <a:p>
            <a:pPr algn="ctr" indent="0" marL="0">
              <a:spcAft>
                <a:spcPts val="600"/>
              </a:spcAft>
              <a:buNone/>
            </a:pPr>
            <a:r>
              <a:rPr lang="en-US" sz="1400" b="1" dirty="0">
                <a:solidFill>
                  <a:schemeClr val="tx2"/>
                </a:solidFill>
              </a:rPr>
              <a:t>10 marks</a:t>
            </a:r>
            <a:endParaRPr lang="en-US" sz="1400" dirty="0"/>
          </a:p>
        </p:txBody>
      </p:sp>
      <p:sp>
        <p:nvSpPr>
          <p:cNvPr id="10" name="Card 1875"/>
          <p:cNvSpPr/>
          <p:nvPr/>
        </p:nvSpPr>
        <p:spPr>
          <a:xfrm>
            <a:off x="548640" y="2715768"/>
            <a:ext cx="2602154" cy="2560320"/>
          </a:xfrm>
          <a:prstGeom prst="roundRect">
            <a:avLst>
              <a:gd name="adj" fmla="val 3571"/>
            </a:avLst>
          </a:prstGeom>
          <a:solidFill>
            <a:schemeClr val="accent2">
              <a:alpha val="10000"/>
            </a:schemeClr>
          </a:solidFill>
          <a:ln/>
        </p:spPr>
      </p:sp>
      <p:sp>
        <p:nvSpPr>
          <p:cNvPr id="11" name="Card title 1876"/>
          <p:cNvSpPr txBox="1"/>
          <p:nvPr/>
        </p:nvSpPr>
        <p:spPr>
          <a:xfrm>
            <a:off x="731520" y="2898648"/>
            <a:ext cx="2236394"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Trigger</a:t>
            </a:r>
            <a:endParaRPr lang="en-US" sz="1700" dirty="0"/>
          </a:p>
        </p:txBody>
      </p:sp>
      <p:sp>
        <p:nvSpPr>
          <p:cNvPr id="12" name="Text 1877"/>
          <p:cNvSpPr txBox="1"/>
          <p:nvPr/>
        </p:nvSpPr>
        <p:spPr>
          <a:xfrm>
            <a:off x="731520" y="3483864"/>
            <a:ext cx="2236394" cy="1609344"/>
          </a:xfrm>
          <a:prstGeom prst="rect">
            <a:avLst/>
          </a:prstGeom>
          <a:noFill/>
          <a:ln/>
        </p:spPr>
        <p:txBody>
          <a:bodyPr wrap="square" lIns="0" tIns="0" rIns="0" bIns="0" rtlCol="0" anchor="t"/>
          <a:lstStyle/>
          <a:p>
            <a:pPr algn="l" indent="0" marL="0">
              <a:spcAft>
                <a:spcPts val="500"/>
              </a:spcAft>
              <a:buNone/>
            </a:pPr>
            <a:r>
              <a:rPr lang="en-US" sz="1900" dirty="0">
                <a:solidFill>
                  <a:schemeClr val="tx1"/>
                </a:solidFill>
              </a:rPr>
              <a:t>Germany fell behind on reparation deliveries (coal, timber) in late 1922.</a:t>
            </a:r>
            <a:endParaRPr lang="en-US" sz="1900" dirty="0"/>
          </a:p>
        </p:txBody>
      </p:sp>
      <p:sp>
        <p:nvSpPr>
          <p:cNvPr id="13" name="Card 1878"/>
          <p:cNvSpPr/>
          <p:nvPr/>
        </p:nvSpPr>
        <p:spPr>
          <a:xfrm>
            <a:off x="3379394" y="2715768"/>
            <a:ext cx="2602154" cy="2560320"/>
          </a:xfrm>
          <a:prstGeom prst="roundRect">
            <a:avLst>
              <a:gd name="adj" fmla="val 3571"/>
            </a:avLst>
          </a:prstGeom>
          <a:solidFill>
            <a:schemeClr val="accent2">
              <a:alpha val="10000"/>
            </a:schemeClr>
          </a:solidFill>
          <a:ln/>
        </p:spPr>
      </p:sp>
      <p:sp>
        <p:nvSpPr>
          <p:cNvPr id="14" name="Card title 1879"/>
          <p:cNvSpPr txBox="1"/>
          <p:nvPr/>
        </p:nvSpPr>
        <p:spPr>
          <a:xfrm>
            <a:off x="3562274" y="2898648"/>
            <a:ext cx="2236394"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Security</a:t>
            </a:r>
            <a:endParaRPr lang="en-US" sz="1700" dirty="0"/>
          </a:p>
        </p:txBody>
      </p:sp>
      <p:sp>
        <p:nvSpPr>
          <p:cNvPr id="15" name="Text 1880"/>
          <p:cNvSpPr txBox="1"/>
          <p:nvPr/>
        </p:nvSpPr>
        <p:spPr>
          <a:xfrm>
            <a:off x="3562274" y="3483864"/>
            <a:ext cx="2236394" cy="1609344"/>
          </a:xfrm>
          <a:prstGeom prst="rect">
            <a:avLst/>
          </a:prstGeom>
          <a:noFill/>
          <a:ln/>
        </p:spPr>
        <p:txBody>
          <a:bodyPr wrap="square" lIns="0" tIns="0" rIns="0" bIns="0" rtlCol="0" anchor="t"/>
          <a:lstStyle/>
          <a:p>
            <a:pPr algn="l" indent="0" marL="0">
              <a:spcAft>
                <a:spcPts val="500"/>
              </a:spcAft>
              <a:buNone/>
            </a:pPr>
            <a:r>
              <a:rPr lang="en-US" sz="1900" dirty="0">
                <a:solidFill>
                  <a:schemeClr val="tx1"/>
                </a:solidFill>
              </a:rPr>
              <a:t>France wanted Versailles enforced and Germany kept weak — the core French aim.</a:t>
            </a:r>
            <a:endParaRPr lang="en-US" sz="1900" dirty="0"/>
          </a:p>
        </p:txBody>
      </p:sp>
      <p:sp>
        <p:nvSpPr>
          <p:cNvPr id="16" name="Card 1881"/>
          <p:cNvSpPr/>
          <p:nvPr/>
        </p:nvSpPr>
        <p:spPr>
          <a:xfrm>
            <a:off x="6210148" y="2715768"/>
            <a:ext cx="2602154" cy="2560320"/>
          </a:xfrm>
          <a:prstGeom prst="roundRect">
            <a:avLst>
              <a:gd name="adj" fmla="val 3571"/>
            </a:avLst>
          </a:prstGeom>
          <a:solidFill>
            <a:schemeClr val="accent2">
              <a:alpha val="10000"/>
            </a:schemeClr>
          </a:solidFill>
          <a:ln/>
        </p:spPr>
      </p:sp>
      <p:sp>
        <p:nvSpPr>
          <p:cNvPr id="17" name="Card title 1882"/>
          <p:cNvSpPr txBox="1"/>
          <p:nvPr/>
        </p:nvSpPr>
        <p:spPr>
          <a:xfrm>
            <a:off x="6393028" y="2898648"/>
            <a:ext cx="2236394"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Economics</a:t>
            </a:r>
            <a:endParaRPr lang="en-US" sz="1700" dirty="0"/>
          </a:p>
        </p:txBody>
      </p:sp>
      <p:sp>
        <p:nvSpPr>
          <p:cNvPr id="18" name="Text 1883"/>
          <p:cNvSpPr txBox="1"/>
          <p:nvPr/>
        </p:nvSpPr>
        <p:spPr>
          <a:xfrm>
            <a:off x="6393028" y="3483864"/>
            <a:ext cx="2236394" cy="1609344"/>
          </a:xfrm>
          <a:prstGeom prst="rect">
            <a:avLst/>
          </a:prstGeom>
          <a:noFill/>
          <a:ln/>
        </p:spPr>
        <p:txBody>
          <a:bodyPr wrap="square" lIns="0" tIns="0" rIns="0" bIns="0" rtlCol="0" anchor="t"/>
          <a:lstStyle/>
          <a:p>
            <a:pPr algn="l" indent="0" marL="0">
              <a:spcAft>
                <a:spcPts val="500"/>
              </a:spcAft>
              <a:buNone/>
            </a:pPr>
            <a:r>
              <a:rPr lang="en-US" sz="1900" dirty="0">
                <a:solidFill>
                  <a:schemeClr val="tx1"/>
                </a:solidFill>
              </a:rPr>
              <a:t>France needed reparations to rebuild and to repay war debts to Britain and the USA.</a:t>
            </a:r>
            <a:endParaRPr lang="en-US" sz="1900" dirty="0"/>
          </a:p>
        </p:txBody>
      </p:sp>
      <p:sp>
        <p:nvSpPr>
          <p:cNvPr id="19" name="Card 1884"/>
          <p:cNvSpPr/>
          <p:nvPr/>
        </p:nvSpPr>
        <p:spPr>
          <a:xfrm>
            <a:off x="9040901" y="2715768"/>
            <a:ext cx="2602154" cy="2560320"/>
          </a:xfrm>
          <a:prstGeom prst="roundRect">
            <a:avLst>
              <a:gd name="adj" fmla="val 3571"/>
            </a:avLst>
          </a:prstGeom>
          <a:solidFill>
            <a:schemeClr val="accent2">
              <a:alpha val="10000"/>
            </a:schemeClr>
          </a:solidFill>
          <a:ln/>
        </p:spPr>
      </p:sp>
      <p:sp>
        <p:nvSpPr>
          <p:cNvPr id="20" name="Card title 1885"/>
          <p:cNvSpPr txBox="1"/>
          <p:nvPr/>
        </p:nvSpPr>
        <p:spPr>
          <a:xfrm>
            <a:off x="9223781" y="2898648"/>
            <a:ext cx="2236394"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Politics</a:t>
            </a:r>
            <a:endParaRPr lang="en-US" sz="1700" dirty="0"/>
          </a:p>
        </p:txBody>
      </p:sp>
      <p:sp>
        <p:nvSpPr>
          <p:cNvPr id="21" name="Text 1886"/>
          <p:cNvSpPr txBox="1"/>
          <p:nvPr/>
        </p:nvSpPr>
        <p:spPr>
          <a:xfrm>
            <a:off x="9223781" y="3483864"/>
            <a:ext cx="2236394" cy="1609344"/>
          </a:xfrm>
          <a:prstGeom prst="rect">
            <a:avLst/>
          </a:prstGeom>
          <a:noFill/>
          <a:ln/>
        </p:spPr>
        <p:txBody>
          <a:bodyPr wrap="square" lIns="0" tIns="0" rIns="0" bIns="0" rtlCol="0" anchor="t"/>
          <a:lstStyle/>
          <a:p>
            <a:pPr algn="l" indent="0" marL="0">
              <a:spcAft>
                <a:spcPts val="500"/>
              </a:spcAft>
              <a:buNone/>
            </a:pPr>
            <a:r>
              <a:rPr lang="en-US" sz="1900" dirty="0">
                <a:solidFill>
                  <a:schemeClr val="tx1"/>
                </a:solidFill>
              </a:rPr>
              <a:t>Poincaré's hard line; Rapallo (1922) raised fears of German–Soviet cooperation.</a:t>
            </a:r>
            <a:endParaRPr lang="en-US" sz="1900" dirty="0"/>
          </a:p>
        </p:txBody>
      </p:sp>
      <p:sp>
        <p:nvSpPr>
          <p:cNvPr id="22" name="Callout 1887"/>
          <p:cNvSpPr/>
          <p:nvPr/>
        </p:nvSpPr>
        <p:spPr>
          <a:xfrm>
            <a:off x="548640" y="5550408"/>
            <a:ext cx="11094415" cy="713232"/>
          </a:xfrm>
          <a:prstGeom prst="roundRect">
            <a:avLst>
              <a:gd name="adj" fmla="val 12821"/>
            </a:avLst>
          </a:prstGeom>
          <a:solidFill>
            <a:schemeClr val="accent4">
              <a:alpha val="20000"/>
            </a:schemeClr>
          </a:solidFill>
          <a:ln/>
        </p:spPr>
      </p:sp>
      <p:sp>
        <p:nvSpPr>
          <p:cNvPr id="23" name="Callout label 1888"/>
          <p:cNvSpPr/>
          <p:nvPr/>
        </p:nvSpPr>
        <p:spPr>
          <a:xfrm>
            <a:off x="731520" y="5751576"/>
            <a:ext cx="977581" cy="310896"/>
          </a:xfrm>
          <a:prstGeom prst="roundRect">
            <a:avLst>
              <a:gd name="adj" fmla="val 50000"/>
            </a:avLst>
          </a:prstGeom>
          <a:solidFill>
            <a:schemeClr val="accent4"/>
          </a:solidFill>
          <a:ln/>
        </p:spPr>
      </p:sp>
      <p:sp>
        <p:nvSpPr>
          <p:cNvPr id="24" name="Text 1889"/>
          <p:cNvSpPr txBox="1"/>
          <p:nvPr/>
        </p:nvSpPr>
        <p:spPr>
          <a:xfrm>
            <a:off x="731520" y="5751576"/>
            <a:ext cx="97758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EXAM TIP</a:t>
            </a:r>
            <a:endParaRPr lang="en-US" sz="1200" dirty="0"/>
          </a:p>
        </p:txBody>
      </p:sp>
      <p:sp>
        <p:nvSpPr>
          <p:cNvPr id="25" name="Text 1890"/>
          <p:cNvSpPr txBox="1"/>
          <p:nvPr/>
        </p:nvSpPr>
        <p:spPr>
          <a:xfrm>
            <a:off x="1891981" y="5623560"/>
            <a:ext cx="956819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Finish with a judgement: security was the underlying cause; the default was only the trigger.</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Kicker 189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2"/>
                </a:solidFill>
              </a:rPr>
              <a:t>TOPIC 2 · EXAM FOCUS · (B)</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Plan it: a (b) question</a:t>
            </a:r>
            <a:endParaRPr lang="en-US" sz="3400" dirty="0"/>
          </a:p>
        </p:txBody>
      </p:sp>
      <p:sp>
        <p:nvSpPr>
          <p:cNvPr id="4" name="Question banner 1892"/>
          <p:cNvSpPr/>
          <p:nvPr/>
        </p:nvSpPr>
        <p:spPr>
          <a:xfrm>
            <a:off x="548640" y="1481328"/>
            <a:ext cx="11094415" cy="960120"/>
          </a:xfrm>
          <a:prstGeom prst="roundRect">
            <a:avLst>
              <a:gd name="adj" fmla="val 9524"/>
            </a:avLst>
          </a:prstGeom>
          <a:solidFill>
            <a:schemeClr val="tx2"/>
          </a:solidFill>
          <a:ln/>
        </p:spPr>
      </p:sp>
      <p:sp>
        <p:nvSpPr>
          <p:cNvPr id="5" name="Icon circle 1893"/>
          <p:cNvSpPr/>
          <p:nvPr/>
        </p:nvSpPr>
        <p:spPr>
          <a:xfrm>
            <a:off x="749808" y="1709928"/>
            <a:ext cx="502920" cy="502920"/>
          </a:xfrm>
          <a:prstGeom prst="ellipse">
            <a:avLst/>
          </a:prstGeom>
          <a:solidFill>
            <a:schemeClr val="accent2"/>
          </a:solidFill>
          <a:ln/>
        </p:spPr>
      </p:sp>
      <p:pic>
        <p:nvPicPr>
          <p:cNvPr id="6" name="Icon FaQuestion 1894" descr="preencoded.png">    </p:cNvPr>
          <p:cNvPicPr>
            <a:picLocks noChangeAspect="1"/>
          </p:cNvPicPr>
          <p:nvPr/>
        </p:nvPicPr>
        <p:blipFill>
          <a:blip r:embed="rId1"/>
          <a:stretch>
            <a:fillRect/>
          </a:stretch>
        </p:blipFill>
        <p:spPr>
          <a:xfrm>
            <a:off x="860450" y="1820570"/>
            <a:ext cx="281635" cy="281635"/>
          </a:xfrm>
          <a:prstGeom prst="rect">
            <a:avLst/>
          </a:prstGeom>
        </p:spPr>
      </p:pic>
      <p:sp>
        <p:nvSpPr>
          <p:cNvPr id="7" name="Text 1895"/>
          <p:cNvSpPr txBox="1"/>
          <p:nvPr/>
        </p:nvSpPr>
        <p:spPr>
          <a:xfrm>
            <a:off x="1417320" y="1554480"/>
            <a:ext cx="8625535" cy="813816"/>
          </a:xfrm>
          <a:prstGeom prst="rect">
            <a:avLst/>
          </a:prstGeom>
          <a:noFill/>
          <a:ln/>
        </p:spPr>
        <p:txBody>
          <a:bodyPr wrap="square" lIns="0" tIns="0" rIns="0" bIns="0" rtlCol="0" anchor="ctr"/>
          <a:lstStyle/>
          <a:p>
            <a:pPr algn="l" indent="0" marL="0">
              <a:spcAft>
                <a:spcPts val="600"/>
              </a:spcAft>
              <a:buNone/>
            </a:pPr>
            <a:r>
              <a:rPr lang="en-US" sz="1800" i="1" dirty="0">
                <a:solidFill>
                  <a:schemeClr val="bg1"/>
                </a:solidFill>
                <a:latin typeface="+mj-lt" pitchFamily="34" charset="0"/>
                <a:ea typeface="+mj-lt" pitchFamily="34" charset="-122"/>
                <a:cs typeface="+mj-lt" pitchFamily="34" charset="-120"/>
              </a:rPr>
              <a:t>'The Locarno Treaties marked a genuine improvement in international relations.' How far do you agree?</a:t>
            </a:r>
            <a:endParaRPr lang="en-US" sz="1800" dirty="0"/>
          </a:p>
        </p:txBody>
      </p:sp>
      <p:sp>
        <p:nvSpPr>
          <p:cNvPr id="8" name="Marks pill 1896"/>
          <p:cNvSpPr/>
          <p:nvPr/>
        </p:nvSpPr>
        <p:spPr>
          <a:xfrm>
            <a:off x="10225735" y="1760220"/>
            <a:ext cx="1234440" cy="402336"/>
          </a:xfrm>
          <a:prstGeom prst="roundRect">
            <a:avLst>
              <a:gd name="adj" fmla="val 50000"/>
            </a:avLst>
          </a:prstGeom>
          <a:solidFill>
            <a:schemeClr val="accent4"/>
          </a:solidFill>
          <a:ln/>
        </p:spPr>
      </p:sp>
      <p:sp>
        <p:nvSpPr>
          <p:cNvPr id="9" name="Text 1897"/>
          <p:cNvSpPr txBox="1"/>
          <p:nvPr/>
        </p:nvSpPr>
        <p:spPr>
          <a:xfrm>
            <a:off x="10225735" y="1760220"/>
            <a:ext cx="1234440" cy="402336"/>
          </a:xfrm>
          <a:prstGeom prst="rect">
            <a:avLst/>
          </a:prstGeom>
          <a:noFill/>
          <a:ln/>
        </p:spPr>
        <p:txBody>
          <a:bodyPr wrap="square" lIns="0" tIns="0" rIns="0" bIns="0" rtlCol="0" anchor="ctr"/>
          <a:lstStyle/>
          <a:p>
            <a:pPr algn="ctr" indent="0" marL="0">
              <a:spcAft>
                <a:spcPts val="600"/>
              </a:spcAft>
              <a:buNone/>
            </a:pPr>
            <a:r>
              <a:rPr lang="en-US" sz="1400" b="1" dirty="0">
                <a:solidFill>
                  <a:schemeClr val="tx2"/>
                </a:solidFill>
              </a:rPr>
              <a:t>20 marks</a:t>
            </a:r>
            <a:endParaRPr lang="en-US" sz="1400" dirty="0"/>
          </a:p>
        </p:txBody>
      </p:sp>
      <p:sp>
        <p:nvSpPr>
          <p:cNvPr id="10" name="Card 1898"/>
          <p:cNvSpPr/>
          <p:nvPr/>
        </p:nvSpPr>
        <p:spPr>
          <a:xfrm>
            <a:off x="548640" y="2715768"/>
            <a:ext cx="3545738" cy="2560320"/>
          </a:xfrm>
          <a:prstGeom prst="roundRect">
            <a:avLst>
              <a:gd name="adj" fmla="val 3571"/>
            </a:avLst>
          </a:prstGeom>
          <a:solidFill>
            <a:schemeClr val="accent2">
              <a:alpha val="10000"/>
            </a:schemeClr>
          </a:solidFill>
          <a:ln/>
        </p:spPr>
      </p:sp>
      <p:sp>
        <p:nvSpPr>
          <p:cNvPr id="11" name="Card title 1899"/>
          <p:cNvSpPr txBox="1"/>
          <p:nvPr/>
        </p:nvSpPr>
        <p:spPr>
          <a:xfrm>
            <a:off x="731520" y="2898648"/>
            <a:ext cx="3179978"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Agree</a:t>
            </a:r>
            <a:endParaRPr lang="en-US" sz="1700" dirty="0"/>
          </a:p>
        </p:txBody>
      </p:sp>
      <p:sp>
        <p:nvSpPr>
          <p:cNvPr id="12" name="Text 1900"/>
          <p:cNvSpPr txBox="1"/>
          <p:nvPr/>
        </p:nvSpPr>
        <p:spPr>
          <a:xfrm>
            <a:off x="731520" y="3483864"/>
            <a:ext cx="3179978" cy="1609344"/>
          </a:xfrm>
          <a:prstGeom prst="rect">
            <a:avLst/>
          </a:prstGeom>
          <a:noFill/>
          <a:ln/>
        </p:spPr>
        <p:txBody>
          <a:bodyPr wrap="square" lIns="0" tIns="0" rIns="0" bIns="0" rtlCol="0" anchor="t"/>
          <a:lstStyle/>
          <a:p>
            <a:pPr algn="l" marL="190500" indent="-190500">
              <a:spcAft>
                <a:spcPts val="500"/>
              </a:spcAft>
              <a:buSzPct val="100000"/>
              <a:buChar char="•"/>
            </a:pPr>
            <a:r>
              <a:rPr lang="en-US" sz="1600" dirty="0">
                <a:solidFill>
                  <a:schemeClr val="tx1"/>
                </a:solidFill>
              </a:rPr>
              <a:t>Western borders accepted freely</a:t>
            </a:r>
            <a:endParaRPr lang="en-US" sz="1600" dirty="0"/>
          </a:p>
          <a:p>
            <a:pPr algn="l" marL="190500" indent="-190500">
              <a:spcAft>
                <a:spcPts val="500"/>
              </a:spcAft>
              <a:buSzPct val="100000"/>
              <a:buChar char="•"/>
            </a:pPr>
            <a:r>
              <a:rPr lang="en-US" sz="1600" dirty="0">
                <a:solidFill>
                  <a:schemeClr val="tx1"/>
                </a:solidFill>
              </a:rPr>
              <a:t>Germany joined the League (1926)</a:t>
            </a:r>
            <a:endParaRPr lang="en-US" sz="1600" dirty="0"/>
          </a:p>
          <a:p>
            <a:pPr algn="l" marL="190500" indent="-190500">
              <a:spcAft>
                <a:spcPts val="500"/>
              </a:spcAft>
              <a:buSzPct val="100000"/>
              <a:buChar char="•"/>
            </a:pPr>
            <a:r>
              <a:rPr lang="en-US" sz="1600" dirty="0">
                <a:solidFill>
                  <a:schemeClr val="tx1"/>
                </a:solidFill>
              </a:rPr>
              <a:t>'Spirit of Locarno' led to Kellogg–Briand and the Young Plan</a:t>
            </a:r>
            <a:endParaRPr lang="en-US" sz="1600" dirty="0"/>
          </a:p>
        </p:txBody>
      </p:sp>
      <p:sp>
        <p:nvSpPr>
          <p:cNvPr id="13" name="Card 1901"/>
          <p:cNvSpPr/>
          <p:nvPr/>
        </p:nvSpPr>
        <p:spPr>
          <a:xfrm>
            <a:off x="4322978" y="2715768"/>
            <a:ext cx="3545738" cy="2560320"/>
          </a:xfrm>
          <a:prstGeom prst="roundRect">
            <a:avLst>
              <a:gd name="adj" fmla="val 3571"/>
            </a:avLst>
          </a:prstGeom>
          <a:solidFill>
            <a:schemeClr val="accent2">
              <a:alpha val="10000"/>
            </a:schemeClr>
          </a:solidFill>
          <a:ln/>
        </p:spPr>
      </p:sp>
      <p:sp>
        <p:nvSpPr>
          <p:cNvPr id="14" name="Card title 1902"/>
          <p:cNvSpPr txBox="1"/>
          <p:nvPr/>
        </p:nvSpPr>
        <p:spPr>
          <a:xfrm>
            <a:off x="4505858" y="2898648"/>
            <a:ext cx="3179978"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Disagree</a:t>
            </a:r>
            <a:endParaRPr lang="en-US" sz="1700" dirty="0"/>
          </a:p>
        </p:txBody>
      </p:sp>
      <p:sp>
        <p:nvSpPr>
          <p:cNvPr id="15" name="Text 1903"/>
          <p:cNvSpPr txBox="1"/>
          <p:nvPr/>
        </p:nvSpPr>
        <p:spPr>
          <a:xfrm>
            <a:off x="4505858" y="3483864"/>
            <a:ext cx="3179978" cy="1609344"/>
          </a:xfrm>
          <a:prstGeom prst="rect">
            <a:avLst/>
          </a:prstGeom>
          <a:noFill/>
          <a:ln/>
        </p:spPr>
        <p:txBody>
          <a:bodyPr wrap="square" lIns="0" tIns="0" rIns="0" bIns="0" rtlCol="0" anchor="t"/>
          <a:lstStyle/>
          <a:p>
            <a:pPr algn="l" marL="190500" indent="-190500">
              <a:spcAft>
                <a:spcPts val="500"/>
              </a:spcAft>
              <a:buSzPct val="100000"/>
              <a:buChar char="•"/>
            </a:pPr>
            <a:r>
              <a:rPr lang="en-US" sz="1600" dirty="0">
                <a:solidFill>
                  <a:schemeClr val="tx1"/>
                </a:solidFill>
              </a:rPr>
              <a:t>No 'Eastern Locarno'</a:t>
            </a:r>
            <a:endParaRPr lang="en-US" sz="1600" dirty="0"/>
          </a:p>
          <a:p>
            <a:pPr algn="l" marL="190500" indent="-190500">
              <a:spcAft>
                <a:spcPts val="500"/>
              </a:spcAft>
              <a:buSzPct val="100000"/>
              <a:buChar char="•"/>
            </a:pPr>
            <a:r>
              <a:rPr lang="en-US" sz="1600" dirty="0">
                <a:solidFill>
                  <a:schemeClr val="tx1"/>
                </a:solidFill>
              </a:rPr>
              <a:t>Stresemann still aimed to revise Versailles</a:t>
            </a:r>
            <a:endParaRPr lang="en-US" sz="1600" dirty="0"/>
          </a:p>
          <a:p>
            <a:pPr algn="l" marL="190500" indent="-190500">
              <a:spcAft>
                <a:spcPts val="500"/>
              </a:spcAft>
              <a:buSzPct val="100000"/>
              <a:buChar char="•"/>
            </a:pPr>
            <a:r>
              <a:rPr lang="en-US" sz="1600" dirty="0">
                <a:solidFill>
                  <a:schemeClr val="tx1"/>
                </a:solidFill>
              </a:rPr>
              <a:t>Rested on US loans and prosperity</a:t>
            </a:r>
            <a:endParaRPr lang="en-US" sz="1600" dirty="0"/>
          </a:p>
        </p:txBody>
      </p:sp>
      <p:sp>
        <p:nvSpPr>
          <p:cNvPr id="16" name="Card 1904"/>
          <p:cNvSpPr/>
          <p:nvPr/>
        </p:nvSpPr>
        <p:spPr>
          <a:xfrm>
            <a:off x="8097317" y="2715768"/>
            <a:ext cx="3545738" cy="2560320"/>
          </a:xfrm>
          <a:prstGeom prst="roundRect">
            <a:avLst>
              <a:gd name="adj" fmla="val 3571"/>
            </a:avLst>
          </a:prstGeom>
          <a:solidFill>
            <a:schemeClr val="accent2">
              <a:alpha val="10000"/>
            </a:schemeClr>
          </a:solidFill>
          <a:ln/>
        </p:spPr>
      </p:sp>
      <p:sp>
        <p:nvSpPr>
          <p:cNvPr id="17" name="Card title 1905"/>
          <p:cNvSpPr txBox="1"/>
          <p:nvPr/>
        </p:nvSpPr>
        <p:spPr>
          <a:xfrm>
            <a:off x="8280197" y="2898648"/>
            <a:ext cx="3179978"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Judgement</a:t>
            </a:r>
            <a:endParaRPr lang="en-US" sz="1700" dirty="0"/>
          </a:p>
        </p:txBody>
      </p:sp>
      <p:sp>
        <p:nvSpPr>
          <p:cNvPr id="18" name="Text 1906"/>
          <p:cNvSpPr txBox="1"/>
          <p:nvPr/>
        </p:nvSpPr>
        <p:spPr>
          <a:xfrm>
            <a:off x="8280197" y="3483864"/>
            <a:ext cx="3179978" cy="1609344"/>
          </a:xfrm>
          <a:prstGeom prst="rect">
            <a:avLst/>
          </a:prstGeom>
          <a:noFill/>
          <a:ln/>
        </p:spPr>
        <p:txBody>
          <a:bodyPr wrap="square" lIns="0" tIns="0" rIns="0" bIns="0" rtlCol="0" anchor="t"/>
          <a:lstStyle/>
          <a:p>
            <a:pPr algn="l" marL="190500" indent="-190500">
              <a:spcAft>
                <a:spcPts val="500"/>
              </a:spcAft>
              <a:buSzPct val="100000"/>
              <a:buChar char="•"/>
            </a:pPr>
            <a:r>
              <a:rPr lang="en-US" sz="1600" dirty="0">
                <a:solidFill>
                  <a:schemeClr val="tx1"/>
                </a:solidFill>
              </a:rPr>
              <a:t>Genuine but conditional</a:t>
            </a:r>
            <a:endParaRPr lang="en-US" sz="1600" dirty="0"/>
          </a:p>
          <a:p>
            <a:pPr algn="l" marL="190500" indent="-190500">
              <a:spcAft>
                <a:spcPts val="500"/>
              </a:spcAft>
              <a:buSzPct val="100000"/>
              <a:buChar char="•"/>
            </a:pPr>
            <a:r>
              <a:rPr lang="en-US" sz="1600" dirty="0">
                <a:solidFill>
                  <a:schemeClr val="tx1"/>
                </a:solidFill>
              </a:rPr>
              <a:t>Real in the west, fragile in the east</a:t>
            </a:r>
            <a:endParaRPr lang="en-US" sz="1600" dirty="0"/>
          </a:p>
          <a:p>
            <a:pPr algn="l" marL="190500" indent="-190500">
              <a:spcAft>
                <a:spcPts val="500"/>
              </a:spcAft>
              <a:buSzPct val="100000"/>
              <a:buChar char="•"/>
            </a:pPr>
            <a:r>
              <a:rPr lang="en-US" sz="1600" dirty="0">
                <a:solidFill>
                  <a:schemeClr val="tx1"/>
                </a:solidFill>
              </a:rPr>
              <a:t>Undone after 1929 (Rhineland 1936)</a:t>
            </a:r>
            <a:endParaRPr lang="en-US" sz="1600" dirty="0"/>
          </a:p>
        </p:txBody>
      </p:sp>
      <p:sp>
        <p:nvSpPr>
          <p:cNvPr id="19" name="Callout 1907"/>
          <p:cNvSpPr/>
          <p:nvPr/>
        </p:nvSpPr>
        <p:spPr>
          <a:xfrm>
            <a:off x="548640" y="5550408"/>
            <a:ext cx="11094415" cy="713232"/>
          </a:xfrm>
          <a:prstGeom prst="roundRect">
            <a:avLst>
              <a:gd name="adj" fmla="val 12821"/>
            </a:avLst>
          </a:prstGeom>
          <a:solidFill>
            <a:schemeClr val="accent4">
              <a:alpha val="20000"/>
            </a:schemeClr>
          </a:solidFill>
          <a:ln/>
        </p:spPr>
      </p:sp>
      <p:sp>
        <p:nvSpPr>
          <p:cNvPr id="20" name="Callout label 1908"/>
          <p:cNvSpPr/>
          <p:nvPr/>
        </p:nvSpPr>
        <p:spPr>
          <a:xfrm>
            <a:off x="731520" y="5751576"/>
            <a:ext cx="977581" cy="310896"/>
          </a:xfrm>
          <a:prstGeom prst="roundRect">
            <a:avLst>
              <a:gd name="adj" fmla="val 50000"/>
            </a:avLst>
          </a:prstGeom>
          <a:solidFill>
            <a:schemeClr val="accent4"/>
          </a:solidFill>
          <a:ln/>
        </p:spPr>
      </p:sp>
      <p:sp>
        <p:nvSpPr>
          <p:cNvPr id="21" name="Text 1909"/>
          <p:cNvSpPr txBox="1"/>
          <p:nvPr/>
        </p:nvSpPr>
        <p:spPr>
          <a:xfrm>
            <a:off x="731520" y="5751576"/>
            <a:ext cx="97758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EXAM TIP</a:t>
            </a:r>
            <a:endParaRPr lang="en-US" sz="1200" dirty="0"/>
          </a:p>
        </p:txBody>
      </p:sp>
      <p:sp>
        <p:nvSpPr>
          <p:cNvPr id="22" name="Text 1910"/>
          <p:cNvSpPr txBox="1"/>
          <p:nvPr/>
        </p:nvSpPr>
        <p:spPr>
          <a:xfrm>
            <a:off x="1891981" y="5623560"/>
            <a:ext cx="956819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Use criteria to judge: did it last? Did it change attitudes, or only the mood?</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chemeClr val="accent3"/>
        </a:solidFill>
      </p:bgPr>
    </p:bg>
    <p:spTree>
      <p:nvGrpSpPr>
        <p:cNvPr id="1" name=""/>
        <p:cNvGrpSpPr/>
        <p:nvPr/>
      </p:nvGrpSpPr>
      <p:grpSpPr>
        <a:xfrm>
          <a:off x="0" y="0"/>
          <a:ext cx="0" cy="0"/>
          <a:chOff x="0" y="0"/>
          <a:chExt cx="0" cy="0"/>
        </a:xfrm>
      </p:grpSpPr>
      <p:sp>
        <p:nvSpPr>
          <p:cNvPr id="2" name="Topic number 1911"/>
          <p:cNvSpPr/>
          <p:nvPr/>
        </p:nvSpPr>
        <p:spPr>
          <a:xfrm>
            <a:off x="548640" y="914400"/>
            <a:ext cx="1783080" cy="1783080"/>
          </a:xfrm>
          <a:prstGeom prst="ellipse">
            <a:avLst/>
          </a:prstGeom>
          <a:solidFill>
            <a:schemeClr val="bg1"/>
          </a:solidFill>
          <a:ln/>
        </p:spPr>
      </p:sp>
      <p:sp>
        <p:nvSpPr>
          <p:cNvPr id="3" name="Text 1912"/>
          <p:cNvSpPr txBox="1"/>
          <p:nvPr/>
        </p:nvSpPr>
        <p:spPr>
          <a:xfrm>
            <a:off x="548640" y="914400"/>
            <a:ext cx="1783080" cy="1783080"/>
          </a:xfrm>
          <a:prstGeom prst="rect">
            <a:avLst/>
          </a:prstGeom>
          <a:noFill/>
          <a:ln/>
        </p:spPr>
        <p:txBody>
          <a:bodyPr wrap="square" lIns="0" tIns="0" rIns="0" bIns="0" rtlCol="0" anchor="ctr"/>
          <a:lstStyle/>
          <a:p>
            <a:pPr algn="ctr" indent="0" marL="0">
              <a:spcAft>
                <a:spcPts val="600"/>
              </a:spcAft>
              <a:buNone/>
            </a:pPr>
            <a:r>
              <a:rPr lang="en-US" sz="7200" b="1" dirty="0">
                <a:solidFill>
                  <a:schemeClr val="accent3"/>
                </a:solidFill>
                <a:latin typeface="+mj-lt" pitchFamily="34" charset="0"/>
                <a:ea typeface="+mj-lt" pitchFamily="34" charset="-122"/>
                <a:cs typeface="+mj-lt" pitchFamily="34" charset="-120"/>
              </a:rPr>
              <a:t>3</a:t>
            </a:r>
            <a:endParaRPr lang="en-US" sz="7200" dirty="0"/>
          </a:p>
        </p:txBody>
      </p:sp>
      <p:sp>
        <p:nvSpPr>
          <p:cNvPr id="4" name="Text 0"/>
          <p:cNvSpPr/>
          <p:nvPr>
            <p:ph idx="100" type="title" hasCustomPrompt="1"/>
          </p:nvPr>
        </p:nvSpPr>
        <p:spPr>
          <a:xfrm>
            <a:off x="2788920" y="868680"/>
            <a:ext cx="8869680" cy="1737360"/>
          </a:xfrm>
          <a:prstGeom prst="rect">
            <a:avLst/>
          </a:prstGeom>
          <a:noFill/>
          <a:ln/>
        </p:spPr>
        <p:txBody>
          <a:bodyPr wrap="square" lIns="0" tIns="0" rIns="0" bIns="0" rtlCol="0" anchor="ctr"/>
          <a:lstStyle/>
          <a:p>
            <a:pPr algn="l" indent="0" marL="0">
              <a:buNone/>
            </a:pPr>
            <a:r>
              <a:rPr lang="en-US" sz="3400" b="1" dirty="0">
                <a:solidFill>
                  <a:schemeClr val="bg1"/>
                </a:solidFill>
              </a:rPr>
              <a:t>International history, 1929–39: the rise of extremism and the road to war</a:t>
            </a:r>
            <a:endParaRPr lang="en-US" sz="3400" dirty="0"/>
          </a:p>
        </p:txBody>
      </p:sp>
      <p:sp>
        <p:nvSpPr>
          <p:cNvPr id="5" name="Text 0"/>
          <p:cNvSpPr/>
          <p:nvPr>
            <p:ph idx="101" type="body" hasCustomPrompt="1"/>
          </p:nvPr>
        </p:nvSpPr>
        <p:spPr>
          <a:xfrm>
            <a:off x="2788920" y="2606040"/>
            <a:ext cx="8869680" cy="457200"/>
          </a:xfrm>
          <a:prstGeom prst="rect">
            <a:avLst/>
          </a:prstGeom>
          <a:noFill/>
          <a:ln/>
        </p:spPr>
        <p:txBody>
          <a:bodyPr wrap="square" lIns="0" tIns="0" rIns="0" bIns="0" rtlCol="0" anchor="ctr"/>
          <a:lstStyle/>
          <a:p>
            <a:pPr algn="l" indent="0" marL="0">
              <a:buNone/>
            </a:pPr>
            <a:r>
              <a:rPr lang="en-US" sz="1800" i="1" dirty="0">
                <a:solidFill>
                  <a:schemeClr val="bg1"/>
                </a:solidFill>
              </a:rPr>
              <a:t>Paper 2 · Outline Study (essay topic)</a:t>
            </a:r>
            <a:endParaRPr lang="en-US" sz="1800" dirty="0"/>
          </a:p>
        </p:txBody>
      </p:sp>
      <p:sp>
        <p:nvSpPr>
          <p:cNvPr id="6" name="KQ pill 1913"/>
          <p:cNvSpPr/>
          <p:nvPr/>
        </p:nvSpPr>
        <p:spPr>
          <a:xfrm>
            <a:off x="2788920" y="3502152"/>
            <a:ext cx="786384" cy="365760"/>
          </a:xfrm>
          <a:prstGeom prst="roundRect">
            <a:avLst>
              <a:gd name="adj" fmla="val 50000"/>
            </a:avLst>
          </a:prstGeom>
          <a:solidFill>
            <a:schemeClr val="bg1"/>
          </a:solidFill>
          <a:ln/>
        </p:spPr>
      </p:sp>
      <p:sp>
        <p:nvSpPr>
          <p:cNvPr id="7" name="Text 1914"/>
          <p:cNvSpPr txBox="1"/>
          <p:nvPr/>
        </p:nvSpPr>
        <p:spPr>
          <a:xfrm>
            <a:off x="2788920" y="350215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3"/>
                </a:solidFill>
              </a:rPr>
              <a:t>KQ1</a:t>
            </a:r>
            <a:endParaRPr lang="en-US" sz="1400" dirty="0"/>
          </a:p>
        </p:txBody>
      </p:sp>
      <p:sp>
        <p:nvSpPr>
          <p:cNvPr id="8" name="Text 1915"/>
          <p:cNvSpPr txBox="1"/>
          <p:nvPr/>
        </p:nvSpPr>
        <p:spPr>
          <a:xfrm>
            <a:off x="3749040" y="344728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How did the Depression and the rise of extremism affect international relations?</a:t>
            </a:r>
            <a:endParaRPr lang="en-US" sz="1700" dirty="0"/>
          </a:p>
        </p:txBody>
      </p:sp>
      <p:sp>
        <p:nvSpPr>
          <p:cNvPr id="9" name="KQ pill 1916"/>
          <p:cNvSpPr/>
          <p:nvPr/>
        </p:nvSpPr>
        <p:spPr>
          <a:xfrm>
            <a:off x="2788920" y="4210812"/>
            <a:ext cx="786384" cy="365760"/>
          </a:xfrm>
          <a:prstGeom prst="roundRect">
            <a:avLst>
              <a:gd name="adj" fmla="val 50000"/>
            </a:avLst>
          </a:prstGeom>
          <a:solidFill>
            <a:schemeClr val="bg1"/>
          </a:solidFill>
          <a:ln/>
        </p:spPr>
      </p:sp>
      <p:sp>
        <p:nvSpPr>
          <p:cNvPr id="10" name="Text 1917"/>
          <p:cNvSpPr txBox="1"/>
          <p:nvPr/>
        </p:nvSpPr>
        <p:spPr>
          <a:xfrm>
            <a:off x="2788920" y="421081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3"/>
                </a:solidFill>
              </a:rPr>
              <a:t>KQ2</a:t>
            </a:r>
            <a:endParaRPr lang="en-US" sz="1400" dirty="0"/>
          </a:p>
        </p:txBody>
      </p:sp>
      <p:sp>
        <p:nvSpPr>
          <p:cNvPr id="11" name="Text 1918"/>
          <p:cNvSpPr txBox="1"/>
          <p:nvPr/>
        </p:nvSpPr>
        <p:spPr>
          <a:xfrm>
            <a:off x="3749040" y="415594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did the League of Nations fail to keep the peace in the 1930s?</a:t>
            </a:r>
            <a:endParaRPr lang="en-US" sz="1700" dirty="0"/>
          </a:p>
        </p:txBody>
      </p:sp>
      <p:sp>
        <p:nvSpPr>
          <p:cNvPr id="12" name="KQ pill 1919"/>
          <p:cNvSpPr/>
          <p:nvPr/>
        </p:nvSpPr>
        <p:spPr>
          <a:xfrm>
            <a:off x="2788920" y="4919472"/>
            <a:ext cx="786384" cy="365760"/>
          </a:xfrm>
          <a:prstGeom prst="roundRect">
            <a:avLst>
              <a:gd name="adj" fmla="val 50000"/>
            </a:avLst>
          </a:prstGeom>
          <a:solidFill>
            <a:schemeClr val="bg1"/>
          </a:solidFill>
          <a:ln/>
        </p:spPr>
      </p:sp>
      <p:sp>
        <p:nvSpPr>
          <p:cNvPr id="13" name="Text 1920"/>
          <p:cNvSpPr txBox="1"/>
          <p:nvPr/>
        </p:nvSpPr>
        <p:spPr>
          <a:xfrm>
            <a:off x="2788920" y="491947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3"/>
                </a:solidFill>
              </a:rPr>
              <a:t>KQ3</a:t>
            </a:r>
            <a:endParaRPr lang="en-US" sz="1400" dirty="0"/>
          </a:p>
        </p:txBody>
      </p:sp>
      <p:sp>
        <p:nvSpPr>
          <p:cNvPr id="14" name="Text 1921"/>
          <p:cNvSpPr txBox="1"/>
          <p:nvPr/>
        </p:nvSpPr>
        <p:spPr>
          <a:xfrm>
            <a:off x="3749040" y="486460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did Britain and France follow a policy of appeasement?</a:t>
            </a:r>
            <a:endParaRPr lang="en-US" sz="1700" dirty="0"/>
          </a:p>
        </p:txBody>
      </p:sp>
      <p:sp>
        <p:nvSpPr>
          <p:cNvPr id="15" name="KQ pill 1922"/>
          <p:cNvSpPr/>
          <p:nvPr/>
        </p:nvSpPr>
        <p:spPr>
          <a:xfrm>
            <a:off x="2788920" y="5628132"/>
            <a:ext cx="786384" cy="365760"/>
          </a:xfrm>
          <a:prstGeom prst="roundRect">
            <a:avLst>
              <a:gd name="adj" fmla="val 50000"/>
            </a:avLst>
          </a:prstGeom>
          <a:solidFill>
            <a:schemeClr val="bg1"/>
          </a:solidFill>
          <a:ln/>
        </p:spPr>
      </p:sp>
      <p:sp>
        <p:nvSpPr>
          <p:cNvPr id="16" name="Text 1923"/>
          <p:cNvSpPr txBox="1"/>
          <p:nvPr/>
        </p:nvSpPr>
        <p:spPr>
          <a:xfrm>
            <a:off x="2788920" y="562813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3"/>
                </a:solidFill>
              </a:rPr>
              <a:t>KQ4</a:t>
            </a:r>
            <a:endParaRPr lang="en-US" sz="1400" dirty="0"/>
          </a:p>
        </p:txBody>
      </p:sp>
      <p:sp>
        <p:nvSpPr>
          <p:cNvPr id="17" name="Text 1924"/>
          <p:cNvSpPr txBox="1"/>
          <p:nvPr/>
        </p:nvSpPr>
        <p:spPr>
          <a:xfrm>
            <a:off x="3749040" y="5573268"/>
            <a:ext cx="7863840" cy="672084"/>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did war break out in Europe in 1939?</a:t>
            </a:r>
            <a:endParaRPr lang="en-US" sz="17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Kicker 1925"/>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TIMELINE (1 OF 2)</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dates, 1929–35</a:t>
            </a:r>
            <a:endParaRPr lang="en-US" sz="3400" dirty="0"/>
          </a:p>
        </p:txBody>
      </p:sp>
      <p:sp>
        <p:nvSpPr>
          <p:cNvPr id="4" name="Connector 1926"/>
          <p:cNvSpPr/>
          <p:nvPr/>
        </p:nvSpPr>
        <p:spPr>
          <a:xfrm>
            <a:off x="1257300" y="1856232"/>
            <a:ext cx="0" cy="295656"/>
          </a:xfrm>
          <a:prstGeom prst="line">
            <a:avLst/>
          </a:prstGeom>
          <a:noFill/>
          <a:ln w="15875">
            <a:solidFill>
              <a:schemeClr val="accent3"/>
            </a:solidFill>
            <a:prstDash val="solid"/>
          </a:ln>
        </p:spPr>
      </p:sp>
      <p:sp>
        <p:nvSpPr>
          <p:cNvPr id="5" name="Date pill 1927"/>
          <p:cNvSpPr/>
          <p:nvPr/>
        </p:nvSpPr>
        <p:spPr>
          <a:xfrm>
            <a:off x="548640" y="1527048"/>
            <a:ext cx="1417320" cy="329184"/>
          </a:xfrm>
          <a:prstGeom prst="roundRect">
            <a:avLst>
              <a:gd name="adj" fmla="val 50000"/>
            </a:avLst>
          </a:prstGeom>
          <a:solidFill>
            <a:schemeClr val="accent3"/>
          </a:solidFill>
          <a:ln/>
        </p:spPr>
      </p:sp>
      <p:sp>
        <p:nvSpPr>
          <p:cNvPr id="6" name="Text 1928"/>
          <p:cNvSpPr txBox="1"/>
          <p:nvPr/>
        </p:nvSpPr>
        <p:spPr>
          <a:xfrm>
            <a:off x="548640" y="152704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Oct 1929</a:t>
            </a:r>
            <a:endParaRPr lang="en-US" sz="1300" dirty="0"/>
          </a:p>
        </p:txBody>
      </p:sp>
      <p:sp>
        <p:nvSpPr>
          <p:cNvPr id="7" name="Text 1929"/>
          <p:cNvSpPr txBox="1"/>
          <p:nvPr/>
        </p:nvSpPr>
        <p:spPr>
          <a:xfrm>
            <a:off x="2130552" y="150876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Wall Street Crash</a:t>
            </a:r>
            <a:r>
              <a:rPr lang="en-US" sz="1400" dirty="0">
                <a:solidFill>
                  <a:schemeClr val="tx1"/>
                </a:solidFill>
              </a:rPr>
              <a:t> starts the Depression</a:t>
            </a:r>
            <a:endParaRPr lang="en-US" sz="1400" dirty="0"/>
          </a:p>
        </p:txBody>
      </p:sp>
      <p:sp>
        <p:nvSpPr>
          <p:cNvPr id="8" name="Connector 1930"/>
          <p:cNvSpPr/>
          <p:nvPr/>
        </p:nvSpPr>
        <p:spPr>
          <a:xfrm>
            <a:off x="1257300" y="2481072"/>
            <a:ext cx="0" cy="295656"/>
          </a:xfrm>
          <a:prstGeom prst="line">
            <a:avLst/>
          </a:prstGeom>
          <a:noFill/>
          <a:ln w="15875">
            <a:solidFill>
              <a:schemeClr val="accent3"/>
            </a:solidFill>
            <a:prstDash val="solid"/>
          </a:ln>
        </p:spPr>
      </p:sp>
      <p:sp>
        <p:nvSpPr>
          <p:cNvPr id="9" name="Date pill 1931"/>
          <p:cNvSpPr/>
          <p:nvPr/>
        </p:nvSpPr>
        <p:spPr>
          <a:xfrm>
            <a:off x="548640" y="2151888"/>
            <a:ext cx="1417320" cy="329184"/>
          </a:xfrm>
          <a:prstGeom prst="roundRect">
            <a:avLst>
              <a:gd name="adj" fmla="val 50000"/>
            </a:avLst>
          </a:prstGeom>
          <a:solidFill>
            <a:schemeClr val="accent3"/>
          </a:solidFill>
          <a:ln/>
        </p:spPr>
      </p:sp>
      <p:sp>
        <p:nvSpPr>
          <p:cNvPr id="10" name="Text 1932"/>
          <p:cNvSpPr txBox="1"/>
          <p:nvPr/>
        </p:nvSpPr>
        <p:spPr>
          <a:xfrm>
            <a:off x="548640" y="215188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Sept 1931</a:t>
            </a:r>
            <a:endParaRPr lang="en-US" sz="1300" dirty="0"/>
          </a:p>
        </p:txBody>
      </p:sp>
      <p:sp>
        <p:nvSpPr>
          <p:cNvPr id="11" name="Text 1933"/>
          <p:cNvSpPr txBox="1"/>
          <p:nvPr/>
        </p:nvSpPr>
        <p:spPr>
          <a:xfrm>
            <a:off x="2130552" y="213360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Mukden Incident</a:t>
            </a:r>
            <a:r>
              <a:rPr lang="en-US" sz="1400" dirty="0">
                <a:solidFill>
                  <a:schemeClr val="tx1"/>
                </a:solidFill>
              </a:rPr>
              <a:t>: Japan invades Manchuria</a:t>
            </a:r>
            <a:endParaRPr lang="en-US" sz="1400" dirty="0"/>
          </a:p>
        </p:txBody>
      </p:sp>
      <p:sp>
        <p:nvSpPr>
          <p:cNvPr id="12" name="Connector 1934"/>
          <p:cNvSpPr/>
          <p:nvPr/>
        </p:nvSpPr>
        <p:spPr>
          <a:xfrm>
            <a:off x="1257300" y="3105912"/>
            <a:ext cx="0" cy="295656"/>
          </a:xfrm>
          <a:prstGeom prst="line">
            <a:avLst/>
          </a:prstGeom>
          <a:noFill/>
          <a:ln w="15875">
            <a:solidFill>
              <a:schemeClr val="accent3"/>
            </a:solidFill>
            <a:prstDash val="solid"/>
          </a:ln>
        </p:spPr>
      </p:sp>
      <p:sp>
        <p:nvSpPr>
          <p:cNvPr id="13" name="Date pill 1935"/>
          <p:cNvSpPr/>
          <p:nvPr/>
        </p:nvSpPr>
        <p:spPr>
          <a:xfrm>
            <a:off x="548640" y="2776728"/>
            <a:ext cx="1417320" cy="329184"/>
          </a:xfrm>
          <a:prstGeom prst="roundRect">
            <a:avLst>
              <a:gd name="adj" fmla="val 50000"/>
            </a:avLst>
          </a:prstGeom>
          <a:solidFill>
            <a:schemeClr val="accent3"/>
          </a:solidFill>
          <a:ln/>
        </p:spPr>
      </p:sp>
      <p:sp>
        <p:nvSpPr>
          <p:cNvPr id="14" name="Text 1936"/>
          <p:cNvSpPr txBox="1"/>
          <p:nvPr/>
        </p:nvSpPr>
        <p:spPr>
          <a:xfrm>
            <a:off x="548640" y="277672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Feb 1932</a:t>
            </a:r>
            <a:endParaRPr lang="en-US" sz="1300" dirty="0"/>
          </a:p>
        </p:txBody>
      </p:sp>
      <p:sp>
        <p:nvSpPr>
          <p:cNvPr id="15" name="Text 1937"/>
          <p:cNvSpPr txBox="1"/>
          <p:nvPr/>
        </p:nvSpPr>
        <p:spPr>
          <a:xfrm>
            <a:off x="2130552" y="275844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World Disarmament Conference</a:t>
            </a:r>
            <a:r>
              <a:rPr lang="en-US" sz="1400" dirty="0">
                <a:solidFill>
                  <a:schemeClr val="tx1"/>
                </a:solidFill>
              </a:rPr>
              <a:t> opens</a:t>
            </a:r>
            <a:endParaRPr lang="en-US" sz="1400" dirty="0"/>
          </a:p>
        </p:txBody>
      </p:sp>
      <p:sp>
        <p:nvSpPr>
          <p:cNvPr id="16" name="Connector 1938"/>
          <p:cNvSpPr/>
          <p:nvPr/>
        </p:nvSpPr>
        <p:spPr>
          <a:xfrm>
            <a:off x="1257300" y="3730752"/>
            <a:ext cx="0" cy="295656"/>
          </a:xfrm>
          <a:prstGeom prst="line">
            <a:avLst/>
          </a:prstGeom>
          <a:noFill/>
          <a:ln w="15875">
            <a:solidFill>
              <a:schemeClr val="accent3"/>
            </a:solidFill>
            <a:prstDash val="solid"/>
          </a:ln>
        </p:spPr>
      </p:sp>
      <p:sp>
        <p:nvSpPr>
          <p:cNvPr id="17" name="Date pill 1939"/>
          <p:cNvSpPr/>
          <p:nvPr/>
        </p:nvSpPr>
        <p:spPr>
          <a:xfrm>
            <a:off x="548640" y="3401568"/>
            <a:ext cx="1417320" cy="329184"/>
          </a:xfrm>
          <a:prstGeom prst="roundRect">
            <a:avLst>
              <a:gd name="adj" fmla="val 50000"/>
            </a:avLst>
          </a:prstGeom>
          <a:solidFill>
            <a:schemeClr val="accent3"/>
          </a:solidFill>
          <a:ln/>
        </p:spPr>
      </p:sp>
      <p:sp>
        <p:nvSpPr>
          <p:cNvPr id="18" name="Text 1940"/>
          <p:cNvSpPr txBox="1"/>
          <p:nvPr/>
        </p:nvSpPr>
        <p:spPr>
          <a:xfrm>
            <a:off x="548640" y="340156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Jan 1933</a:t>
            </a:r>
            <a:endParaRPr lang="en-US" sz="1300" dirty="0"/>
          </a:p>
        </p:txBody>
      </p:sp>
      <p:sp>
        <p:nvSpPr>
          <p:cNvPr id="19" name="Text 1941"/>
          <p:cNvSpPr txBox="1"/>
          <p:nvPr/>
        </p:nvSpPr>
        <p:spPr>
          <a:xfrm>
            <a:off x="2130552" y="338328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Hitler</a:t>
            </a:r>
            <a:r>
              <a:rPr lang="en-US" sz="1400" dirty="0">
                <a:solidFill>
                  <a:schemeClr val="tx1"/>
                </a:solidFill>
              </a:rPr>
              <a:t> becomes German Chancellor</a:t>
            </a:r>
            <a:endParaRPr lang="en-US" sz="1400" dirty="0"/>
          </a:p>
        </p:txBody>
      </p:sp>
      <p:sp>
        <p:nvSpPr>
          <p:cNvPr id="20" name="Connector 1942"/>
          <p:cNvSpPr/>
          <p:nvPr/>
        </p:nvSpPr>
        <p:spPr>
          <a:xfrm>
            <a:off x="1257300" y="4355592"/>
            <a:ext cx="0" cy="295656"/>
          </a:xfrm>
          <a:prstGeom prst="line">
            <a:avLst/>
          </a:prstGeom>
          <a:noFill/>
          <a:ln w="15875">
            <a:solidFill>
              <a:schemeClr val="accent3"/>
            </a:solidFill>
            <a:prstDash val="solid"/>
          </a:ln>
        </p:spPr>
      </p:sp>
      <p:sp>
        <p:nvSpPr>
          <p:cNvPr id="21" name="Date pill 1943"/>
          <p:cNvSpPr/>
          <p:nvPr/>
        </p:nvSpPr>
        <p:spPr>
          <a:xfrm>
            <a:off x="548640" y="4026408"/>
            <a:ext cx="1417320" cy="329184"/>
          </a:xfrm>
          <a:prstGeom prst="roundRect">
            <a:avLst>
              <a:gd name="adj" fmla="val 50000"/>
            </a:avLst>
          </a:prstGeom>
          <a:solidFill>
            <a:schemeClr val="accent3"/>
          </a:solidFill>
          <a:ln/>
        </p:spPr>
      </p:sp>
      <p:sp>
        <p:nvSpPr>
          <p:cNvPr id="22" name="Text 1944"/>
          <p:cNvSpPr txBox="1"/>
          <p:nvPr/>
        </p:nvSpPr>
        <p:spPr>
          <a:xfrm>
            <a:off x="548640" y="402640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Feb–Mar 1933</a:t>
            </a:r>
            <a:endParaRPr lang="en-US" sz="1300" dirty="0"/>
          </a:p>
        </p:txBody>
      </p:sp>
      <p:sp>
        <p:nvSpPr>
          <p:cNvPr id="23" name="Text 1945"/>
          <p:cNvSpPr txBox="1"/>
          <p:nvPr/>
        </p:nvSpPr>
        <p:spPr>
          <a:xfrm>
            <a:off x="2130552" y="400812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League accepts </a:t>
            </a:r>
            <a:r>
              <a:rPr lang="en-US" sz="1400" b="1" dirty="0">
                <a:solidFill>
                  <a:schemeClr val="tx1"/>
                </a:solidFill>
              </a:rPr>
              <a:t>Lytton Report</a:t>
            </a:r>
            <a:r>
              <a:rPr lang="en-US" sz="1400" dirty="0">
                <a:solidFill>
                  <a:schemeClr val="tx1"/>
                </a:solidFill>
              </a:rPr>
              <a:t>; Japan leaves</a:t>
            </a:r>
            <a:endParaRPr lang="en-US" sz="1400" dirty="0"/>
          </a:p>
        </p:txBody>
      </p:sp>
      <p:sp>
        <p:nvSpPr>
          <p:cNvPr id="24" name="Date pill 1946"/>
          <p:cNvSpPr/>
          <p:nvPr/>
        </p:nvSpPr>
        <p:spPr>
          <a:xfrm>
            <a:off x="548640" y="4651248"/>
            <a:ext cx="1417320" cy="329184"/>
          </a:xfrm>
          <a:prstGeom prst="roundRect">
            <a:avLst>
              <a:gd name="adj" fmla="val 50000"/>
            </a:avLst>
          </a:prstGeom>
          <a:solidFill>
            <a:schemeClr val="accent3"/>
          </a:solidFill>
          <a:ln/>
        </p:spPr>
      </p:sp>
      <p:sp>
        <p:nvSpPr>
          <p:cNvPr id="25" name="Text 1947"/>
          <p:cNvSpPr txBox="1"/>
          <p:nvPr/>
        </p:nvSpPr>
        <p:spPr>
          <a:xfrm>
            <a:off x="548640" y="465124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Oct 1933</a:t>
            </a:r>
            <a:endParaRPr lang="en-US" sz="1300" dirty="0"/>
          </a:p>
        </p:txBody>
      </p:sp>
      <p:sp>
        <p:nvSpPr>
          <p:cNvPr id="26" name="Text 1948"/>
          <p:cNvSpPr txBox="1"/>
          <p:nvPr/>
        </p:nvSpPr>
        <p:spPr>
          <a:xfrm>
            <a:off x="2130552" y="463296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Germany leaves the </a:t>
            </a:r>
            <a:r>
              <a:rPr lang="en-US" sz="1400" b="1" dirty="0">
                <a:solidFill>
                  <a:schemeClr val="tx1"/>
                </a:solidFill>
              </a:rPr>
              <a:t>Conference and the League</a:t>
            </a:r>
            <a:endParaRPr lang="en-US" sz="1400" dirty="0"/>
          </a:p>
        </p:txBody>
      </p:sp>
      <p:sp>
        <p:nvSpPr>
          <p:cNvPr id="27" name="Connector 1949"/>
          <p:cNvSpPr/>
          <p:nvPr/>
        </p:nvSpPr>
        <p:spPr>
          <a:xfrm>
            <a:off x="6987388" y="1856232"/>
            <a:ext cx="0" cy="295656"/>
          </a:xfrm>
          <a:prstGeom prst="line">
            <a:avLst/>
          </a:prstGeom>
          <a:noFill/>
          <a:ln w="15875">
            <a:solidFill>
              <a:schemeClr val="accent3"/>
            </a:solidFill>
            <a:prstDash val="solid"/>
          </a:ln>
        </p:spPr>
      </p:sp>
      <p:sp>
        <p:nvSpPr>
          <p:cNvPr id="28" name="Date pill 1950"/>
          <p:cNvSpPr/>
          <p:nvPr/>
        </p:nvSpPr>
        <p:spPr>
          <a:xfrm>
            <a:off x="6278728" y="1527048"/>
            <a:ext cx="1417320" cy="329184"/>
          </a:xfrm>
          <a:prstGeom prst="roundRect">
            <a:avLst>
              <a:gd name="adj" fmla="val 50000"/>
            </a:avLst>
          </a:prstGeom>
          <a:solidFill>
            <a:schemeClr val="accent3"/>
          </a:solidFill>
          <a:ln/>
        </p:spPr>
      </p:sp>
      <p:sp>
        <p:nvSpPr>
          <p:cNvPr id="29" name="Text 1951"/>
          <p:cNvSpPr txBox="1"/>
          <p:nvPr/>
        </p:nvSpPr>
        <p:spPr>
          <a:xfrm>
            <a:off x="6278728" y="152704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July 1934</a:t>
            </a:r>
            <a:endParaRPr lang="en-US" sz="1300" dirty="0"/>
          </a:p>
        </p:txBody>
      </p:sp>
      <p:sp>
        <p:nvSpPr>
          <p:cNvPr id="30" name="Text 1952"/>
          <p:cNvSpPr txBox="1"/>
          <p:nvPr/>
        </p:nvSpPr>
        <p:spPr>
          <a:xfrm>
            <a:off x="7860640" y="150876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Nazis murder </a:t>
            </a:r>
            <a:r>
              <a:rPr lang="en-US" sz="1400" b="1" dirty="0">
                <a:solidFill>
                  <a:schemeClr val="tx1"/>
                </a:solidFill>
              </a:rPr>
              <a:t>Dollfuss</a:t>
            </a:r>
            <a:r>
              <a:rPr lang="en-US" sz="1400" dirty="0">
                <a:solidFill>
                  <a:schemeClr val="tx1"/>
                </a:solidFill>
              </a:rPr>
              <a:t>; Mussolini guards Austria</a:t>
            </a:r>
            <a:endParaRPr lang="en-US" sz="1400" dirty="0"/>
          </a:p>
        </p:txBody>
      </p:sp>
      <p:sp>
        <p:nvSpPr>
          <p:cNvPr id="31" name="Connector 1953"/>
          <p:cNvSpPr/>
          <p:nvPr/>
        </p:nvSpPr>
        <p:spPr>
          <a:xfrm>
            <a:off x="6987388" y="2481072"/>
            <a:ext cx="0" cy="295656"/>
          </a:xfrm>
          <a:prstGeom prst="line">
            <a:avLst/>
          </a:prstGeom>
          <a:noFill/>
          <a:ln w="15875">
            <a:solidFill>
              <a:schemeClr val="accent3"/>
            </a:solidFill>
            <a:prstDash val="solid"/>
          </a:ln>
        </p:spPr>
      </p:sp>
      <p:sp>
        <p:nvSpPr>
          <p:cNvPr id="32" name="Date pill 1954"/>
          <p:cNvSpPr/>
          <p:nvPr/>
        </p:nvSpPr>
        <p:spPr>
          <a:xfrm>
            <a:off x="6278728" y="2151888"/>
            <a:ext cx="1417320" cy="329184"/>
          </a:xfrm>
          <a:prstGeom prst="roundRect">
            <a:avLst>
              <a:gd name="adj" fmla="val 50000"/>
            </a:avLst>
          </a:prstGeom>
          <a:solidFill>
            <a:schemeClr val="accent3"/>
          </a:solidFill>
          <a:ln/>
        </p:spPr>
      </p:sp>
      <p:sp>
        <p:nvSpPr>
          <p:cNvPr id="33" name="Text 1955"/>
          <p:cNvSpPr txBox="1"/>
          <p:nvPr/>
        </p:nvSpPr>
        <p:spPr>
          <a:xfrm>
            <a:off x="6278728" y="215188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Sept 1934</a:t>
            </a:r>
            <a:endParaRPr lang="en-US" sz="1300" dirty="0"/>
          </a:p>
        </p:txBody>
      </p:sp>
      <p:sp>
        <p:nvSpPr>
          <p:cNvPr id="34" name="Text 1956"/>
          <p:cNvSpPr txBox="1"/>
          <p:nvPr/>
        </p:nvSpPr>
        <p:spPr>
          <a:xfrm>
            <a:off x="7860640" y="213360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USSR joins</a:t>
            </a:r>
            <a:r>
              <a:rPr lang="en-US" sz="1400" dirty="0">
                <a:solidFill>
                  <a:schemeClr val="tx1"/>
                </a:solidFill>
              </a:rPr>
              <a:t> the League</a:t>
            </a:r>
            <a:endParaRPr lang="en-US" sz="1400" dirty="0"/>
          </a:p>
        </p:txBody>
      </p:sp>
      <p:sp>
        <p:nvSpPr>
          <p:cNvPr id="35" name="Connector 1957"/>
          <p:cNvSpPr/>
          <p:nvPr/>
        </p:nvSpPr>
        <p:spPr>
          <a:xfrm>
            <a:off x="6987388" y="3105912"/>
            <a:ext cx="0" cy="295656"/>
          </a:xfrm>
          <a:prstGeom prst="line">
            <a:avLst/>
          </a:prstGeom>
          <a:noFill/>
          <a:ln w="15875">
            <a:solidFill>
              <a:schemeClr val="accent3"/>
            </a:solidFill>
            <a:prstDash val="solid"/>
          </a:ln>
        </p:spPr>
      </p:sp>
      <p:sp>
        <p:nvSpPr>
          <p:cNvPr id="36" name="Date pill 1958"/>
          <p:cNvSpPr/>
          <p:nvPr/>
        </p:nvSpPr>
        <p:spPr>
          <a:xfrm>
            <a:off x="6278728" y="2776728"/>
            <a:ext cx="1417320" cy="329184"/>
          </a:xfrm>
          <a:prstGeom prst="roundRect">
            <a:avLst>
              <a:gd name="adj" fmla="val 50000"/>
            </a:avLst>
          </a:prstGeom>
          <a:solidFill>
            <a:schemeClr val="accent3"/>
          </a:solidFill>
          <a:ln/>
        </p:spPr>
      </p:sp>
      <p:sp>
        <p:nvSpPr>
          <p:cNvPr id="37" name="Text 1959"/>
          <p:cNvSpPr txBox="1"/>
          <p:nvPr/>
        </p:nvSpPr>
        <p:spPr>
          <a:xfrm>
            <a:off x="6278728" y="277672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Mar 1935</a:t>
            </a:r>
            <a:endParaRPr lang="en-US" sz="1300" dirty="0"/>
          </a:p>
        </p:txBody>
      </p:sp>
      <p:sp>
        <p:nvSpPr>
          <p:cNvPr id="38" name="Text 1960"/>
          <p:cNvSpPr txBox="1"/>
          <p:nvPr/>
        </p:nvSpPr>
        <p:spPr>
          <a:xfrm>
            <a:off x="7860640" y="275844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Hitler announces </a:t>
            </a:r>
            <a:r>
              <a:rPr lang="en-US" sz="1400" b="1" dirty="0">
                <a:solidFill>
                  <a:schemeClr val="tx1"/>
                </a:solidFill>
              </a:rPr>
              <a:t>conscription</a:t>
            </a:r>
            <a:r>
              <a:rPr lang="en-US" sz="1400" dirty="0">
                <a:solidFill>
                  <a:schemeClr val="tx1"/>
                </a:solidFill>
              </a:rPr>
              <a:t> and an air force</a:t>
            </a:r>
            <a:endParaRPr lang="en-US" sz="1400" dirty="0"/>
          </a:p>
        </p:txBody>
      </p:sp>
      <p:sp>
        <p:nvSpPr>
          <p:cNvPr id="39" name="Connector 1961"/>
          <p:cNvSpPr/>
          <p:nvPr/>
        </p:nvSpPr>
        <p:spPr>
          <a:xfrm>
            <a:off x="6987388" y="3730752"/>
            <a:ext cx="0" cy="295656"/>
          </a:xfrm>
          <a:prstGeom prst="line">
            <a:avLst/>
          </a:prstGeom>
          <a:noFill/>
          <a:ln w="15875">
            <a:solidFill>
              <a:schemeClr val="accent3"/>
            </a:solidFill>
            <a:prstDash val="solid"/>
          </a:ln>
        </p:spPr>
      </p:sp>
      <p:sp>
        <p:nvSpPr>
          <p:cNvPr id="40" name="Date pill 1962"/>
          <p:cNvSpPr/>
          <p:nvPr/>
        </p:nvSpPr>
        <p:spPr>
          <a:xfrm>
            <a:off x="6278728" y="3401568"/>
            <a:ext cx="1417320" cy="329184"/>
          </a:xfrm>
          <a:prstGeom prst="roundRect">
            <a:avLst>
              <a:gd name="adj" fmla="val 50000"/>
            </a:avLst>
          </a:prstGeom>
          <a:solidFill>
            <a:schemeClr val="accent3"/>
          </a:solidFill>
          <a:ln/>
        </p:spPr>
      </p:sp>
      <p:sp>
        <p:nvSpPr>
          <p:cNvPr id="41" name="Text 1963"/>
          <p:cNvSpPr txBox="1"/>
          <p:nvPr/>
        </p:nvSpPr>
        <p:spPr>
          <a:xfrm>
            <a:off x="6278728" y="340156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Apr–Jun 1935</a:t>
            </a:r>
            <a:endParaRPr lang="en-US" sz="1300" dirty="0"/>
          </a:p>
        </p:txBody>
      </p:sp>
      <p:sp>
        <p:nvSpPr>
          <p:cNvPr id="42" name="Text 1964"/>
          <p:cNvSpPr txBox="1"/>
          <p:nvPr/>
        </p:nvSpPr>
        <p:spPr>
          <a:xfrm>
            <a:off x="7860640" y="338328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Stresa Front</a:t>
            </a:r>
            <a:r>
              <a:rPr lang="en-US" sz="1400" dirty="0">
                <a:solidFill>
                  <a:schemeClr val="tx1"/>
                </a:solidFill>
              </a:rPr>
              <a:t>; </a:t>
            </a:r>
            <a:r>
              <a:rPr lang="en-US" sz="1400" b="1" dirty="0">
                <a:solidFill>
                  <a:schemeClr val="tx1"/>
                </a:solidFill>
              </a:rPr>
              <a:t>Anglo-German Naval Agreement</a:t>
            </a:r>
            <a:endParaRPr lang="en-US" sz="1400" dirty="0"/>
          </a:p>
        </p:txBody>
      </p:sp>
      <p:sp>
        <p:nvSpPr>
          <p:cNvPr id="43" name="Connector 1965"/>
          <p:cNvSpPr/>
          <p:nvPr/>
        </p:nvSpPr>
        <p:spPr>
          <a:xfrm>
            <a:off x="6987388" y="4355592"/>
            <a:ext cx="0" cy="295656"/>
          </a:xfrm>
          <a:prstGeom prst="line">
            <a:avLst/>
          </a:prstGeom>
          <a:noFill/>
          <a:ln w="15875">
            <a:solidFill>
              <a:schemeClr val="accent3"/>
            </a:solidFill>
            <a:prstDash val="solid"/>
          </a:ln>
        </p:spPr>
      </p:sp>
      <p:sp>
        <p:nvSpPr>
          <p:cNvPr id="44" name="Date pill 1966"/>
          <p:cNvSpPr/>
          <p:nvPr/>
        </p:nvSpPr>
        <p:spPr>
          <a:xfrm>
            <a:off x="6278728" y="4026408"/>
            <a:ext cx="1417320" cy="329184"/>
          </a:xfrm>
          <a:prstGeom prst="roundRect">
            <a:avLst>
              <a:gd name="adj" fmla="val 50000"/>
            </a:avLst>
          </a:prstGeom>
          <a:solidFill>
            <a:schemeClr val="accent3"/>
          </a:solidFill>
          <a:ln/>
        </p:spPr>
      </p:sp>
      <p:sp>
        <p:nvSpPr>
          <p:cNvPr id="45" name="Text 1967"/>
          <p:cNvSpPr txBox="1"/>
          <p:nvPr/>
        </p:nvSpPr>
        <p:spPr>
          <a:xfrm>
            <a:off x="6278728" y="402640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Oct 1935</a:t>
            </a:r>
            <a:endParaRPr lang="en-US" sz="1300" dirty="0"/>
          </a:p>
        </p:txBody>
      </p:sp>
      <p:sp>
        <p:nvSpPr>
          <p:cNvPr id="46" name="Text 1968"/>
          <p:cNvSpPr txBox="1"/>
          <p:nvPr/>
        </p:nvSpPr>
        <p:spPr>
          <a:xfrm>
            <a:off x="7860640" y="400812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Italy invades Abyssinia</a:t>
            </a:r>
            <a:endParaRPr lang="en-US" sz="1400" dirty="0"/>
          </a:p>
        </p:txBody>
      </p:sp>
      <p:sp>
        <p:nvSpPr>
          <p:cNvPr id="47" name="Date pill 1969"/>
          <p:cNvSpPr/>
          <p:nvPr/>
        </p:nvSpPr>
        <p:spPr>
          <a:xfrm>
            <a:off x="6278728" y="4651248"/>
            <a:ext cx="1417320" cy="329184"/>
          </a:xfrm>
          <a:prstGeom prst="roundRect">
            <a:avLst>
              <a:gd name="adj" fmla="val 50000"/>
            </a:avLst>
          </a:prstGeom>
          <a:solidFill>
            <a:schemeClr val="accent3"/>
          </a:solidFill>
          <a:ln/>
        </p:spPr>
      </p:sp>
      <p:sp>
        <p:nvSpPr>
          <p:cNvPr id="48" name="Text 1970"/>
          <p:cNvSpPr txBox="1"/>
          <p:nvPr/>
        </p:nvSpPr>
        <p:spPr>
          <a:xfrm>
            <a:off x="6278728" y="465124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Dec 1935</a:t>
            </a:r>
            <a:endParaRPr lang="en-US" sz="1300" dirty="0"/>
          </a:p>
        </p:txBody>
      </p:sp>
      <p:sp>
        <p:nvSpPr>
          <p:cNvPr id="49" name="Text 1971"/>
          <p:cNvSpPr txBox="1"/>
          <p:nvPr/>
        </p:nvSpPr>
        <p:spPr>
          <a:xfrm>
            <a:off x="7860640" y="463296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Hoare–Laval Pact</a:t>
            </a:r>
            <a:r>
              <a:rPr lang="en-US" sz="1400" dirty="0">
                <a:solidFill>
                  <a:schemeClr val="tx1"/>
                </a:solidFill>
              </a:rPr>
              <a:t> leaks</a:t>
            </a:r>
            <a:endParaRPr lang="en-US" sz="1400" dirty="0"/>
          </a:p>
        </p:txBody>
      </p:sp>
      <p:sp>
        <p:nvSpPr>
          <p:cNvPr id="50" name="Callout 1972"/>
          <p:cNvSpPr/>
          <p:nvPr/>
        </p:nvSpPr>
        <p:spPr>
          <a:xfrm>
            <a:off x="548640" y="5550408"/>
            <a:ext cx="11094415" cy="713232"/>
          </a:xfrm>
          <a:prstGeom prst="roundRect">
            <a:avLst>
              <a:gd name="adj" fmla="val 12821"/>
            </a:avLst>
          </a:prstGeom>
          <a:solidFill>
            <a:schemeClr val="accent4">
              <a:alpha val="20000"/>
            </a:schemeClr>
          </a:solidFill>
          <a:ln/>
        </p:spPr>
      </p:sp>
      <p:sp>
        <p:nvSpPr>
          <p:cNvPr id="51" name="Callout label 1973"/>
          <p:cNvSpPr/>
          <p:nvPr/>
        </p:nvSpPr>
        <p:spPr>
          <a:xfrm>
            <a:off x="731520" y="5751576"/>
            <a:ext cx="1190135" cy="310896"/>
          </a:xfrm>
          <a:prstGeom prst="roundRect">
            <a:avLst>
              <a:gd name="adj" fmla="val 50000"/>
            </a:avLst>
          </a:prstGeom>
          <a:solidFill>
            <a:schemeClr val="accent4"/>
          </a:solidFill>
          <a:ln/>
        </p:spPr>
      </p:sp>
      <p:sp>
        <p:nvSpPr>
          <p:cNvPr id="52" name="Text 1974"/>
          <p:cNvSpPr txBox="1"/>
          <p:nvPr/>
        </p:nvSpPr>
        <p:spPr>
          <a:xfrm>
            <a:off x="731520" y="5751576"/>
            <a:ext cx="1190135"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BIG PICTURE</a:t>
            </a:r>
            <a:endParaRPr lang="en-US" sz="1200" dirty="0"/>
          </a:p>
        </p:txBody>
      </p:sp>
      <p:sp>
        <p:nvSpPr>
          <p:cNvPr id="53" name="Text 1975"/>
          <p:cNvSpPr txBox="1"/>
          <p:nvPr/>
        </p:nvSpPr>
        <p:spPr>
          <a:xfrm>
            <a:off x="2104535" y="5623560"/>
            <a:ext cx="9355640"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1929–35: the Depression brought extremists to power — and Manchuria and Abyssinia showed the League could not stop great powers.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Kicker 197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TIMELINE (2 OF 2)</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dates, 1936–39</a:t>
            </a:r>
            <a:endParaRPr lang="en-US" sz="3400" dirty="0"/>
          </a:p>
        </p:txBody>
      </p:sp>
      <p:sp>
        <p:nvSpPr>
          <p:cNvPr id="4" name="Connector 1977"/>
          <p:cNvSpPr/>
          <p:nvPr/>
        </p:nvSpPr>
        <p:spPr>
          <a:xfrm>
            <a:off x="1257300" y="1856232"/>
            <a:ext cx="0" cy="295656"/>
          </a:xfrm>
          <a:prstGeom prst="line">
            <a:avLst/>
          </a:prstGeom>
          <a:noFill/>
          <a:ln w="15875">
            <a:solidFill>
              <a:schemeClr val="accent3"/>
            </a:solidFill>
            <a:prstDash val="solid"/>
          </a:ln>
        </p:spPr>
      </p:sp>
      <p:sp>
        <p:nvSpPr>
          <p:cNvPr id="5" name="Date pill 1978"/>
          <p:cNvSpPr/>
          <p:nvPr/>
        </p:nvSpPr>
        <p:spPr>
          <a:xfrm>
            <a:off x="548640" y="1527048"/>
            <a:ext cx="1417320" cy="329184"/>
          </a:xfrm>
          <a:prstGeom prst="roundRect">
            <a:avLst>
              <a:gd name="adj" fmla="val 50000"/>
            </a:avLst>
          </a:prstGeom>
          <a:solidFill>
            <a:schemeClr val="accent3"/>
          </a:solidFill>
          <a:ln/>
        </p:spPr>
      </p:sp>
      <p:sp>
        <p:nvSpPr>
          <p:cNvPr id="6" name="Text 1979"/>
          <p:cNvSpPr txBox="1"/>
          <p:nvPr/>
        </p:nvSpPr>
        <p:spPr>
          <a:xfrm>
            <a:off x="548640" y="152704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Mar 1936</a:t>
            </a:r>
            <a:endParaRPr lang="en-US" sz="1300" dirty="0"/>
          </a:p>
        </p:txBody>
      </p:sp>
      <p:sp>
        <p:nvSpPr>
          <p:cNvPr id="7" name="Text 1980"/>
          <p:cNvSpPr txBox="1"/>
          <p:nvPr/>
        </p:nvSpPr>
        <p:spPr>
          <a:xfrm>
            <a:off x="2130552" y="150876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Germany </a:t>
            </a:r>
            <a:r>
              <a:rPr lang="en-US" sz="1400" b="1" dirty="0">
                <a:solidFill>
                  <a:schemeClr val="tx1"/>
                </a:solidFill>
              </a:rPr>
              <a:t>remilitarises the Rhineland</a:t>
            </a:r>
            <a:endParaRPr lang="en-US" sz="1400" dirty="0"/>
          </a:p>
        </p:txBody>
      </p:sp>
      <p:sp>
        <p:nvSpPr>
          <p:cNvPr id="8" name="Connector 1981"/>
          <p:cNvSpPr/>
          <p:nvPr/>
        </p:nvSpPr>
        <p:spPr>
          <a:xfrm>
            <a:off x="1257300" y="2481072"/>
            <a:ext cx="0" cy="295656"/>
          </a:xfrm>
          <a:prstGeom prst="line">
            <a:avLst/>
          </a:prstGeom>
          <a:noFill/>
          <a:ln w="15875">
            <a:solidFill>
              <a:schemeClr val="accent3"/>
            </a:solidFill>
            <a:prstDash val="solid"/>
          </a:ln>
        </p:spPr>
      </p:sp>
      <p:sp>
        <p:nvSpPr>
          <p:cNvPr id="9" name="Date pill 1982"/>
          <p:cNvSpPr/>
          <p:nvPr/>
        </p:nvSpPr>
        <p:spPr>
          <a:xfrm>
            <a:off x="548640" y="2151888"/>
            <a:ext cx="1417320" cy="329184"/>
          </a:xfrm>
          <a:prstGeom prst="roundRect">
            <a:avLst>
              <a:gd name="adj" fmla="val 50000"/>
            </a:avLst>
          </a:prstGeom>
          <a:solidFill>
            <a:schemeClr val="accent3"/>
          </a:solidFill>
          <a:ln/>
        </p:spPr>
      </p:sp>
      <p:sp>
        <p:nvSpPr>
          <p:cNvPr id="10" name="Text 1983"/>
          <p:cNvSpPr txBox="1"/>
          <p:nvPr/>
        </p:nvSpPr>
        <p:spPr>
          <a:xfrm>
            <a:off x="548640" y="215188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July 1936</a:t>
            </a:r>
            <a:endParaRPr lang="en-US" sz="1300" dirty="0"/>
          </a:p>
        </p:txBody>
      </p:sp>
      <p:sp>
        <p:nvSpPr>
          <p:cNvPr id="11" name="Text 1984"/>
          <p:cNvSpPr txBox="1"/>
          <p:nvPr/>
        </p:nvSpPr>
        <p:spPr>
          <a:xfrm>
            <a:off x="2130552" y="213360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Spanish Civil War</a:t>
            </a:r>
            <a:r>
              <a:rPr lang="en-US" sz="1400" dirty="0">
                <a:solidFill>
                  <a:schemeClr val="tx1"/>
                </a:solidFill>
              </a:rPr>
              <a:t> begins</a:t>
            </a:r>
            <a:endParaRPr lang="en-US" sz="1400" dirty="0"/>
          </a:p>
        </p:txBody>
      </p:sp>
      <p:sp>
        <p:nvSpPr>
          <p:cNvPr id="12" name="Connector 1985"/>
          <p:cNvSpPr/>
          <p:nvPr/>
        </p:nvSpPr>
        <p:spPr>
          <a:xfrm>
            <a:off x="1257300" y="3105912"/>
            <a:ext cx="0" cy="295656"/>
          </a:xfrm>
          <a:prstGeom prst="line">
            <a:avLst/>
          </a:prstGeom>
          <a:noFill/>
          <a:ln w="15875">
            <a:solidFill>
              <a:schemeClr val="accent3"/>
            </a:solidFill>
            <a:prstDash val="solid"/>
          </a:ln>
        </p:spPr>
      </p:sp>
      <p:sp>
        <p:nvSpPr>
          <p:cNvPr id="13" name="Date pill 1986"/>
          <p:cNvSpPr/>
          <p:nvPr/>
        </p:nvSpPr>
        <p:spPr>
          <a:xfrm>
            <a:off x="548640" y="2776728"/>
            <a:ext cx="1417320" cy="329184"/>
          </a:xfrm>
          <a:prstGeom prst="roundRect">
            <a:avLst>
              <a:gd name="adj" fmla="val 50000"/>
            </a:avLst>
          </a:prstGeom>
          <a:solidFill>
            <a:schemeClr val="accent3"/>
          </a:solidFill>
          <a:ln/>
        </p:spPr>
      </p:sp>
      <p:sp>
        <p:nvSpPr>
          <p:cNvPr id="14" name="Text 1987"/>
          <p:cNvSpPr txBox="1"/>
          <p:nvPr/>
        </p:nvSpPr>
        <p:spPr>
          <a:xfrm>
            <a:off x="548640" y="277672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Oct–Nov 1936</a:t>
            </a:r>
            <a:endParaRPr lang="en-US" sz="1300" dirty="0"/>
          </a:p>
        </p:txBody>
      </p:sp>
      <p:sp>
        <p:nvSpPr>
          <p:cNvPr id="15" name="Text 1988"/>
          <p:cNvSpPr txBox="1"/>
          <p:nvPr/>
        </p:nvSpPr>
        <p:spPr>
          <a:xfrm>
            <a:off x="2130552" y="275844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Rome–Berlin Axis</a:t>
            </a:r>
            <a:r>
              <a:rPr lang="en-US" sz="1400" dirty="0">
                <a:solidFill>
                  <a:schemeClr val="tx1"/>
                </a:solidFill>
              </a:rPr>
              <a:t>; </a:t>
            </a:r>
            <a:r>
              <a:rPr lang="en-US" sz="1400" b="1" dirty="0">
                <a:solidFill>
                  <a:schemeClr val="tx1"/>
                </a:solidFill>
              </a:rPr>
              <a:t>Anti-Comintern Pact</a:t>
            </a:r>
            <a:endParaRPr lang="en-US" sz="1400" dirty="0"/>
          </a:p>
        </p:txBody>
      </p:sp>
      <p:sp>
        <p:nvSpPr>
          <p:cNvPr id="16" name="Connector 1989"/>
          <p:cNvSpPr/>
          <p:nvPr/>
        </p:nvSpPr>
        <p:spPr>
          <a:xfrm>
            <a:off x="1257300" y="3730752"/>
            <a:ext cx="0" cy="295656"/>
          </a:xfrm>
          <a:prstGeom prst="line">
            <a:avLst/>
          </a:prstGeom>
          <a:noFill/>
          <a:ln w="15875">
            <a:solidFill>
              <a:schemeClr val="accent3"/>
            </a:solidFill>
            <a:prstDash val="solid"/>
          </a:ln>
        </p:spPr>
      </p:sp>
      <p:sp>
        <p:nvSpPr>
          <p:cNvPr id="17" name="Date pill 1990"/>
          <p:cNvSpPr/>
          <p:nvPr/>
        </p:nvSpPr>
        <p:spPr>
          <a:xfrm>
            <a:off x="548640" y="3401568"/>
            <a:ext cx="1417320" cy="329184"/>
          </a:xfrm>
          <a:prstGeom prst="roundRect">
            <a:avLst>
              <a:gd name="adj" fmla="val 50000"/>
            </a:avLst>
          </a:prstGeom>
          <a:solidFill>
            <a:schemeClr val="accent3"/>
          </a:solidFill>
          <a:ln/>
        </p:spPr>
      </p:sp>
      <p:sp>
        <p:nvSpPr>
          <p:cNvPr id="18" name="Text 1991"/>
          <p:cNvSpPr txBox="1"/>
          <p:nvPr/>
        </p:nvSpPr>
        <p:spPr>
          <a:xfrm>
            <a:off x="548640" y="340156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July 1937</a:t>
            </a:r>
            <a:endParaRPr lang="en-US" sz="1300" dirty="0"/>
          </a:p>
        </p:txBody>
      </p:sp>
      <p:sp>
        <p:nvSpPr>
          <p:cNvPr id="19" name="Text 1992"/>
          <p:cNvSpPr txBox="1"/>
          <p:nvPr/>
        </p:nvSpPr>
        <p:spPr>
          <a:xfrm>
            <a:off x="2130552" y="338328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Japan launches </a:t>
            </a:r>
            <a:r>
              <a:rPr lang="en-US" sz="1400" b="1" dirty="0">
                <a:solidFill>
                  <a:schemeClr val="tx1"/>
                </a:solidFill>
              </a:rPr>
              <a:t>full-scale war on China</a:t>
            </a:r>
            <a:endParaRPr lang="en-US" sz="1400" dirty="0"/>
          </a:p>
        </p:txBody>
      </p:sp>
      <p:sp>
        <p:nvSpPr>
          <p:cNvPr id="20" name="Connector 1993"/>
          <p:cNvSpPr/>
          <p:nvPr/>
        </p:nvSpPr>
        <p:spPr>
          <a:xfrm>
            <a:off x="1257300" y="4355592"/>
            <a:ext cx="0" cy="295656"/>
          </a:xfrm>
          <a:prstGeom prst="line">
            <a:avLst/>
          </a:prstGeom>
          <a:noFill/>
          <a:ln w="15875">
            <a:solidFill>
              <a:schemeClr val="accent3"/>
            </a:solidFill>
            <a:prstDash val="solid"/>
          </a:ln>
        </p:spPr>
      </p:sp>
      <p:sp>
        <p:nvSpPr>
          <p:cNvPr id="21" name="Date pill 1994"/>
          <p:cNvSpPr/>
          <p:nvPr/>
        </p:nvSpPr>
        <p:spPr>
          <a:xfrm>
            <a:off x="548640" y="4026408"/>
            <a:ext cx="1417320" cy="329184"/>
          </a:xfrm>
          <a:prstGeom prst="roundRect">
            <a:avLst>
              <a:gd name="adj" fmla="val 50000"/>
            </a:avLst>
          </a:prstGeom>
          <a:solidFill>
            <a:schemeClr val="accent3"/>
          </a:solidFill>
          <a:ln/>
        </p:spPr>
      </p:sp>
      <p:sp>
        <p:nvSpPr>
          <p:cNvPr id="22" name="Text 1995"/>
          <p:cNvSpPr txBox="1"/>
          <p:nvPr/>
        </p:nvSpPr>
        <p:spPr>
          <a:xfrm>
            <a:off x="548640" y="402640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Mar 1938</a:t>
            </a:r>
            <a:endParaRPr lang="en-US" sz="1300" dirty="0"/>
          </a:p>
        </p:txBody>
      </p:sp>
      <p:sp>
        <p:nvSpPr>
          <p:cNvPr id="23" name="Text 1996"/>
          <p:cNvSpPr txBox="1"/>
          <p:nvPr/>
        </p:nvSpPr>
        <p:spPr>
          <a:xfrm>
            <a:off x="2130552" y="400812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Anschluss</a:t>
            </a:r>
            <a:r>
              <a:rPr lang="en-US" sz="1400" dirty="0">
                <a:solidFill>
                  <a:schemeClr val="tx1"/>
                </a:solidFill>
              </a:rPr>
              <a:t> with Austria</a:t>
            </a:r>
            <a:endParaRPr lang="en-US" sz="1400" dirty="0"/>
          </a:p>
        </p:txBody>
      </p:sp>
      <p:sp>
        <p:nvSpPr>
          <p:cNvPr id="24" name="Date pill 1997"/>
          <p:cNvSpPr/>
          <p:nvPr/>
        </p:nvSpPr>
        <p:spPr>
          <a:xfrm>
            <a:off x="548640" y="4651248"/>
            <a:ext cx="1417320" cy="329184"/>
          </a:xfrm>
          <a:prstGeom prst="roundRect">
            <a:avLst>
              <a:gd name="adj" fmla="val 50000"/>
            </a:avLst>
          </a:prstGeom>
          <a:solidFill>
            <a:schemeClr val="accent3"/>
          </a:solidFill>
          <a:ln/>
        </p:spPr>
      </p:sp>
      <p:sp>
        <p:nvSpPr>
          <p:cNvPr id="25" name="Text 1998"/>
          <p:cNvSpPr txBox="1"/>
          <p:nvPr/>
        </p:nvSpPr>
        <p:spPr>
          <a:xfrm>
            <a:off x="548640" y="465124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Sept 1938</a:t>
            </a:r>
            <a:endParaRPr lang="en-US" sz="1300" dirty="0"/>
          </a:p>
        </p:txBody>
      </p:sp>
      <p:sp>
        <p:nvSpPr>
          <p:cNvPr id="26" name="Text 1999"/>
          <p:cNvSpPr txBox="1"/>
          <p:nvPr/>
        </p:nvSpPr>
        <p:spPr>
          <a:xfrm>
            <a:off x="2130552" y="463296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Munich Agreement</a:t>
            </a:r>
            <a:r>
              <a:rPr lang="en-US" sz="1400" dirty="0">
                <a:solidFill>
                  <a:schemeClr val="tx1"/>
                </a:solidFill>
              </a:rPr>
              <a:t>: Sudetenland to Germany</a:t>
            </a:r>
            <a:endParaRPr lang="en-US" sz="1400" dirty="0"/>
          </a:p>
        </p:txBody>
      </p:sp>
      <p:sp>
        <p:nvSpPr>
          <p:cNvPr id="27" name="Connector 2000"/>
          <p:cNvSpPr/>
          <p:nvPr/>
        </p:nvSpPr>
        <p:spPr>
          <a:xfrm>
            <a:off x="6987388" y="1856232"/>
            <a:ext cx="0" cy="295656"/>
          </a:xfrm>
          <a:prstGeom prst="line">
            <a:avLst/>
          </a:prstGeom>
          <a:noFill/>
          <a:ln w="15875">
            <a:solidFill>
              <a:schemeClr val="accent3"/>
            </a:solidFill>
            <a:prstDash val="solid"/>
          </a:ln>
        </p:spPr>
      </p:sp>
      <p:sp>
        <p:nvSpPr>
          <p:cNvPr id="28" name="Date pill 2001"/>
          <p:cNvSpPr/>
          <p:nvPr/>
        </p:nvSpPr>
        <p:spPr>
          <a:xfrm>
            <a:off x="6278728" y="1527048"/>
            <a:ext cx="1417320" cy="329184"/>
          </a:xfrm>
          <a:prstGeom prst="roundRect">
            <a:avLst>
              <a:gd name="adj" fmla="val 50000"/>
            </a:avLst>
          </a:prstGeom>
          <a:solidFill>
            <a:schemeClr val="accent3"/>
          </a:solidFill>
          <a:ln/>
        </p:spPr>
      </p:sp>
      <p:sp>
        <p:nvSpPr>
          <p:cNvPr id="29" name="Text 2002"/>
          <p:cNvSpPr txBox="1"/>
          <p:nvPr/>
        </p:nvSpPr>
        <p:spPr>
          <a:xfrm>
            <a:off x="6278728" y="152704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Mar 1939</a:t>
            </a:r>
            <a:endParaRPr lang="en-US" sz="1300" dirty="0"/>
          </a:p>
        </p:txBody>
      </p:sp>
      <p:sp>
        <p:nvSpPr>
          <p:cNvPr id="30" name="Text 2003"/>
          <p:cNvSpPr txBox="1"/>
          <p:nvPr/>
        </p:nvSpPr>
        <p:spPr>
          <a:xfrm>
            <a:off x="7860640" y="150876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Germany takes </a:t>
            </a:r>
            <a:r>
              <a:rPr lang="en-US" sz="1400" b="1" dirty="0">
                <a:solidFill>
                  <a:schemeClr val="tx1"/>
                </a:solidFill>
              </a:rPr>
              <a:t>Prague</a:t>
            </a:r>
            <a:r>
              <a:rPr lang="en-US" sz="1400" dirty="0">
                <a:solidFill>
                  <a:schemeClr val="tx1"/>
                </a:solidFill>
              </a:rPr>
              <a:t>; Anglo-French </a:t>
            </a:r>
            <a:r>
              <a:rPr lang="en-US" sz="1400" b="1" dirty="0">
                <a:solidFill>
                  <a:schemeClr val="tx1"/>
                </a:solidFill>
              </a:rPr>
              <a:t>guarantee to Poland</a:t>
            </a:r>
            <a:endParaRPr lang="en-US" sz="1400" dirty="0"/>
          </a:p>
        </p:txBody>
      </p:sp>
      <p:sp>
        <p:nvSpPr>
          <p:cNvPr id="31" name="Connector 2004"/>
          <p:cNvSpPr/>
          <p:nvPr/>
        </p:nvSpPr>
        <p:spPr>
          <a:xfrm>
            <a:off x="6987388" y="2481072"/>
            <a:ext cx="0" cy="295656"/>
          </a:xfrm>
          <a:prstGeom prst="line">
            <a:avLst/>
          </a:prstGeom>
          <a:noFill/>
          <a:ln w="15875">
            <a:solidFill>
              <a:schemeClr val="accent3"/>
            </a:solidFill>
            <a:prstDash val="solid"/>
          </a:ln>
        </p:spPr>
      </p:sp>
      <p:sp>
        <p:nvSpPr>
          <p:cNvPr id="32" name="Date pill 2005"/>
          <p:cNvSpPr/>
          <p:nvPr/>
        </p:nvSpPr>
        <p:spPr>
          <a:xfrm>
            <a:off x="6278728" y="2151888"/>
            <a:ext cx="1417320" cy="329184"/>
          </a:xfrm>
          <a:prstGeom prst="roundRect">
            <a:avLst>
              <a:gd name="adj" fmla="val 50000"/>
            </a:avLst>
          </a:prstGeom>
          <a:solidFill>
            <a:schemeClr val="accent3"/>
          </a:solidFill>
          <a:ln/>
        </p:spPr>
      </p:sp>
      <p:sp>
        <p:nvSpPr>
          <p:cNvPr id="33" name="Text 2006"/>
          <p:cNvSpPr txBox="1"/>
          <p:nvPr/>
        </p:nvSpPr>
        <p:spPr>
          <a:xfrm>
            <a:off x="6278728" y="215188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Apr–May 1939</a:t>
            </a:r>
            <a:endParaRPr lang="en-US" sz="1300" dirty="0"/>
          </a:p>
        </p:txBody>
      </p:sp>
      <p:sp>
        <p:nvSpPr>
          <p:cNvPr id="34" name="Text 2007"/>
          <p:cNvSpPr txBox="1"/>
          <p:nvPr/>
        </p:nvSpPr>
        <p:spPr>
          <a:xfrm>
            <a:off x="7860640" y="213360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Italy invades </a:t>
            </a:r>
            <a:r>
              <a:rPr lang="en-US" sz="1400" b="1" dirty="0">
                <a:solidFill>
                  <a:schemeClr val="tx1"/>
                </a:solidFill>
              </a:rPr>
              <a:t>Albania</a:t>
            </a:r>
            <a:r>
              <a:rPr lang="en-US" sz="1400" dirty="0">
                <a:solidFill>
                  <a:schemeClr val="tx1"/>
                </a:solidFill>
              </a:rPr>
              <a:t>; </a:t>
            </a:r>
            <a:r>
              <a:rPr lang="en-US" sz="1400" b="1" dirty="0">
                <a:solidFill>
                  <a:schemeClr val="tx1"/>
                </a:solidFill>
              </a:rPr>
              <a:t>Pact of Steel</a:t>
            </a:r>
            <a:endParaRPr lang="en-US" sz="1400" dirty="0"/>
          </a:p>
        </p:txBody>
      </p:sp>
      <p:sp>
        <p:nvSpPr>
          <p:cNvPr id="35" name="Connector 2008"/>
          <p:cNvSpPr/>
          <p:nvPr/>
        </p:nvSpPr>
        <p:spPr>
          <a:xfrm>
            <a:off x="6987388" y="3105912"/>
            <a:ext cx="0" cy="295656"/>
          </a:xfrm>
          <a:prstGeom prst="line">
            <a:avLst/>
          </a:prstGeom>
          <a:noFill/>
          <a:ln w="15875">
            <a:solidFill>
              <a:schemeClr val="accent3"/>
            </a:solidFill>
            <a:prstDash val="solid"/>
          </a:ln>
        </p:spPr>
      </p:sp>
      <p:sp>
        <p:nvSpPr>
          <p:cNvPr id="36" name="Date pill 2009"/>
          <p:cNvSpPr/>
          <p:nvPr/>
        </p:nvSpPr>
        <p:spPr>
          <a:xfrm>
            <a:off x="6278728" y="2776728"/>
            <a:ext cx="1417320" cy="329184"/>
          </a:xfrm>
          <a:prstGeom prst="roundRect">
            <a:avLst>
              <a:gd name="adj" fmla="val 50000"/>
            </a:avLst>
          </a:prstGeom>
          <a:solidFill>
            <a:schemeClr val="accent3"/>
          </a:solidFill>
          <a:ln/>
        </p:spPr>
      </p:sp>
      <p:sp>
        <p:nvSpPr>
          <p:cNvPr id="37" name="Text 2010"/>
          <p:cNvSpPr txBox="1"/>
          <p:nvPr/>
        </p:nvSpPr>
        <p:spPr>
          <a:xfrm>
            <a:off x="6278728" y="277672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23 Aug 1939</a:t>
            </a:r>
            <a:endParaRPr lang="en-US" sz="1300" dirty="0"/>
          </a:p>
        </p:txBody>
      </p:sp>
      <p:sp>
        <p:nvSpPr>
          <p:cNvPr id="38" name="Text 2011"/>
          <p:cNvSpPr txBox="1"/>
          <p:nvPr/>
        </p:nvSpPr>
        <p:spPr>
          <a:xfrm>
            <a:off x="7860640" y="2758440"/>
            <a:ext cx="3782416" cy="588264"/>
          </a:xfrm>
          <a:prstGeom prst="rect">
            <a:avLst/>
          </a:prstGeom>
          <a:noFill/>
          <a:ln/>
        </p:spPr>
        <p:txBody>
          <a:bodyPr wrap="square" lIns="0" tIns="0" rIns="0" bIns="0" rtlCol="0" anchor="t"/>
          <a:lstStyle/>
          <a:p>
            <a:pPr algn="l" indent="0" marL="0">
              <a:spcAft>
                <a:spcPts val="600"/>
              </a:spcAft>
              <a:buNone/>
            </a:pPr>
            <a:r>
              <a:rPr lang="en-US" sz="1400" b="1" dirty="0">
                <a:solidFill>
                  <a:schemeClr val="tx1"/>
                </a:solidFill>
              </a:rPr>
              <a:t>Nazi–Soviet Pact</a:t>
            </a:r>
            <a:endParaRPr lang="en-US" sz="1400" dirty="0"/>
          </a:p>
        </p:txBody>
      </p:sp>
      <p:sp>
        <p:nvSpPr>
          <p:cNvPr id="39" name="Connector 2012"/>
          <p:cNvSpPr/>
          <p:nvPr/>
        </p:nvSpPr>
        <p:spPr>
          <a:xfrm>
            <a:off x="6987388" y="3730752"/>
            <a:ext cx="0" cy="295656"/>
          </a:xfrm>
          <a:prstGeom prst="line">
            <a:avLst/>
          </a:prstGeom>
          <a:noFill/>
          <a:ln w="15875">
            <a:solidFill>
              <a:schemeClr val="accent3"/>
            </a:solidFill>
            <a:prstDash val="solid"/>
          </a:ln>
        </p:spPr>
      </p:sp>
      <p:sp>
        <p:nvSpPr>
          <p:cNvPr id="40" name="Date pill 2013"/>
          <p:cNvSpPr/>
          <p:nvPr/>
        </p:nvSpPr>
        <p:spPr>
          <a:xfrm>
            <a:off x="6278728" y="3401568"/>
            <a:ext cx="1417320" cy="329184"/>
          </a:xfrm>
          <a:prstGeom prst="roundRect">
            <a:avLst>
              <a:gd name="adj" fmla="val 50000"/>
            </a:avLst>
          </a:prstGeom>
          <a:solidFill>
            <a:schemeClr val="accent3"/>
          </a:solidFill>
          <a:ln/>
        </p:spPr>
      </p:sp>
      <p:sp>
        <p:nvSpPr>
          <p:cNvPr id="41" name="Text 2014"/>
          <p:cNvSpPr txBox="1"/>
          <p:nvPr/>
        </p:nvSpPr>
        <p:spPr>
          <a:xfrm>
            <a:off x="6278728" y="340156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 Sept 1939</a:t>
            </a:r>
            <a:endParaRPr lang="en-US" sz="1300" dirty="0"/>
          </a:p>
        </p:txBody>
      </p:sp>
      <p:sp>
        <p:nvSpPr>
          <p:cNvPr id="42" name="Text 2015"/>
          <p:cNvSpPr txBox="1"/>
          <p:nvPr/>
        </p:nvSpPr>
        <p:spPr>
          <a:xfrm>
            <a:off x="7860640" y="338328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Germany </a:t>
            </a:r>
            <a:r>
              <a:rPr lang="en-US" sz="1400" b="1" dirty="0">
                <a:solidFill>
                  <a:schemeClr val="tx1"/>
                </a:solidFill>
              </a:rPr>
              <a:t>invades Poland</a:t>
            </a:r>
            <a:endParaRPr lang="en-US" sz="1400" dirty="0"/>
          </a:p>
        </p:txBody>
      </p:sp>
      <p:sp>
        <p:nvSpPr>
          <p:cNvPr id="43" name="Date pill 2016"/>
          <p:cNvSpPr/>
          <p:nvPr/>
        </p:nvSpPr>
        <p:spPr>
          <a:xfrm>
            <a:off x="6278728" y="4026408"/>
            <a:ext cx="1417320" cy="329184"/>
          </a:xfrm>
          <a:prstGeom prst="roundRect">
            <a:avLst>
              <a:gd name="adj" fmla="val 50000"/>
            </a:avLst>
          </a:prstGeom>
          <a:solidFill>
            <a:schemeClr val="accent3"/>
          </a:solidFill>
          <a:ln/>
        </p:spPr>
      </p:sp>
      <p:sp>
        <p:nvSpPr>
          <p:cNvPr id="44" name="Text 2017"/>
          <p:cNvSpPr txBox="1"/>
          <p:nvPr/>
        </p:nvSpPr>
        <p:spPr>
          <a:xfrm>
            <a:off x="6278728" y="4026408"/>
            <a:ext cx="141732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3 Sept 1939</a:t>
            </a:r>
            <a:endParaRPr lang="en-US" sz="1300" dirty="0"/>
          </a:p>
        </p:txBody>
      </p:sp>
      <p:sp>
        <p:nvSpPr>
          <p:cNvPr id="45" name="Text 2018"/>
          <p:cNvSpPr txBox="1"/>
          <p:nvPr/>
        </p:nvSpPr>
        <p:spPr>
          <a:xfrm>
            <a:off x="7860640" y="4008120"/>
            <a:ext cx="3782416" cy="588264"/>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Britain and France </a:t>
            </a:r>
            <a:r>
              <a:rPr lang="en-US" sz="1400" b="1" dirty="0">
                <a:solidFill>
                  <a:schemeClr val="tx1"/>
                </a:solidFill>
              </a:rPr>
              <a:t>declare war</a:t>
            </a:r>
            <a:endParaRPr lang="en-US" sz="1400" dirty="0"/>
          </a:p>
        </p:txBody>
      </p:sp>
      <p:sp>
        <p:nvSpPr>
          <p:cNvPr id="46" name="Callout 2019"/>
          <p:cNvSpPr/>
          <p:nvPr/>
        </p:nvSpPr>
        <p:spPr>
          <a:xfrm>
            <a:off x="548640" y="5550408"/>
            <a:ext cx="11094415" cy="713232"/>
          </a:xfrm>
          <a:prstGeom prst="roundRect">
            <a:avLst>
              <a:gd name="adj" fmla="val 12821"/>
            </a:avLst>
          </a:prstGeom>
          <a:solidFill>
            <a:schemeClr val="accent4">
              <a:alpha val="20000"/>
            </a:schemeClr>
          </a:solidFill>
          <a:ln/>
        </p:spPr>
      </p:sp>
      <p:sp>
        <p:nvSpPr>
          <p:cNvPr id="47" name="Callout label 2020"/>
          <p:cNvSpPr/>
          <p:nvPr/>
        </p:nvSpPr>
        <p:spPr>
          <a:xfrm>
            <a:off x="731520" y="5751576"/>
            <a:ext cx="1190135" cy="310896"/>
          </a:xfrm>
          <a:prstGeom prst="roundRect">
            <a:avLst>
              <a:gd name="adj" fmla="val 50000"/>
            </a:avLst>
          </a:prstGeom>
          <a:solidFill>
            <a:schemeClr val="accent4"/>
          </a:solidFill>
          <a:ln/>
        </p:spPr>
      </p:sp>
      <p:sp>
        <p:nvSpPr>
          <p:cNvPr id="48" name="Text 2021"/>
          <p:cNvSpPr txBox="1"/>
          <p:nvPr/>
        </p:nvSpPr>
        <p:spPr>
          <a:xfrm>
            <a:off x="731520" y="5751576"/>
            <a:ext cx="1190135"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BIG PICTURE</a:t>
            </a:r>
            <a:endParaRPr lang="en-US" sz="1200" dirty="0"/>
          </a:p>
        </p:txBody>
      </p:sp>
      <p:sp>
        <p:nvSpPr>
          <p:cNvPr id="49" name="Text 2022"/>
          <p:cNvSpPr txBox="1"/>
          <p:nvPr/>
        </p:nvSpPr>
        <p:spPr>
          <a:xfrm>
            <a:off x="2104535" y="5623560"/>
            <a:ext cx="9355640"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1936–39: appeasement let Germany expand — until Prague (March 1939) turned Britain and France towards resistance.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Kicker 202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KQ1 · THE DEPRESSION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Great Depression: a global shock</a:t>
            </a:r>
            <a:endParaRPr lang="en-US" sz="3400" dirty="0"/>
          </a:p>
        </p:txBody>
      </p:sp>
      <p:sp>
        <p:nvSpPr>
          <p:cNvPr id="4" name="Chart panel 2024"/>
          <p:cNvSpPr/>
          <p:nvPr/>
        </p:nvSpPr>
        <p:spPr>
          <a:xfrm>
            <a:off x="548640" y="1481328"/>
            <a:ext cx="6400800" cy="4782312"/>
          </a:xfrm>
          <a:prstGeom prst="roundRect">
            <a:avLst>
              <a:gd name="adj" fmla="val 1912"/>
            </a:avLst>
          </a:prstGeom>
          <a:solidFill>
            <a:schemeClr val="bg2"/>
          </a:solidFill>
          <a:ln/>
        </p:spPr>
      </p:sp>
      <p:graphicFrame>
        <p:nvGraphicFramePr>
          <p:cNvPr id="5" name="Chart 2025" descr=""/>
          <p:cNvGraphicFramePr/>
          <p:nvPr/>
        </p:nvGraphicFramePr>
        <p:xfrm>
          <a:off x="685800" y="1572768"/>
          <a:ext cx="6126480" cy="4599432"/>
        </p:xfrm>
        <a:graphic xmlns:a="http://schemas.openxmlformats.org/drawingml/2006/main">
          <a:graphicData uri="http://schemas.openxmlformats.org/drawingml/2006/chart">
            <c:chart xmlns:c="http://schemas.openxmlformats.org/drawingml/2006/chart" r:id="rId1"/>
          </a:graphicData>
        </a:graphic>
      </p:graphicFrame>
      <p:sp>
        <p:nvSpPr>
          <p:cNvPr id="6" name="Card 2026"/>
          <p:cNvSpPr/>
          <p:nvPr/>
        </p:nvSpPr>
        <p:spPr>
          <a:xfrm>
            <a:off x="7223760" y="1481328"/>
            <a:ext cx="4419295" cy="1459992"/>
          </a:xfrm>
          <a:prstGeom prst="roundRect">
            <a:avLst>
              <a:gd name="adj" fmla="val 6263"/>
            </a:avLst>
          </a:prstGeom>
          <a:solidFill>
            <a:schemeClr val="accent3">
              <a:alpha val="10000"/>
            </a:schemeClr>
          </a:solidFill>
          <a:ln/>
        </p:spPr>
      </p:sp>
      <p:sp>
        <p:nvSpPr>
          <p:cNvPr id="7" name="Icon circle 2027"/>
          <p:cNvSpPr/>
          <p:nvPr/>
        </p:nvSpPr>
        <p:spPr>
          <a:xfrm>
            <a:off x="7370064" y="1627632"/>
            <a:ext cx="402336" cy="402336"/>
          </a:xfrm>
          <a:prstGeom prst="ellipse">
            <a:avLst/>
          </a:prstGeom>
          <a:solidFill>
            <a:schemeClr val="accent3"/>
          </a:solidFill>
          <a:ln/>
        </p:spPr>
      </p:sp>
      <p:pic>
        <p:nvPicPr>
          <p:cNvPr id="8" name="Icon FaArrowTrendDown 2028" descr="preencoded.png">    </p:cNvPr>
          <p:cNvPicPr>
            <a:picLocks noChangeAspect="1"/>
          </p:cNvPicPr>
          <p:nvPr/>
        </p:nvPicPr>
        <p:blipFill>
          <a:blip r:embed="rId2"/>
          <a:stretch>
            <a:fillRect/>
          </a:stretch>
        </p:blipFill>
        <p:spPr>
          <a:xfrm>
            <a:off x="7458578" y="1716146"/>
            <a:ext cx="225308" cy="225308"/>
          </a:xfrm>
          <a:prstGeom prst="rect">
            <a:avLst/>
          </a:prstGeom>
        </p:spPr>
      </p:pic>
      <p:sp>
        <p:nvSpPr>
          <p:cNvPr id="9" name="Card title 2029"/>
          <p:cNvSpPr txBox="1"/>
          <p:nvPr/>
        </p:nvSpPr>
        <p:spPr>
          <a:xfrm>
            <a:off x="7900416" y="162763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Crash and recall</a:t>
            </a:r>
            <a:endParaRPr lang="en-US" sz="1600" dirty="0"/>
          </a:p>
        </p:txBody>
      </p:sp>
      <p:sp>
        <p:nvSpPr>
          <p:cNvPr id="10" name="Text 2030"/>
          <p:cNvSpPr txBox="1"/>
          <p:nvPr/>
        </p:nvSpPr>
        <p:spPr>
          <a:xfrm>
            <a:off x="7370064" y="2139696"/>
            <a:ext cx="4126687" cy="655320"/>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Wall Street Crash (Oct 1929): US banks called in loans to Europe.</a:t>
            </a:r>
            <a:endParaRPr lang="en-US" sz="1800" dirty="0"/>
          </a:p>
        </p:txBody>
      </p:sp>
      <p:sp>
        <p:nvSpPr>
          <p:cNvPr id="11" name="Card 2031"/>
          <p:cNvSpPr/>
          <p:nvPr/>
        </p:nvSpPr>
        <p:spPr>
          <a:xfrm>
            <a:off x="7223760" y="3142488"/>
            <a:ext cx="4419295" cy="1459992"/>
          </a:xfrm>
          <a:prstGeom prst="roundRect">
            <a:avLst>
              <a:gd name="adj" fmla="val 6263"/>
            </a:avLst>
          </a:prstGeom>
          <a:solidFill>
            <a:schemeClr val="accent3">
              <a:alpha val="10000"/>
            </a:schemeClr>
          </a:solidFill>
          <a:ln/>
        </p:spPr>
      </p:sp>
      <p:sp>
        <p:nvSpPr>
          <p:cNvPr id="12" name="Icon circle 2032"/>
          <p:cNvSpPr/>
          <p:nvPr/>
        </p:nvSpPr>
        <p:spPr>
          <a:xfrm>
            <a:off x="7370064" y="3288792"/>
            <a:ext cx="402336" cy="402336"/>
          </a:xfrm>
          <a:prstGeom prst="ellipse">
            <a:avLst/>
          </a:prstGeom>
          <a:solidFill>
            <a:schemeClr val="accent3"/>
          </a:solidFill>
          <a:ln/>
        </p:spPr>
      </p:sp>
      <p:pic>
        <p:nvPicPr>
          <p:cNvPr id="13" name="Icon FaBan 2033" descr="preencoded.png">    </p:cNvPr>
          <p:cNvPicPr>
            <a:picLocks noChangeAspect="1"/>
          </p:cNvPicPr>
          <p:nvPr/>
        </p:nvPicPr>
        <p:blipFill>
          <a:blip r:embed="rId3"/>
          <a:stretch>
            <a:fillRect/>
          </a:stretch>
        </p:blipFill>
        <p:spPr>
          <a:xfrm>
            <a:off x="7458578" y="3377306"/>
            <a:ext cx="225308" cy="225308"/>
          </a:xfrm>
          <a:prstGeom prst="rect">
            <a:avLst/>
          </a:prstGeom>
        </p:spPr>
      </p:pic>
      <p:sp>
        <p:nvSpPr>
          <p:cNvPr id="14" name="Card title 2034"/>
          <p:cNvSpPr txBox="1"/>
          <p:nvPr/>
        </p:nvSpPr>
        <p:spPr>
          <a:xfrm>
            <a:off x="7900416" y="328879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Protectionism</a:t>
            </a:r>
            <a:endParaRPr lang="en-US" sz="1600" dirty="0"/>
          </a:p>
        </p:txBody>
      </p:sp>
      <p:sp>
        <p:nvSpPr>
          <p:cNvPr id="15" name="Text 2035"/>
          <p:cNvSpPr txBox="1"/>
          <p:nvPr/>
        </p:nvSpPr>
        <p:spPr>
          <a:xfrm>
            <a:off x="7370064" y="3800856"/>
            <a:ext cx="4126687" cy="655320"/>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Smoot–Hawley Tariff (1930); Britain's Imperial Preference (1932).</a:t>
            </a:r>
            <a:endParaRPr lang="en-US" sz="1800" dirty="0"/>
          </a:p>
        </p:txBody>
      </p:sp>
      <p:sp>
        <p:nvSpPr>
          <p:cNvPr id="16" name="Card 2036"/>
          <p:cNvSpPr/>
          <p:nvPr/>
        </p:nvSpPr>
        <p:spPr>
          <a:xfrm>
            <a:off x="7223760" y="4803648"/>
            <a:ext cx="4419295" cy="1459992"/>
          </a:xfrm>
          <a:prstGeom prst="roundRect">
            <a:avLst>
              <a:gd name="adj" fmla="val 6263"/>
            </a:avLst>
          </a:prstGeom>
          <a:solidFill>
            <a:schemeClr val="accent3">
              <a:alpha val="10000"/>
            </a:schemeClr>
          </a:solidFill>
          <a:ln/>
        </p:spPr>
      </p:sp>
      <p:sp>
        <p:nvSpPr>
          <p:cNvPr id="17" name="Icon circle 2037"/>
          <p:cNvSpPr/>
          <p:nvPr/>
        </p:nvSpPr>
        <p:spPr>
          <a:xfrm>
            <a:off x="7370064" y="4949952"/>
            <a:ext cx="402336" cy="402336"/>
          </a:xfrm>
          <a:prstGeom prst="ellipse">
            <a:avLst/>
          </a:prstGeom>
          <a:solidFill>
            <a:schemeClr val="accent3"/>
          </a:solidFill>
          <a:ln/>
        </p:spPr>
      </p:sp>
      <p:pic>
        <p:nvPicPr>
          <p:cNvPr id="18" name="Icon FaUsers 2038" descr="preencoded.png">    </p:cNvPr>
          <p:cNvPicPr>
            <a:picLocks noChangeAspect="1"/>
          </p:cNvPicPr>
          <p:nvPr/>
        </p:nvPicPr>
        <p:blipFill>
          <a:blip r:embed="rId4"/>
          <a:stretch>
            <a:fillRect/>
          </a:stretch>
        </p:blipFill>
        <p:spPr>
          <a:xfrm>
            <a:off x="7458578" y="5038466"/>
            <a:ext cx="225308" cy="225308"/>
          </a:xfrm>
          <a:prstGeom prst="rect">
            <a:avLst/>
          </a:prstGeom>
        </p:spPr>
      </p:pic>
      <p:sp>
        <p:nvSpPr>
          <p:cNvPr id="19" name="Card title 2039"/>
          <p:cNvSpPr txBox="1"/>
          <p:nvPr/>
        </p:nvSpPr>
        <p:spPr>
          <a:xfrm>
            <a:off x="7900416" y="494995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Mass unemployment</a:t>
            </a:r>
            <a:endParaRPr lang="en-US" sz="1600" dirty="0"/>
          </a:p>
        </p:txBody>
      </p:sp>
      <p:sp>
        <p:nvSpPr>
          <p:cNvPr id="20" name="Text 2040"/>
          <p:cNvSpPr txBox="1"/>
          <p:nvPr/>
        </p:nvSpPr>
        <p:spPr>
          <a:xfrm>
            <a:off x="7370064" y="5462016"/>
            <a:ext cx="4126687" cy="655320"/>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USA c.13m (1933), Germany c.6m (1932), Britain c.3m (1932).</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Kicker 204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KQ1 · THE DEPRESSION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How the Depression changed international relations</a:t>
            </a:r>
            <a:endParaRPr lang="en-US" sz="3400" dirty="0"/>
          </a:p>
        </p:txBody>
      </p:sp>
      <p:sp>
        <p:nvSpPr>
          <p:cNvPr id="4" name="Cause panel 2042"/>
          <p:cNvSpPr/>
          <p:nvPr/>
        </p:nvSpPr>
        <p:spPr>
          <a:xfrm>
            <a:off x="548640" y="1481328"/>
            <a:ext cx="3017520" cy="4782312"/>
          </a:xfrm>
          <a:prstGeom prst="roundRect">
            <a:avLst>
              <a:gd name="adj" fmla="val 3636"/>
            </a:avLst>
          </a:prstGeom>
          <a:solidFill>
            <a:schemeClr val="accent3"/>
          </a:solidFill>
          <a:ln/>
        </p:spPr>
      </p:sp>
      <p:sp>
        <p:nvSpPr>
          <p:cNvPr id="5" name="Icon circle 2043"/>
          <p:cNvSpPr/>
          <p:nvPr/>
        </p:nvSpPr>
        <p:spPr>
          <a:xfrm>
            <a:off x="1600200" y="2395728"/>
            <a:ext cx="914400" cy="914400"/>
          </a:xfrm>
          <a:prstGeom prst="ellipse">
            <a:avLst/>
          </a:prstGeom>
          <a:solidFill>
            <a:schemeClr val="tx2"/>
          </a:solidFill>
          <a:ln/>
        </p:spPr>
      </p:sp>
      <p:pic>
        <p:nvPicPr>
          <p:cNvPr id="6" name="Icon FaArrowTrendDown 2044" descr="preencoded.png">    </p:cNvPr>
          <p:cNvPicPr>
            <a:picLocks noChangeAspect="1"/>
          </p:cNvPicPr>
          <p:nvPr/>
        </p:nvPicPr>
        <p:blipFill>
          <a:blip r:embed="rId1"/>
          <a:stretch>
            <a:fillRect/>
          </a:stretch>
        </p:blipFill>
        <p:spPr>
          <a:xfrm>
            <a:off x="1801368" y="2596896"/>
            <a:ext cx="512064" cy="512064"/>
          </a:xfrm>
          <a:prstGeom prst="rect">
            <a:avLst/>
          </a:prstGeom>
        </p:spPr>
      </p:pic>
      <p:sp>
        <p:nvSpPr>
          <p:cNvPr id="7" name="Text 2045"/>
          <p:cNvSpPr txBox="1"/>
          <p:nvPr/>
        </p:nvSpPr>
        <p:spPr>
          <a:xfrm>
            <a:off x="777240" y="3538728"/>
            <a:ext cx="2560320" cy="1097280"/>
          </a:xfrm>
          <a:prstGeom prst="rect">
            <a:avLst/>
          </a:prstGeom>
          <a:noFill/>
          <a:ln/>
        </p:spPr>
        <p:txBody>
          <a:bodyPr wrap="square" lIns="0" tIns="0" rIns="0" bIns="0" rtlCol="0" anchor="t"/>
          <a:lstStyle/>
          <a:p>
            <a:pPr algn="ctr" indent="0" marL="0">
              <a:spcAft>
                <a:spcPts val="600"/>
              </a:spcAft>
              <a:buNone/>
            </a:pPr>
            <a:r>
              <a:rPr lang="en-US" sz="2200" b="1" dirty="0">
                <a:solidFill>
                  <a:schemeClr val="bg1"/>
                </a:solidFill>
                <a:latin typeface="+mj-lt" pitchFamily="34" charset="0"/>
                <a:ea typeface="+mj-lt" pitchFamily="34" charset="-122"/>
                <a:cs typeface="+mj-lt" pitchFamily="34" charset="-120"/>
              </a:rPr>
              <a:t>The Great Depression, 1929–33</a:t>
            </a:r>
            <a:endParaRPr lang="en-US" sz="2200" dirty="0"/>
          </a:p>
        </p:txBody>
      </p:sp>
      <p:sp>
        <p:nvSpPr>
          <p:cNvPr id="8" name="Arrow 2046"/>
          <p:cNvSpPr/>
          <p:nvPr/>
        </p:nvSpPr>
        <p:spPr>
          <a:xfrm>
            <a:off x="3657600" y="1767535"/>
            <a:ext cx="292608" cy="274320"/>
          </a:xfrm>
          <a:prstGeom prst="chevron">
            <a:avLst/>
          </a:prstGeom>
          <a:solidFill>
            <a:schemeClr val="accent3"/>
          </a:solidFill>
          <a:ln/>
        </p:spPr>
      </p:sp>
      <p:sp>
        <p:nvSpPr>
          <p:cNvPr id="9" name="Effect 2047"/>
          <p:cNvSpPr/>
          <p:nvPr/>
        </p:nvSpPr>
        <p:spPr>
          <a:xfrm>
            <a:off x="4069080" y="1481328"/>
            <a:ext cx="7573975" cy="846734"/>
          </a:xfrm>
          <a:prstGeom prst="roundRect">
            <a:avLst>
              <a:gd name="adj" fmla="val 8639"/>
            </a:avLst>
          </a:prstGeom>
          <a:solidFill>
            <a:schemeClr val="accent3">
              <a:alpha val="9000"/>
            </a:schemeClr>
          </a:solidFill>
          <a:ln/>
        </p:spPr>
      </p:sp>
      <p:sp>
        <p:nvSpPr>
          <p:cNvPr id="10" name="Text 2048"/>
          <p:cNvSpPr txBox="1"/>
          <p:nvPr/>
        </p:nvSpPr>
        <p:spPr>
          <a:xfrm>
            <a:off x="4251960" y="1481328"/>
            <a:ext cx="2743200" cy="84673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Economic nationalism</a:t>
            </a:r>
            <a:endParaRPr lang="en-US" sz="1700" dirty="0"/>
          </a:p>
        </p:txBody>
      </p:sp>
      <p:sp>
        <p:nvSpPr>
          <p:cNvPr id="11" name="Text 2049"/>
          <p:cNvSpPr txBox="1"/>
          <p:nvPr/>
        </p:nvSpPr>
        <p:spPr>
          <a:xfrm>
            <a:off x="7040880" y="1481328"/>
            <a:ext cx="4419295" cy="84673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Tariffs, trade blocs and 'beggar-thy-neighbour' policies replaced cooperation.</a:t>
            </a:r>
            <a:endParaRPr lang="en-US" sz="1500" dirty="0"/>
          </a:p>
        </p:txBody>
      </p:sp>
      <p:sp>
        <p:nvSpPr>
          <p:cNvPr id="12" name="Arrow 2050"/>
          <p:cNvSpPr/>
          <p:nvPr/>
        </p:nvSpPr>
        <p:spPr>
          <a:xfrm>
            <a:off x="3657600" y="2751430"/>
            <a:ext cx="292608" cy="274320"/>
          </a:xfrm>
          <a:prstGeom prst="chevron">
            <a:avLst/>
          </a:prstGeom>
          <a:solidFill>
            <a:schemeClr val="accent3"/>
          </a:solidFill>
          <a:ln/>
        </p:spPr>
      </p:sp>
      <p:sp>
        <p:nvSpPr>
          <p:cNvPr id="13" name="Effect 2051"/>
          <p:cNvSpPr/>
          <p:nvPr/>
        </p:nvSpPr>
        <p:spPr>
          <a:xfrm>
            <a:off x="4069080" y="2465222"/>
            <a:ext cx="7573975" cy="846734"/>
          </a:xfrm>
          <a:prstGeom prst="roundRect">
            <a:avLst>
              <a:gd name="adj" fmla="val 8639"/>
            </a:avLst>
          </a:prstGeom>
          <a:solidFill>
            <a:schemeClr val="accent3">
              <a:alpha val="9000"/>
            </a:schemeClr>
          </a:solidFill>
          <a:ln/>
        </p:spPr>
      </p:sp>
      <p:sp>
        <p:nvSpPr>
          <p:cNvPr id="14" name="Text 2052"/>
          <p:cNvSpPr txBox="1"/>
          <p:nvPr/>
        </p:nvSpPr>
        <p:spPr>
          <a:xfrm>
            <a:off x="4251960" y="2465222"/>
            <a:ext cx="2743200" cy="84673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Democracies turned inward</a:t>
            </a:r>
            <a:endParaRPr lang="en-US" sz="1700" dirty="0"/>
          </a:p>
        </p:txBody>
      </p:sp>
      <p:sp>
        <p:nvSpPr>
          <p:cNvPr id="15" name="Text 2053"/>
          <p:cNvSpPr txBox="1"/>
          <p:nvPr/>
        </p:nvSpPr>
        <p:spPr>
          <a:xfrm>
            <a:off x="7040880" y="2465222"/>
            <a:ext cx="4419295" cy="84673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Britain, France and the USA cut spending and avoided costly sanctions or war.</a:t>
            </a:r>
            <a:endParaRPr lang="en-US" sz="1500" dirty="0"/>
          </a:p>
        </p:txBody>
      </p:sp>
      <p:sp>
        <p:nvSpPr>
          <p:cNvPr id="16" name="Arrow 2054"/>
          <p:cNvSpPr/>
          <p:nvPr/>
        </p:nvSpPr>
        <p:spPr>
          <a:xfrm>
            <a:off x="3657600" y="3735324"/>
            <a:ext cx="292608" cy="274320"/>
          </a:xfrm>
          <a:prstGeom prst="chevron">
            <a:avLst/>
          </a:prstGeom>
          <a:solidFill>
            <a:schemeClr val="accent3"/>
          </a:solidFill>
          <a:ln/>
        </p:spPr>
      </p:sp>
      <p:sp>
        <p:nvSpPr>
          <p:cNvPr id="17" name="Effect 2055"/>
          <p:cNvSpPr/>
          <p:nvPr/>
        </p:nvSpPr>
        <p:spPr>
          <a:xfrm>
            <a:off x="4069080" y="3449117"/>
            <a:ext cx="7573975" cy="846734"/>
          </a:xfrm>
          <a:prstGeom prst="roundRect">
            <a:avLst>
              <a:gd name="adj" fmla="val 8639"/>
            </a:avLst>
          </a:prstGeom>
          <a:solidFill>
            <a:schemeClr val="accent3">
              <a:alpha val="9000"/>
            </a:schemeClr>
          </a:solidFill>
          <a:ln/>
        </p:spPr>
      </p:sp>
      <p:sp>
        <p:nvSpPr>
          <p:cNvPr id="18" name="Text 2056"/>
          <p:cNvSpPr txBox="1"/>
          <p:nvPr/>
        </p:nvSpPr>
        <p:spPr>
          <a:xfrm>
            <a:off x="4251960" y="3449117"/>
            <a:ext cx="2743200" cy="84673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Extremists gained power</a:t>
            </a:r>
            <a:endParaRPr lang="en-US" sz="1700" dirty="0"/>
          </a:p>
        </p:txBody>
      </p:sp>
      <p:sp>
        <p:nvSpPr>
          <p:cNvPr id="19" name="Text 2057"/>
          <p:cNvSpPr txBox="1"/>
          <p:nvPr/>
        </p:nvSpPr>
        <p:spPr>
          <a:xfrm>
            <a:off x="7040880" y="3449117"/>
            <a:ext cx="4419295" cy="84673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Nazis in Germany (1933); militarists in Japan (from 1931–32).</a:t>
            </a:r>
            <a:endParaRPr lang="en-US" sz="1500" dirty="0"/>
          </a:p>
        </p:txBody>
      </p:sp>
      <p:sp>
        <p:nvSpPr>
          <p:cNvPr id="20" name="Arrow 2058"/>
          <p:cNvSpPr/>
          <p:nvPr/>
        </p:nvSpPr>
        <p:spPr>
          <a:xfrm>
            <a:off x="3657600" y="4719218"/>
            <a:ext cx="292608" cy="274320"/>
          </a:xfrm>
          <a:prstGeom prst="chevron">
            <a:avLst/>
          </a:prstGeom>
          <a:solidFill>
            <a:schemeClr val="accent3"/>
          </a:solidFill>
          <a:ln/>
        </p:spPr>
      </p:sp>
      <p:sp>
        <p:nvSpPr>
          <p:cNvPr id="21" name="Effect 2059"/>
          <p:cNvSpPr/>
          <p:nvPr/>
        </p:nvSpPr>
        <p:spPr>
          <a:xfrm>
            <a:off x="4069080" y="4433011"/>
            <a:ext cx="7573975" cy="846734"/>
          </a:xfrm>
          <a:prstGeom prst="roundRect">
            <a:avLst>
              <a:gd name="adj" fmla="val 8639"/>
            </a:avLst>
          </a:prstGeom>
          <a:solidFill>
            <a:schemeClr val="accent3">
              <a:alpha val="9000"/>
            </a:schemeClr>
          </a:solidFill>
          <a:ln/>
        </p:spPr>
      </p:sp>
      <p:sp>
        <p:nvSpPr>
          <p:cNvPr id="22" name="Text 2060"/>
          <p:cNvSpPr txBox="1"/>
          <p:nvPr/>
        </p:nvSpPr>
        <p:spPr>
          <a:xfrm>
            <a:off x="4251960" y="4433011"/>
            <a:ext cx="2743200" cy="84673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Hunger for land and resources</a:t>
            </a:r>
            <a:endParaRPr lang="en-US" sz="1700" dirty="0"/>
          </a:p>
        </p:txBody>
      </p:sp>
      <p:sp>
        <p:nvSpPr>
          <p:cNvPr id="23" name="Text 2061"/>
          <p:cNvSpPr txBox="1"/>
          <p:nvPr/>
        </p:nvSpPr>
        <p:spPr>
          <a:xfrm>
            <a:off x="7040880" y="4433011"/>
            <a:ext cx="4419295" cy="84673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Manchuria (1931), Abyssinia (1935), Lebensraum in the East.</a:t>
            </a:r>
            <a:endParaRPr lang="en-US" sz="1500" dirty="0"/>
          </a:p>
        </p:txBody>
      </p:sp>
      <p:sp>
        <p:nvSpPr>
          <p:cNvPr id="24" name="Arrow 2062"/>
          <p:cNvSpPr/>
          <p:nvPr/>
        </p:nvSpPr>
        <p:spPr>
          <a:xfrm>
            <a:off x="3657600" y="5703113"/>
            <a:ext cx="292608" cy="274320"/>
          </a:xfrm>
          <a:prstGeom prst="chevron">
            <a:avLst/>
          </a:prstGeom>
          <a:solidFill>
            <a:schemeClr val="accent3"/>
          </a:solidFill>
          <a:ln/>
        </p:spPr>
      </p:sp>
      <p:sp>
        <p:nvSpPr>
          <p:cNvPr id="25" name="Effect 2063"/>
          <p:cNvSpPr/>
          <p:nvPr/>
        </p:nvSpPr>
        <p:spPr>
          <a:xfrm>
            <a:off x="4069080" y="5416906"/>
            <a:ext cx="7573975" cy="846734"/>
          </a:xfrm>
          <a:prstGeom prst="roundRect">
            <a:avLst>
              <a:gd name="adj" fmla="val 8639"/>
            </a:avLst>
          </a:prstGeom>
          <a:solidFill>
            <a:schemeClr val="accent3">
              <a:alpha val="9000"/>
            </a:schemeClr>
          </a:solidFill>
          <a:ln/>
        </p:spPr>
      </p:sp>
      <p:sp>
        <p:nvSpPr>
          <p:cNvPr id="26" name="Text 2064"/>
          <p:cNvSpPr txBox="1"/>
          <p:nvPr/>
        </p:nvSpPr>
        <p:spPr>
          <a:xfrm>
            <a:off x="4251960" y="5416906"/>
            <a:ext cx="2743200" cy="84673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1920s system collapsed</a:t>
            </a:r>
            <a:endParaRPr lang="en-US" sz="1700" dirty="0"/>
          </a:p>
        </p:txBody>
      </p:sp>
      <p:sp>
        <p:nvSpPr>
          <p:cNvPr id="27" name="Text 2065"/>
          <p:cNvSpPr txBox="1"/>
          <p:nvPr/>
        </p:nvSpPr>
        <p:spPr>
          <a:xfrm>
            <a:off x="7040880" y="5416906"/>
            <a:ext cx="4419295" cy="84673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Reparations and war debts ended (1931–32); disarmament failed.</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Kicker 206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KQ1 · GERMANY</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Germany: from Depression to Hitler</a:t>
            </a:r>
            <a:endParaRPr lang="en-US" sz="3400" dirty="0"/>
          </a:p>
        </p:txBody>
      </p:sp>
      <p:sp>
        <p:nvSpPr>
          <p:cNvPr id="4" name="Chart panel 2067"/>
          <p:cNvSpPr/>
          <p:nvPr/>
        </p:nvSpPr>
        <p:spPr>
          <a:xfrm>
            <a:off x="548640" y="1481328"/>
            <a:ext cx="6400800" cy="4782312"/>
          </a:xfrm>
          <a:prstGeom prst="roundRect">
            <a:avLst>
              <a:gd name="adj" fmla="val 1912"/>
            </a:avLst>
          </a:prstGeom>
          <a:solidFill>
            <a:schemeClr val="bg2"/>
          </a:solidFill>
          <a:ln/>
        </p:spPr>
      </p:sp>
      <p:graphicFrame>
        <p:nvGraphicFramePr>
          <p:cNvPr id="5" name="Chart 2068" descr=""/>
          <p:cNvGraphicFramePr/>
          <p:nvPr/>
        </p:nvGraphicFramePr>
        <p:xfrm>
          <a:off x="685800" y="1572768"/>
          <a:ext cx="6126480" cy="4599432"/>
        </p:xfrm>
        <a:graphic xmlns:a="http://schemas.openxmlformats.org/drawingml/2006/main">
          <a:graphicData uri="http://schemas.openxmlformats.org/drawingml/2006/chart">
            <c:chart xmlns:c="http://schemas.openxmlformats.org/drawingml/2006/chart" r:id="rId1"/>
          </a:graphicData>
        </a:graphic>
      </p:graphicFrame>
      <p:sp>
        <p:nvSpPr>
          <p:cNvPr id="6" name="Card 2069"/>
          <p:cNvSpPr/>
          <p:nvPr/>
        </p:nvSpPr>
        <p:spPr>
          <a:xfrm>
            <a:off x="7223760" y="1481328"/>
            <a:ext cx="4419295" cy="1459992"/>
          </a:xfrm>
          <a:prstGeom prst="roundRect">
            <a:avLst>
              <a:gd name="adj" fmla="val 6263"/>
            </a:avLst>
          </a:prstGeom>
          <a:solidFill>
            <a:schemeClr val="accent3">
              <a:alpha val="10000"/>
            </a:schemeClr>
          </a:solidFill>
          <a:ln/>
        </p:spPr>
      </p:sp>
      <p:sp>
        <p:nvSpPr>
          <p:cNvPr id="7" name="Icon circle 2070"/>
          <p:cNvSpPr/>
          <p:nvPr/>
        </p:nvSpPr>
        <p:spPr>
          <a:xfrm>
            <a:off x="7370064" y="1627632"/>
            <a:ext cx="402336" cy="402336"/>
          </a:xfrm>
          <a:prstGeom prst="ellipse">
            <a:avLst/>
          </a:prstGeom>
          <a:solidFill>
            <a:schemeClr val="accent3"/>
          </a:solidFill>
          <a:ln/>
        </p:spPr>
      </p:sp>
      <p:pic>
        <p:nvPicPr>
          <p:cNvPr id="8" name="Icon FaUsers 2071" descr="preencoded.png">    </p:cNvPr>
          <p:cNvPicPr>
            <a:picLocks noChangeAspect="1"/>
          </p:cNvPicPr>
          <p:nvPr/>
        </p:nvPicPr>
        <p:blipFill>
          <a:blip r:embed="rId2"/>
          <a:stretch>
            <a:fillRect/>
          </a:stretch>
        </p:blipFill>
        <p:spPr>
          <a:xfrm>
            <a:off x="7458578" y="1716146"/>
            <a:ext cx="225308" cy="225308"/>
          </a:xfrm>
          <a:prstGeom prst="rect">
            <a:avLst/>
          </a:prstGeom>
        </p:spPr>
      </p:pic>
      <p:sp>
        <p:nvSpPr>
          <p:cNvPr id="9" name="Card title 2072"/>
          <p:cNvSpPr txBox="1"/>
          <p:nvPr/>
        </p:nvSpPr>
        <p:spPr>
          <a:xfrm>
            <a:off x="7900416" y="162763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Depression</a:t>
            </a:r>
            <a:endParaRPr lang="en-US" sz="1600" dirty="0"/>
          </a:p>
        </p:txBody>
      </p:sp>
      <p:sp>
        <p:nvSpPr>
          <p:cNvPr id="10" name="Text 2073"/>
          <p:cNvSpPr txBox="1"/>
          <p:nvPr/>
        </p:nvSpPr>
        <p:spPr>
          <a:xfrm>
            <a:off x="7370064" y="2139696"/>
            <a:ext cx="4126687" cy="6553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Unemployment rose from under 2m (1929) to c.6m (1932); voters turned to extremes.</a:t>
            </a:r>
            <a:endParaRPr lang="en-US" sz="1700" dirty="0"/>
          </a:p>
        </p:txBody>
      </p:sp>
      <p:sp>
        <p:nvSpPr>
          <p:cNvPr id="11" name="Card 2074"/>
          <p:cNvSpPr/>
          <p:nvPr/>
        </p:nvSpPr>
        <p:spPr>
          <a:xfrm>
            <a:off x="7223760" y="3142488"/>
            <a:ext cx="4419295" cy="1459992"/>
          </a:xfrm>
          <a:prstGeom prst="roundRect">
            <a:avLst>
              <a:gd name="adj" fmla="val 6263"/>
            </a:avLst>
          </a:prstGeom>
          <a:solidFill>
            <a:schemeClr val="accent3">
              <a:alpha val="10000"/>
            </a:schemeClr>
          </a:solidFill>
          <a:ln/>
        </p:spPr>
      </p:sp>
      <p:sp>
        <p:nvSpPr>
          <p:cNvPr id="12" name="Icon circle 2075"/>
          <p:cNvSpPr/>
          <p:nvPr/>
        </p:nvSpPr>
        <p:spPr>
          <a:xfrm>
            <a:off x="7370064" y="3288792"/>
            <a:ext cx="402336" cy="402336"/>
          </a:xfrm>
          <a:prstGeom prst="ellipse">
            <a:avLst/>
          </a:prstGeom>
          <a:solidFill>
            <a:schemeClr val="accent3"/>
          </a:solidFill>
          <a:ln/>
        </p:spPr>
      </p:sp>
      <p:pic>
        <p:nvPicPr>
          <p:cNvPr id="13" name="Icon FaBullseye 2076" descr="preencoded.png">    </p:cNvPr>
          <p:cNvPicPr>
            <a:picLocks noChangeAspect="1"/>
          </p:cNvPicPr>
          <p:nvPr/>
        </p:nvPicPr>
        <p:blipFill>
          <a:blip r:embed="rId3"/>
          <a:stretch>
            <a:fillRect/>
          </a:stretch>
        </p:blipFill>
        <p:spPr>
          <a:xfrm>
            <a:off x="7458578" y="3377306"/>
            <a:ext cx="225308" cy="225308"/>
          </a:xfrm>
          <a:prstGeom prst="rect">
            <a:avLst/>
          </a:prstGeom>
        </p:spPr>
      </p:pic>
      <p:sp>
        <p:nvSpPr>
          <p:cNvPr id="14" name="Card title 2077"/>
          <p:cNvSpPr txBox="1"/>
          <p:nvPr/>
        </p:nvSpPr>
        <p:spPr>
          <a:xfrm>
            <a:off x="7900416" y="328879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Hitler's aims</a:t>
            </a:r>
            <a:endParaRPr lang="en-US" sz="1600" dirty="0"/>
          </a:p>
        </p:txBody>
      </p:sp>
      <p:sp>
        <p:nvSpPr>
          <p:cNvPr id="15" name="Text 2078"/>
          <p:cNvSpPr txBox="1"/>
          <p:nvPr/>
        </p:nvSpPr>
        <p:spPr>
          <a:xfrm>
            <a:off x="7370064" y="3800856"/>
            <a:ext cx="4126687" cy="6553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Overturn Versailles; unite all Germans; Lebensraum in the East; destroy communism.</a:t>
            </a:r>
            <a:endParaRPr lang="en-US" sz="1700" dirty="0"/>
          </a:p>
        </p:txBody>
      </p:sp>
      <p:sp>
        <p:nvSpPr>
          <p:cNvPr id="16" name="Card 2079"/>
          <p:cNvSpPr/>
          <p:nvPr/>
        </p:nvSpPr>
        <p:spPr>
          <a:xfrm>
            <a:off x="7223760" y="4803648"/>
            <a:ext cx="4419295" cy="1459992"/>
          </a:xfrm>
          <a:prstGeom prst="roundRect">
            <a:avLst>
              <a:gd name="adj" fmla="val 6263"/>
            </a:avLst>
          </a:prstGeom>
          <a:solidFill>
            <a:schemeClr val="accent3">
              <a:alpha val="10000"/>
            </a:schemeClr>
          </a:solidFill>
          <a:ln/>
        </p:spPr>
      </p:sp>
      <p:sp>
        <p:nvSpPr>
          <p:cNvPr id="17" name="Icon circle 2080"/>
          <p:cNvSpPr/>
          <p:nvPr/>
        </p:nvSpPr>
        <p:spPr>
          <a:xfrm>
            <a:off x="7370064" y="4949952"/>
            <a:ext cx="402336" cy="402336"/>
          </a:xfrm>
          <a:prstGeom prst="ellipse">
            <a:avLst/>
          </a:prstGeom>
          <a:solidFill>
            <a:schemeClr val="accent3"/>
          </a:solidFill>
          <a:ln/>
        </p:spPr>
      </p:sp>
      <p:pic>
        <p:nvPicPr>
          <p:cNvPr id="18" name="Icon FaBookOpen 2081" descr="preencoded.png">    </p:cNvPr>
          <p:cNvPicPr>
            <a:picLocks noChangeAspect="1"/>
          </p:cNvPicPr>
          <p:nvPr/>
        </p:nvPicPr>
        <p:blipFill>
          <a:blip r:embed="rId4"/>
          <a:stretch>
            <a:fillRect/>
          </a:stretch>
        </p:blipFill>
        <p:spPr>
          <a:xfrm>
            <a:off x="7458578" y="5038466"/>
            <a:ext cx="225308" cy="225308"/>
          </a:xfrm>
          <a:prstGeom prst="rect">
            <a:avLst/>
          </a:prstGeom>
        </p:spPr>
      </p:pic>
      <p:sp>
        <p:nvSpPr>
          <p:cNvPr id="19" name="Card title 2082"/>
          <p:cNvSpPr txBox="1"/>
          <p:nvPr/>
        </p:nvSpPr>
        <p:spPr>
          <a:xfrm>
            <a:off x="7900416" y="4949952"/>
            <a:ext cx="3596335" cy="402336"/>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Ideology</a:t>
            </a:r>
            <a:endParaRPr lang="en-US" sz="1600" dirty="0"/>
          </a:p>
        </p:txBody>
      </p:sp>
      <p:sp>
        <p:nvSpPr>
          <p:cNvPr id="20" name="Text 2083"/>
          <p:cNvSpPr txBox="1"/>
          <p:nvPr/>
        </p:nvSpPr>
        <p:spPr>
          <a:xfrm>
            <a:off x="7370064" y="5462016"/>
            <a:ext cx="4126687" cy="655320"/>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Racial nationalism set out in Mein Kampf (1925).</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Kicker 208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KQ1 · JAPAN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Japan: from Depression to militarism</a:t>
            </a:r>
            <a:endParaRPr lang="en-US" sz="3400" dirty="0"/>
          </a:p>
        </p:txBody>
      </p:sp>
      <p:sp>
        <p:nvSpPr>
          <p:cNvPr id="4" name="Step 2085"/>
          <p:cNvSpPr/>
          <p:nvPr/>
        </p:nvSpPr>
        <p:spPr>
          <a:xfrm>
            <a:off x="548640" y="1481328"/>
            <a:ext cx="2485568" cy="3794760"/>
          </a:xfrm>
          <a:prstGeom prst="roundRect">
            <a:avLst>
              <a:gd name="adj" fmla="val 3679"/>
            </a:avLst>
          </a:prstGeom>
          <a:solidFill>
            <a:schemeClr val="accent3">
              <a:alpha val="10000"/>
            </a:schemeClr>
          </a:solidFill>
          <a:ln/>
        </p:spPr>
      </p:sp>
      <p:sp>
        <p:nvSpPr>
          <p:cNvPr id="5" name="Step number 2086"/>
          <p:cNvSpPr/>
          <p:nvPr/>
        </p:nvSpPr>
        <p:spPr>
          <a:xfrm>
            <a:off x="713232" y="1645920"/>
            <a:ext cx="420624" cy="420624"/>
          </a:xfrm>
          <a:prstGeom prst="ellipse">
            <a:avLst/>
          </a:prstGeom>
          <a:solidFill>
            <a:schemeClr val="accent3"/>
          </a:solidFill>
          <a:ln/>
        </p:spPr>
      </p:sp>
      <p:sp>
        <p:nvSpPr>
          <p:cNvPr id="6" name="Text 2087"/>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2088"/>
          <p:cNvSpPr txBox="1"/>
          <p:nvPr/>
        </p:nvSpPr>
        <p:spPr>
          <a:xfrm>
            <a:off x="1243584"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Depression</a:t>
            </a:r>
            <a:endParaRPr lang="en-US" sz="1600" dirty="0"/>
          </a:p>
        </p:txBody>
      </p:sp>
      <p:sp>
        <p:nvSpPr>
          <p:cNvPr id="8" name="Text 2089"/>
          <p:cNvSpPr txBox="1"/>
          <p:nvPr/>
        </p:nvSpPr>
        <p:spPr>
          <a:xfrm>
            <a:off x="713232"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US demand for silk collapsed</a:t>
            </a:r>
            <a:endParaRPr lang="en-US" sz="1800" dirty="0"/>
          </a:p>
          <a:p>
            <a:pPr algn="l" marL="190500" indent="-190500">
              <a:spcAft>
                <a:spcPts val="400"/>
              </a:spcAft>
              <a:buSzPct val="100000"/>
              <a:buChar char="•"/>
            </a:pPr>
            <a:r>
              <a:rPr lang="en-US" sz="1800" dirty="0">
                <a:solidFill>
                  <a:schemeClr val="tx1"/>
                </a:solidFill>
              </a:rPr>
              <a:t>Rice prices fell → rural poverty (where most soldiers came from)</a:t>
            </a:r>
            <a:endParaRPr lang="en-US" sz="1800" dirty="0"/>
          </a:p>
        </p:txBody>
      </p:sp>
      <p:sp>
        <p:nvSpPr>
          <p:cNvPr id="9" name="Arrow 2090"/>
          <p:cNvSpPr/>
          <p:nvPr/>
        </p:nvSpPr>
        <p:spPr>
          <a:xfrm>
            <a:off x="3098216" y="3232404"/>
            <a:ext cx="256032" cy="292608"/>
          </a:xfrm>
          <a:prstGeom prst="chevron">
            <a:avLst/>
          </a:prstGeom>
          <a:solidFill>
            <a:schemeClr val="accent3"/>
          </a:solidFill>
          <a:ln/>
        </p:spPr>
      </p:sp>
      <p:sp>
        <p:nvSpPr>
          <p:cNvPr id="10" name="Step 2091"/>
          <p:cNvSpPr/>
          <p:nvPr/>
        </p:nvSpPr>
        <p:spPr>
          <a:xfrm>
            <a:off x="3418256" y="1481328"/>
            <a:ext cx="2485568" cy="3794760"/>
          </a:xfrm>
          <a:prstGeom prst="roundRect">
            <a:avLst>
              <a:gd name="adj" fmla="val 3679"/>
            </a:avLst>
          </a:prstGeom>
          <a:solidFill>
            <a:schemeClr val="accent3">
              <a:alpha val="10000"/>
            </a:schemeClr>
          </a:solidFill>
          <a:ln/>
        </p:spPr>
      </p:sp>
      <p:sp>
        <p:nvSpPr>
          <p:cNvPr id="11" name="Step number 2092"/>
          <p:cNvSpPr/>
          <p:nvPr/>
        </p:nvSpPr>
        <p:spPr>
          <a:xfrm>
            <a:off x="3582848" y="1645920"/>
            <a:ext cx="420624" cy="420624"/>
          </a:xfrm>
          <a:prstGeom prst="ellipse">
            <a:avLst/>
          </a:prstGeom>
          <a:solidFill>
            <a:schemeClr val="accent3"/>
          </a:solidFill>
          <a:ln/>
        </p:spPr>
      </p:sp>
      <p:sp>
        <p:nvSpPr>
          <p:cNvPr id="12" name="Text 2093"/>
          <p:cNvSpPr txBox="1"/>
          <p:nvPr/>
        </p:nvSpPr>
        <p:spPr>
          <a:xfrm>
            <a:off x="3582848"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2094"/>
          <p:cNvSpPr txBox="1"/>
          <p:nvPr/>
        </p:nvSpPr>
        <p:spPr>
          <a:xfrm>
            <a:off x="4113200"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Politics</a:t>
            </a:r>
            <a:endParaRPr lang="en-US" sz="1600" dirty="0"/>
          </a:p>
        </p:txBody>
      </p:sp>
      <p:sp>
        <p:nvSpPr>
          <p:cNvPr id="14" name="Text 2095"/>
          <p:cNvSpPr txBox="1"/>
          <p:nvPr/>
        </p:nvSpPr>
        <p:spPr>
          <a:xfrm>
            <a:off x="3582848"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Parties blamed for weakness and corruption</a:t>
            </a:r>
            <a:endParaRPr lang="en-US" sz="1800" dirty="0"/>
          </a:p>
          <a:p>
            <a:pPr algn="l" marL="190500" indent="-190500">
              <a:spcAft>
                <a:spcPts val="400"/>
              </a:spcAft>
              <a:buSzPct val="100000"/>
              <a:buChar char="•"/>
            </a:pPr>
            <a:r>
              <a:rPr lang="en-US" sz="1800" dirty="0">
                <a:solidFill>
                  <a:schemeClr val="tx1"/>
                </a:solidFill>
              </a:rPr>
              <a:t>London Naval Treaty (1930) seen as humiliating</a:t>
            </a:r>
            <a:endParaRPr lang="en-US" sz="1800" dirty="0"/>
          </a:p>
          <a:p>
            <a:pPr algn="l" marL="190500" indent="-190500">
              <a:spcAft>
                <a:spcPts val="400"/>
              </a:spcAft>
              <a:buSzPct val="100000"/>
              <a:buChar char="•"/>
            </a:pPr>
            <a:r>
              <a:rPr lang="en-US" sz="1800" dirty="0">
                <a:solidFill>
                  <a:schemeClr val="tx1"/>
                </a:solidFill>
              </a:rPr>
              <a:t>PM Inukai murdered (May 1932): party rule ends</a:t>
            </a:r>
            <a:endParaRPr lang="en-US" sz="1800" dirty="0"/>
          </a:p>
        </p:txBody>
      </p:sp>
      <p:sp>
        <p:nvSpPr>
          <p:cNvPr id="15" name="Arrow 2096"/>
          <p:cNvSpPr/>
          <p:nvPr/>
        </p:nvSpPr>
        <p:spPr>
          <a:xfrm>
            <a:off x="5967832" y="3232404"/>
            <a:ext cx="256032" cy="292608"/>
          </a:xfrm>
          <a:prstGeom prst="chevron">
            <a:avLst/>
          </a:prstGeom>
          <a:solidFill>
            <a:schemeClr val="accent3"/>
          </a:solidFill>
          <a:ln/>
        </p:spPr>
      </p:sp>
      <p:sp>
        <p:nvSpPr>
          <p:cNvPr id="16" name="Step 2097"/>
          <p:cNvSpPr/>
          <p:nvPr/>
        </p:nvSpPr>
        <p:spPr>
          <a:xfrm>
            <a:off x="6287872" y="1481328"/>
            <a:ext cx="2485568" cy="3794760"/>
          </a:xfrm>
          <a:prstGeom prst="roundRect">
            <a:avLst>
              <a:gd name="adj" fmla="val 3679"/>
            </a:avLst>
          </a:prstGeom>
          <a:solidFill>
            <a:schemeClr val="accent3">
              <a:alpha val="10000"/>
            </a:schemeClr>
          </a:solidFill>
          <a:ln/>
        </p:spPr>
      </p:sp>
      <p:sp>
        <p:nvSpPr>
          <p:cNvPr id="17" name="Step number 2098"/>
          <p:cNvSpPr/>
          <p:nvPr/>
        </p:nvSpPr>
        <p:spPr>
          <a:xfrm>
            <a:off x="6452464" y="1645920"/>
            <a:ext cx="420624" cy="420624"/>
          </a:xfrm>
          <a:prstGeom prst="ellipse">
            <a:avLst/>
          </a:prstGeom>
          <a:solidFill>
            <a:schemeClr val="accent3"/>
          </a:solidFill>
          <a:ln/>
        </p:spPr>
      </p:sp>
      <p:sp>
        <p:nvSpPr>
          <p:cNvPr id="18" name="Text 2099"/>
          <p:cNvSpPr txBox="1"/>
          <p:nvPr/>
        </p:nvSpPr>
        <p:spPr>
          <a:xfrm>
            <a:off x="6452464"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2100"/>
          <p:cNvSpPr txBox="1"/>
          <p:nvPr/>
        </p:nvSpPr>
        <p:spPr>
          <a:xfrm>
            <a:off x="6982816"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Army takes over</a:t>
            </a:r>
            <a:endParaRPr lang="en-US" sz="1600" dirty="0"/>
          </a:p>
        </p:txBody>
      </p:sp>
      <p:sp>
        <p:nvSpPr>
          <p:cNvPr id="20" name="Text 2101"/>
          <p:cNvSpPr txBox="1"/>
          <p:nvPr/>
        </p:nvSpPr>
        <p:spPr>
          <a:xfrm>
            <a:off x="6452464"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Kwantung Army acted alone in Manchuria (1931)</a:t>
            </a:r>
            <a:endParaRPr lang="en-US" sz="1800" dirty="0"/>
          </a:p>
          <a:p>
            <a:pPr algn="l" marL="190500" indent="-190500">
              <a:spcAft>
                <a:spcPts val="400"/>
              </a:spcAft>
              <a:buSzPct val="100000"/>
              <a:buChar char="•"/>
            </a:pPr>
            <a:r>
              <a:rPr lang="en-US" sz="1800" dirty="0">
                <a:solidFill>
                  <a:schemeClr val="tx1"/>
                </a:solidFill>
              </a:rPr>
              <a:t>Army and navy dominated cabinets</a:t>
            </a:r>
            <a:endParaRPr lang="en-US" sz="1800" dirty="0"/>
          </a:p>
          <a:p>
            <a:pPr algn="l" marL="190500" indent="-190500">
              <a:spcAft>
                <a:spcPts val="400"/>
              </a:spcAft>
              <a:buSzPct val="100000"/>
              <a:buChar char="•"/>
            </a:pPr>
            <a:r>
              <a:rPr lang="en-US" sz="1800" dirty="0">
                <a:solidFill>
                  <a:schemeClr val="tx1"/>
                </a:solidFill>
              </a:rPr>
              <a:t>Failed coup of Feb 1936 increased army power</a:t>
            </a:r>
            <a:endParaRPr lang="en-US" sz="1800" dirty="0"/>
          </a:p>
        </p:txBody>
      </p:sp>
      <p:sp>
        <p:nvSpPr>
          <p:cNvPr id="21" name="Arrow 2102"/>
          <p:cNvSpPr/>
          <p:nvPr/>
        </p:nvSpPr>
        <p:spPr>
          <a:xfrm>
            <a:off x="8837447" y="3232404"/>
            <a:ext cx="256032" cy="292608"/>
          </a:xfrm>
          <a:prstGeom prst="chevron">
            <a:avLst/>
          </a:prstGeom>
          <a:solidFill>
            <a:schemeClr val="accent3"/>
          </a:solidFill>
          <a:ln/>
        </p:spPr>
      </p:sp>
      <p:sp>
        <p:nvSpPr>
          <p:cNvPr id="22" name="Step 2103"/>
          <p:cNvSpPr/>
          <p:nvPr/>
        </p:nvSpPr>
        <p:spPr>
          <a:xfrm>
            <a:off x="9157487" y="1481328"/>
            <a:ext cx="2485568" cy="3794760"/>
          </a:xfrm>
          <a:prstGeom prst="roundRect">
            <a:avLst>
              <a:gd name="adj" fmla="val 3679"/>
            </a:avLst>
          </a:prstGeom>
          <a:solidFill>
            <a:schemeClr val="accent3">
              <a:alpha val="10000"/>
            </a:schemeClr>
          </a:solidFill>
          <a:ln/>
        </p:spPr>
      </p:sp>
      <p:sp>
        <p:nvSpPr>
          <p:cNvPr id="23" name="Step number 2104"/>
          <p:cNvSpPr/>
          <p:nvPr/>
        </p:nvSpPr>
        <p:spPr>
          <a:xfrm>
            <a:off x="9322079" y="1645920"/>
            <a:ext cx="420624" cy="420624"/>
          </a:xfrm>
          <a:prstGeom prst="ellipse">
            <a:avLst/>
          </a:prstGeom>
          <a:solidFill>
            <a:schemeClr val="accent3"/>
          </a:solidFill>
          <a:ln/>
        </p:spPr>
      </p:sp>
      <p:sp>
        <p:nvSpPr>
          <p:cNvPr id="24" name="Text 2105"/>
          <p:cNvSpPr txBox="1"/>
          <p:nvPr/>
        </p:nvSpPr>
        <p:spPr>
          <a:xfrm>
            <a:off x="9322079"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4</a:t>
            </a:r>
            <a:endParaRPr lang="en-US" sz="1600" dirty="0"/>
          </a:p>
        </p:txBody>
      </p:sp>
      <p:sp>
        <p:nvSpPr>
          <p:cNvPr id="25" name="Text 2106"/>
          <p:cNvSpPr txBox="1"/>
          <p:nvPr/>
        </p:nvSpPr>
        <p:spPr>
          <a:xfrm>
            <a:off x="9852431"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Aims abroad</a:t>
            </a:r>
            <a:endParaRPr lang="en-US" sz="1600" dirty="0"/>
          </a:p>
        </p:txBody>
      </p:sp>
      <p:sp>
        <p:nvSpPr>
          <p:cNvPr id="26" name="Text 2107"/>
          <p:cNvSpPr txBox="1"/>
          <p:nvPr/>
        </p:nvSpPr>
        <p:spPr>
          <a:xfrm>
            <a:off x="9322079" y="2176272"/>
            <a:ext cx="2156384" cy="2962656"/>
          </a:xfrm>
          <a:prstGeom prst="rect">
            <a:avLst/>
          </a:prstGeom>
          <a:noFill/>
          <a:ln/>
        </p:spPr>
        <p:txBody>
          <a:bodyPr wrap="square" lIns="0" tIns="0" rIns="0" bIns="0" rtlCol="0" anchor="t"/>
          <a:lstStyle/>
          <a:p>
            <a:pPr algn="l" marL="190500" indent="-190500">
              <a:spcAft>
                <a:spcPts val="400"/>
              </a:spcAft>
              <a:buSzPct val="100000"/>
              <a:buChar char="•"/>
            </a:pPr>
            <a:r>
              <a:rPr lang="en-US" sz="1800" dirty="0">
                <a:solidFill>
                  <a:schemeClr val="tx1"/>
                </a:solidFill>
              </a:rPr>
              <a:t>Resources: coal, iron, later oil</a:t>
            </a:r>
            <a:endParaRPr lang="en-US" sz="1800" dirty="0"/>
          </a:p>
          <a:p>
            <a:pPr algn="l" marL="190500" indent="-190500">
              <a:spcAft>
                <a:spcPts val="400"/>
              </a:spcAft>
              <a:buSzPct val="100000"/>
              <a:buChar char="•"/>
            </a:pPr>
            <a:r>
              <a:rPr lang="en-US" sz="1800" dirty="0">
                <a:solidFill>
                  <a:schemeClr val="tx1"/>
                </a:solidFill>
              </a:rPr>
              <a:t>Security against the USSR</a:t>
            </a:r>
            <a:endParaRPr lang="en-US" sz="1800" dirty="0"/>
          </a:p>
          <a:p>
            <a:pPr algn="l" marL="190500" indent="-190500">
              <a:spcAft>
                <a:spcPts val="400"/>
              </a:spcAft>
              <a:buSzPct val="100000"/>
              <a:buChar char="•"/>
            </a:pPr>
            <a:r>
              <a:rPr lang="en-US" sz="1800" dirty="0">
                <a:solidFill>
                  <a:schemeClr val="tx1"/>
                </a:solidFill>
              </a:rPr>
              <a:t>'Asia for the Asians' — under Japan</a:t>
            </a:r>
            <a:endParaRPr lang="en-US" sz="1800" dirty="0"/>
          </a:p>
        </p:txBody>
      </p:sp>
      <p:sp>
        <p:nvSpPr>
          <p:cNvPr id="27" name="Callout 2108"/>
          <p:cNvSpPr/>
          <p:nvPr/>
        </p:nvSpPr>
        <p:spPr>
          <a:xfrm>
            <a:off x="548640" y="5550408"/>
            <a:ext cx="11094415" cy="713232"/>
          </a:xfrm>
          <a:prstGeom prst="roundRect">
            <a:avLst>
              <a:gd name="adj" fmla="val 12821"/>
            </a:avLst>
          </a:prstGeom>
          <a:solidFill>
            <a:schemeClr val="accent4">
              <a:alpha val="20000"/>
            </a:schemeClr>
          </a:solidFill>
          <a:ln/>
        </p:spPr>
      </p:sp>
      <p:sp>
        <p:nvSpPr>
          <p:cNvPr id="28" name="Callout label 2109"/>
          <p:cNvSpPr/>
          <p:nvPr/>
        </p:nvSpPr>
        <p:spPr>
          <a:xfrm>
            <a:off x="731520" y="5751576"/>
            <a:ext cx="811719" cy="310896"/>
          </a:xfrm>
          <a:prstGeom prst="roundRect">
            <a:avLst>
              <a:gd name="adj" fmla="val 50000"/>
            </a:avLst>
          </a:prstGeom>
          <a:solidFill>
            <a:schemeClr val="accent4"/>
          </a:solidFill>
          <a:ln/>
        </p:spPr>
      </p:sp>
      <p:sp>
        <p:nvSpPr>
          <p:cNvPr id="29" name="Text 2110"/>
          <p:cNvSpPr txBox="1"/>
          <p:nvPr/>
        </p:nvSpPr>
        <p:spPr>
          <a:xfrm>
            <a:off x="731520" y="5751576"/>
            <a:ext cx="811719"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RESULT</a:t>
            </a:r>
            <a:endParaRPr lang="en-US" sz="1200" dirty="0"/>
          </a:p>
        </p:txBody>
      </p:sp>
      <p:sp>
        <p:nvSpPr>
          <p:cNvPr id="30" name="Text 2111"/>
          <p:cNvSpPr txBox="1"/>
          <p:nvPr/>
        </p:nvSpPr>
        <p:spPr>
          <a:xfrm>
            <a:off x="1726119" y="5623560"/>
            <a:ext cx="9734056"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Japan left the League (1933), ended naval limits (1934–36), signed the Anti-Comintern Pact (1936) and invaded China (1937).</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Kicker 211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KQ1 · ITALY</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Mussolini's Italy: from Stresa to the Axis</a:t>
            </a:r>
            <a:endParaRPr lang="en-US" sz="3400" dirty="0"/>
          </a:p>
        </p:txBody>
      </p:sp>
      <p:sp>
        <p:nvSpPr>
          <p:cNvPr id="4" name="Card 2113"/>
          <p:cNvSpPr/>
          <p:nvPr/>
        </p:nvSpPr>
        <p:spPr>
          <a:xfrm>
            <a:off x="548640" y="1481328"/>
            <a:ext cx="3840480" cy="4782312"/>
          </a:xfrm>
          <a:prstGeom prst="roundRect">
            <a:avLst>
              <a:gd name="adj" fmla="val 2381"/>
            </a:avLst>
          </a:prstGeom>
          <a:solidFill>
            <a:schemeClr val="accent3">
              <a:alpha val="10000"/>
            </a:schemeClr>
          </a:solidFill>
          <a:ln/>
        </p:spPr>
      </p:sp>
      <p:sp>
        <p:nvSpPr>
          <p:cNvPr id="5" name="Icon circle 2114"/>
          <p:cNvSpPr/>
          <p:nvPr/>
        </p:nvSpPr>
        <p:spPr>
          <a:xfrm>
            <a:off x="731520" y="1664208"/>
            <a:ext cx="475488" cy="475488"/>
          </a:xfrm>
          <a:prstGeom prst="ellipse">
            <a:avLst/>
          </a:prstGeom>
          <a:solidFill>
            <a:schemeClr val="accent3"/>
          </a:solidFill>
          <a:ln/>
        </p:spPr>
      </p:sp>
      <p:pic>
        <p:nvPicPr>
          <p:cNvPr id="6" name="Icon FaFistRaised 2115"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116"/>
          <p:cNvSpPr txBox="1"/>
          <p:nvPr/>
        </p:nvSpPr>
        <p:spPr>
          <a:xfrm>
            <a:off x="1335024" y="1664208"/>
            <a:ext cx="2871216"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Mussolini's aims</a:t>
            </a:r>
            <a:endParaRPr lang="en-US" sz="1700" dirty="0"/>
          </a:p>
        </p:txBody>
      </p:sp>
      <p:sp>
        <p:nvSpPr>
          <p:cNvPr id="8" name="Text 2117"/>
          <p:cNvSpPr txBox="1"/>
          <p:nvPr/>
        </p:nvSpPr>
        <p:spPr>
          <a:xfrm>
            <a:off x="731520" y="2249424"/>
            <a:ext cx="3474720" cy="3831336"/>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Make Italy great and feared</a:t>
            </a:r>
            <a:endParaRPr lang="en-US" sz="1800" dirty="0"/>
          </a:p>
          <a:p>
            <a:pPr algn="l" marL="190500" indent="-190500">
              <a:spcAft>
                <a:spcPts val="500"/>
              </a:spcAft>
              <a:buSzPct val="100000"/>
              <a:buChar char="•"/>
            </a:pPr>
            <a:r>
              <a:rPr lang="en-US" sz="1800" dirty="0">
                <a:solidFill>
                  <a:schemeClr val="tx1"/>
                </a:solidFill>
              </a:rPr>
              <a:t>A 'new Roman Empire' in Africa</a:t>
            </a:r>
            <a:endParaRPr lang="en-US" sz="1800" dirty="0"/>
          </a:p>
          <a:p>
            <a:pPr algn="l" marL="190500" indent="-190500">
              <a:spcAft>
                <a:spcPts val="500"/>
              </a:spcAft>
              <a:buSzPct val="100000"/>
              <a:buChar char="•"/>
            </a:pPr>
            <a:r>
              <a:rPr lang="en-US" sz="1800" dirty="0">
                <a:solidFill>
                  <a:schemeClr val="tx1"/>
                </a:solidFill>
              </a:rPr>
              <a:t>Control the Mediterranean — 'mare nostrum'</a:t>
            </a:r>
            <a:endParaRPr lang="en-US" sz="1800" dirty="0"/>
          </a:p>
          <a:p>
            <a:pPr algn="l" marL="190500" indent="-190500">
              <a:spcAft>
                <a:spcPts val="500"/>
              </a:spcAft>
              <a:buSzPct val="100000"/>
              <a:buChar char="•"/>
            </a:pPr>
            <a:r>
              <a:rPr lang="en-US" sz="1800" dirty="0">
                <a:solidFill>
                  <a:schemeClr val="tx1"/>
                </a:solidFill>
              </a:rPr>
              <a:t>Influence in the Balkans</a:t>
            </a:r>
            <a:endParaRPr lang="en-US" sz="1800" dirty="0"/>
          </a:p>
          <a:p>
            <a:pPr algn="l" marL="190500" indent="-190500">
              <a:spcAft>
                <a:spcPts val="500"/>
              </a:spcAft>
              <a:buSzPct val="100000"/>
              <a:buChar char="•"/>
            </a:pPr>
            <a:r>
              <a:rPr lang="en-US" sz="1800" dirty="0">
                <a:solidFill>
                  <a:schemeClr val="tx1"/>
                </a:solidFill>
              </a:rPr>
              <a:t>Avenge Adwa (1896)</a:t>
            </a:r>
            <a:endParaRPr lang="en-US" sz="1800" dirty="0"/>
          </a:p>
        </p:txBody>
      </p:sp>
      <p:sp>
        <p:nvSpPr>
          <p:cNvPr id="9" name="Connector 2118"/>
          <p:cNvSpPr/>
          <p:nvPr/>
        </p:nvSpPr>
        <p:spPr>
          <a:xfrm>
            <a:off x="5234940" y="1856232"/>
            <a:ext cx="0" cy="460248"/>
          </a:xfrm>
          <a:prstGeom prst="line">
            <a:avLst/>
          </a:prstGeom>
          <a:noFill/>
          <a:ln w="15875">
            <a:solidFill>
              <a:schemeClr val="accent3"/>
            </a:solidFill>
            <a:prstDash val="solid"/>
          </a:ln>
        </p:spPr>
      </p:sp>
      <p:sp>
        <p:nvSpPr>
          <p:cNvPr id="10" name="Date pill 2119"/>
          <p:cNvSpPr/>
          <p:nvPr/>
        </p:nvSpPr>
        <p:spPr>
          <a:xfrm>
            <a:off x="4663440" y="1527048"/>
            <a:ext cx="1143000" cy="329184"/>
          </a:xfrm>
          <a:prstGeom prst="roundRect">
            <a:avLst>
              <a:gd name="adj" fmla="val 50000"/>
            </a:avLst>
          </a:prstGeom>
          <a:solidFill>
            <a:schemeClr val="accent3"/>
          </a:solidFill>
          <a:ln/>
        </p:spPr>
      </p:sp>
      <p:sp>
        <p:nvSpPr>
          <p:cNvPr id="11" name="Text 2120"/>
          <p:cNvSpPr txBox="1"/>
          <p:nvPr/>
        </p:nvSpPr>
        <p:spPr>
          <a:xfrm>
            <a:off x="4663440" y="1527048"/>
            <a:ext cx="11430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1934</a:t>
            </a:r>
            <a:endParaRPr lang="en-US" sz="1300" dirty="0"/>
          </a:p>
        </p:txBody>
      </p:sp>
      <p:sp>
        <p:nvSpPr>
          <p:cNvPr id="12" name="Text 2121"/>
          <p:cNvSpPr txBox="1"/>
          <p:nvPr/>
        </p:nvSpPr>
        <p:spPr>
          <a:xfrm>
            <a:off x="5971032" y="1508760"/>
            <a:ext cx="5672023" cy="752856"/>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Troops to the Brenner Pass block a Nazi takeover of Austria</a:t>
            </a:r>
            <a:endParaRPr lang="en-US" sz="1500" dirty="0"/>
          </a:p>
        </p:txBody>
      </p:sp>
      <p:sp>
        <p:nvSpPr>
          <p:cNvPr id="13" name="Connector 2122"/>
          <p:cNvSpPr/>
          <p:nvPr/>
        </p:nvSpPr>
        <p:spPr>
          <a:xfrm>
            <a:off x="5234940" y="2645664"/>
            <a:ext cx="0" cy="460248"/>
          </a:xfrm>
          <a:prstGeom prst="line">
            <a:avLst/>
          </a:prstGeom>
          <a:noFill/>
          <a:ln w="15875">
            <a:solidFill>
              <a:schemeClr val="accent3"/>
            </a:solidFill>
            <a:prstDash val="solid"/>
          </a:ln>
        </p:spPr>
      </p:sp>
      <p:sp>
        <p:nvSpPr>
          <p:cNvPr id="14" name="Date pill 2123"/>
          <p:cNvSpPr/>
          <p:nvPr/>
        </p:nvSpPr>
        <p:spPr>
          <a:xfrm>
            <a:off x="4663440" y="2316480"/>
            <a:ext cx="1143000" cy="329184"/>
          </a:xfrm>
          <a:prstGeom prst="roundRect">
            <a:avLst>
              <a:gd name="adj" fmla="val 50000"/>
            </a:avLst>
          </a:prstGeom>
          <a:solidFill>
            <a:schemeClr val="accent3"/>
          </a:solidFill>
          <a:ln/>
        </p:spPr>
      </p:sp>
      <p:sp>
        <p:nvSpPr>
          <p:cNvPr id="15" name="Text 2124"/>
          <p:cNvSpPr txBox="1"/>
          <p:nvPr/>
        </p:nvSpPr>
        <p:spPr>
          <a:xfrm>
            <a:off x="4663440" y="2316480"/>
            <a:ext cx="11430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1935</a:t>
            </a:r>
            <a:endParaRPr lang="en-US" sz="1300" dirty="0"/>
          </a:p>
        </p:txBody>
      </p:sp>
      <p:sp>
        <p:nvSpPr>
          <p:cNvPr id="16" name="Text 2125"/>
          <p:cNvSpPr txBox="1"/>
          <p:nvPr/>
        </p:nvSpPr>
        <p:spPr>
          <a:xfrm>
            <a:off x="5971032" y="2298192"/>
            <a:ext cx="5672023" cy="752856"/>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Stresa Front with Britain and France against Germany</a:t>
            </a:r>
            <a:endParaRPr lang="en-US" sz="1500" dirty="0"/>
          </a:p>
        </p:txBody>
      </p:sp>
      <p:sp>
        <p:nvSpPr>
          <p:cNvPr id="17" name="Connector 2126"/>
          <p:cNvSpPr/>
          <p:nvPr/>
        </p:nvSpPr>
        <p:spPr>
          <a:xfrm>
            <a:off x="5234940" y="3435096"/>
            <a:ext cx="0" cy="460248"/>
          </a:xfrm>
          <a:prstGeom prst="line">
            <a:avLst/>
          </a:prstGeom>
          <a:noFill/>
          <a:ln w="15875">
            <a:solidFill>
              <a:schemeClr val="accent3"/>
            </a:solidFill>
            <a:prstDash val="solid"/>
          </a:ln>
        </p:spPr>
      </p:sp>
      <p:sp>
        <p:nvSpPr>
          <p:cNvPr id="18" name="Date pill 2127"/>
          <p:cNvSpPr/>
          <p:nvPr/>
        </p:nvSpPr>
        <p:spPr>
          <a:xfrm>
            <a:off x="4663440" y="3105912"/>
            <a:ext cx="1143000" cy="329184"/>
          </a:xfrm>
          <a:prstGeom prst="roundRect">
            <a:avLst>
              <a:gd name="adj" fmla="val 50000"/>
            </a:avLst>
          </a:prstGeom>
          <a:solidFill>
            <a:schemeClr val="accent3"/>
          </a:solidFill>
          <a:ln/>
        </p:spPr>
      </p:sp>
      <p:sp>
        <p:nvSpPr>
          <p:cNvPr id="19" name="Text 2128"/>
          <p:cNvSpPr txBox="1"/>
          <p:nvPr/>
        </p:nvSpPr>
        <p:spPr>
          <a:xfrm>
            <a:off x="4663440" y="3105912"/>
            <a:ext cx="11430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1935–36</a:t>
            </a:r>
            <a:endParaRPr lang="en-US" sz="1300" dirty="0"/>
          </a:p>
        </p:txBody>
      </p:sp>
      <p:sp>
        <p:nvSpPr>
          <p:cNvPr id="20" name="Text 2129"/>
          <p:cNvSpPr txBox="1"/>
          <p:nvPr/>
        </p:nvSpPr>
        <p:spPr>
          <a:xfrm>
            <a:off x="5971032" y="3087624"/>
            <a:ext cx="5672023" cy="752856"/>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Conquers Abyssinia; League sanctions</a:t>
            </a:r>
            <a:endParaRPr lang="en-US" sz="1500" dirty="0"/>
          </a:p>
        </p:txBody>
      </p:sp>
      <p:sp>
        <p:nvSpPr>
          <p:cNvPr id="21" name="Connector 2130"/>
          <p:cNvSpPr/>
          <p:nvPr/>
        </p:nvSpPr>
        <p:spPr>
          <a:xfrm>
            <a:off x="5234940" y="4224528"/>
            <a:ext cx="0" cy="460248"/>
          </a:xfrm>
          <a:prstGeom prst="line">
            <a:avLst/>
          </a:prstGeom>
          <a:noFill/>
          <a:ln w="15875">
            <a:solidFill>
              <a:schemeClr val="accent3"/>
            </a:solidFill>
            <a:prstDash val="solid"/>
          </a:ln>
        </p:spPr>
      </p:sp>
      <p:sp>
        <p:nvSpPr>
          <p:cNvPr id="22" name="Date pill 2131"/>
          <p:cNvSpPr/>
          <p:nvPr/>
        </p:nvSpPr>
        <p:spPr>
          <a:xfrm>
            <a:off x="4663440" y="3895344"/>
            <a:ext cx="1143000" cy="329184"/>
          </a:xfrm>
          <a:prstGeom prst="roundRect">
            <a:avLst>
              <a:gd name="adj" fmla="val 50000"/>
            </a:avLst>
          </a:prstGeom>
          <a:solidFill>
            <a:schemeClr val="accent3"/>
          </a:solidFill>
          <a:ln/>
        </p:spPr>
      </p:sp>
      <p:sp>
        <p:nvSpPr>
          <p:cNvPr id="23" name="Text 2132"/>
          <p:cNvSpPr txBox="1"/>
          <p:nvPr/>
        </p:nvSpPr>
        <p:spPr>
          <a:xfrm>
            <a:off x="4663440" y="3895344"/>
            <a:ext cx="11430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1936–39</a:t>
            </a:r>
            <a:endParaRPr lang="en-US" sz="1300" dirty="0"/>
          </a:p>
        </p:txBody>
      </p:sp>
      <p:sp>
        <p:nvSpPr>
          <p:cNvPr id="24" name="Text 2133"/>
          <p:cNvSpPr txBox="1"/>
          <p:nvPr/>
        </p:nvSpPr>
        <p:spPr>
          <a:xfrm>
            <a:off x="5971032" y="3877056"/>
            <a:ext cx="5672023" cy="752856"/>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Sends tens of thousands of troops to help Franco in Spain</a:t>
            </a:r>
            <a:endParaRPr lang="en-US" sz="1500" dirty="0"/>
          </a:p>
        </p:txBody>
      </p:sp>
      <p:sp>
        <p:nvSpPr>
          <p:cNvPr id="25" name="Connector 2134"/>
          <p:cNvSpPr/>
          <p:nvPr/>
        </p:nvSpPr>
        <p:spPr>
          <a:xfrm>
            <a:off x="5234940" y="5013960"/>
            <a:ext cx="0" cy="460248"/>
          </a:xfrm>
          <a:prstGeom prst="line">
            <a:avLst/>
          </a:prstGeom>
          <a:noFill/>
          <a:ln w="15875">
            <a:solidFill>
              <a:schemeClr val="accent3"/>
            </a:solidFill>
            <a:prstDash val="solid"/>
          </a:ln>
        </p:spPr>
      </p:sp>
      <p:sp>
        <p:nvSpPr>
          <p:cNvPr id="26" name="Date pill 2135"/>
          <p:cNvSpPr/>
          <p:nvPr/>
        </p:nvSpPr>
        <p:spPr>
          <a:xfrm>
            <a:off x="4663440" y="4684776"/>
            <a:ext cx="1143000" cy="329184"/>
          </a:xfrm>
          <a:prstGeom prst="roundRect">
            <a:avLst>
              <a:gd name="adj" fmla="val 50000"/>
            </a:avLst>
          </a:prstGeom>
          <a:solidFill>
            <a:schemeClr val="accent3"/>
          </a:solidFill>
          <a:ln/>
        </p:spPr>
      </p:sp>
      <p:sp>
        <p:nvSpPr>
          <p:cNvPr id="27" name="Text 2136"/>
          <p:cNvSpPr txBox="1"/>
          <p:nvPr/>
        </p:nvSpPr>
        <p:spPr>
          <a:xfrm>
            <a:off x="4663440" y="4684776"/>
            <a:ext cx="11430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1936–37</a:t>
            </a:r>
            <a:endParaRPr lang="en-US" sz="1300" dirty="0"/>
          </a:p>
        </p:txBody>
      </p:sp>
      <p:sp>
        <p:nvSpPr>
          <p:cNvPr id="28" name="Text 2137"/>
          <p:cNvSpPr txBox="1"/>
          <p:nvPr/>
        </p:nvSpPr>
        <p:spPr>
          <a:xfrm>
            <a:off x="5971032" y="4666488"/>
            <a:ext cx="5672023" cy="752856"/>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Rome–Berlin Axis; joins Anti-Comintern Pact; leaves the League</a:t>
            </a:r>
            <a:endParaRPr lang="en-US" sz="1500" dirty="0"/>
          </a:p>
        </p:txBody>
      </p:sp>
      <p:sp>
        <p:nvSpPr>
          <p:cNvPr id="29" name="Date pill 2138"/>
          <p:cNvSpPr/>
          <p:nvPr/>
        </p:nvSpPr>
        <p:spPr>
          <a:xfrm>
            <a:off x="4663440" y="5474208"/>
            <a:ext cx="1143000" cy="329184"/>
          </a:xfrm>
          <a:prstGeom prst="roundRect">
            <a:avLst>
              <a:gd name="adj" fmla="val 50000"/>
            </a:avLst>
          </a:prstGeom>
          <a:solidFill>
            <a:schemeClr val="accent3"/>
          </a:solidFill>
          <a:ln/>
        </p:spPr>
      </p:sp>
      <p:sp>
        <p:nvSpPr>
          <p:cNvPr id="30" name="Text 2139"/>
          <p:cNvSpPr txBox="1"/>
          <p:nvPr/>
        </p:nvSpPr>
        <p:spPr>
          <a:xfrm>
            <a:off x="4663440" y="5474208"/>
            <a:ext cx="11430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1939</a:t>
            </a:r>
            <a:endParaRPr lang="en-US" sz="1300" dirty="0"/>
          </a:p>
        </p:txBody>
      </p:sp>
      <p:sp>
        <p:nvSpPr>
          <p:cNvPr id="31" name="Text 2140"/>
          <p:cNvSpPr txBox="1"/>
          <p:nvPr/>
        </p:nvSpPr>
        <p:spPr>
          <a:xfrm>
            <a:off x="5971032" y="5455920"/>
            <a:ext cx="5672023" cy="752856"/>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Invades Albania (Apr); Pact of Steel (May); stays out of war in Sept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Kicker 2141"/>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KQ1 · THE USSR</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USSR: collective security to the Pact</a:t>
            </a:r>
            <a:endParaRPr lang="en-US" sz="3400" dirty="0"/>
          </a:p>
        </p:txBody>
      </p:sp>
      <p:sp>
        <p:nvSpPr>
          <p:cNvPr id="4" name="Connector 2142"/>
          <p:cNvSpPr/>
          <p:nvPr/>
        </p:nvSpPr>
        <p:spPr>
          <a:xfrm>
            <a:off x="1211580" y="1856232"/>
            <a:ext cx="0" cy="347472"/>
          </a:xfrm>
          <a:prstGeom prst="line">
            <a:avLst/>
          </a:prstGeom>
          <a:noFill/>
          <a:ln w="15875">
            <a:solidFill>
              <a:schemeClr val="accent3"/>
            </a:solidFill>
            <a:prstDash val="solid"/>
          </a:ln>
        </p:spPr>
      </p:sp>
      <p:sp>
        <p:nvSpPr>
          <p:cNvPr id="5" name="Date pill 2143"/>
          <p:cNvSpPr/>
          <p:nvPr/>
        </p:nvSpPr>
        <p:spPr>
          <a:xfrm>
            <a:off x="548640" y="1527048"/>
            <a:ext cx="1325880" cy="329184"/>
          </a:xfrm>
          <a:prstGeom prst="roundRect">
            <a:avLst>
              <a:gd name="adj" fmla="val 50000"/>
            </a:avLst>
          </a:prstGeom>
          <a:solidFill>
            <a:schemeClr val="accent3"/>
          </a:solidFill>
          <a:ln/>
        </p:spPr>
      </p:sp>
      <p:sp>
        <p:nvSpPr>
          <p:cNvPr id="6" name="Text 2144"/>
          <p:cNvSpPr txBox="1"/>
          <p:nvPr/>
        </p:nvSpPr>
        <p:spPr>
          <a:xfrm>
            <a:off x="548640" y="1527048"/>
            <a:ext cx="13258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Fears</a:t>
            </a:r>
            <a:endParaRPr lang="en-US" sz="1300" dirty="0"/>
          </a:p>
        </p:txBody>
      </p:sp>
      <p:sp>
        <p:nvSpPr>
          <p:cNvPr id="7" name="Text 2145"/>
          <p:cNvSpPr txBox="1"/>
          <p:nvPr/>
        </p:nvSpPr>
        <p:spPr>
          <a:xfrm>
            <a:off x="2039112" y="1508760"/>
            <a:ext cx="9603943" cy="640080"/>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Nazi anti-communism, Japan on its Manchurian border, 'capitalist encirclement'</a:t>
            </a:r>
            <a:endParaRPr lang="en-US" sz="1500" dirty="0"/>
          </a:p>
        </p:txBody>
      </p:sp>
      <p:sp>
        <p:nvSpPr>
          <p:cNvPr id="8" name="Connector 2146"/>
          <p:cNvSpPr/>
          <p:nvPr/>
        </p:nvSpPr>
        <p:spPr>
          <a:xfrm>
            <a:off x="1211580" y="2532888"/>
            <a:ext cx="0" cy="347472"/>
          </a:xfrm>
          <a:prstGeom prst="line">
            <a:avLst/>
          </a:prstGeom>
          <a:noFill/>
          <a:ln w="15875">
            <a:solidFill>
              <a:schemeClr val="accent3"/>
            </a:solidFill>
            <a:prstDash val="solid"/>
          </a:ln>
        </p:spPr>
      </p:sp>
      <p:sp>
        <p:nvSpPr>
          <p:cNvPr id="9" name="Date pill 2147"/>
          <p:cNvSpPr/>
          <p:nvPr/>
        </p:nvSpPr>
        <p:spPr>
          <a:xfrm>
            <a:off x="548640" y="2203704"/>
            <a:ext cx="1325880" cy="329184"/>
          </a:xfrm>
          <a:prstGeom prst="roundRect">
            <a:avLst>
              <a:gd name="adj" fmla="val 50000"/>
            </a:avLst>
          </a:prstGeom>
          <a:solidFill>
            <a:schemeClr val="accent3"/>
          </a:solidFill>
          <a:ln/>
        </p:spPr>
      </p:sp>
      <p:sp>
        <p:nvSpPr>
          <p:cNvPr id="10" name="Text 2148"/>
          <p:cNvSpPr txBox="1"/>
          <p:nvPr/>
        </p:nvSpPr>
        <p:spPr>
          <a:xfrm>
            <a:off x="548640" y="2203704"/>
            <a:ext cx="13258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1934</a:t>
            </a:r>
            <a:endParaRPr lang="en-US" sz="1300" dirty="0"/>
          </a:p>
        </p:txBody>
      </p:sp>
      <p:sp>
        <p:nvSpPr>
          <p:cNvPr id="11" name="Text 2149"/>
          <p:cNvSpPr txBox="1"/>
          <p:nvPr/>
        </p:nvSpPr>
        <p:spPr>
          <a:xfrm>
            <a:off x="2039112" y="2185416"/>
            <a:ext cx="9603943" cy="640080"/>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Joins the League — Foreign Commissar </a:t>
            </a:r>
            <a:r>
              <a:rPr lang="en-US" sz="1500" b="1" dirty="0">
                <a:solidFill>
                  <a:schemeClr val="tx1"/>
                </a:solidFill>
              </a:rPr>
              <a:t>Litvinov</a:t>
            </a:r>
            <a:r>
              <a:rPr lang="en-US" sz="1500" dirty="0">
                <a:solidFill>
                  <a:schemeClr val="tx1"/>
                </a:solidFill>
              </a:rPr>
              <a:t> backs collective security</a:t>
            </a:r>
            <a:endParaRPr lang="en-US" sz="1500" dirty="0"/>
          </a:p>
        </p:txBody>
      </p:sp>
      <p:sp>
        <p:nvSpPr>
          <p:cNvPr id="12" name="Connector 2150"/>
          <p:cNvSpPr/>
          <p:nvPr/>
        </p:nvSpPr>
        <p:spPr>
          <a:xfrm>
            <a:off x="1211580" y="3209544"/>
            <a:ext cx="0" cy="347472"/>
          </a:xfrm>
          <a:prstGeom prst="line">
            <a:avLst/>
          </a:prstGeom>
          <a:noFill/>
          <a:ln w="15875">
            <a:solidFill>
              <a:schemeClr val="accent3"/>
            </a:solidFill>
            <a:prstDash val="solid"/>
          </a:ln>
        </p:spPr>
      </p:sp>
      <p:sp>
        <p:nvSpPr>
          <p:cNvPr id="13" name="Date pill 2151"/>
          <p:cNvSpPr/>
          <p:nvPr/>
        </p:nvSpPr>
        <p:spPr>
          <a:xfrm>
            <a:off x="548640" y="2880360"/>
            <a:ext cx="1325880" cy="329184"/>
          </a:xfrm>
          <a:prstGeom prst="roundRect">
            <a:avLst>
              <a:gd name="adj" fmla="val 50000"/>
            </a:avLst>
          </a:prstGeom>
          <a:solidFill>
            <a:schemeClr val="accent3"/>
          </a:solidFill>
          <a:ln/>
        </p:spPr>
      </p:sp>
      <p:sp>
        <p:nvSpPr>
          <p:cNvPr id="14" name="Text 2152"/>
          <p:cNvSpPr txBox="1"/>
          <p:nvPr/>
        </p:nvSpPr>
        <p:spPr>
          <a:xfrm>
            <a:off x="548640" y="2880360"/>
            <a:ext cx="13258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1935</a:t>
            </a:r>
            <a:endParaRPr lang="en-US" sz="1300" dirty="0"/>
          </a:p>
        </p:txBody>
      </p:sp>
      <p:sp>
        <p:nvSpPr>
          <p:cNvPr id="15" name="Text 2153"/>
          <p:cNvSpPr txBox="1"/>
          <p:nvPr/>
        </p:nvSpPr>
        <p:spPr>
          <a:xfrm>
            <a:off x="2039112" y="2862072"/>
            <a:ext cx="9603943" cy="640080"/>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Mutual-assistance pacts with </a:t>
            </a:r>
            <a:r>
              <a:rPr lang="en-US" sz="1500" b="1" dirty="0">
                <a:solidFill>
                  <a:schemeClr val="tx1"/>
                </a:solidFill>
              </a:rPr>
              <a:t>France</a:t>
            </a:r>
            <a:r>
              <a:rPr lang="en-US" sz="1500" dirty="0">
                <a:solidFill>
                  <a:schemeClr val="tx1"/>
                </a:solidFill>
              </a:rPr>
              <a:t> and </a:t>
            </a:r>
            <a:r>
              <a:rPr lang="en-US" sz="1500" b="1" dirty="0">
                <a:solidFill>
                  <a:schemeClr val="tx1"/>
                </a:solidFill>
              </a:rPr>
              <a:t>Czechoslovakia</a:t>
            </a:r>
            <a:endParaRPr lang="en-US" sz="1500" dirty="0"/>
          </a:p>
        </p:txBody>
      </p:sp>
      <p:sp>
        <p:nvSpPr>
          <p:cNvPr id="16" name="Connector 2154"/>
          <p:cNvSpPr/>
          <p:nvPr/>
        </p:nvSpPr>
        <p:spPr>
          <a:xfrm>
            <a:off x="1211580" y="3886200"/>
            <a:ext cx="0" cy="347472"/>
          </a:xfrm>
          <a:prstGeom prst="line">
            <a:avLst/>
          </a:prstGeom>
          <a:noFill/>
          <a:ln w="15875">
            <a:solidFill>
              <a:schemeClr val="accent3"/>
            </a:solidFill>
            <a:prstDash val="solid"/>
          </a:ln>
        </p:spPr>
      </p:sp>
      <p:sp>
        <p:nvSpPr>
          <p:cNvPr id="17" name="Date pill 2155"/>
          <p:cNvSpPr/>
          <p:nvPr/>
        </p:nvSpPr>
        <p:spPr>
          <a:xfrm>
            <a:off x="548640" y="3557016"/>
            <a:ext cx="1325880" cy="329184"/>
          </a:xfrm>
          <a:prstGeom prst="roundRect">
            <a:avLst>
              <a:gd name="adj" fmla="val 50000"/>
            </a:avLst>
          </a:prstGeom>
          <a:solidFill>
            <a:schemeClr val="accent3"/>
          </a:solidFill>
          <a:ln/>
        </p:spPr>
      </p:sp>
      <p:sp>
        <p:nvSpPr>
          <p:cNvPr id="18" name="Text 2156"/>
          <p:cNvSpPr txBox="1"/>
          <p:nvPr/>
        </p:nvSpPr>
        <p:spPr>
          <a:xfrm>
            <a:off x="548640" y="3557016"/>
            <a:ext cx="13258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1936–39</a:t>
            </a:r>
            <a:endParaRPr lang="en-US" sz="1300" dirty="0"/>
          </a:p>
        </p:txBody>
      </p:sp>
      <p:sp>
        <p:nvSpPr>
          <p:cNvPr id="19" name="Text 2157"/>
          <p:cNvSpPr txBox="1"/>
          <p:nvPr/>
        </p:nvSpPr>
        <p:spPr>
          <a:xfrm>
            <a:off x="2039112" y="3538728"/>
            <a:ext cx="9603943" cy="640080"/>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Aids the Republicans in </a:t>
            </a:r>
            <a:r>
              <a:rPr lang="en-US" sz="1500" b="1" dirty="0">
                <a:solidFill>
                  <a:schemeClr val="tx1"/>
                </a:solidFill>
              </a:rPr>
              <a:t>Spain</a:t>
            </a:r>
            <a:r>
              <a:rPr lang="en-US" sz="1500" dirty="0">
                <a:solidFill>
                  <a:schemeClr val="tx1"/>
                </a:solidFill>
              </a:rPr>
              <a:t>; Popular Front strategy</a:t>
            </a:r>
            <a:endParaRPr lang="en-US" sz="1500" dirty="0"/>
          </a:p>
        </p:txBody>
      </p:sp>
      <p:sp>
        <p:nvSpPr>
          <p:cNvPr id="20" name="Connector 2158"/>
          <p:cNvSpPr/>
          <p:nvPr/>
        </p:nvSpPr>
        <p:spPr>
          <a:xfrm>
            <a:off x="1211580" y="4562856"/>
            <a:ext cx="0" cy="347472"/>
          </a:xfrm>
          <a:prstGeom prst="line">
            <a:avLst/>
          </a:prstGeom>
          <a:noFill/>
          <a:ln w="15875">
            <a:solidFill>
              <a:schemeClr val="accent3"/>
            </a:solidFill>
            <a:prstDash val="solid"/>
          </a:ln>
        </p:spPr>
      </p:sp>
      <p:sp>
        <p:nvSpPr>
          <p:cNvPr id="21" name="Date pill 2159"/>
          <p:cNvSpPr/>
          <p:nvPr/>
        </p:nvSpPr>
        <p:spPr>
          <a:xfrm>
            <a:off x="548640" y="4233672"/>
            <a:ext cx="1325880" cy="329184"/>
          </a:xfrm>
          <a:prstGeom prst="roundRect">
            <a:avLst>
              <a:gd name="adj" fmla="val 50000"/>
            </a:avLst>
          </a:prstGeom>
          <a:solidFill>
            <a:schemeClr val="accent3"/>
          </a:solidFill>
          <a:ln/>
        </p:spPr>
      </p:sp>
      <p:sp>
        <p:nvSpPr>
          <p:cNvPr id="22" name="Text 2160"/>
          <p:cNvSpPr txBox="1"/>
          <p:nvPr/>
        </p:nvSpPr>
        <p:spPr>
          <a:xfrm>
            <a:off x="548640" y="4233672"/>
            <a:ext cx="13258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1937–38</a:t>
            </a:r>
            <a:endParaRPr lang="en-US" sz="1300" dirty="0"/>
          </a:p>
        </p:txBody>
      </p:sp>
      <p:sp>
        <p:nvSpPr>
          <p:cNvPr id="23" name="Text 2161"/>
          <p:cNvSpPr txBox="1"/>
          <p:nvPr/>
        </p:nvSpPr>
        <p:spPr>
          <a:xfrm>
            <a:off x="2039112" y="4215384"/>
            <a:ext cx="9603943" cy="640080"/>
          </a:xfrm>
          <a:prstGeom prst="rect">
            <a:avLst/>
          </a:prstGeom>
          <a:noFill/>
          <a:ln/>
        </p:spPr>
        <p:txBody>
          <a:bodyPr wrap="square" lIns="0" tIns="0" rIns="0" bIns="0" rtlCol="0" anchor="t"/>
          <a:lstStyle/>
          <a:p>
            <a:pPr algn="l" indent="0" marL="0">
              <a:spcAft>
                <a:spcPts val="600"/>
              </a:spcAft>
              <a:buNone/>
            </a:pPr>
            <a:r>
              <a:rPr lang="en-US" sz="1500" b="1" dirty="0">
                <a:solidFill>
                  <a:schemeClr val="tx1"/>
                </a:solidFill>
              </a:rPr>
              <a:t>Purges</a:t>
            </a:r>
            <a:r>
              <a:rPr lang="en-US" sz="1500" dirty="0">
                <a:solidFill>
                  <a:schemeClr val="tx1"/>
                </a:solidFill>
              </a:rPr>
              <a:t> kill thousands of Red Army officers</a:t>
            </a:r>
            <a:endParaRPr lang="en-US" sz="1500" dirty="0"/>
          </a:p>
        </p:txBody>
      </p:sp>
      <p:sp>
        <p:nvSpPr>
          <p:cNvPr id="24" name="Connector 2162"/>
          <p:cNvSpPr/>
          <p:nvPr/>
        </p:nvSpPr>
        <p:spPr>
          <a:xfrm>
            <a:off x="1211580" y="5239512"/>
            <a:ext cx="0" cy="347472"/>
          </a:xfrm>
          <a:prstGeom prst="line">
            <a:avLst/>
          </a:prstGeom>
          <a:noFill/>
          <a:ln w="15875">
            <a:solidFill>
              <a:schemeClr val="accent3"/>
            </a:solidFill>
            <a:prstDash val="solid"/>
          </a:ln>
        </p:spPr>
      </p:sp>
      <p:sp>
        <p:nvSpPr>
          <p:cNvPr id="25" name="Date pill 2163"/>
          <p:cNvSpPr/>
          <p:nvPr/>
        </p:nvSpPr>
        <p:spPr>
          <a:xfrm>
            <a:off x="548640" y="4910328"/>
            <a:ext cx="1325880" cy="329184"/>
          </a:xfrm>
          <a:prstGeom prst="roundRect">
            <a:avLst>
              <a:gd name="adj" fmla="val 50000"/>
            </a:avLst>
          </a:prstGeom>
          <a:solidFill>
            <a:schemeClr val="accent3"/>
          </a:solidFill>
          <a:ln/>
        </p:spPr>
      </p:sp>
      <p:sp>
        <p:nvSpPr>
          <p:cNvPr id="26" name="Text 2164"/>
          <p:cNvSpPr txBox="1"/>
          <p:nvPr/>
        </p:nvSpPr>
        <p:spPr>
          <a:xfrm>
            <a:off x="548640" y="4910328"/>
            <a:ext cx="13258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Sept 1938</a:t>
            </a:r>
            <a:endParaRPr lang="en-US" sz="1300" dirty="0"/>
          </a:p>
        </p:txBody>
      </p:sp>
      <p:sp>
        <p:nvSpPr>
          <p:cNvPr id="27" name="Text 2165"/>
          <p:cNvSpPr txBox="1"/>
          <p:nvPr/>
        </p:nvSpPr>
        <p:spPr>
          <a:xfrm>
            <a:off x="2039112" y="4892040"/>
            <a:ext cx="9603943" cy="640080"/>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Left out of </a:t>
            </a:r>
            <a:r>
              <a:rPr lang="en-US" sz="1500" b="1" dirty="0">
                <a:solidFill>
                  <a:schemeClr val="tx1"/>
                </a:solidFill>
              </a:rPr>
              <a:t>Munich</a:t>
            </a:r>
            <a:r>
              <a:rPr lang="en-US" sz="1500" dirty="0">
                <a:solidFill>
                  <a:schemeClr val="tx1"/>
                </a:solidFill>
              </a:rPr>
              <a:t> — Stalin's distrust of the West deepens</a:t>
            </a:r>
            <a:endParaRPr lang="en-US" sz="1500" dirty="0"/>
          </a:p>
        </p:txBody>
      </p:sp>
      <p:sp>
        <p:nvSpPr>
          <p:cNvPr id="28" name="Date pill 2166"/>
          <p:cNvSpPr/>
          <p:nvPr/>
        </p:nvSpPr>
        <p:spPr>
          <a:xfrm>
            <a:off x="548640" y="5586984"/>
            <a:ext cx="1325880" cy="329184"/>
          </a:xfrm>
          <a:prstGeom prst="roundRect">
            <a:avLst>
              <a:gd name="adj" fmla="val 50000"/>
            </a:avLst>
          </a:prstGeom>
          <a:solidFill>
            <a:schemeClr val="accent3"/>
          </a:solidFill>
          <a:ln/>
        </p:spPr>
      </p:sp>
      <p:sp>
        <p:nvSpPr>
          <p:cNvPr id="29" name="Text 2167"/>
          <p:cNvSpPr txBox="1"/>
          <p:nvPr/>
        </p:nvSpPr>
        <p:spPr>
          <a:xfrm>
            <a:off x="548640" y="5586984"/>
            <a:ext cx="132588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May 1939</a:t>
            </a:r>
            <a:endParaRPr lang="en-US" sz="1300" dirty="0"/>
          </a:p>
        </p:txBody>
      </p:sp>
      <p:sp>
        <p:nvSpPr>
          <p:cNvPr id="30" name="Text 2168"/>
          <p:cNvSpPr txBox="1"/>
          <p:nvPr/>
        </p:nvSpPr>
        <p:spPr>
          <a:xfrm>
            <a:off x="2039112" y="5568696"/>
            <a:ext cx="9603943" cy="640080"/>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Litvinov replaced by </a:t>
            </a:r>
            <a:r>
              <a:rPr lang="en-US" sz="1500" b="1" dirty="0">
                <a:solidFill>
                  <a:schemeClr val="tx1"/>
                </a:solidFill>
              </a:rPr>
              <a:t>Molotov</a:t>
            </a:r>
            <a:r>
              <a:rPr lang="en-US" sz="1500" dirty="0">
                <a:solidFill>
                  <a:schemeClr val="tx1"/>
                </a:solidFill>
              </a:rPr>
              <a:t> → Nazi–Soviet Pact (Aug)</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Kicker 216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KQ1 · THE DEMOCRACIES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Britain, France and the USA</a:t>
            </a:r>
            <a:endParaRPr lang="en-US" sz="3400" dirty="0"/>
          </a:p>
        </p:txBody>
      </p:sp>
      <p:sp>
        <p:nvSpPr>
          <p:cNvPr id="4" name="Card 2170"/>
          <p:cNvSpPr/>
          <p:nvPr/>
        </p:nvSpPr>
        <p:spPr>
          <a:xfrm>
            <a:off x="548640" y="1481328"/>
            <a:ext cx="3515258" cy="3794760"/>
          </a:xfrm>
          <a:prstGeom prst="roundRect">
            <a:avLst>
              <a:gd name="adj" fmla="val 2601"/>
            </a:avLst>
          </a:prstGeom>
          <a:solidFill>
            <a:schemeClr val="accent3">
              <a:alpha val="10000"/>
            </a:schemeClr>
          </a:solidFill>
          <a:ln/>
        </p:spPr>
      </p:sp>
      <p:sp>
        <p:nvSpPr>
          <p:cNvPr id="5" name="Icon circle 2171"/>
          <p:cNvSpPr/>
          <p:nvPr/>
        </p:nvSpPr>
        <p:spPr>
          <a:xfrm>
            <a:off x="731520" y="1664208"/>
            <a:ext cx="475488" cy="475488"/>
          </a:xfrm>
          <a:prstGeom prst="ellipse">
            <a:avLst/>
          </a:prstGeom>
          <a:solidFill>
            <a:schemeClr val="accent3"/>
          </a:solidFill>
          <a:ln/>
        </p:spPr>
      </p:sp>
      <p:pic>
        <p:nvPicPr>
          <p:cNvPr id="6" name="Icon FaCrown 2172"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173"/>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Britain</a:t>
            </a:r>
            <a:endParaRPr lang="en-US" sz="1700" dirty="0"/>
          </a:p>
        </p:txBody>
      </p:sp>
      <p:sp>
        <p:nvSpPr>
          <p:cNvPr id="8" name="Text 2174"/>
          <p:cNvSpPr txBox="1"/>
          <p:nvPr/>
        </p:nvSpPr>
        <p:spPr>
          <a:xfrm>
            <a:off x="731520" y="2249424"/>
            <a:ext cx="3149498" cy="2843784"/>
          </a:xfrm>
          <a:prstGeom prst="rect">
            <a:avLst/>
          </a:prstGeom>
          <a:noFill/>
          <a:ln/>
        </p:spPr>
        <p:txBody>
          <a:bodyPr wrap="square" lIns="0" tIns="0" rIns="0" bIns="0" rtlCol="0" anchor="t"/>
          <a:lstStyle/>
          <a:p>
            <a:pPr algn="l" marL="190500" indent="-190500">
              <a:spcAft>
                <a:spcPts val="500"/>
              </a:spcAft>
              <a:buSzPct val="100000"/>
              <a:buChar char="•"/>
            </a:pPr>
            <a:r>
              <a:rPr lang="en-US" sz="2000" dirty="0">
                <a:solidFill>
                  <a:schemeClr val="tx1"/>
                </a:solidFill>
              </a:rPr>
              <a:t>Depression: spending cuts</a:t>
            </a:r>
            <a:endParaRPr lang="en-US" sz="2000" dirty="0"/>
          </a:p>
          <a:p>
            <a:pPr algn="l" marL="190500" indent="-190500">
              <a:spcAft>
                <a:spcPts val="500"/>
              </a:spcAft>
              <a:buSzPct val="100000"/>
              <a:buChar char="•"/>
            </a:pPr>
            <a:r>
              <a:rPr lang="en-US" sz="2000" dirty="0">
                <a:solidFill>
                  <a:schemeClr val="tx1"/>
                </a:solidFill>
              </a:rPr>
              <a:t>Empire commitments worldwide</a:t>
            </a:r>
            <a:endParaRPr lang="en-US" sz="2000" dirty="0"/>
          </a:p>
          <a:p>
            <a:pPr algn="l" marL="190500" indent="-190500">
              <a:spcAft>
                <a:spcPts val="500"/>
              </a:spcAft>
              <a:buSzPct val="100000"/>
              <a:buChar char="•"/>
            </a:pPr>
            <a:r>
              <a:rPr lang="en-US" sz="2000" dirty="0">
                <a:solidFill>
                  <a:schemeClr val="tx1"/>
                </a:solidFill>
              </a:rPr>
              <a:t>Strong pacifism: Peace Ballot (1935), 11.6m votes</a:t>
            </a:r>
            <a:endParaRPr lang="en-US" sz="2000" dirty="0"/>
          </a:p>
          <a:p>
            <a:pPr algn="l" marL="190500" indent="-190500">
              <a:spcAft>
                <a:spcPts val="500"/>
              </a:spcAft>
              <a:buSzPct val="100000"/>
              <a:buChar char="•"/>
            </a:pPr>
            <a:r>
              <a:rPr lang="en-US" sz="2000" dirty="0">
                <a:solidFill>
                  <a:schemeClr val="tx1"/>
                </a:solidFill>
              </a:rPr>
              <a:t>Rearmament from 1934–35</a:t>
            </a:r>
            <a:endParaRPr lang="en-US" sz="2000" dirty="0"/>
          </a:p>
        </p:txBody>
      </p:sp>
      <p:sp>
        <p:nvSpPr>
          <p:cNvPr id="9" name="Card 2175"/>
          <p:cNvSpPr/>
          <p:nvPr/>
        </p:nvSpPr>
        <p:spPr>
          <a:xfrm>
            <a:off x="4338218" y="1481328"/>
            <a:ext cx="3515258" cy="3794760"/>
          </a:xfrm>
          <a:prstGeom prst="roundRect">
            <a:avLst>
              <a:gd name="adj" fmla="val 2601"/>
            </a:avLst>
          </a:prstGeom>
          <a:solidFill>
            <a:schemeClr val="accent3">
              <a:alpha val="10000"/>
            </a:schemeClr>
          </a:solidFill>
          <a:ln/>
        </p:spPr>
      </p:sp>
      <p:sp>
        <p:nvSpPr>
          <p:cNvPr id="10" name="Icon circle 2176"/>
          <p:cNvSpPr/>
          <p:nvPr/>
        </p:nvSpPr>
        <p:spPr>
          <a:xfrm>
            <a:off x="4521098" y="1664208"/>
            <a:ext cx="475488" cy="475488"/>
          </a:xfrm>
          <a:prstGeom prst="ellipse">
            <a:avLst/>
          </a:prstGeom>
          <a:solidFill>
            <a:schemeClr val="accent3"/>
          </a:solidFill>
          <a:ln/>
        </p:spPr>
      </p:sp>
      <p:pic>
        <p:nvPicPr>
          <p:cNvPr id="11" name="Icon FaLandmark 2177"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2178"/>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France</a:t>
            </a:r>
            <a:endParaRPr lang="en-US" sz="1700" dirty="0"/>
          </a:p>
        </p:txBody>
      </p:sp>
      <p:sp>
        <p:nvSpPr>
          <p:cNvPr id="13" name="Text 2179"/>
          <p:cNvSpPr txBox="1"/>
          <p:nvPr/>
        </p:nvSpPr>
        <p:spPr>
          <a:xfrm>
            <a:off x="4521098" y="2249424"/>
            <a:ext cx="3149498" cy="2843784"/>
          </a:xfrm>
          <a:prstGeom prst="rect">
            <a:avLst/>
          </a:prstGeom>
          <a:noFill/>
          <a:ln/>
        </p:spPr>
        <p:txBody>
          <a:bodyPr wrap="square" lIns="0" tIns="0" rIns="0" bIns="0" rtlCol="0" anchor="t"/>
          <a:lstStyle/>
          <a:p>
            <a:pPr algn="l" marL="190500" indent="-190500">
              <a:spcAft>
                <a:spcPts val="500"/>
              </a:spcAft>
              <a:buSzPct val="100000"/>
              <a:buChar char="•"/>
            </a:pPr>
            <a:r>
              <a:rPr lang="en-US" sz="2000" dirty="0">
                <a:solidFill>
                  <a:schemeClr val="tx1"/>
                </a:solidFill>
              </a:rPr>
              <a:t>Unstable governments; riots (Feb 1934)</a:t>
            </a:r>
            <a:endParaRPr lang="en-US" sz="2000" dirty="0"/>
          </a:p>
          <a:p>
            <a:pPr algn="l" marL="190500" indent="-190500">
              <a:spcAft>
                <a:spcPts val="500"/>
              </a:spcAft>
              <a:buSzPct val="100000"/>
              <a:buChar char="•"/>
            </a:pPr>
            <a:r>
              <a:rPr lang="en-US" sz="2000" dirty="0">
                <a:solidFill>
                  <a:schemeClr val="tx1"/>
                </a:solidFill>
              </a:rPr>
              <a:t>Popular Front (Blum, 1936)</a:t>
            </a:r>
            <a:endParaRPr lang="en-US" sz="2000" dirty="0"/>
          </a:p>
          <a:p>
            <a:pPr algn="l" marL="190500" indent="-190500">
              <a:spcAft>
                <a:spcPts val="500"/>
              </a:spcAft>
              <a:buSzPct val="100000"/>
              <a:buChar char="•"/>
            </a:pPr>
            <a:r>
              <a:rPr lang="en-US" sz="2000" dirty="0">
                <a:solidFill>
                  <a:schemeClr val="tx1"/>
                </a:solidFill>
              </a:rPr>
              <a:t>Defensive Maginot Line</a:t>
            </a:r>
            <a:endParaRPr lang="en-US" sz="2000" dirty="0"/>
          </a:p>
          <a:p>
            <a:pPr algn="l" marL="190500" indent="-190500">
              <a:spcAft>
                <a:spcPts val="500"/>
              </a:spcAft>
              <a:buSzPct val="100000"/>
              <a:buChar char="•"/>
            </a:pPr>
            <a:r>
              <a:rPr lang="en-US" sz="2000" dirty="0">
                <a:solidFill>
                  <a:schemeClr val="tx1"/>
                </a:solidFill>
              </a:rPr>
              <a:t>Would not act without Britain</a:t>
            </a:r>
            <a:endParaRPr lang="en-US" sz="2000" dirty="0"/>
          </a:p>
        </p:txBody>
      </p:sp>
      <p:sp>
        <p:nvSpPr>
          <p:cNvPr id="14" name="Card 2180"/>
          <p:cNvSpPr/>
          <p:nvPr/>
        </p:nvSpPr>
        <p:spPr>
          <a:xfrm>
            <a:off x="8127797" y="1481328"/>
            <a:ext cx="3515258" cy="3794760"/>
          </a:xfrm>
          <a:prstGeom prst="roundRect">
            <a:avLst>
              <a:gd name="adj" fmla="val 2601"/>
            </a:avLst>
          </a:prstGeom>
          <a:solidFill>
            <a:schemeClr val="accent3">
              <a:alpha val="10000"/>
            </a:schemeClr>
          </a:solidFill>
          <a:ln/>
        </p:spPr>
      </p:sp>
      <p:sp>
        <p:nvSpPr>
          <p:cNvPr id="15" name="Icon circle 2181"/>
          <p:cNvSpPr/>
          <p:nvPr/>
        </p:nvSpPr>
        <p:spPr>
          <a:xfrm>
            <a:off x="8310677" y="1664208"/>
            <a:ext cx="475488" cy="475488"/>
          </a:xfrm>
          <a:prstGeom prst="ellipse">
            <a:avLst/>
          </a:prstGeom>
          <a:solidFill>
            <a:schemeClr val="accent3"/>
          </a:solidFill>
          <a:ln/>
        </p:spPr>
      </p:sp>
      <p:pic>
        <p:nvPicPr>
          <p:cNvPr id="16" name="Icon FaFlagUsa 2182"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2183"/>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USA</a:t>
            </a:r>
            <a:endParaRPr lang="en-US" sz="1700" dirty="0"/>
          </a:p>
        </p:txBody>
      </p:sp>
      <p:sp>
        <p:nvSpPr>
          <p:cNvPr id="18" name="Text 2184"/>
          <p:cNvSpPr txBox="1"/>
          <p:nvPr/>
        </p:nvSpPr>
        <p:spPr>
          <a:xfrm>
            <a:off x="8310677" y="2249424"/>
            <a:ext cx="3149498" cy="2843784"/>
          </a:xfrm>
          <a:prstGeom prst="rect">
            <a:avLst/>
          </a:prstGeom>
          <a:noFill/>
          <a:ln/>
        </p:spPr>
        <p:txBody>
          <a:bodyPr wrap="square" lIns="0" tIns="0" rIns="0" bIns="0" rtlCol="0" anchor="t"/>
          <a:lstStyle/>
          <a:p>
            <a:pPr algn="l" marL="190500" indent="-190500">
              <a:spcAft>
                <a:spcPts val="500"/>
              </a:spcAft>
              <a:buSzPct val="100000"/>
              <a:buChar char="•"/>
            </a:pPr>
            <a:r>
              <a:rPr lang="en-US" sz="2000" dirty="0">
                <a:solidFill>
                  <a:schemeClr val="tx1"/>
                </a:solidFill>
              </a:rPr>
              <a:t>Isolationism; not in the League</a:t>
            </a:r>
            <a:endParaRPr lang="en-US" sz="2000" dirty="0"/>
          </a:p>
          <a:p>
            <a:pPr algn="l" marL="190500" indent="-190500">
              <a:spcAft>
                <a:spcPts val="500"/>
              </a:spcAft>
              <a:buSzPct val="100000"/>
              <a:buChar char="•"/>
            </a:pPr>
            <a:r>
              <a:rPr lang="en-US" sz="2000" dirty="0">
                <a:solidFill>
                  <a:schemeClr val="tx1"/>
                </a:solidFill>
              </a:rPr>
              <a:t>Neutrality Acts (1935–37) banned arms sales to warring states</a:t>
            </a:r>
            <a:endParaRPr lang="en-US" sz="2000" dirty="0"/>
          </a:p>
          <a:p>
            <a:pPr algn="l" marL="190500" indent="-190500">
              <a:spcAft>
                <a:spcPts val="500"/>
              </a:spcAft>
              <a:buSzPct val="100000"/>
              <a:buChar char="•"/>
            </a:pPr>
            <a:r>
              <a:rPr lang="en-US" sz="2000" dirty="0">
                <a:solidFill>
                  <a:schemeClr val="tx1"/>
                </a:solidFill>
              </a:rPr>
              <a:t>Roosevelt's 'Quarantine' speech (1937) — no action</a:t>
            </a:r>
            <a:endParaRPr lang="en-US" sz="2000" dirty="0"/>
          </a:p>
        </p:txBody>
      </p:sp>
      <p:sp>
        <p:nvSpPr>
          <p:cNvPr id="19" name="Callout 2185"/>
          <p:cNvSpPr/>
          <p:nvPr/>
        </p:nvSpPr>
        <p:spPr>
          <a:xfrm>
            <a:off x="548640" y="5550408"/>
            <a:ext cx="11094415" cy="713232"/>
          </a:xfrm>
          <a:prstGeom prst="roundRect">
            <a:avLst>
              <a:gd name="adj" fmla="val 12821"/>
            </a:avLst>
          </a:prstGeom>
          <a:solidFill>
            <a:schemeClr val="accent4">
              <a:alpha val="20000"/>
            </a:schemeClr>
          </a:solidFill>
          <a:ln/>
        </p:spPr>
      </p:sp>
      <p:sp>
        <p:nvSpPr>
          <p:cNvPr id="20" name="Callout label 2186"/>
          <p:cNvSpPr/>
          <p:nvPr/>
        </p:nvSpPr>
        <p:spPr>
          <a:xfrm>
            <a:off x="731520" y="5751576"/>
            <a:ext cx="894203" cy="310896"/>
          </a:xfrm>
          <a:prstGeom prst="roundRect">
            <a:avLst>
              <a:gd name="adj" fmla="val 50000"/>
            </a:avLst>
          </a:prstGeom>
          <a:solidFill>
            <a:schemeClr val="accent4"/>
          </a:solidFill>
          <a:ln/>
        </p:spPr>
      </p:sp>
      <p:sp>
        <p:nvSpPr>
          <p:cNvPr id="21" name="Text 2187"/>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22" name="Text 2188"/>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Divided, inward-looking and reluctant to use force — and the dictators noticed.</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Kicker 218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KQ2 · MANCHURIA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Manchurian Crisis, 1931–33</a:t>
            </a:r>
            <a:endParaRPr lang="en-US" sz="3400" dirty="0"/>
          </a:p>
        </p:txBody>
      </p:sp>
      <p:sp>
        <p:nvSpPr>
          <p:cNvPr id="4" name="Step 2190"/>
          <p:cNvSpPr/>
          <p:nvPr/>
        </p:nvSpPr>
        <p:spPr>
          <a:xfrm>
            <a:off x="548640" y="1481328"/>
            <a:ext cx="1984797" cy="3794760"/>
          </a:xfrm>
          <a:prstGeom prst="roundRect">
            <a:avLst>
              <a:gd name="adj" fmla="val 4607"/>
            </a:avLst>
          </a:prstGeom>
          <a:solidFill>
            <a:schemeClr val="accent3">
              <a:alpha val="10000"/>
            </a:schemeClr>
          </a:solidFill>
          <a:ln/>
        </p:spPr>
      </p:sp>
      <p:sp>
        <p:nvSpPr>
          <p:cNvPr id="5" name="Step number 2191"/>
          <p:cNvSpPr/>
          <p:nvPr/>
        </p:nvSpPr>
        <p:spPr>
          <a:xfrm>
            <a:off x="713232" y="1645920"/>
            <a:ext cx="420624" cy="420624"/>
          </a:xfrm>
          <a:prstGeom prst="ellipse">
            <a:avLst/>
          </a:prstGeom>
          <a:solidFill>
            <a:schemeClr val="accent3"/>
          </a:solidFill>
          <a:ln/>
        </p:spPr>
      </p:sp>
      <p:sp>
        <p:nvSpPr>
          <p:cNvPr id="6" name="Text 2192"/>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1931</a:t>
            </a:r>
            <a:endParaRPr lang="en-US" sz="1100" dirty="0"/>
          </a:p>
        </p:txBody>
      </p:sp>
      <p:sp>
        <p:nvSpPr>
          <p:cNvPr id="7" name="Text 2193"/>
          <p:cNvSpPr txBox="1"/>
          <p:nvPr/>
        </p:nvSpPr>
        <p:spPr>
          <a:xfrm>
            <a:off x="1243584" y="1645920"/>
            <a:ext cx="1161837" cy="465087"/>
          </a:xfrm>
          <a:prstGeom prst="rect">
            <a:avLst/>
          </a:prstGeom>
          <a:noFill/>
          <a:ln/>
        </p:spPr>
        <p:txBody>
          <a:bodyPr wrap="square" lIns="0" tIns="0" rIns="0" bIns="0" rtlCol="0" anchor="t"/>
          <a:lstStyle/>
          <a:p>
            <a:pPr algn="l" indent="0" marL="0">
              <a:spcAft>
                <a:spcPts val="600"/>
              </a:spcAft>
              <a:buNone/>
            </a:pPr>
            <a:r>
              <a:rPr lang="en-US" sz="1500" b="1" dirty="0">
                <a:solidFill>
                  <a:schemeClr val="tx2"/>
                </a:solidFill>
              </a:rPr>
              <a:t>Mukden Incident</a:t>
            </a:r>
            <a:endParaRPr lang="en-US" sz="1500" dirty="0"/>
          </a:p>
        </p:txBody>
      </p:sp>
      <p:sp>
        <p:nvSpPr>
          <p:cNvPr id="8" name="Text 2194"/>
          <p:cNvSpPr txBox="1"/>
          <p:nvPr/>
        </p:nvSpPr>
        <p:spPr>
          <a:xfrm>
            <a:off x="713232" y="2220735"/>
            <a:ext cx="1655613" cy="2918193"/>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Sept: the Kwantung Army blew up a railway line near Mukden, blamed China and invaded Manchuria.</a:t>
            </a:r>
            <a:endParaRPr lang="en-US" sz="1800" dirty="0"/>
          </a:p>
        </p:txBody>
      </p:sp>
      <p:sp>
        <p:nvSpPr>
          <p:cNvPr id="9" name="Arrow 2195"/>
          <p:cNvSpPr/>
          <p:nvPr/>
        </p:nvSpPr>
        <p:spPr>
          <a:xfrm>
            <a:off x="2597445" y="3232404"/>
            <a:ext cx="164592" cy="292608"/>
          </a:xfrm>
          <a:prstGeom prst="chevron">
            <a:avLst/>
          </a:prstGeom>
          <a:solidFill>
            <a:schemeClr val="accent3"/>
          </a:solidFill>
          <a:ln/>
        </p:spPr>
      </p:sp>
      <p:sp>
        <p:nvSpPr>
          <p:cNvPr id="10" name="Step 2196"/>
          <p:cNvSpPr/>
          <p:nvPr/>
        </p:nvSpPr>
        <p:spPr>
          <a:xfrm>
            <a:off x="2826045" y="1481328"/>
            <a:ext cx="1984797" cy="3794760"/>
          </a:xfrm>
          <a:prstGeom prst="roundRect">
            <a:avLst>
              <a:gd name="adj" fmla="val 4607"/>
            </a:avLst>
          </a:prstGeom>
          <a:solidFill>
            <a:schemeClr val="accent3">
              <a:alpha val="10000"/>
            </a:schemeClr>
          </a:solidFill>
          <a:ln/>
        </p:spPr>
      </p:sp>
      <p:sp>
        <p:nvSpPr>
          <p:cNvPr id="11" name="Step number 2197"/>
          <p:cNvSpPr/>
          <p:nvPr/>
        </p:nvSpPr>
        <p:spPr>
          <a:xfrm>
            <a:off x="2990637" y="1645920"/>
            <a:ext cx="420624" cy="420624"/>
          </a:xfrm>
          <a:prstGeom prst="ellipse">
            <a:avLst/>
          </a:prstGeom>
          <a:solidFill>
            <a:schemeClr val="accent3"/>
          </a:solidFill>
          <a:ln/>
        </p:spPr>
      </p:sp>
      <p:sp>
        <p:nvSpPr>
          <p:cNvPr id="12" name="Text 2198"/>
          <p:cNvSpPr txBox="1"/>
          <p:nvPr/>
        </p:nvSpPr>
        <p:spPr>
          <a:xfrm>
            <a:off x="2990637"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1931</a:t>
            </a:r>
            <a:endParaRPr lang="en-US" sz="1100" dirty="0"/>
          </a:p>
        </p:txBody>
      </p:sp>
      <p:sp>
        <p:nvSpPr>
          <p:cNvPr id="13" name="Text 2199"/>
          <p:cNvSpPr txBox="1"/>
          <p:nvPr/>
        </p:nvSpPr>
        <p:spPr>
          <a:xfrm>
            <a:off x="3520989"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China appeals</a:t>
            </a:r>
            <a:endParaRPr lang="en-US" sz="1500" dirty="0"/>
          </a:p>
        </p:txBody>
      </p:sp>
      <p:sp>
        <p:nvSpPr>
          <p:cNvPr id="14" name="Text 2200"/>
          <p:cNvSpPr txBox="1"/>
          <p:nvPr/>
        </p:nvSpPr>
        <p:spPr>
          <a:xfrm>
            <a:off x="2990637"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The League told Japan to withdraw; the army ignored both Tokyo and Geneva.</a:t>
            </a:r>
            <a:endParaRPr lang="en-US" sz="1800" dirty="0"/>
          </a:p>
        </p:txBody>
      </p:sp>
      <p:sp>
        <p:nvSpPr>
          <p:cNvPr id="15" name="Arrow 2201"/>
          <p:cNvSpPr/>
          <p:nvPr/>
        </p:nvSpPr>
        <p:spPr>
          <a:xfrm>
            <a:off x="4874849" y="3232404"/>
            <a:ext cx="164592" cy="292608"/>
          </a:xfrm>
          <a:prstGeom prst="chevron">
            <a:avLst/>
          </a:prstGeom>
          <a:solidFill>
            <a:schemeClr val="accent3"/>
          </a:solidFill>
          <a:ln/>
        </p:spPr>
      </p:sp>
      <p:sp>
        <p:nvSpPr>
          <p:cNvPr id="16" name="Step 2202"/>
          <p:cNvSpPr/>
          <p:nvPr/>
        </p:nvSpPr>
        <p:spPr>
          <a:xfrm>
            <a:off x="5103449" y="1481328"/>
            <a:ext cx="1984797" cy="3794760"/>
          </a:xfrm>
          <a:prstGeom prst="roundRect">
            <a:avLst>
              <a:gd name="adj" fmla="val 4607"/>
            </a:avLst>
          </a:prstGeom>
          <a:solidFill>
            <a:schemeClr val="accent3">
              <a:alpha val="10000"/>
            </a:schemeClr>
          </a:solidFill>
          <a:ln/>
        </p:spPr>
      </p:sp>
      <p:sp>
        <p:nvSpPr>
          <p:cNvPr id="17" name="Step number 2203"/>
          <p:cNvSpPr/>
          <p:nvPr/>
        </p:nvSpPr>
        <p:spPr>
          <a:xfrm>
            <a:off x="5268041" y="1645920"/>
            <a:ext cx="420624" cy="420624"/>
          </a:xfrm>
          <a:prstGeom prst="ellipse">
            <a:avLst/>
          </a:prstGeom>
          <a:solidFill>
            <a:schemeClr val="accent3"/>
          </a:solidFill>
          <a:ln/>
        </p:spPr>
      </p:sp>
      <p:sp>
        <p:nvSpPr>
          <p:cNvPr id="18" name="Text 2204"/>
          <p:cNvSpPr txBox="1"/>
          <p:nvPr/>
        </p:nvSpPr>
        <p:spPr>
          <a:xfrm>
            <a:off x="5268041"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1932</a:t>
            </a:r>
            <a:endParaRPr lang="en-US" sz="1100" dirty="0"/>
          </a:p>
        </p:txBody>
      </p:sp>
      <p:sp>
        <p:nvSpPr>
          <p:cNvPr id="19" name="Text 2205"/>
          <p:cNvSpPr txBox="1"/>
          <p:nvPr/>
        </p:nvSpPr>
        <p:spPr>
          <a:xfrm>
            <a:off x="5798393"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Manchukuo</a:t>
            </a:r>
            <a:endParaRPr lang="en-US" sz="1500" dirty="0"/>
          </a:p>
        </p:txBody>
      </p:sp>
      <p:sp>
        <p:nvSpPr>
          <p:cNvPr id="20" name="Text 2206"/>
          <p:cNvSpPr txBox="1"/>
          <p:nvPr/>
        </p:nvSpPr>
        <p:spPr>
          <a:xfrm>
            <a:off x="5268041"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Japan attacked Shanghai (Jan) and set up a puppet state under Puyi (Mar).</a:t>
            </a:r>
            <a:endParaRPr lang="en-US" sz="1800" dirty="0"/>
          </a:p>
        </p:txBody>
      </p:sp>
      <p:sp>
        <p:nvSpPr>
          <p:cNvPr id="21" name="Arrow 2207"/>
          <p:cNvSpPr/>
          <p:nvPr/>
        </p:nvSpPr>
        <p:spPr>
          <a:xfrm>
            <a:off x="7152254" y="3232404"/>
            <a:ext cx="164592" cy="292608"/>
          </a:xfrm>
          <a:prstGeom prst="chevron">
            <a:avLst/>
          </a:prstGeom>
          <a:solidFill>
            <a:schemeClr val="accent3"/>
          </a:solidFill>
          <a:ln/>
        </p:spPr>
      </p:sp>
      <p:sp>
        <p:nvSpPr>
          <p:cNvPr id="22" name="Step 2208"/>
          <p:cNvSpPr/>
          <p:nvPr/>
        </p:nvSpPr>
        <p:spPr>
          <a:xfrm>
            <a:off x="7380854" y="1481328"/>
            <a:ext cx="1984797" cy="3794760"/>
          </a:xfrm>
          <a:prstGeom prst="roundRect">
            <a:avLst>
              <a:gd name="adj" fmla="val 4607"/>
            </a:avLst>
          </a:prstGeom>
          <a:solidFill>
            <a:schemeClr val="accent3">
              <a:alpha val="10000"/>
            </a:schemeClr>
          </a:solidFill>
          <a:ln/>
        </p:spPr>
      </p:sp>
      <p:sp>
        <p:nvSpPr>
          <p:cNvPr id="23" name="Step number 2209"/>
          <p:cNvSpPr/>
          <p:nvPr/>
        </p:nvSpPr>
        <p:spPr>
          <a:xfrm>
            <a:off x="7545446" y="1645920"/>
            <a:ext cx="420624" cy="420624"/>
          </a:xfrm>
          <a:prstGeom prst="ellipse">
            <a:avLst/>
          </a:prstGeom>
          <a:solidFill>
            <a:schemeClr val="accent3"/>
          </a:solidFill>
          <a:ln/>
        </p:spPr>
      </p:sp>
      <p:sp>
        <p:nvSpPr>
          <p:cNvPr id="24" name="Text 2210"/>
          <p:cNvSpPr txBox="1"/>
          <p:nvPr/>
        </p:nvSpPr>
        <p:spPr>
          <a:xfrm>
            <a:off x="7545446"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1932</a:t>
            </a:r>
            <a:endParaRPr lang="en-US" sz="1100" dirty="0"/>
          </a:p>
        </p:txBody>
      </p:sp>
      <p:sp>
        <p:nvSpPr>
          <p:cNvPr id="25" name="Text 2211"/>
          <p:cNvSpPr txBox="1"/>
          <p:nvPr/>
        </p:nvSpPr>
        <p:spPr>
          <a:xfrm>
            <a:off x="8075798"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Lytton Report</a:t>
            </a:r>
            <a:endParaRPr lang="en-US" sz="1500" dirty="0"/>
          </a:p>
        </p:txBody>
      </p:sp>
      <p:sp>
        <p:nvSpPr>
          <p:cNvPr id="26" name="Text 2212"/>
          <p:cNvSpPr txBox="1"/>
          <p:nvPr/>
        </p:nvSpPr>
        <p:spPr>
          <a:xfrm>
            <a:off x="7545446"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Oct: Japan was the aggressor; Manchuria should go back to China.</a:t>
            </a:r>
            <a:endParaRPr lang="en-US" sz="1800" dirty="0"/>
          </a:p>
        </p:txBody>
      </p:sp>
      <p:sp>
        <p:nvSpPr>
          <p:cNvPr id="27" name="Arrow 2213"/>
          <p:cNvSpPr/>
          <p:nvPr/>
        </p:nvSpPr>
        <p:spPr>
          <a:xfrm>
            <a:off x="9429659" y="3232404"/>
            <a:ext cx="164592" cy="292608"/>
          </a:xfrm>
          <a:prstGeom prst="chevron">
            <a:avLst/>
          </a:prstGeom>
          <a:solidFill>
            <a:schemeClr val="accent3"/>
          </a:solidFill>
          <a:ln/>
        </p:spPr>
      </p:sp>
      <p:sp>
        <p:nvSpPr>
          <p:cNvPr id="28" name="Step 2214"/>
          <p:cNvSpPr/>
          <p:nvPr/>
        </p:nvSpPr>
        <p:spPr>
          <a:xfrm>
            <a:off x="9658259" y="1481328"/>
            <a:ext cx="1984797" cy="3794760"/>
          </a:xfrm>
          <a:prstGeom prst="roundRect">
            <a:avLst>
              <a:gd name="adj" fmla="val 4607"/>
            </a:avLst>
          </a:prstGeom>
          <a:solidFill>
            <a:schemeClr val="accent3">
              <a:alpha val="10000"/>
            </a:schemeClr>
          </a:solidFill>
          <a:ln/>
        </p:spPr>
      </p:sp>
      <p:sp>
        <p:nvSpPr>
          <p:cNvPr id="29" name="Step number 2215"/>
          <p:cNvSpPr/>
          <p:nvPr/>
        </p:nvSpPr>
        <p:spPr>
          <a:xfrm>
            <a:off x="9822851" y="1645920"/>
            <a:ext cx="420624" cy="420624"/>
          </a:xfrm>
          <a:prstGeom prst="ellipse">
            <a:avLst/>
          </a:prstGeom>
          <a:solidFill>
            <a:schemeClr val="accent3"/>
          </a:solidFill>
          <a:ln/>
        </p:spPr>
      </p:sp>
      <p:sp>
        <p:nvSpPr>
          <p:cNvPr id="30" name="Text 2216"/>
          <p:cNvSpPr txBox="1"/>
          <p:nvPr/>
        </p:nvSpPr>
        <p:spPr>
          <a:xfrm>
            <a:off x="9822851"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1933</a:t>
            </a:r>
            <a:endParaRPr lang="en-US" sz="1100" dirty="0"/>
          </a:p>
        </p:txBody>
      </p:sp>
      <p:sp>
        <p:nvSpPr>
          <p:cNvPr id="31" name="Text 2217"/>
          <p:cNvSpPr txBox="1"/>
          <p:nvPr/>
        </p:nvSpPr>
        <p:spPr>
          <a:xfrm>
            <a:off x="10353203" y="1645920"/>
            <a:ext cx="1161837" cy="465087"/>
          </a:xfrm>
          <a:prstGeom prst="rect">
            <a:avLst/>
          </a:prstGeom>
          <a:noFill/>
          <a:ln/>
        </p:spPr>
        <p:txBody>
          <a:bodyPr wrap="square" lIns="0" tIns="0" rIns="0" bIns="0" rtlCol="0" anchor="t"/>
          <a:lstStyle/>
          <a:p>
            <a:pPr algn="l" indent="0" marL="0">
              <a:spcAft>
                <a:spcPts val="600"/>
              </a:spcAft>
              <a:buNone/>
            </a:pPr>
            <a:r>
              <a:rPr lang="en-US" sz="1500" b="1" dirty="0">
                <a:solidFill>
                  <a:schemeClr val="tx2"/>
                </a:solidFill>
              </a:rPr>
              <a:t>Japan walks out</a:t>
            </a:r>
            <a:endParaRPr lang="en-US" sz="1500" dirty="0"/>
          </a:p>
        </p:txBody>
      </p:sp>
      <p:sp>
        <p:nvSpPr>
          <p:cNvPr id="32" name="Text 2218"/>
          <p:cNvSpPr txBox="1"/>
          <p:nvPr/>
        </p:nvSpPr>
        <p:spPr>
          <a:xfrm>
            <a:off x="9822851" y="2220735"/>
            <a:ext cx="1655613" cy="2918193"/>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The Assembly backed Lytton (42–1). Japan left the League and took Jehol.</a:t>
            </a:r>
            <a:endParaRPr lang="en-US" sz="1800" dirty="0"/>
          </a:p>
        </p:txBody>
      </p:sp>
      <p:sp>
        <p:nvSpPr>
          <p:cNvPr id="33" name="Callout 2219"/>
          <p:cNvSpPr/>
          <p:nvPr/>
        </p:nvSpPr>
        <p:spPr>
          <a:xfrm>
            <a:off x="548640" y="5550408"/>
            <a:ext cx="11094415" cy="713232"/>
          </a:xfrm>
          <a:prstGeom prst="roundRect">
            <a:avLst>
              <a:gd name="adj" fmla="val 12821"/>
            </a:avLst>
          </a:prstGeom>
          <a:solidFill>
            <a:schemeClr val="accent4">
              <a:alpha val="20000"/>
            </a:schemeClr>
          </a:solidFill>
          <a:ln/>
        </p:spPr>
      </p:sp>
      <p:sp>
        <p:nvSpPr>
          <p:cNvPr id="34" name="Callout label 2220"/>
          <p:cNvSpPr/>
          <p:nvPr/>
        </p:nvSpPr>
        <p:spPr>
          <a:xfrm>
            <a:off x="731520" y="5751576"/>
            <a:ext cx="1020410" cy="310896"/>
          </a:xfrm>
          <a:prstGeom prst="roundRect">
            <a:avLst>
              <a:gd name="adj" fmla="val 50000"/>
            </a:avLst>
          </a:prstGeom>
          <a:solidFill>
            <a:schemeClr val="accent4"/>
          </a:solidFill>
          <a:ln/>
        </p:spPr>
      </p:sp>
      <p:sp>
        <p:nvSpPr>
          <p:cNvPr id="35" name="Text 2221"/>
          <p:cNvSpPr txBox="1"/>
          <p:nvPr/>
        </p:nvSpPr>
        <p:spPr>
          <a:xfrm>
            <a:off x="731520" y="5751576"/>
            <a:ext cx="1020410"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OUTCOME</a:t>
            </a:r>
            <a:endParaRPr lang="en-US" sz="1200" dirty="0"/>
          </a:p>
        </p:txBody>
      </p:sp>
      <p:sp>
        <p:nvSpPr>
          <p:cNvPr id="36" name="Text 2222"/>
          <p:cNvSpPr txBox="1"/>
          <p:nvPr/>
        </p:nvSpPr>
        <p:spPr>
          <a:xfrm>
            <a:off x="1934810" y="5623560"/>
            <a:ext cx="9525366"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No sanctions and no action: the first great-power aggression went unpunished.</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Kicker 222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KQ2 · MANCHURIA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didn't the League stop Japan?</a:t>
            </a:r>
            <a:endParaRPr lang="en-US" sz="3400" dirty="0"/>
          </a:p>
        </p:txBody>
      </p:sp>
      <p:sp>
        <p:nvSpPr>
          <p:cNvPr id="4" name="Card 2224"/>
          <p:cNvSpPr/>
          <p:nvPr/>
        </p:nvSpPr>
        <p:spPr>
          <a:xfrm>
            <a:off x="548640" y="1481328"/>
            <a:ext cx="3515258" cy="1760220"/>
          </a:xfrm>
          <a:prstGeom prst="roundRect">
            <a:avLst>
              <a:gd name="adj" fmla="val 5195"/>
            </a:avLst>
          </a:prstGeom>
          <a:solidFill>
            <a:schemeClr val="accent3">
              <a:alpha val="10000"/>
            </a:schemeClr>
          </a:solidFill>
          <a:ln/>
        </p:spPr>
      </p:sp>
      <p:sp>
        <p:nvSpPr>
          <p:cNvPr id="5" name="Icon circle 2225"/>
          <p:cNvSpPr/>
          <p:nvPr/>
        </p:nvSpPr>
        <p:spPr>
          <a:xfrm>
            <a:off x="731520" y="1664208"/>
            <a:ext cx="475488" cy="475488"/>
          </a:xfrm>
          <a:prstGeom prst="ellipse">
            <a:avLst/>
          </a:prstGeom>
          <a:solidFill>
            <a:schemeClr val="accent3"/>
          </a:solidFill>
          <a:ln/>
        </p:spPr>
      </p:sp>
      <p:pic>
        <p:nvPicPr>
          <p:cNvPr id="6" name="Icon FaGlobeAsia 2226"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227"/>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Distance</a:t>
            </a:r>
            <a:endParaRPr lang="en-US" sz="1600" dirty="0"/>
          </a:p>
        </p:txBody>
      </p:sp>
      <p:sp>
        <p:nvSpPr>
          <p:cNvPr id="8" name="Text 2228"/>
          <p:cNvSpPr txBox="1"/>
          <p:nvPr/>
        </p:nvSpPr>
        <p:spPr>
          <a:xfrm>
            <a:off x="731520"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Far from Europe. Only Britain and the USA had navies nearby — and the USA was not a member.</a:t>
            </a:r>
            <a:endParaRPr lang="en-US" sz="1700" dirty="0"/>
          </a:p>
        </p:txBody>
      </p:sp>
      <p:sp>
        <p:nvSpPr>
          <p:cNvPr id="9" name="Card 2229"/>
          <p:cNvSpPr/>
          <p:nvPr/>
        </p:nvSpPr>
        <p:spPr>
          <a:xfrm>
            <a:off x="4338218" y="1481328"/>
            <a:ext cx="3515258" cy="1760220"/>
          </a:xfrm>
          <a:prstGeom prst="roundRect">
            <a:avLst>
              <a:gd name="adj" fmla="val 5195"/>
            </a:avLst>
          </a:prstGeom>
          <a:solidFill>
            <a:schemeClr val="accent3">
              <a:alpha val="10000"/>
            </a:schemeClr>
          </a:solidFill>
          <a:ln/>
        </p:spPr>
      </p:sp>
      <p:sp>
        <p:nvSpPr>
          <p:cNvPr id="10" name="Icon circle 2230"/>
          <p:cNvSpPr/>
          <p:nvPr/>
        </p:nvSpPr>
        <p:spPr>
          <a:xfrm>
            <a:off x="4521098" y="1664208"/>
            <a:ext cx="475488" cy="475488"/>
          </a:xfrm>
          <a:prstGeom prst="ellipse">
            <a:avLst/>
          </a:prstGeom>
          <a:solidFill>
            <a:schemeClr val="accent3"/>
          </a:solidFill>
          <a:ln/>
        </p:spPr>
      </p:sp>
      <p:pic>
        <p:nvPicPr>
          <p:cNvPr id="11" name="Icon FaArrowTrendDown 2231"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2232"/>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Depression</a:t>
            </a:r>
            <a:endParaRPr lang="en-US" sz="1600" dirty="0"/>
          </a:p>
        </p:txBody>
      </p:sp>
      <p:sp>
        <p:nvSpPr>
          <p:cNvPr id="13" name="Text 2233"/>
          <p:cNvSpPr txBox="1"/>
          <p:nvPr/>
        </p:nvSpPr>
        <p:spPr>
          <a:xfrm>
            <a:off x="4521098"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Britain and France would not risk trade or pay for action.</a:t>
            </a:r>
            <a:endParaRPr lang="en-US" sz="1700" dirty="0"/>
          </a:p>
        </p:txBody>
      </p:sp>
      <p:sp>
        <p:nvSpPr>
          <p:cNvPr id="14" name="Card 2234"/>
          <p:cNvSpPr/>
          <p:nvPr/>
        </p:nvSpPr>
        <p:spPr>
          <a:xfrm>
            <a:off x="8127797" y="1481328"/>
            <a:ext cx="3515258" cy="1760220"/>
          </a:xfrm>
          <a:prstGeom prst="roundRect">
            <a:avLst>
              <a:gd name="adj" fmla="val 5195"/>
            </a:avLst>
          </a:prstGeom>
          <a:solidFill>
            <a:schemeClr val="accent3">
              <a:alpha val="10000"/>
            </a:schemeClr>
          </a:solidFill>
          <a:ln/>
        </p:spPr>
      </p:sp>
      <p:sp>
        <p:nvSpPr>
          <p:cNvPr id="15" name="Icon circle 2235"/>
          <p:cNvSpPr/>
          <p:nvPr/>
        </p:nvSpPr>
        <p:spPr>
          <a:xfrm>
            <a:off x="8310677" y="1664208"/>
            <a:ext cx="475488" cy="475488"/>
          </a:xfrm>
          <a:prstGeom prst="ellipse">
            <a:avLst/>
          </a:prstGeom>
          <a:solidFill>
            <a:schemeClr val="accent3"/>
          </a:solidFill>
          <a:ln/>
        </p:spPr>
      </p:sp>
      <p:pic>
        <p:nvPicPr>
          <p:cNvPr id="16" name="Icon FaHourglassHalf 2236"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2237"/>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Too slow</a:t>
            </a:r>
            <a:endParaRPr lang="en-US" sz="1600" dirty="0"/>
          </a:p>
        </p:txBody>
      </p:sp>
      <p:sp>
        <p:nvSpPr>
          <p:cNvPr id="18" name="Text 2238"/>
          <p:cNvSpPr txBox="1"/>
          <p:nvPr/>
        </p:nvSpPr>
        <p:spPr>
          <a:xfrm>
            <a:off x="8310677"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Lytton took a year to report; by then Japan had won.</a:t>
            </a:r>
            <a:endParaRPr lang="en-US" sz="1700" dirty="0"/>
          </a:p>
        </p:txBody>
      </p:sp>
      <p:sp>
        <p:nvSpPr>
          <p:cNvPr id="19" name="Card 2239"/>
          <p:cNvSpPr/>
          <p:nvPr/>
        </p:nvSpPr>
        <p:spPr>
          <a:xfrm>
            <a:off x="548640" y="3515868"/>
            <a:ext cx="3515258" cy="1760220"/>
          </a:xfrm>
          <a:prstGeom prst="roundRect">
            <a:avLst>
              <a:gd name="adj" fmla="val 5195"/>
            </a:avLst>
          </a:prstGeom>
          <a:solidFill>
            <a:schemeClr val="accent3">
              <a:alpha val="10000"/>
            </a:schemeClr>
          </a:solidFill>
          <a:ln/>
        </p:spPr>
      </p:sp>
      <p:sp>
        <p:nvSpPr>
          <p:cNvPr id="20" name="Icon circle 2240"/>
          <p:cNvSpPr/>
          <p:nvPr/>
        </p:nvSpPr>
        <p:spPr>
          <a:xfrm>
            <a:off x="731520" y="3698748"/>
            <a:ext cx="475488" cy="475488"/>
          </a:xfrm>
          <a:prstGeom prst="ellipse">
            <a:avLst/>
          </a:prstGeom>
          <a:solidFill>
            <a:schemeClr val="accent3"/>
          </a:solidFill>
          <a:ln/>
        </p:spPr>
      </p:sp>
      <p:pic>
        <p:nvPicPr>
          <p:cNvPr id="21" name="Icon FaBalanceScale 2241" descr="preencoded.png">    </p:cNvPr>
          <p:cNvPicPr>
            <a:picLocks noChangeAspect="1"/>
          </p:cNvPicPr>
          <p:nvPr/>
        </p:nvPicPr>
        <p:blipFill>
          <a:blip r:embed="rId4"/>
          <a:stretch>
            <a:fillRect/>
          </a:stretch>
        </p:blipFill>
        <p:spPr>
          <a:xfrm>
            <a:off x="836127" y="3803355"/>
            <a:ext cx="266273" cy="266273"/>
          </a:xfrm>
          <a:prstGeom prst="rect">
            <a:avLst/>
          </a:prstGeom>
        </p:spPr>
      </p:pic>
      <p:sp>
        <p:nvSpPr>
          <p:cNvPr id="22" name="Card title 2242"/>
          <p:cNvSpPr txBox="1"/>
          <p:nvPr/>
        </p:nvSpPr>
        <p:spPr>
          <a:xfrm>
            <a:off x="1335024"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Some sympathy</a:t>
            </a:r>
            <a:endParaRPr lang="en-US" sz="1600" dirty="0"/>
          </a:p>
        </p:txBody>
      </p:sp>
      <p:sp>
        <p:nvSpPr>
          <p:cNvPr id="23" name="Text 2243"/>
          <p:cNvSpPr txBox="1"/>
          <p:nvPr/>
        </p:nvSpPr>
        <p:spPr>
          <a:xfrm>
            <a:off x="731520"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Manchuria was lawless, China divided, and Japan had treaty rights there.</a:t>
            </a:r>
            <a:endParaRPr lang="en-US" sz="1700" dirty="0"/>
          </a:p>
        </p:txBody>
      </p:sp>
      <p:sp>
        <p:nvSpPr>
          <p:cNvPr id="24" name="Card 2244"/>
          <p:cNvSpPr/>
          <p:nvPr/>
        </p:nvSpPr>
        <p:spPr>
          <a:xfrm>
            <a:off x="4338218" y="3515868"/>
            <a:ext cx="3515258" cy="1760220"/>
          </a:xfrm>
          <a:prstGeom prst="roundRect">
            <a:avLst>
              <a:gd name="adj" fmla="val 5195"/>
            </a:avLst>
          </a:prstGeom>
          <a:solidFill>
            <a:schemeClr val="accent3">
              <a:alpha val="10000"/>
            </a:schemeClr>
          </a:solidFill>
          <a:ln/>
        </p:spPr>
      </p:sp>
      <p:sp>
        <p:nvSpPr>
          <p:cNvPr id="25" name="Icon circle 2245"/>
          <p:cNvSpPr/>
          <p:nvPr/>
        </p:nvSpPr>
        <p:spPr>
          <a:xfrm>
            <a:off x="4521098" y="3698748"/>
            <a:ext cx="475488" cy="475488"/>
          </a:xfrm>
          <a:prstGeom prst="ellipse">
            <a:avLst/>
          </a:prstGeom>
          <a:solidFill>
            <a:schemeClr val="accent3"/>
          </a:solidFill>
          <a:ln/>
        </p:spPr>
      </p:sp>
      <p:pic>
        <p:nvPicPr>
          <p:cNvPr id="26" name="Icon FaLandmark 2246" descr="preencoded.png">    </p:cNvPr>
          <p:cNvPicPr>
            <a:picLocks noChangeAspect="1"/>
          </p:cNvPicPr>
          <p:nvPr/>
        </p:nvPicPr>
        <p:blipFill>
          <a:blip r:embed="rId5"/>
          <a:stretch>
            <a:fillRect/>
          </a:stretch>
        </p:blipFill>
        <p:spPr>
          <a:xfrm>
            <a:off x="4625706" y="3803355"/>
            <a:ext cx="266273" cy="266273"/>
          </a:xfrm>
          <a:prstGeom prst="rect">
            <a:avLst/>
          </a:prstGeom>
        </p:spPr>
      </p:pic>
      <p:sp>
        <p:nvSpPr>
          <p:cNvPr id="27" name="Card title 2247"/>
          <p:cNvSpPr txBox="1"/>
          <p:nvPr/>
        </p:nvSpPr>
        <p:spPr>
          <a:xfrm>
            <a:off x="5124602"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A Council member</a:t>
            </a:r>
            <a:endParaRPr lang="en-US" sz="1600" dirty="0"/>
          </a:p>
        </p:txBody>
      </p:sp>
      <p:sp>
        <p:nvSpPr>
          <p:cNvPr id="28" name="Text 2248"/>
          <p:cNvSpPr txBox="1"/>
          <p:nvPr/>
        </p:nvSpPr>
        <p:spPr>
          <a:xfrm>
            <a:off x="4521098"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Japan was a permanent Council member and could block action.</a:t>
            </a:r>
            <a:endParaRPr lang="en-US" sz="1700" dirty="0"/>
          </a:p>
        </p:txBody>
      </p:sp>
      <p:sp>
        <p:nvSpPr>
          <p:cNvPr id="29" name="Card 2249"/>
          <p:cNvSpPr/>
          <p:nvPr/>
        </p:nvSpPr>
        <p:spPr>
          <a:xfrm>
            <a:off x="8127797" y="3515868"/>
            <a:ext cx="3515258" cy="1760220"/>
          </a:xfrm>
          <a:prstGeom prst="roundRect">
            <a:avLst>
              <a:gd name="adj" fmla="val 5195"/>
            </a:avLst>
          </a:prstGeom>
          <a:solidFill>
            <a:schemeClr val="accent3">
              <a:alpha val="10000"/>
            </a:schemeClr>
          </a:solidFill>
          <a:ln/>
        </p:spPr>
      </p:sp>
      <p:sp>
        <p:nvSpPr>
          <p:cNvPr id="30" name="Icon circle 2250"/>
          <p:cNvSpPr/>
          <p:nvPr/>
        </p:nvSpPr>
        <p:spPr>
          <a:xfrm>
            <a:off x="8310677" y="3698748"/>
            <a:ext cx="475488" cy="475488"/>
          </a:xfrm>
          <a:prstGeom prst="ellipse">
            <a:avLst/>
          </a:prstGeom>
          <a:solidFill>
            <a:schemeClr val="accent3"/>
          </a:solidFill>
          <a:ln/>
        </p:spPr>
      </p:sp>
      <p:pic>
        <p:nvPicPr>
          <p:cNvPr id="31" name="Icon GiCrossedSwords 2251" descr="preencoded.png">    </p:cNvPr>
          <p:cNvPicPr>
            <a:picLocks noChangeAspect="1"/>
          </p:cNvPicPr>
          <p:nvPr/>
        </p:nvPicPr>
        <p:blipFill>
          <a:blip r:embed="rId6"/>
          <a:stretch>
            <a:fillRect/>
          </a:stretch>
        </p:blipFill>
        <p:spPr>
          <a:xfrm>
            <a:off x="8415284" y="3803355"/>
            <a:ext cx="266273" cy="266273"/>
          </a:xfrm>
          <a:prstGeom prst="rect">
            <a:avLst/>
          </a:prstGeom>
        </p:spPr>
      </p:pic>
      <p:sp>
        <p:nvSpPr>
          <p:cNvPr id="32" name="Card title 2252"/>
          <p:cNvSpPr txBox="1"/>
          <p:nvPr/>
        </p:nvSpPr>
        <p:spPr>
          <a:xfrm>
            <a:off x="8914181"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Fear of war</a:t>
            </a:r>
            <a:endParaRPr lang="en-US" sz="1600" dirty="0"/>
          </a:p>
        </p:txBody>
      </p:sp>
      <p:sp>
        <p:nvSpPr>
          <p:cNvPr id="33" name="Text 2253"/>
          <p:cNvSpPr txBox="1"/>
          <p:nvPr/>
        </p:nvSpPr>
        <p:spPr>
          <a:xfrm>
            <a:off x="8310677"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Nobody would risk war with Japan; the USA and USSR were outside the League.</a:t>
            </a:r>
            <a:endParaRPr lang="en-US" sz="1700" dirty="0"/>
          </a:p>
        </p:txBody>
      </p:sp>
      <p:sp>
        <p:nvSpPr>
          <p:cNvPr id="34" name="Callout 2254"/>
          <p:cNvSpPr/>
          <p:nvPr/>
        </p:nvSpPr>
        <p:spPr>
          <a:xfrm>
            <a:off x="548640" y="5550408"/>
            <a:ext cx="11094415" cy="713232"/>
          </a:xfrm>
          <a:prstGeom prst="roundRect">
            <a:avLst>
              <a:gd name="adj" fmla="val 12821"/>
            </a:avLst>
          </a:prstGeom>
          <a:solidFill>
            <a:schemeClr val="accent4">
              <a:alpha val="20000"/>
            </a:schemeClr>
          </a:solidFill>
          <a:ln/>
        </p:spPr>
      </p:sp>
      <p:sp>
        <p:nvSpPr>
          <p:cNvPr id="35" name="Callout label 2255"/>
          <p:cNvSpPr/>
          <p:nvPr/>
        </p:nvSpPr>
        <p:spPr>
          <a:xfrm>
            <a:off x="731520" y="5751576"/>
            <a:ext cx="843568" cy="310896"/>
          </a:xfrm>
          <a:prstGeom prst="roundRect">
            <a:avLst>
              <a:gd name="adj" fmla="val 50000"/>
            </a:avLst>
          </a:prstGeom>
          <a:solidFill>
            <a:schemeClr val="accent4"/>
          </a:solidFill>
          <a:ln/>
        </p:spPr>
      </p:sp>
      <p:sp>
        <p:nvSpPr>
          <p:cNvPr id="36" name="Text 2256"/>
          <p:cNvSpPr txBox="1"/>
          <p:nvPr/>
        </p:nvSpPr>
        <p:spPr>
          <a:xfrm>
            <a:off x="731520" y="5751576"/>
            <a:ext cx="843568"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IMPACT</a:t>
            </a:r>
            <a:endParaRPr lang="en-US" sz="1200" dirty="0"/>
          </a:p>
        </p:txBody>
      </p:sp>
      <p:sp>
        <p:nvSpPr>
          <p:cNvPr id="37" name="Text 2257"/>
          <p:cNvSpPr txBox="1"/>
          <p:nvPr/>
        </p:nvSpPr>
        <p:spPr>
          <a:xfrm>
            <a:off x="1757968" y="5623560"/>
            <a:ext cx="9702207"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The League's first major failure. Hitler and Mussolini saw that aggression could pay.</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Kicker 225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KQ2 · DISARMAMENT</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World Disarmament Conference, 1932–34</a:t>
            </a:r>
            <a:endParaRPr lang="en-US" sz="3400" dirty="0"/>
          </a:p>
        </p:txBody>
      </p:sp>
      <p:sp>
        <p:nvSpPr>
          <p:cNvPr id="4" name="Connector 2259"/>
          <p:cNvSpPr/>
          <p:nvPr/>
        </p:nvSpPr>
        <p:spPr>
          <a:xfrm>
            <a:off x="640080" y="3378708"/>
            <a:ext cx="10911535" cy="0"/>
          </a:xfrm>
          <a:prstGeom prst="line">
            <a:avLst/>
          </a:prstGeom>
          <a:noFill/>
          <a:ln w="31750">
            <a:solidFill>
              <a:schemeClr val="accent3"/>
            </a:solidFill>
            <a:prstDash val="solid"/>
          </a:ln>
        </p:spPr>
      </p:sp>
      <p:sp>
        <p:nvSpPr>
          <p:cNvPr id="5" name="Timeline dot 2260"/>
          <p:cNvSpPr/>
          <p:nvPr/>
        </p:nvSpPr>
        <p:spPr>
          <a:xfrm>
            <a:off x="1430503" y="3259836"/>
            <a:ext cx="237744" cy="237744"/>
          </a:xfrm>
          <a:prstGeom prst="ellipse">
            <a:avLst/>
          </a:prstGeom>
          <a:solidFill>
            <a:schemeClr val="accent3"/>
          </a:solidFill>
          <a:ln/>
        </p:spPr>
      </p:sp>
      <p:sp>
        <p:nvSpPr>
          <p:cNvPr id="6" name="Connector 2261"/>
          <p:cNvSpPr/>
          <p:nvPr/>
        </p:nvSpPr>
        <p:spPr>
          <a:xfrm flipV="1">
            <a:off x="1549375" y="3086100"/>
            <a:ext cx="0" cy="173736"/>
          </a:xfrm>
          <a:prstGeom prst="line">
            <a:avLst/>
          </a:prstGeom>
          <a:noFill/>
          <a:ln w="12700">
            <a:solidFill>
              <a:schemeClr val="accent3"/>
            </a:solidFill>
            <a:prstDash val="solid"/>
          </a:ln>
        </p:spPr>
      </p:sp>
      <p:sp>
        <p:nvSpPr>
          <p:cNvPr id="7" name="Text 2262"/>
          <p:cNvSpPr txBox="1"/>
          <p:nvPr/>
        </p:nvSpPr>
        <p:spPr>
          <a:xfrm>
            <a:off x="640080" y="2775204"/>
            <a:ext cx="251460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3"/>
                </a:solidFill>
              </a:rPr>
              <a:t>Feb 1932</a:t>
            </a:r>
            <a:endParaRPr lang="en-US" sz="1500" dirty="0"/>
          </a:p>
        </p:txBody>
      </p:sp>
      <p:sp>
        <p:nvSpPr>
          <p:cNvPr id="8" name="Text 2263"/>
          <p:cNvSpPr txBox="1"/>
          <p:nvPr/>
        </p:nvSpPr>
        <p:spPr>
          <a:xfrm>
            <a:off x="640080" y="1481328"/>
            <a:ext cx="251460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Opens in Geneva with 60+ states</a:t>
            </a:r>
            <a:endParaRPr lang="en-US" sz="1400" dirty="0"/>
          </a:p>
        </p:txBody>
      </p:sp>
      <p:sp>
        <p:nvSpPr>
          <p:cNvPr id="9" name="Timeline dot 2264"/>
          <p:cNvSpPr/>
          <p:nvPr/>
        </p:nvSpPr>
        <p:spPr>
          <a:xfrm>
            <a:off x="3249092" y="3259836"/>
            <a:ext cx="237744" cy="237744"/>
          </a:xfrm>
          <a:prstGeom prst="ellipse">
            <a:avLst/>
          </a:prstGeom>
          <a:solidFill>
            <a:schemeClr val="accent3"/>
          </a:solidFill>
          <a:ln/>
        </p:spPr>
      </p:sp>
      <p:sp>
        <p:nvSpPr>
          <p:cNvPr id="10" name="Connector 2265"/>
          <p:cNvSpPr/>
          <p:nvPr/>
        </p:nvSpPr>
        <p:spPr>
          <a:xfrm>
            <a:off x="3367964" y="3497580"/>
            <a:ext cx="0" cy="173736"/>
          </a:xfrm>
          <a:prstGeom prst="line">
            <a:avLst/>
          </a:prstGeom>
          <a:noFill/>
          <a:ln w="12700">
            <a:solidFill>
              <a:schemeClr val="accent3"/>
            </a:solidFill>
            <a:prstDash val="solid"/>
          </a:ln>
        </p:spPr>
      </p:sp>
      <p:sp>
        <p:nvSpPr>
          <p:cNvPr id="11" name="Text 2266"/>
          <p:cNvSpPr txBox="1"/>
          <p:nvPr/>
        </p:nvSpPr>
        <p:spPr>
          <a:xfrm>
            <a:off x="2110664" y="3671316"/>
            <a:ext cx="251460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3"/>
                </a:solidFill>
              </a:rPr>
              <a:t>1932</a:t>
            </a:r>
            <a:endParaRPr lang="en-US" sz="1500" dirty="0"/>
          </a:p>
        </p:txBody>
      </p:sp>
      <p:sp>
        <p:nvSpPr>
          <p:cNvPr id="12" name="Text 2267"/>
          <p:cNvSpPr txBox="1"/>
          <p:nvPr/>
        </p:nvSpPr>
        <p:spPr>
          <a:xfrm>
            <a:off x="2110664" y="4018788"/>
            <a:ext cx="2514600" cy="12938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Germany demands equality: others disarm, or Germany rearms</a:t>
            </a:r>
            <a:endParaRPr lang="en-US" sz="1400" dirty="0"/>
          </a:p>
        </p:txBody>
      </p:sp>
      <p:sp>
        <p:nvSpPr>
          <p:cNvPr id="13" name="Timeline dot 2268"/>
          <p:cNvSpPr/>
          <p:nvPr/>
        </p:nvSpPr>
        <p:spPr>
          <a:xfrm>
            <a:off x="5067681" y="3259836"/>
            <a:ext cx="237744" cy="237744"/>
          </a:xfrm>
          <a:prstGeom prst="ellipse">
            <a:avLst/>
          </a:prstGeom>
          <a:solidFill>
            <a:schemeClr val="accent3"/>
          </a:solidFill>
          <a:ln/>
        </p:spPr>
      </p:sp>
      <p:sp>
        <p:nvSpPr>
          <p:cNvPr id="14" name="Connector 2269"/>
          <p:cNvSpPr/>
          <p:nvPr/>
        </p:nvSpPr>
        <p:spPr>
          <a:xfrm flipV="1">
            <a:off x="5186553" y="3086100"/>
            <a:ext cx="0" cy="173736"/>
          </a:xfrm>
          <a:prstGeom prst="line">
            <a:avLst/>
          </a:prstGeom>
          <a:noFill/>
          <a:ln w="12700">
            <a:solidFill>
              <a:schemeClr val="accent3"/>
            </a:solidFill>
            <a:prstDash val="solid"/>
          </a:ln>
        </p:spPr>
      </p:sp>
      <p:sp>
        <p:nvSpPr>
          <p:cNvPr id="15" name="Text 2270"/>
          <p:cNvSpPr txBox="1"/>
          <p:nvPr/>
        </p:nvSpPr>
        <p:spPr>
          <a:xfrm>
            <a:off x="3929253" y="2775204"/>
            <a:ext cx="251460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3"/>
                </a:solidFill>
              </a:rPr>
              <a:t>Dec 1932</a:t>
            </a:r>
            <a:endParaRPr lang="en-US" sz="1500" dirty="0"/>
          </a:p>
        </p:txBody>
      </p:sp>
      <p:sp>
        <p:nvSpPr>
          <p:cNvPr id="16" name="Text 2271"/>
          <p:cNvSpPr txBox="1"/>
          <p:nvPr/>
        </p:nvSpPr>
        <p:spPr>
          <a:xfrm>
            <a:off x="3929253" y="1481328"/>
            <a:ext cx="251460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Equality agreed 'in principle'; France refuses to disarm without security</a:t>
            </a:r>
            <a:endParaRPr lang="en-US" sz="1400" dirty="0"/>
          </a:p>
        </p:txBody>
      </p:sp>
      <p:sp>
        <p:nvSpPr>
          <p:cNvPr id="17" name="Timeline dot 2272"/>
          <p:cNvSpPr/>
          <p:nvPr/>
        </p:nvSpPr>
        <p:spPr>
          <a:xfrm>
            <a:off x="6886270" y="3259836"/>
            <a:ext cx="237744" cy="237744"/>
          </a:xfrm>
          <a:prstGeom prst="ellipse">
            <a:avLst/>
          </a:prstGeom>
          <a:solidFill>
            <a:schemeClr val="accent3"/>
          </a:solidFill>
          <a:ln/>
        </p:spPr>
      </p:sp>
      <p:sp>
        <p:nvSpPr>
          <p:cNvPr id="18" name="Connector 2273"/>
          <p:cNvSpPr/>
          <p:nvPr/>
        </p:nvSpPr>
        <p:spPr>
          <a:xfrm>
            <a:off x="7005142" y="3497580"/>
            <a:ext cx="0" cy="173736"/>
          </a:xfrm>
          <a:prstGeom prst="line">
            <a:avLst/>
          </a:prstGeom>
          <a:noFill/>
          <a:ln w="12700">
            <a:solidFill>
              <a:schemeClr val="accent3"/>
            </a:solidFill>
            <a:prstDash val="solid"/>
          </a:ln>
        </p:spPr>
      </p:sp>
      <p:sp>
        <p:nvSpPr>
          <p:cNvPr id="19" name="Text 2274"/>
          <p:cNvSpPr txBox="1"/>
          <p:nvPr/>
        </p:nvSpPr>
        <p:spPr>
          <a:xfrm>
            <a:off x="5747842" y="3671316"/>
            <a:ext cx="251460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3"/>
                </a:solidFill>
              </a:rPr>
              <a:t>Oct 1933</a:t>
            </a:r>
            <a:endParaRPr lang="en-US" sz="1500" dirty="0"/>
          </a:p>
        </p:txBody>
      </p:sp>
      <p:sp>
        <p:nvSpPr>
          <p:cNvPr id="20" name="Text 2275"/>
          <p:cNvSpPr txBox="1"/>
          <p:nvPr/>
        </p:nvSpPr>
        <p:spPr>
          <a:xfrm>
            <a:off x="5747842" y="4018788"/>
            <a:ext cx="2514600" cy="12938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Hitler leaves the Conference and the League</a:t>
            </a:r>
            <a:endParaRPr lang="en-US" sz="1400" dirty="0"/>
          </a:p>
        </p:txBody>
      </p:sp>
      <p:sp>
        <p:nvSpPr>
          <p:cNvPr id="21" name="Timeline dot 2276"/>
          <p:cNvSpPr/>
          <p:nvPr/>
        </p:nvSpPr>
        <p:spPr>
          <a:xfrm>
            <a:off x="8704859" y="3259836"/>
            <a:ext cx="237744" cy="237744"/>
          </a:xfrm>
          <a:prstGeom prst="ellipse">
            <a:avLst/>
          </a:prstGeom>
          <a:solidFill>
            <a:schemeClr val="accent3"/>
          </a:solidFill>
          <a:ln/>
        </p:spPr>
      </p:sp>
      <p:sp>
        <p:nvSpPr>
          <p:cNvPr id="22" name="Connector 2277"/>
          <p:cNvSpPr/>
          <p:nvPr/>
        </p:nvSpPr>
        <p:spPr>
          <a:xfrm flipV="1">
            <a:off x="8823731" y="3086100"/>
            <a:ext cx="0" cy="173736"/>
          </a:xfrm>
          <a:prstGeom prst="line">
            <a:avLst/>
          </a:prstGeom>
          <a:noFill/>
          <a:ln w="12700">
            <a:solidFill>
              <a:schemeClr val="accent3"/>
            </a:solidFill>
            <a:prstDash val="solid"/>
          </a:ln>
        </p:spPr>
      </p:sp>
      <p:sp>
        <p:nvSpPr>
          <p:cNvPr id="23" name="Text 2278"/>
          <p:cNvSpPr txBox="1"/>
          <p:nvPr/>
        </p:nvSpPr>
        <p:spPr>
          <a:xfrm>
            <a:off x="7566431" y="2775204"/>
            <a:ext cx="251460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3"/>
                </a:solidFill>
              </a:rPr>
              <a:t>1934</a:t>
            </a:r>
            <a:endParaRPr lang="en-US" sz="1500" dirty="0"/>
          </a:p>
        </p:txBody>
      </p:sp>
      <p:sp>
        <p:nvSpPr>
          <p:cNvPr id="24" name="Text 2279"/>
          <p:cNvSpPr txBox="1"/>
          <p:nvPr/>
        </p:nvSpPr>
        <p:spPr>
          <a:xfrm>
            <a:off x="7566431" y="1481328"/>
            <a:ext cx="2514600" cy="1293876"/>
          </a:xfrm>
          <a:prstGeom prst="rect">
            <a:avLst/>
          </a:prstGeom>
          <a:noFill/>
          <a:ln/>
        </p:spPr>
        <p:txBody>
          <a:bodyPr wrap="square" lIns="0" tIns="0" rIns="0" bIns="0" rtlCol="0" anchor="b"/>
          <a:lstStyle/>
          <a:p>
            <a:pPr algn="ctr" indent="0" marL="0">
              <a:spcAft>
                <a:spcPts val="600"/>
              </a:spcAft>
              <a:buNone/>
            </a:pPr>
            <a:r>
              <a:rPr lang="en-US" sz="1400" dirty="0">
                <a:solidFill>
                  <a:schemeClr val="tx1"/>
                </a:solidFill>
              </a:rPr>
              <a:t>Conference collapses</a:t>
            </a:r>
            <a:endParaRPr lang="en-US" sz="1400" dirty="0"/>
          </a:p>
        </p:txBody>
      </p:sp>
      <p:sp>
        <p:nvSpPr>
          <p:cNvPr id="25" name="Timeline dot 2280"/>
          <p:cNvSpPr/>
          <p:nvPr/>
        </p:nvSpPr>
        <p:spPr>
          <a:xfrm>
            <a:off x="10523449" y="3259836"/>
            <a:ext cx="237744" cy="237744"/>
          </a:xfrm>
          <a:prstGeom prst="ellipse">
            <a:avLst/>
          </a:prstGeom>
          <a:solidFill>
            <a:schemeClr val="accent3"/>
          </a:solidFill>
          <a:ln/>
        </p:spPr>
      </p:sp>
      <p:sp>
        <p:nvSpPr>
          <p:cNvPr id="26" name="Connector 2281"/>
          <p:cNvSpPr/>
          <p:nvPr/>
        </p:nvSpPr>
        <p:spPr>
          <a:xfrm>
            <a:off x="10642321" y="3497580"/>
            <a:ext cx="0" cy="173736"/>
          </a:xfrm>
          <a:prstGeom prst="line">
            <a:avLst/>
          </a:prstGeom>
          <a:noFill/>
          <a:ln w="12700">
            <a:solidFill>
              <a:schemeClr val="accent3"/>
            </a:solidFill>
            <a:prstDash val="solid"/>
          </a:ln>
        </p:spPr>
      </p:sp>
      <p:sp>
        <p:nvSpPr>
          <p:cNvPr id="27" name="Text 2282"/>
          <p:cNvSpPr txBox="1"/>
          <p:nvPr/>
        </p:nvSpPr>
        <p:spPr>
          <a:xfrm>
            <a:off x="9037015" y="3671316"/>
            <a:ext cx="251460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3"/>
                </a:solidFill>
              </a:rPr>
              <a:t>1935</a:t>
            </a:r>
            <a:endParaRPr lang="en-US" sz="1500" dirty="0"/>
          </a:p>
        </p:txBody>
      </p:sp>
      <p:sp>
        <p:nvSpPr>
          <p:cNvPr id="28" name="Text 2283"/>
          <p:cNvSpPr txBox="1"/>
          <p:nvPr/>
        </p:nvSpPr>
        <p:spPr>
          <a:xfrm>
            <a:off x="9037015" y="4018788"/>
            <a:ext cx="2514600" cy="12938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Open rearmament; Anglo-German Naval Agreement (35% of the Royal Navy)</a:t>
            </a:r>
            <a:endParaRPr lang="en-US" sz="1400" dirty="0"/>
          </a:p>
        </p:txBody>
      </p:sp>
      <p:sp>
        <p:nvSpPr>
          <p:cNvPr id="29" name="Callout 2284"/>
          <p:cNvSpPr/>
          <p:nvPr/>
        </p:nvSpPr>
        <p:spPr>
          <a:xfrm>
            <a:off x="548640" y="5550408"/>
            <a:ext cx="11094415" cy="713232"/>
          </a:xfrm>
          <a:prstGeom prst="roundRect">
            <a:avLst>
              <a:gd name="adj" fmla="val 12821"/>
            </a:avLst>
          </a:prstGeom>
          <a:solidFill>
            <a:schemeClr val="accent4">
              <a:alpha val="20000"/>
            </a:schemeClr>
          </a:solidFill>
          <a:ln/>
        </p:spPr>
      </p:sp>
      <p:sp>
        <p:nvSpPr>
          <p:cNvPr id="30" name="Callout label 2285"/>
          <p:cNvSpPr/>
          <p:nvPr/>
        </p:nvSpPr>
        <p:spPr>
          <a:xfrm>
            <a:off x="731520" y="5751576"/>
            <a:ext cx="1045034" cy="310896"/>
          </a:xfrm>
          <a:prstGeom prst="roundRect">
            <a:avLst>
              <a:gd name="adj" fmla="val 50000"/>
            </a:avLst>
          </a:prstGeom>
          <a:solidFill>
            <a:schemeClr val="accent4"/>
          </a:solidFill>
          <a:ln/>
        </p:spPr>
      </p:sp>
      <p:sp>
        <p:nvSpPr>
          <p:cNvPr id="31" name="Text 2286"/>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32" name="Text 2287"/>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Hopes of disarmament ended — and Britain's naval deal with Hitler undermined Versailles and the Stresa Front.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Kicker 228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KQ2 · ABYSSINIA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Abyssinian Crisis, 1935–36</a:t>
            </a:r>
            <a:endParaRPr lang="en-US" sz="3400" dirty="0"/>
          </a:p>
        </p:txBody>
      </p:sp>
      <p:sp>
        <p:nvSpPr>
          <p:cNvPr id="4" name="Step 2289"/>
          <p:cNvSpPr/>
          <p:nvPr/>
        </p:nvSpPr>
        <p:spPr>
          <a:xfrm>
            <a:off x="548640" y="1481328"/>
            <a:ext cx="1984797" cy="3794760"/>
          </a:xfrm>
          <a:prstGeom prst="roundRect">
            <a:avLst>
              <a:gd name="adj" fmla="val 4607"/>
            </a:avLst>
          </a:prstGeom>
          <a:solidFill>
            <a:schemeClr val="accent3">
              <a:alpha val="10000"/>
            </a:schemeClr>
          </a:solidFill>
          <a:ln/>
        </p:spPr>
      </p:sp>
      <p:sp>
        <p:nvSpPr>
          <p:cNvPr id="5" name="Step number 2290"/>
          <p:cNvSpPr/>
          <p:nvPr/>
        </p:nvSpPr>
        <p:spPr>
          <a:xfrm>
            <a:off x="713232" y="1645920"/>
            <a:ext cx="420624" cy="420624"/>
          </a:xfrm>
          <a:prstGeom prst="ellipse">
            <a:avLst/>
          </a:prstGeom>
          <a:solidFill>
            <a:schemeClr val="accent3"/>
          </a:solidFill>
          <a:ln/>
        </p:spPr>
      </p:sp>
      <p:sp>
        <p:nvSpPr>
          <p:cNvPr id="6" name="Text 2291"/>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1934</a:t>
            </a:r>
            <a:endParaRPr lang="en-US" sz="1100" dirty="0"/>
          </a:p>
        </p:txBody>
      </p:sp>
      <p:sp>
        <p:nvSpPr>
          <p:cNvPr id="7" name="Text 2292"/>
          <p:cNvSpPr txBox="1"/>
          <p:nvPr/>
        </p:nvSpPr>
        <p:spPr>
          <a:xfrm>
            <a:off x="1243584"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Wal-Wal</a:t>
            </a:r>
            <a:endParaRPr lang="en-US" sz="1500" dirty="0"/>
          </a:p>
        </p:txBody>
      </p:sp>
      <p:sp>
        <p:nvSpPr>
          <p:cNvPr id="8" name="Text 2293"/>
          <p:cNvSpPr txBox="1"/>
          <p:nvPr/>
        </p:nvSpPr>
        <p:spPr>
          <a:xfrm>
            <a:off x="713232"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Border clash in Dec gave Mussolini an excuse.</a:t>
            </a:r>
            <a:endParaRPr lang="en-US" sz="1800" dirty="0"/>
          </a:p>
        </p:txBody>
      </p:sp>
      <p:sp>
        <p:nvSpPr>
          <p:cNvPr id="9" name="Arrow 2294"/>
          <p:cNvSpPr/>
          <p:nvPr/>
        </p:nvSpPr>
        <p:spPr>
          <a:xfrm>
            <a:off x="2597445" y="3232404"/>
            <a:ext cx="164592" cy="292608"/>
          </a:xfrm>
          <a:prstGeom prst="chevron">
            <a:avLst/>
          </a:prstGeom>
          <a:solidFill>
            <a:schemeClr val="accent3"/>
          </a:solidFill>
          <a:ln/>
        </p:spPr>
      </p:sp>
      <p:sp>
        <p:nvSpPr>
          <p:cNvPr id="10" name="Step 2295"/>
          <p:cNvSpPr/>
          <p:nvPr/>
        </p:nvSpPr>
        <p:spPr>
          <a:xfrm>
            <a:off x="2826045" y="1481328"/>
            <a:ext cx="1984797" cy="3794760"/>
          </a:xfrm>
          <a:prstGeom prst="roundRect">
            <a:avLst>
              <a:gd name="adj" fmla="val 4607"/>
            </a:avLst>
          </a:prstGeom>
          <a:solidFill>
            <a:schemeClr val="accent3">
              <a:alpha val="10000"/>
            </a:schemeClr>
          </a:solidFill>
          <a:ln/>
        </p:spPr>
      </p:sp>
      <p:sp>
        <p:nvSpPr>
          <p:cNvPr id="11" name="Step number 2296"/>
          <p:cNvSpPr/>
          <p:nvPr/>
        </p:nvSpPr>
        <p:spPr>
          <a:xfrm>
            <a:off x="2990637" y="1645920"/>
            <a:ext cx="420624" cy="420624"/>
          </a:xfrm>
          <a:prstGeom prst="ellipse">
            <a:avLst/>
          </a:prstGeom>
          <a:solidFill>
            <a:schemeClr val="accent3"/>
          </a:solidFill>
          <a:ln/>
        </p:spPr>
      </p:sp>
      <p:sp>
        <p:nvSpPr>
          <p:cNvPr id="12" name="Text 2297"/>
          <p:cNvSpPr txBox="1"/>
          <p:nvPr/>
        </p:nvSpPr>
        <p:spPr>
          <a:xfrm>
            <a:off x="2990637"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1935</a:t>
            </a:r>
            <a:endParaRPr lang="en-US" sz="1100" dirty="0"/>
          </a:p>
        </p:txBody>
      </p:sp>
      <p:sp>
        <p:nvSpPr>
          <p:cNvPr id="13" name="Text 2298"/>
          <p:cNvSpPr txBox="1"/>
          <p:nvPr/>
        </p:nvSpPr>
        <p:spPr>
          <a:xfrm>
            <a:off x="3520989"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Stresa first</a:t>
            </a:r>
            <a:endParaRPr lang="en-US" sz="1500" dirty="0"/>
          </a:p>
        </p:txBody>
      </p:sp>
      <p:sp>
        <p:nvSpPr>
          <p:cNvPr id="14" name="Text 2299"/>
          <p:cNvSpPr txBox="1"/>
          <p:nvPr/>
        </p:nvSpPr>
        <p:spPr>
          <a:xfrm>
            <a:off x="2990637"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Britain and France wanted Italy as an ally against Hitler.</a:t>
            </a:r>
            <a:endParaRPr lang="en-US" sz="1800" dirty="0"/>
          </a:p>
        </p:txBody>
      </p:sp>
      <p:sp>
        <p:nvSpPr>
          <p:cNvPr id="15" name="Arrow 2300"/>
          <p:cNvSpPr/>
          <p:nvPr/>
        </p:nvSpPr>
        <p:spPr>
          <a:xfrm>
            <a:off x="4874849" y="3232404"/>
            <a:ext cx="164592" cy="292608"/>
          </a:xfrm>
          <a:prstGeom prst="chevron">
            <a:avLst/>
          </a:prstGeom>
          <a:solidFill>
            <a:schemeClr val="accent3"/>
          </a:solidFill>
          <a:ln/>
        </p:spPr>
      </p:sp>
      <p:sp>
        <p:nvSpPr>
          <p:cNvPr id="16" name="Step 2301"/>
          <p:cNvSpPr/>
          <p:nvPr/>
        </p:nvSpPr>
        <p:spPr>
          <a:xfrm>
            <a:off x="5103449" y="1481328"/>
            <a:ext cx="1984797" cy="3794760"/>
          </a:xfrm>
          <a:prstGeom prst="roundRect">
            <a:avLst>
              <a:gd name="adj" fmla="val 4607"/>
            </a:avLst>
          </a:prstGeom>
          <a:solidFill>
            <a:schemeClr val="accent3">
              <a:alpha val="10000"/>
            </a:schemeClr>
          </a:solidFill>
          <a:ln/>
        </p:spPr>
      </p:sp>
      <p:sp>
        <p:nvSpPr>
          <p:cNvPr id="17" name="Step number 2302"/>
          <p:cNvSpPr/>
          <p:nvPr/>
        </p:nvSpPr>
        <p:spPr>
          <a:xfrm>
            <a:off x="5268041" y="1645920"/>
            <a:ext cx="420624" cy="420624"/>
          </a:xfrm>
          <a:prstGeom prst="ellipse">
            <a:avLst/>
          </a:prstGeom>
          <a:solidFill>
            <a:schemeClr val="accent3"/>
          </a:solidFill>
          <a:ln/>
        </p:spPr>
      </p:sp>
      <p:sp>
        <p:nvSpPr>
          <p:cNvPr id="18" name="Text 2303"/>
          <p:cNvSpPr txBox="1"/>
          <p:nvPr/>
        </p:nvSpPr>
        <p:spPr>
          <a:xfrm>
            <a:off x="5268041"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Oct 35</a:t>
            </a:r>
            <a:endParaRPr lang="en-US" sz="1100" dirty="0"/>
          </a:p>
        </p:txBody>
      </p:sp>
      <p:sp>
        <p:nvSpPr>
          <p:cNvPr id="19" name="Text 2304"/>
          <p:cNvSpPr txBox="1"/>
          <p:nvPr/>
        </p:nvSpPr>
        <p:spPr>
          <a:xfrm>
            <a:off x="5798393"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Invasion</a:t>
            </a:r>
            <a:endParaRPr lang="en-US" sz="1500" dirty="0"/>
          </a:p>
        </p:txBody>
      </p:sp>
      <p:sp>
        <p:nvSpPr>
          <p:cNvPr id="20" name="Text 2305"/>
          <p:cNvSpPr txBox="1"/>
          <p:nvPr/>
        </p:nvSpPr>
        <p:spPr>
          <a:xfrm>
            <a:off x="5268041"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League condemned Italy; sanctions — but not on oil; Suez stayed open.</a:t>
            </a:r>
            <a:endParaRPr lang="en-US" sz="1800" dirty="0"/>
          </a:p>
        </p:txBody>
      </p:sp>
      <p:sp>
        <p:nvSpPr>
          <p:cNvPr id="21" name="Arrow 2306"/>
          <p:cNvSpPr/>
          <p:nvPr/>
        </p:nvSpPr>
        <p:spPr>
          <a:xfrm>
            <a:off x="7152254" y="3232404"/>
            <a:ext cx="164592" cy="292608"/>
          </a:xfrm>
          <a:prstGeom prst="chevron">
            <a:avLst/>
          </a:prstGeom>
          <a:solidFill>
            <a:schemeClr val="accent3"/>
          </a:solidFill>
          <a:ln/>
        </p:spPr>
      </p:sp>
      <p:sp>
        <p:nvSpPr>
          <p:cNvPr id="22" name="Step 2307"/>
          <p:cNvSpPr/>
          <p:nvPr/>
        </p:nvSpPr>
        <p:spPr>
          <a:xfrm>
            <a:off x="7380854" y="1481328"/>
            <a:ext cx="1984797" cy="3794760"/>
          </a:xfrm>
          <a:prstGeom prst="roundRect">
            <a:avLst>
              <a:gd name="adj" fmla="val 4607"/>
            </a:avLst>
          </a:prstGeom>
          <a:solidFill>
            <a:schemeClr val="accent3">
              <a:alpha val="10000"/>
            </a:schemeClr>
          </a:solidFill>
          <a:ln/>
        </p:spPr>
      </p:sp>
      <p:sp>
        <p:nvSpPr>
          <p:cNvPr id="23" name="Step number 2308"/>
          <p:cNvSpPr/>
          <p:nvPr/>
        </p:nvSpPr>
        <p:spPr>
          <a:xfrm>
            <a:off x="7545446" y="1645920"/>
            <a:ext cx="420624" cy="420624"/>
          </a:xfrm>
          <a:prstGeom prst="ellipse">
            <a:avLst/>
          </a:prstGeom>
          <a:solidFill>
            <a:schemeClr val="accent3"/>
          </a:solidFill>
          <a:ln/>
        </p:spPr>
      </p:sp>
      <p:sp>
        <p:nvSpPr>
          <p:cNvPr id="24" name="Text 2309"/>
          <p:cNvSpPr txBox="1"/>
          <p:nvPr/>
        </p:nvSpPr>
        <p:spPr>
          <a:xfrm>
            <a:off x="7545446"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Dec 35</a:t>
            </a:r>
            <a:endParaRPr lang="en-US" sz="1100" dirty="0"/>
          </a:p>
        </p:txBody>
      </p:sp>
      <p:sp>
        <p:nvSpPr>
          <p:cNvPr id="25" name="Text 2310"/>
          <p:cNvSpPr txBox="1"/>
          <p:nvPr/>
        </p:nvSpPr>
        <p:spPr>
          <a:xfrm>
            <a:off x="8075798"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Hoare–Laval</a:t>
            </a:r>
            <a:endParaRPr lang="en-US" sz="1500" dirty="0"/>
          </a:p>
        </p:txBody>
      </p:sp>
      <p:sp>
        <p:nvSpPr>
          <p:cNvPr id="26" name="Text 2311"/>
          <p:cNvSpPr txBox="1"/>
          <p:nvPr/>
        </p:nvSpPr>
        <p:spPr>
          <a:xfrm>
            <a:off x="7545446"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Secret plan to give Italy two-thirds of Abyssinia leaked; outrage.</a:t>
            </a:r>
            <a:endParaRPr lang="en-US" sz="1800" dirty="0"/>
          </a:p>
        </p:txBody>
      </p:sp>
      <p:sp>
        <p:nvSpPr>
          <p:cNvPr id="27" name="Arrow 2312"/>
          <p:cNvSpPr/>
          <p:nvPr/>
        </p:nvSpPr>
        <p:spPr>
          <a:xfrm>
            <a:off x="9429659" y="3232404"/>
            <a:ext cx="164592" cy="292608"/>
          </a:xfrm>
          <a:prstGeom prst="chevron">
            <a:avLst/>
          </a:prstGeom>
          <a:solidFill>
            <a:schemeClr val="accent3"/>
          </a:solidFill>
          <a:ln/>
        </p:spPr>
      </p:sp>
      <p:sp>
        <p:nvSpPr>
          <p:cNvPr id="28" name="Step 2313"/>
          <p:cNvSpPr/>
          <p:nvPr/>
        </p:nvSpPr>
        <p:spPr>
          <a:xfrm>
            <a:off x="9658259" y="1481328"/>
            <a:ext cx="1984797" cy="3794760"/>
          </a:xfrm>
          <a:prstGeom prst="roundRect">
            <a:avLst>
              <a:gd name="adj" fmla="val 4607"/>
            </a:avLst>
          </a:prstGeom>
          <a:solidFill>
            <a:schemeClr val="accent3">
              <a:alpha val="10000"/>
            </a:schemeClr>
          </a:solidFill>
          <a:ln/>
        </p:spPr>
      </p:sp>
      <p:sp>
        <p:nvSpPr>
          <p:cNvPr id="29" name="Step number 2314"/>
          <p:cNvSpPr/>
          <p:nvPr/>
        </p:nvSpPr>
        <p:spPr>
          <a:xfrm>
            <a:off x="9822851" y="1645920"/>
            <a:ext cx="420624" cy="420624"/>
          </a:xfrm>
          <a:prstGeom prst="ellipse">
            <a:avLst/>
          </a:prstGeom>
          <a:solidFill>
            <a:schemeClr val="accent3"/>
          </a:solidFill>
          <a:ln/>
        </p:spPr>
      </p:sp>
      <p:sp>
        <p:nvSpPr>
          <p:cNvPr id="30" name="Text 2315"/>
          <p:cNvSpPr txBox="1"/>
          <p:nvPr/>
        </p:nvSpPr>
        <p:spPr>
          <a:xfrm>
            <a:off x="9822851"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1936</a:t>
            </a:r>
            <a:endParaRPr lang="en-US" sz="1100" dirty="0"/>
          </a:p>
        </p:txBody>
      </p:sp>
      <p:sp>
        <p:nvSpPr>
          <p:cNvPr id="31" name="Text 2316"/>
          <p:cNvSpPr txBox="1"/>
          <p:nvPr/>
        </p:nvSpPr>
        <p:spPr>
          <a:xfrm>
            <a:off x="10353203"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Conquest</a:t>
            </a:r>
            <a:endParaRPr lang="en-US" sz="1500" dirty="0"/>
          </a:p>
        </p:txBody>
      </p:sp>
      <p:sp>
        <p:nvSpPr>
          <p:cNvPr id="32" name="Text 2317"/>
          <p:cNvSpPr txBox="1"/>
          <p:nvPr/>
        </p:nvSpPr>
        <p:spPr>
          <a:xfrm>
            <a:off x="9822851"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Poison gas; Addis Ababa fell (May); sanctions dropped (July).</a:t>
            </a:r>
            <a:endParaRPr lang="en-US" sz="1800" dirty="0"/>
          </a:p>
        </p:txBody>
      </p:sp>
      <p:sp>
        <p:nvSpPr>
          <p:cNvPr id="33" name="Callout 2318"/>
          <p:cNvSpPr/>
          <p:nvPr/>
        </p:nvSpPr>
        <p:spPr>
          <a:xfrm>
            <a:off x="548640" y="5550408"/>
            <a:ext cx="11094415" cy="713232"/>
          </a:xfrm>
          <a:prstGeom prst="roundRect">
            <a:avLst>
              <a:gd name="adj" fmla="val 12821"/>
            </a:avLst>
          </a:prstGeom>
          <a:solidFill>
            <a:schemeClr val="accent4">
              <a:alpha val="20000"/>
            </a:schemeClr>
          </a:solidFill>
          <a:ln/>
        </p:spPr>
      </p:sp>
      <p:sp>
        <p:nvSpPr>
          <p:cNvPr id="34" name="Callout label 2319"/>
          <p:cNvSpPr/>
          <p:nvPr/>
        </p:nvSpPr>
        <p:spPr>
          <a:xfrm>
            <a:off x="731520" y="5751576"/>
            <a:ext cx="1442284" cy="310896"/>
          </a:xfrm>
          <a:prstGeom prst="roundRect">
            <a:avLst>
              <a:gd name="adj" fmla="val 50000"/>
            </a:avLst>
          </a:prstGeom>
          <a:solidFill>
            <a:schemeClr val="accent4"/>
          </a:solidFill>
          <a:ln/>
        </p:spPr>
      </p:sp>
      <p:sp>
        <p:nvSpPr>
          <p:cNvPr id="35" name="Text 2320"/>
          <p:cNvSpPr txBox="1"/>
          <p:nvPr/>
        </p:nvSpPr>
        <p:spPr>
          <a:xfrm>
            <a:off x="731520" y="5751576"/>
            <a:ext cx="144228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CONSEQUENCES</a:t>
            </a:r>
            <a:endParaRPr lang="en-US" sz="1200" dirty="0"/>
          </a:p>
        </p:txBody>
      </p:sp>
      <p:sp>
        <p:nvSpPr>
          <p:cNvPr id="36" name="Text 2321"/>
          <p:cNvSpPr txBox="1"/>
          <p:nvPr/>
        </p:nvSpPr>
        <p:spPr>
          <a:xfrm>
            <a:off x="2356684" y="5623560"/>
            <a:ext cx="910349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The League was discredited, Stresa collapsed, Italy moved towards Hitler — and Germany entered the Rhineland while the powers were distracted.</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Kicker 232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KQ2 · COMPARE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Manchuria vs Abyssinia</a:t>
            </a:r>
            <a:endParaRPr lang="en-US" sz="3400" dirty="0"/>
          </a:p>
        </p:txBody>
      </p:sp>
      <p:graphicFrame>
        <p:nvGraphicFramePr>
          <p:cNvPr id="99" name="Table 2323"/>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011680"/>
                <a:gridCol w="4540910"/>
                <a:gridCol w="4541825"/>
              </a:tblGrid>
              <a:tr h="384048">
                <a:tc>
                  <a:txBody>
                    <a:bodyPr/>
                    <a:lstStyle/>
                    <a:p>
                      <a:pPr indent="0" marL="0">
                        <a:buNone/>
                      </a:pP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c>
                  <a:txBody>
                    <a:bodyPr/>
                    <a:lstStyle/>
                    <a:p>
                      <a:pPr indent="0" marL="0">
                        <a:buNone/>
                      </a:pPr>
                      <a:r>
                        <a:rPr lang="en-US" sz="1500" b="1" dirty="0">
                          <a:solidFill>
                            <a:schemeClr val="bg1"/>
                          </a:solidFill>
                        </a:rPr>
                        <a:t>Manchuria (1931–33)</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c>
                  <a:txBody>
                    <a:bodyPr/>
                    <a:lstStyle/>
                    <a:p>
                      <a:pPr indent="0" marL="0">
                        <a:buNone/>
                      </a:pPr>
                      <a:r>
                        <a:rPr lang="en-US" sz="1500" b="1" dirty="0">
                          <a:solidFill>
                            <a:schemeClr val="bg1"/>
                          </a:solidFill>
                        </a:rPr>
                        <a:t>Abyssinia (1935–36)</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r>
              <a:tr h="685800">
                <a:tc>
                  <a:txBody>
                    <a:bodyPr/>
                    <a:lstStyle/>
                    <a:p>
                      <a:pPr algn="l" indent="0" marL="0">
                        <a:buNone/>
                      </a:pPr>
                      <a:r>
                        <a:rPr lang="en-US" sz="1500" b="1" dirty="0">
                          <a:solidFill>
                            <a:schemeClr val="tx1"/>
                          </a:solidFill>
                        </a:rPr>
                        <a:t>Aggressor</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Japan — a permanent Council member</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Italy — a permanent Council member</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685800">
                <a:tc>
                  <a:txBody>
                    <a:bodyPr/>
                    <a:lstStyle/>
                    <a:p>
                      <a:pPr algn="l" indent="0" marL="0">
                        <a:buNone/>
                      </a:pPr>
                      <a:r>
                        <a:rPr lang="en-US" sz="1500" b="1" dirty="0">
                          <a:solidFill>
                            <a:schemeClr val="tx1"/>
                          </a:solidFill>
                        </a:rPr>
                        <a:t>League action</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Lytton Commission; condemned Japan after 17 months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Condemned Italy within days; sanctions within weeks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685800">
                <a:tc>
                  <a:txBody>
                    <a:bodyPr/>
                    <a:lstStyle/>
                    <a:p>
                      <a:pPr algn="l" indent="0" marL="0">
                        <a:buNone/>
                      </a:pPr>
                      <a:r>
                        <a:rPr lang="en-US" sz="1500" b="1" dirty="0">
                          <a:solidFill>
                            <a:schemeClr val="tx1"/>
                          </a:solidFill>
                        </a:rPr>
                        <a:t>Sanctions?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None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Yes — but not oil, coal or steel</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685800">
                <a:tc>
                  <a:txBody>
                    <a:bodyPr/>
                    <a:lstStyle/>
                    <a:p>
                      <a:pPr algn="l" indent="0" marL="0">
                        <a:buNone/>
                      </a:pPr>
                      <a:r>
                        <a:rPr lang="en-US" sz="1500" b="1" dirty="0">
                          <a:solidFill>
                            <a:schemeClr val="tx1"/>
                          </a:solidFill>
                        </a:rPr>
                        <a:t>Britain &amp; France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Unwilling: too far away, Depression</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Secretly offered Italy land (Hoare–Laval)</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685800">
                <a:tc>
                  <a:txBody>
                    <a:bodyPr/>
                    <a:lstStyle/>
                    <a:p>
                      <a:pPr algn="l" indent="0" marL="0">
                        <a:buNone/>
                      </a:pPr>
                      <a:r>
                        <a:rPr lang="en-US" sz="1500" b="1" dirty="0">
                          <a:solidFill>
                            <a:schemeClr val="tx1"/>
                          </a:solidFill>
                        </a:rPr>
                        <a:t>Outcome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Japan kept Manchuria; left the League (1933)</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Italy conquered Abyssinia; left the League (1937)</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894855">
                <a:tc>
                  <a:txBody>
                    <a:bodyPr/>
                    <a:lstStyle/>
                    <a:p>
                      <a:pPr algn="l" indent="0" marL="0">
                        <a:buNone/>
                      </a:pPr>
                      <a:r>
                        <a:rPr lang="en-US" sz="1500" b="1" dirty="0">
                          <a:solidFill>
                            <a:schemeClr val="tx1"/>
                          </a:solidFill>
                        </a:rPr>
                        <a:t>Big result</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Showed the League was powerless against a great power</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Destroyed faith in the League; pushed Italy to Germany</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Kicker 232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KQ2 · JUDGEMENT</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did the League fail in the 1930s?</a:t>
            </a:r>
            <a:endParaRPr lang="en-US" sz="3400" dirty="0"/>
          </a:p>
        </p:txBody>
      </p:sp>
      <p:sp>
        <p:nvSpPr>
          <p:cNvPr id="4" name="Card 2325"/>
          <p:cNvSpPr/>
          <p:nvPr/>
        </p:nvSpPr>
        <p:spPr>
          <a:xfrm>
            <a:off x="548640" y="1481328"/>
            <a:ext cx="3515258" cy="1760220"/>
          </a:xfrm>
          <a:prstGeom prst="roundRect">
            <a:avLst>
              <a:gd name="adj" fmla="val 5195"/>
            </a:avLst>
          </a:prstGeom>
          <a:solidFill>
            <a:schemeClr val="accent3">
              <a:alpha val="10000"/>
            </a:schemeClr>
          </a:solidFill>
          <a:ln/>
        </p:spPr>
      </p:sp>
      <p:sp>
        <p:nvSpPr>
          <p:cNvPr id="5" name="Icon circle 2326"/>
          <p:cNvSpPr/>
          <p:nvPr/>
        </p:nvSpPr>
        <p:spPr>
          <a:xfrm>
            <a:off x="731520" y="1664208"/>
            <a:ext cx="475488" cy="475488"/>
          </a:xfrm>
          <a:prstGeom prst="ellipse">
            <a:avLst/>
          </a:prstGeom>
          <a:solidFill>
            <a:schemeClr val="accent3"/>
          </a:solidFill>
          <a:ln/>
        </p:spPr>
      </p:sp>
      <p:pic>
        <p:nvPicPr>
          <p:cNvPr id="6" name="Icon FaLayerGroup 2327"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328"/>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Built-in weakness</a:t>
            </a:r>
            <a:endParaRPr lang="en-US" sz="1600" dirty="0"/>
          </a:p>
        </p:txBody>
      </p:sp>
      <p:sp>
        <p:nvSpPr>
          <p:cNvPr id="8" name="Text 2329"/>
          <p:cNvSpPr txBox="1"/>
          <p:nvPr/>
        </p:nvSpPr>
        <p:spPr>
          <a:xfrm>
            <a:off x="731520" y="2249424"/>
            <a:ext cx="3149498" cy="809244"/>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WEAK: no USA, sanctions only, no army, unanimity.</a:t>
            </a:r>
            <a:endParaRPr lang="en-US" sz="1800" dirty="0"/>
          </a:p>
        </p:txBody>
      </p:sp>
      <p:sp>
        <p:nvSpPr>
          <p:cNvPr id="9" name="Card 2330"/>
          <p:cNvSpPr/>
          <p:nvPr/>
        </p:nvSpPr>
        <p:spPr>
          <a:xfrm>
            <a:off x="4338218" y="1481328"/>
            <a:ext cx="3515258" cy="1760220"/>
          </a:xfrm>
          <a:prstGeom prst="roundRect">
            <a:avLst>
              <a:gd name="adj" fmla="val 5195"/>
            </a:avLst>
          </a:prstGeom>
          <a:solidFill>
            <a:schemeClr val="accent3">
              <a:alpha val="10000"/>
            </a:schemeClr>
          </a:solidFill>
          <a:ln/>
        </p:spPr>
      </p:sp>
      <p:sp>
        <p:nvSpPr>
          <p:cNvPr id="10" name="Icon circle 2331"/>
          <p:cNvSpPr/>
          <p:nvPr/>
        </p:nvSpPr>
        <p:spPr>
          <a:xfrm>
            <a:off x="4521098" y="1664208"/>
            <a:ext cx="475488" cy="475488"/>
          </a:xfrm>
          <a:prstGeom prst="ellipse">
            <a:avLst/>
          </a:prstGeom>
          <a:solidFill>
            <a:schemeClr val="accent3"/>
          </a:solidFill>
          <a:ln/>
        </p:spPr>
      </p:sp>
      <p:pic>
        <p:nvPicPr>
          <p:cNvPr id="11" name="Icon FaArrowTrendDown 2332"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2333"/>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The Depression</a:t>
            </a:r>
            <a:endParaRPr lang="en-US" sz="1600" dirty="0"/>
          </a:p>
        </p:txBody>
      </p:sp>
      <p:sp>
        <p:nvSpPr>
          <p:cNvPr id="13" name="Text 2334"/>
          <p:cNvSpPr txBox="1"/>
          <p:nvPr/>
        </p:nvSpPr>
        <p:spPr>
          <a:xfrm>
            <a:off x="4521098" y="2249424"/>
            <a:ext cx="3149498" cy="809244"/>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Members would not sacrifice trade to punish aggressors.</a:t>
            </a:r>
            <a:endParaRPr lang="en-US" sz="1800" dirty="0"/>
          </a:p>
        </p:txBody>
      </p:sp>
      <p:sp>
        <p:nvSpPr>
          <p:cNvPr id="14" name="Card 2335"/>
          <p:cNvSpPr/>
          <p:nvPr/>
        </p:nvSpPr>
        <p:spPr>
          <a:xfrm>
            <a:off x="8127797" y="1481328"/>
            <a:ext cx="3515258" cy="1760220"/>
          </a:xfrm>
          <a:prstGeom prst="roundRect">
            <a:avLst>
              <a:gd name="adj" fmla="val 5195"/>
            </a:avLst>
          </a:prstGeom>
          <a:solidFill>
            <a:schemeClr val="accent3">
              <a:alpha val="10000"/>
            </a:schemeClr>
          </a:solidFill>
          <a:ln/>
        </p:spPr>
      </p:sp>
      <p:sp>
        <p:nvSpPr>
          <p:cNvPr id="15" name="Icon circle 2336"/>
          <p:cNvSpPr/>
          <p:nvPr/>
        </p:nvSpPr>
        <p:spPr>
          <a:xfrm>
            <a:off x="8310677" y="1664208"/>
            <a:ext cx="475488" cy="475488"/>
          </a:xfrm>
          <a:prstGeom prst="ellipse">
            <a:avLst/>
          </a:prstGeom>
          <a:solidFill>
            <a:schemeClr val="accent3"/>
          </a:solidFill>
          <a:ln/>
        </p:spPr>
      </p:sp>
      <p:pic>
        <p:nvPicPr>
          <p:cNvPr id="16" name="Icon FaUserTie 2337"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2338"/>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Self-interest</a:t>
            </a:r>
            <a:endParaRPr lang="en-US" sz="1600" dirty="0"/>
          </a:p>
        </p:txBody>
      </p:sp>
      <p:sp>
        <p:nvSpPr>
          <p:cNvPr id="18" name="Text 2339"/>
          <p:cNvSpPr txBox="1"/>
          <p:nvPr/>
        </p:nvSpPr>
        <p:spPr>
          <a:xfrm>
            <a:off x="8310677" y="2249424"/>
            <a:ext cx="3149498" cy="809244"/>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Britain and France put their own interests first (Hoare–Laval).</a:t>
            </a:r>
            <a:endParaRPr lang="en-US" sz="1800" dirty="0"/>
          </a:p>
        </p:txBody>
      </p:sp>
      <p:sp>
        <p:nvSpPr>
          <p:cNvPr id="19" name="Card 2340"/>
          <p:cNvSpPr/>
          <p:nvPr/>
        </p:nvSpPr>
        <p:spPr>
          <a:xfrm>
            <a:off x="548640" y="3515868"/>
            <a:ext cx="3515258" cy="1760220"/>
          </a:xfrm>
          <a:prstGeom prst="roundRect">
            <a:avLst>
              <a:gd name="adj" fmla="val 5195"/>
            </a:avLst>
          </a:prstGeom>
          <a:solidFill>
            <a:schemeClr val="accent3">
              <a:alpha val="10000"/>
            </a:schemeClr>
          </a:solidFill>
          <a:ln/>
        </p:spPr>
      </p:sp>
      <p:sp>
        <p:nvSpPr>
          <p:cNvPr id="20" name="Icon circle 2341"/>
          <p:cNvSpPr/>
          <p:nvPr/>
        </p:nvSpPr>
        <p:spPr>
          <a:xfrm>
            <a:off x="731520" y="3698748"/>
            <a:ext cx="475488" cy="475488"/>
          </a:xfrm>
          <a:prstGeom prst="ellipse">
            <a:avLst/>
          </a:prstGeom>
          <a:solidFill>
            <a:schemeClr val="accent3"/>
          </a:solidFill>
          <a:ln/>
        </p:spPr>
      </p:sp>
      <p:pic>
        <p:nvPicPr>
          <p:cNvPr id="21" name="Icon FaFistRaised 2342" descr="preencoded.png">    </p:cNvPr>
          <p:cNvPicPr>
            <a:picLocks noChangeAspect="1"/>
          </p:cNvPicPr>
          <p:nvPr/>
        </p:nvPicPr>
        <p:blipFill>
          <a:blip r:embed="rId4"/>
          <a:stretch>
            <a:fillRect/>
          </a:stretch>
        </p:blipFill>
        <p:spPr>
          <a:xfrm>
            <a:off x="836127" y="3803355"/>
            <a:ext cx="266273" cy="266273"/>
          </a:xfrm>
          <a:prstGeom prst="rect">
            <a:avLst/>
          </a:prstGeom>
        </p:spPr>
      </p:pic>
      <p:sp>
        <p:nvSpPr>
          <p:cNvPr id="22" name="Card title 2343"/>
          <p:cNvSpPr txBox="1"/>
          <p:nvPr/>
        </p:nvSpPr>
        <p:spPr>
          <a:xfrm>
            <a:off x="1335024"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Great-power aggressors</a:t>
            </a:r>
            <a:endParaRPr lang="en-US" sz="1600" dirty="0"/>
          </a:p>
        </p:txBody>
      </p:sp>
      <p:sp>
        <p:nvSpPr>
          <p:cNvPr id="23" name="Text 2344"/>
          <p:cNvSpPr txBox="1"/>
          <p:nvPr/>
        </p:nvSpPr>
        <p:spPr>
          <a:xfrm>
            <a:off x="731520" y="4283964"/>
            <a:ext cx="3149498" cy="809244"/>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Japan, Italy and Germany were strong enough to defy it.</a:t>
            </a:r>
            <a:endParaRPr lang="en-US" sz="1800" dirty="0"/>
          </a:p>
        </p:txBody>
      </p:sp>
      <p:sp>
        <p:nvSpPr>
          <p:cNvPr id="24" name="Card 2345"/>
          <p:cNvSpPr/>
          <p:nvPr/>
        </p:nvSpPr>
        <p:spPr>
          <a:xfrm>
            <a:off x="4338218" y="3515868"/>
            <a:ext cx="3515258" cy="1760220"/>
          </a:xfrm>
          <a:prstGeom prst="roundRect">
            <a:avLst>
              <a:gd name="adj" fmla="val 5195"/>
            </a:avLst>
          </a:prstGeom>
          <a:solidFill>
            <a:schemeClr val="accent3">
              <a:alpha val="10000"/>
            </a:schemeClr>
          </a:solidFill>
          <a:ln/>
        </p:spPr>
      </p:sp>
      <p:sp>
        <p:nvSpPr>
          <p:cNvPr id="25" name="Icon circle 2346"/>
          <p:cNvSpPr/>
          <p:nvPr/>
        </p:nvSpPr>
        <p:spPr>
          <a:xfrm>
            <a:off x="4521098" y="3698748"/>
            <a:ext cx="475488" cy="475488"/>
          </a:xfrm>
          <a:prstGeom prst="ellipse">
            <a:avLst/>
          </a:prstGeom>
          <a:solidFill>
            <a:schemeClr val="accent3"/>
          </a:solidFill>
          <a:ln/>
        </p:spPr>
      </p:sp>
      <p:pic>
        <p:nvPicPr>
          <p:cNvPr id="26" name="Icon FaGlobeAmericas 2347" descr="preencoded.png">    </p:cNvPr>
          <p:cNvPicPr>
            <a:picLocks noChangeAspect="1"/>
          </p:cNvPicPr>
          <p:nvPr/>
        </p:nvPicPr>
        <p:blipFill>
          <a:blip r:embed="rId5"/>
          <a:stretch>
            <a:fillRect/>
          </a:stretch>
        </p:blipFill>
        <p:spPr>
          <a:xfrm>
            <a:off x="4625706" y="3803355"/>
            <a:ext cx="266273" cy="266273"/>
          </a:xfrm>
          <a:prstGeom prst="rect">
            <a:avLst/>
          </a:prstGeom>
        </p:spPr>
      </p:pic>
      <p:sp>
        <p:nvSpPr>
          <p:cNvPr id="27" name="Card title 2348"/>
          <p:cNvSpPr txBox="1"/>
          <p:nvPr/>
        </p:nvSpPr>
        <p:spPr>
          <a:xfrm>
            <a:off x="5124602"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Missing members</a:t>
            </a:r>
            <a:endParaRPr lang="en-US" sz="1600" dirty="0"/>
          </a:p>
        </p:txBody>
      </p:sp>
      <p:sp>
        <p:nvSpPr>
          <p:cNvPr id="28" name="Text 2349"/>
          <p:cNvSpPr txBox="1"/>
          <p:nvPr/>
        </p:nvSpPr>
        <p:spPr>
          <a:xfrm>
            <a:off x="4521098" y="4283964"/>
            <a:ext cx="3149498" cy="809244"/>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No USA; USSR only from 1934; Germany and Japan left in 1933.</a:t>
            </a:r>
            <a:endParaRPr lang="en-US" sz="1800" dirty="0"/>
          </a:p>
        </p:txBody>
      </p:sp>
      <p:sp>
        <p:nvSpPr>
          <p:cNvPr id="29" name="Card 2350"/>
          <p:cNvSpPr/>
          <p:nvPr/>
        </p:nvSpPr>
        <p:spPr>
          <a:xfrm>
            <a:off x="8127797" y="3515868"/>
            <a:ext cx="3515258" cy="1760220"/>
          </a:xfrm>
          <a:prstGeom prst="roundRect">
            <a:avLst>
              <a:gd name="adj" fmla="val 5195"/>
            </a:avLst>
          </a:prstGeom>
          <a:solidFill>
            <a:schemeClr val="accent3">
              <a:alpha val="10000"/>
            </a:schemeClr>
          </a:solidFill>
          <a:ln/>
        </p:spPr>
      </p:sp>
      <p:sp>
        <p:nvSpPr>
          <p:cNvPr id="30" name="Icon circle 2351"/>
          <p:cNvSpPr/>
          <p:nvPr/>
        </p:nvSpPr>
        <p:spPr>
          <a:xfrm>
            <a:off x="8310677" y="3698748"/>
            <a:ext cx="475488" cy="475488"/>
          </a:xfrm>
          <a:prstGeom prst="ellipse">
            <a:avLst/>
          </a:prstGeom>
          <a:solidFill>
            <a:schemeClr val="accent3"/>
          </a:solidFill>
          <a:ln/>
        </p:spPr>
      </p:sp>
      <p:pic>
        <p:nvPicPr>
          <p:cNvPr id="31" name="Icon FaBan 2352" descr="preencoded.png">    </p:cNvPr>
          <p:cNvPicPr>
            <a:picLocks noChangeAspect="1"/>
          </p:cNvPicPr>
          <p:nvPr/>
        </p:nvPicPr>
        <p:blipFill>
          <a:blip r:embed="rId6"/>
          <a:stretch>
            <a:fillRect/>
          </a:stretch>
        </p:blipFill>
        <p:spPr>
          <a:xfrm>
            <a:off x="8415284" y="3803355"/>
            <a:ext cx="266273" cy="266273"/>
          </a:xfrm>
          <a:prstGeom prst="rect">
            <a:avLst/>
          </a:prstGeom>
        </p:spPr>
      </p:pic>
      <p:sp>
        <p:nvSpPr>
          <p:cNvPr id="32" name="Card title 2353"/>
          <p:cNvSpPr txBox="1"/>
          <p:nvPr/>
        </p:nvSpPr>
        <p:spPr>
          <a:xfrm>
            <a:off x="8914181"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Extremist regimes</a:t>
            </a:r>
            <a:endParaRPr lang="en-US" sz="1600" dirty="0"/>
          </a:p>
        </p:txBody>
      </p:sp>
      <p:sp>
        <p:nvSpPr>
          <p:cNvPr id="33" name="Text 2354"/>
          <p:cNvSpPr txBox="1"/>
          <p:nvPr/>
        </p:nvSpPr>
        <p:spPr>
          <a:xfrm>
            <a:off x="8310677" y="4283964"/>
            <a:ext cx="3149498" cy="809244"/>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Dictators rejected international law and collective security.</a:t>
            </a:r>
            <a:endParaRPr lang="en-US" sz="1800" dirty="0"/>
          </a:p>
        </p:txBody>
      </p:sp>
      <p:sp>
        <p:nvSpPr>
          <p:cNvPr id="34" name="Callout 2355"/>
          <p:cNvSpPr/>
          <p:nvPr/>
        </p:nvSpPr>
        <p:spPr>
          <a:xfrm>
            <a:off x="548640" y="5550408"/>
            <a:ext cx="11094415" cy="713232"/>
          </a:xfrm>
          <a:prstGeom prst="roundRect">
            <a:avLst>
              <a:gd name="adj" fmla="val 12821"/>
            </a:avLst>
          </a:prstGeom>
          <a:solidFill>
            <a:schemeClr val="accent4">
              <a:alpha val="20000"/>
            </a:schemeClr>
          </a:solidFill>
          <a:ln/>
        </p:spPr>
      </p:sp>
      <p:sp>
        <p:nvSpPr>
          <p:cNvPr id="35" name="Callout label 2356"/>
          <p:cNvSpPr/>
          <p:nvPr/>
        </p:nvSpPr>
        <p:spPr>
          <a:xfrm>
            <a:off x="731520" y="5751576"/>
            <a:ext cx="894203" cy="310896"/>
          </a:xfrm>
          <a:prstGeom prst="roundRect">
            <a:avLst>
              <a:gd name="adj" fmla="val 50000"/>
            </a:avLst>
          </a:prstGeom>
          <a:solidFill>
            <a:schemeClr val="accent4"/>
          </a:solidFill>
          <a:ln/>
        </p:spPr>
      </p:sp>
      <p:sp>
        <p:nvSpPr>
          <p:cNvPr id="36" name="Text 2357"/>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37" name="Text 2358"/>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The League was only as strong as its leading members' willingness to act — and in the 1930s that will was missing.</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Kicker 235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KQ3 · APPEASEMENT</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What was appeasement?</a:t>
            </a:r>
            <a:endParaRPr lang="en-US" sz="3400" dirty="0"/>
          </a:p>
        </p:txBody>
      </p:sp>
      <p:sp>
        <p:nvSpPr>
          <p:cNvPr id="4" name="Connector 2360"/>
          <p:cNvSpPr/>
          <p:nvPr/>
        </p:nvSpPr>
        <p:spPr>
          <a:xfrm>
            <a:off x="640080" y="3378708"/>
            <a:ext cx="10911535" cy="0"/>
          </a:xfrm>
          <a:prstGeom prst="line">
            <a:avLst/>
          </a:prstGeom>
          <a:noFill/>
          <a:ln w="31750">
            <a:solidFill>
              <a:schemeClr val="accent3"/>
            </a:solidFill>
            <a:prstDash val="solid"/>
          </a:ln>
        </p:spPr>
      </p:sp>
      <p:sp>
        <p:nvSpPr>
          <p:cNvPr id="5" name="Timeline dot 2361"/>
          <p:cNvSpPr/>
          <p:nvPr/>
        </p:nvSpPr>
        <p:spPr>
          <a:xfrm>
            <a:off x="1430503" y="3259836"/>
            <a:ext cx="237744" cy="237744"/>
          </a:xfrm>
          <a:prstGeom prst="ellipse">
            <a:avLst/>
          </a:prstGeom>
          <a:solidFill>
            <a:schemeClr val="accent3"/>
          </a:solidFill>
          <a:ln/>
        </p:spPr>
      </p:sp>
      <p:sp>
        <p:nvSpPr>
          <p:cNvPr id="6" name="Connector 2362"/>
          <p:cNvSpPr/>
          <p:nvPr/>
        </p:nvSpPr>
        <p:spPr>
          <a:xfrm flipV="1">
            <a:off x="1549375" y="3086100"/>
            <a:ext cx="0" cy="173736"/>
          </a:xfrm>
          <a:prstGeom prst="line">
            <a:avLst/>
          </a:prstGeom>
          <a:noFill/>
          <a:ln w="12700">
            <a:solidFill>
              <a:schemeClr val="accent3"/>
            </a:solidFill>
            <a:prstDash val="solid"/>
          </a:ln>
        </p:spPr>
      </p:sp>
      <p:sp>
        <p:nvSpPr>
          <p:cNvPr id="7" name="Text 2363"/>
          <p:cNvSpPr txBox="1"/>
          <p:nvPr/>
        </p:nvSpPr>
        <p:spPr>
          <a:xfrm>
            <a:off x="640080" y="2775204"/>
            <a:ext cx="237744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3"/>
                </a:solidFill>
              </a:rPr>
              <a:t>1935</a:t>
            </a:r>
            <a:endParaRPr lang="en-US" sz="1500" dirty="0"/>
          </a:p>
        </p:txBody>
      </p:sp>
      <p:sp>
        <p:nvSpPr>
          <p:cNvPr id="8" name="Text 2364"/>
          <p:cNvSpPr txBox="1"/>
          <p:nvPr/>
        </p:nvSpPr>
        <p:spPr>
          <a:xfrm>
            <a:off x="640080" y="1481328"/>
            <a:ext cx="2377440" cy="1293876"/>
          </a:xfrm>
          <a:prstGeom prst="rect">
            <a:avLst/>
          </a:prstGeom>
          <a:noFill/>
          <a:ln/>
        </p:spPr>
        <p:txBody>
          <a:bodyPr wrap="square" lIns="0" tIns="0" rIns="0" bIns="0" rtlCol="0" anchor="b"/>
          <a:lstStyle/>
          <a:p>
            <a:pPr algn="ctr" indent="0" marL="0">
              <a:spcAft>
                <a:spcPts val="600"/>
              </a:spcAft>
              <a:buNone/>
            </a:pPr>
            <a:r>
              <a:rPr lang="en-US" sz="1500" dirty="0">
                <a:solidFill>
                  <a:schemeClr val="tx1"/>
                </a:solidFill>
              </a:rPr>
              <a:t>Anglo-German Naval Agreement</a:t>
            </a:r>
            <a:endParaRPr lang="en-US" sz="1500" dirty="0"/>
          </a:p>
        </p:txBody>
      </p:sp>
      <p:sp>
        <p:nvSpPr>
          <p:cNvPr id="9" name="Timeline dot 2365"/>
          <p:cNvSpPr/>
          <p:nvPr/>
        </p:nvSpPr>
        <p:spPr>
          <a:xfrm>
            <a:off x="3249092" y="3259836"/>
            <a:ext cx="237744" cy="237744"/>
          </a:xfrm>
          <a:prstGeom prst="ellipse">
            <a:avLst/>
          </a:prstGeom>
          <a:solidFill>
            <a:schemeClr val="accent3"/>
          </a:solidFill>
          <a:ln/>
        </p:spPr>
      </p:sp>
      <p:sp>
        <p:nvSpPr>
          <p:cNvPr id="10" name="Connector 2366"/>
          <p:cNvSpPr/>
          <p:nvPr/>
        </p:nvSpPr>
        <p:spPr>
          <a:xfrm>
            <a:off x="3367964" y="3497580"/>
            <a:ext cx="0" cy="173736"/>
          </a:xfrm>
          <a:prstGeom prst="line">
            <a:avLst/>
          </a:prstGeom>
          <a:noFill/>
          <a:ln w="12700">
            <a:solidFill>
              <a:schemeClr val="accent3"/>
            </a:solidFill>
            <a:prstDash val="solid"/>
          </a:ln>
        </p:spPr>
      </p:sp>
      <p:sp>
        <p:nvSpPr>
          <p:cNvPr id="11" name="Text 2367"/>
          <p:cNvSpPr txBox="1"/>
          <p:nvPr/>
        </p:nvSpPr>
        <p:spPr>
          <a:xfrm>
            <a:off x="2179244" y="3671316"/>
            <a:ext cx="237744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3"/>
                </a:solidFill>
              </a:rPr>
              <a:t>Mar 1936</a:t>
            </a:r>
            <a:endParaRPr lang="en-US" sz="1500" dirty="0"/>
          </a:p>
        </p:txBody>
      </p:sp>
      <p:sp>
        <p:nvSpPr>
          <p:cNvPr id="12" name="Text 2368"/>
          <p:cNvSpPr txBox="1"/>
          <p:nvPr/>
        </p:nvSpPr>
        <p:spPr>
          <a:xfrm>
            <a:off x="2179244" y="4018788"/>
            <a:ext cx="2377440" cy="1293876"/>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Rhineland: no response</a:t>
            </a:r>
            <a:endParaRPr lang="en-US" sz="1500" dirty="0"/>
          </a:p>
        </p:txBody>
      </p:sp>
      <p:sp>
        <p:nvSpPr>
          <p:cNvPr id="13" name="Timeline dot 2369"/>
          <p:cNvSpPr/>
          <p:nvPr/>
        </p:nvSpPr>
        <p:spPr>
          <a:xfrm>
            <a:off x="5067681" y="3259836"/>
            <a:ext cx="237744" cy="237744"/>
          </a:xfrm>
          <a:prstGeom prst="ellipse">
            <a:avLst/>
          </a:prstGeom>
          <a:solidFill>
            <a:schemeClr val="accent3"/>
          </a:solidFill>
          <a:ln/>
        </p:spPr>
      </p:sp>
      <p:sp>
        <p:nvSpPr>
          <p:cNvPr id="14" name="Connector 2370"/>
          <p:cNvSpPr/>
          <p:nvPr/>
        </p:nvSpPr>
        <p:spPr>
          <a:xfrm flipV="1">
            <a:off x="5186553" y="3086100"/>
            <a:ext cx="0" cy="173736"/>
          </a:xfrm>
          <a:prstGeom prst="line">
            <a:avLst/>
          </a:prstGeom>
          <a:noFill/>
          <a:ln w="12700">
            <a:solidFill>
              <a:schemeClr val="accent3"/>
            </a:solidFill>
            <a:prstDash val="solid"/>
          </a:ln>
        </p:spPr>
      </p:sp>
      <p:sp>
        <p:nvSpPr>
          <p:cNvPr id="15" name="Text 2371"/>
          <p:cNvSpPr txBox="1"/>
          <p:nvPr/>
        </p:nvSpPr>
        <p:spPr>
          <a:xfrm>
            <a:off x="3997833" y="2775204"/>
            <a:ext cx="237744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3"/>
                </a:solidFill>
              </a:rPr>
              <a:t>1936</a:t>
            </a:r>
            <a:endParaRPr lang="en-US" sz="1500" dirty="0"/>
          </a:p>
        </p:txBody>
      </p:sp>
      <p:sp>
        <p:nvSpPr>
          <p:cNvPr id="16" name="Text 2372"/>
          <p:cNvSpPr txBox="1"/>
          <p:nvPr/>
        </p:nvSpPr>
        <p:spPr>
          <a:xfrm>
            <a:off x="3997833" y="1481328"/>
            <a:ext cx="2377440" cy="1293876"/>
          </a:xfrm>
          <a:prstGeom prst="rect">
            <a:avLst/>
          </a:prstGeom>
          <a:noFill/>
          <a:ln/>
        </p:spPr>
        <p:txBody>
          <a:bodyPr wrap="square" lIns="0" tIns="0" rIns="0" bIns="0" rtlCol="0" anchor="b"/>
          <a:lstStyle/>
          <a:p>
            <a:pPr algn="ctr" indent="0" marL="0">
              <a:spcAft>
                <a:spcPts val="600"/>
              </a:spcAft>
              <a:buNone/>
            </a:pPr>
            <a:r>
              <a:rPr lang="en-US" sz="1500" dirty="0">
                <a:solidFill>
                  <a:schemeClr val="tx1"/>
                </a:solidFill>
              </a:rPr>
              <a:t>Non-intervention in Spain</a:t>
            </a:r>
            <a:endParaRPr lang="en-US" sz="1500" dirty="0"/>
          </a:p>
        </p:txBody>
      </p:sp>
      <p:sp>
        <p:nvSpPr>
          <p:cNvPr id="17" name="Timeline dot 2373"/>
          <p:cNvSpPr/>
          <p:nvPr/>
        </p:nvSpPr>
        <p:spPr>
          <a:xfrm>
            <a:off x="6886270" y="3259836"/>
            <a:ext cx="237744" cy="237744"/>
          </a:xfrm>
          <a:prstGeom prst="ellipse">
            <a:avLst/>
          </a:prstGeom>
          <a:solidFill>
            <a:schemeClr val="accent3"/>
          </a:solidFill>
          <a:ln/>
        </p:spPr>
      </p:sp>
      <p:sp>
        <p:nvSpPr>
          <p:cNvPr id="18" name="Connector 2374"/>
          <p:cNvSpPr/>
          <p:nvPr/>
        </p:nvSpPr>
        <p:spPr>
          <a:xfrm>
            <a:off x="7005142" y="3497580"/>
            <a:ext cx="0" cy="173736"/>
          </a:xfrm>
          <a:prstGeom prst="line">
            <a:avLst/>
          </a:prstGeom>
          <a:noFill/>
          <a:ln w="12700">
            <a:solidFill>
              <a:schemeClr val="accent3"/>
            </a:solidFill>
            <a:prstDash val="solid"/>
          </a:ln>
        </p:spPr>
      </p:sp>
      <p:sp>
        <p:nvSpPr>
          <p:cNvPr id="19" name="Text 2375"/>
          <p:cNvSpPr txBox="1"/>
          <p:nvPr/>
        </p:nvSpPr>
        <p:spPr>
          <a:xfrm>
            <a:off x="5816422" y="3671316"/>
            <a:ext cx="237744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3"/>
                </a:solidFill>
              </a:rPr>
              <a:t>Mar 1938</a:t>
            </a:r>
            <a:endParaRPr lang="en-US" sz="1500" dirty="0"/>
          </a:p>
        </p:txBody>
      </p:sp>
      <p:sp>
        <p:nvSpPr>
          <p:cNvPr id="20" name="Text 2376"/>
          <p:cNvSpPr txBox="1"/>
          <p:nvPr/>
        </p:nvSpPr>
        <p:spPr>
          <a:xfrm>
            <a:off x="5816422" y="4018788"/>
            <a:ext cx="2377440" cy="1293876"/>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Anschluss: protests only</a:t>
            </a:r>
            <a:endParaRPr lang="en-US" sz="1500" dirty="0"/>
          </a:p>
        </p:txBody>
      </p:sp>
      <p:sp>
        <p:nvSpPr>
          <p:cNvPr id="21" name="Timeline dot 2377"/>
          <p:cNvSpPr/>
          <p:nvPr/>
        </p:nvSpPr>
        <p:spPr>
          <a:xfrm>
            <a:off x="8704859" y="3259836"/>
            <a:ext cx="237744" cy="237744"/>
          </a:xfrm>
          <a:prstGeom prst="ellipse">
            <a:avLst/>
          </a:prstGeom>
          <a:solidFill>
            <a:schemeClr val="accent3"/>
          </a:solidFill>
          <a:ln/>
        </p:spPr>
      </p:sp>
      <p:sp>
        <p:nvSpPr>
          <p:cNvPr id="22" name="Connector 2378"/>
          <p:cNvSpPr/>
          <p:nvPr/>
        </p:nvSpPr>
        <p:spPr>
          <a:xfrm flipV="1">
            <a:off x="8823731" y="3086100"/>
            <a:ext cx="0" cy="173736"/>
          </a:xfrm>
          <a:prstGeom prst="line">
            <a:avLst/>
          </a:prstGeom>
          <a:noFill/>
          <a:ln w="12700">
            <a:solidFill>
              <a:schemeClr val="accent3"/>
            </a:solidFill>
            <a:prstDash val="solid"/>
          </a:ln>
        </p:spPr>
      </p:sp>
      <p:sp>
        <p:nvSpPr>
          <p:cNvPr id="23" name="Text 2379"/>
          <p:cNvSpPr txBox="1"/>
          <p:nvPr/>
        </p:nvSpPr>
        <p:spPr>
          <a:xfrm>
            <a:off x="7635011" y="2775204"/>
            <a:ext cx="237744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3"/>
                </a:solidFill>
              </a:rPr>
              <a:t>Sept 1938</a:t>
            </a:r>
            <a:endParaRPr lang="en-US" sz="1500" dirty="0"/>
          </a:p>
        </p:txBody>
      </p:sp>
      <p:sp>
        <p:nvSpPr>
          <p:cNvPr id="24" name="Text 2380"/>
          <p:cNvSpPr txBox="1"/>
          <p:nvPr/>
        </p:nvSpPr>
        <p:spPr>
          <a:xfrm>
            <a:off x="7635011" y="1481328"/>
            <a:ext cx="2377440" cy="1293876"/>
          </a:xfrm>
          <a:prstGeom prst="rect">
            <a:avLst/>
          </a:prstGeom>
          <a:noFill/>
          <a:ln/>
        </p:spPr>
        <p:txBody>
          <a:bodyPr wrap="square" lIns="0" tIns="0" rIns="0" bIns="0" rtlCol="0" anchor="b"/>
          <a:lstStyle/>
          <a:p>
            <a:pPr algn="ctr" indent="0" marL="0">
              <a:spcAft>
                <a:spcPts val="600"/>
              </a:spcAft>
              <a:buNone/>
            </a:pPr>
            <a:r>
              <a:rPr lang="en-US" sz="1500" dirty="0">
                <a:solidFill>
                  <a:schemeClr val="tx1"/>
                </a:solidFill>
              </a:rPr>
              <a:t>Munich: Sudetenland handed over</a:t>
            </a:r>
            <a:endParaRPr lang="en-US" sz="1500" dirty="0"/>
          </a:p>
        </p:txBody>
      </p:sp>
      <p:sp>
        <p:nvSpPr>
          <p:cNvPr id="25" name="Timeline dot 2381"/>
          <p:cNvSpPr/>
          <p:nvPr/>
        </p:nvSpPr>
        <p:spPr>
          <a:xfrm>
            <a:off x="10523449" y="3259836"/>
            <a:ext cx="237744" cy="237744"/>
          </a:xfrm>
          <a:prstGeom prst="ellipse">
            <a:avLst/>
          </a:prstGeom>
          <a:solidFill>
            <a:schemeClr val="accent3"/>
          </a:solidFill>
          <a:ln/>
        </p:spPr>
      </p:sp>
      <p:sp>
        <p:nvSpPr>
          <p:cNvPr id="26" name="Connector 2382"/>
          <p:cNvSpPr/>
          <p:nvPr/>
        </p:nvSpPr>
        <p:spPr>
          <a:xfrm>
            <a:off x="10642321" y="3497580"/>
            <a:ext cx="0" cy="173736"/>
          </a:xfrm>
          <a:prstGeom prst="line">
            <a:avLst/>
          </a:prstGeom>
          <a:noFill/>
          <a:ln w="12700">
            <a:solidFill>
              <a:schemeClr val="accent3"/>
            </a:solidFill>
            <a:prstDash val="solid"/>
          </a:ln>
        </p:spPr>
      </p:sp>
      <p:sp>
        <p:nvSpPr>
          <p:cNvPr id="27" name="Text 2383"/>
          <p:cNvSpPr txBox="1"/>
          <p:nvPr/>
        </p:nvSpPr>
        <p:spPr>
          <a:xfrm>
            <a:off x="9174175" y="3671316"/>
            <a:ext cx="237744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3"/>
                </a:solidFill>
              </a:rPr>
              <a:t>Mar 1939</a:t>
            </a:r>
            <a:endParaRPr lang="en-US" sz="1500" dirty="0"/>
          </a:p>
        </p:txBody>
      </p:sp>
      <p:sp>
        <p:nvSpPr>
          <p:cNvPr id="28" name="Text 2384"/>
          <p:cNvSpPr txBox="1"/>
          <p:nvPr/>
        </p:nvSpPr>
        <p:spPr>
          <a:xfrm>
            <a:off x="9174175" y="4018788"/>
            <a:ext cx="2377440" cy="1293876"/>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Prague: appeasement ends</a:t>
            </a:r>
            <a:endParaRPr lang="en-US" sz="1500" dirty="0"/>
          </a:p>
        </p:txBody>
      </p:sp>
      <p:sp>
        <p:nvSpPr>
          <p:cNvPr id="29" name="Callout 2385"/>
          <p:cNvSpPr/>
          <p:nvPr/>
        </p:nvSpPr>
        <p:spPr>
          <a:xfrm>
            <a:off x="548640" y="5550408"/>
            <a:ext cx="11094415" cy="713232"/>
          </a:xfrm>
          <a:prstGeom prst="roundRect">
            <a:avLst>
              <a:gd name="adj" fmla="val 12821"/>
            </a:avLst>
          </a:prstGeom>
          <a:solidFill>
            <a:schemeClr val="accent4">
              <a:alpha val="20000"/>
            </a:schemeClr>
          </a:solidFill>
          <a:ln/>
        </p:spPr>
      </p:sp>
      <p:sp>
        <p:nvSpPr>
          <p:cNvPr id="30" name="Callout label 2386"/>
          <p:cNvSpPr/>
          <p:nvPr/>
        </p:nvSpPr>
        <p:spPr>
          <a:xfrm>
            <a:off x="731520" y="5751576"/>
            <a:ext cx="1125584" cy="310896"/>
          </a:xfrm>
          <a:prstGeom prst="roundRect">
            <a:avLst>
              <a:gd name="adj" fmla="val 50000"/>
            </a:avLst>
          </a:prstGeom>
          <a:solidFill>
            <a:schemeClr val="accent4"/>
          </a:solidFill>
          <a:ln/>
        </p:spPr>
      </p:sp>
      <p:sp>
        <p:nvSpPr>
          <p:cNvPr id="31" name="Text 2387"/>
          <p:cNvSpPr txBox="1"/>
          <p:nvPr/>
        </p:nvSpPr>
        <p:spPr>
          <a:xfrm>
            <a:off x="731520" y="5751576"/>
            <a:ext cx="112558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DEFINITION</a:t>
            </a:r>
            <a:endParaRPr lang="en-US" sz="1200" dirty="0"/>
          </a:p>
        </p:txBody>
      </p:sp>
      <p:sp>
        <p:nvSpPr>
          <p:cNvPr id="32" name="Text 2388"/>
          <p:cNvSpPr txBox="1"/>
          <p:nvPr/>
        </p:nvSpPr>
        <p:spPr>
          <a:xfrm>
            <a:off x="2039984" y="5623560"/>
            <a:ext cx="942019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Avoiding war by meeting a dictator's 'reasonable' demands through negotiation and concessions. Linked to Neville Chamberlain (PM 1937–40).</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Kicker 2389"/>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KQ3 · BRITAIN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did Britain appease? Remember EMPIRE</a:t>
            </a:r>
            <a:endParaRPr lang="en-US" sz="3400" dirty="0"/>
          </a:p>
        </p:txBody>
      </p:sp>
      <p:sp>
        <p:nvSpPr>
          <p:cNvPr id="4" name="Mnemonic row 2390"/>
          <p:cNvSpPr/>
          <p:nvPr/>
        </p:nvSpPr>
        <p:spPr>
          <a:xfrm>
            <a:off x="548640" y="1481328"/>
            <a:ext cx="11094415" cy="525780"/>
          </a:xfrm>
          <a:prstGeom prst="roundRect">
            <a:avLst>
              <a:gd name="adj" fmla="val 13913"/>
            </a:avLst>
          </a:prstGeom>
          <a:solidFill>
            <a:schemeClr val="accent3">
              <a:alpha val="8000"/>
            </a:schemeClr>
          </a:solidFill>
          <a:ln/>
        </p:spPr>
      </p:sp>
      <p:sp>
        <p:nvSpPr>
          <p:cNvPr id="5" name="Letter circle 2391"/>
          <p:cNvSpPr/>
          <p:nvPr/>
        </p:nvSpPr>
        <p:spPr>
          <a:xfrm>
            <a:off x="676656" y="1508760"/>
            <a:ext cx="470916" cy="470916"/>
          </a:xfrm>
          <a:prstGeom prst="ellipse">
            <a:avLst/>
          </a:prstGeom>
          <a:solidFill>
            <a:schemeClr val="accent4"/>
          </a:solidFill>
          <a:ln/>
        </p:spPr>
      </p:sp>
      <p:sp>
        <p:nvSpPr>
          <p:cNvPr id="6" name="Text 2392"/>
          <p:cNvSpPr txBox="1"/>
          <p:nvPr/>
        </p:nvSpPr>
        <p:spPr>
          <a:xfrm>
            <a:off x="676656" y="1508760"/>
            <a:ext cx="470916" cy="470916"/>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E</a:t>
            </a:r>
            <a:endParaRPr lang="en-US" sz="2800" dirty="0"/>
          </a:p>
        </p:txBody>
      </p:sp>
      <p:sp>
        <p:nvSpPr>
          <p:cNvPr id="7" name="Text 2393"/>
          <p:cNvSpPr txBox="1"/>
          <p:nvPr/>
        </p:nvSpPr>
        <p:spPr>
          <a:xfrm>
            <a:off x="1348740" y="1481328"/>
            <a:ext cx="2377440" cy="525780"/>
          </a:xfrm>
          <a:prstGeom prst="rect">
            <a:avLst/>
          </a:prstGeom>
          <a:noFill/>
          <a:ln/>
        </p:spPr>
        <p:txBody>
          <a:bodyPr wrap="square" lIns="0" tIns="0" rIns="0" bIns="0" rtlCol="0" anchor="ctr"/>
          <a:lstStyle/>
          <a:p>
            <a:pPr algn="l" indent="0" marL="0">
              <a:spcAft>
                <a:spcPts val="600"/>
              </a:spcAft>
              <a:buNone/>
            </a:pPr>
            <a:r>
              <a:rPr lang="en-US" sz="1800" b="1" dirty="0">
                <a:solidFill>
                  <a:schemeClr val="accent3"/>
                </a:solidFill>
              </a:rPr>
              <a:t>Economy</a:t>
            </a:r>
            <a:endParaRPr lang="en-US" sz="1800" dirty="0"/>
          </a:p>
        </p:txBody>
      </p:sp>
      <p:sp>
        <p:nvSpPr>
          <p:cNvPr id="8" name="Text 2394"/>
          <p:cNvSpPr txBox="1"/>
          <p:nvPr/>
        </p:nvSpPr>
        <p:spPr>
          <a:xfrm>
            <a:off x="3817620" y="1517904"/>
            <a:ext cx="7642555" cy="452628"/>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Depression debts; rearmament was expensive and the Treasury feared ruin</a:t>
            </a:r>
            <a:endParaRPr lang="en-US" sz="1400" dirty="0"/>
          </a:p>
        </p:txBody>
      </p:sp>
      <p:sp>
        <p:nvSpPr>
          <p:cNvPr id="9" name="Mnemonic row 2395"/>
          <p:cNvSpPr/>
          <p:nvPr/>
        </p:nvSpPr>
        <p:spPr>
          <a:xfrm>
            <a:off x="548640" y="2135124"/>
            <a:ext cx="11094415" cy="525780"/>
          </a:xfrm>
          <a:prstGeom prst="roundRect">
            <a:avLst>
              <a:gd name="adj" fmla="val 13913"/>
            </a:avLst>
          </a:prstGeom>
          <a:solidFill>
            <a:schemeClr val="accent3">
              <a:alpha val="8000"/>
            </a:schemeClr>
          </a:solidFill>
          <a:ln/>
        </p:spPr>
      </p:sp>
      <p:sp>
        <p:nvSpPr>
          <p:cNvPr id="10" name="Letter circle 2396"/>
          <p:cNvSpPr/>
          <p:nvPr/>
        </p:nvSpPr>
        <p:spPr>
          <a:xfrm>
            <a:off x="676656" y="2162556"/>
            <a:ext cx="470916" cy="470916"/>
          </a:xfrm>
          <a:prstGeom prst="ellipse">
            <a:avLst/>
          </a:prstGeom>
          <a:solidFill>
            <a:schemeClr val="accent4"/>
          </a:solidFill>
          <a:ln/>
        </p:spPr>
      </p:sp>
      <p:sp>
        <p:nvSpPr>
          <p:cNvPr id="11" name="Text 2397"/>
          <p:cNvSpPr txBox="1"/>
          <p:nvPr/>
        </p:nvSpPr>
        <p:spPr>
          <a:xfrm>
            <a:off x="676656" y="2162556"/>
            <a:ext cx="470916" cy="470916"/>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M</a:t>
            </a:r>
            <a:endParaRPr lang="en-US" sz="2800" dirty="0"/>
          </a:p>
        </p:txBody>
      </p:sp>
      <p:sp>
        <p:nvSpPr>
          <p:cNvPr id="12" name="Text 2398"/>
          <p:cNvSpPr txBox="1"/>
          <p:nvPr/>
        </p:nvSpPr>
        <p:spPr>
          <a:xfrm>
            <a:off x="1348740" y="2135124"/>
            <a:ext cx="2377440" cy="525780"/>
          </a:xfrm>
          <a:prstGeom prst="rect">
            <a:avLst/>
          </a:prstGeom>
          <a:noFill/>
          <a:ln/>
        </p:spPr>
        <p:txBody>
          <a:bodyPr wrap="square" lIns="0" tIns="0" rIns="0" bIns="0" rtlCol="0" anchor="ctr"/>
          <a:lstStyle/>
          <a:p>
            <a:pPr algn="l" indent="0" marL="0">
              <a:spcAft>
                <a:spcPts val="600"/>
              </a:spcAft>
              <a:buNone/>
            </a:pPr>
            <a:r>
              <a:rPr lang="en-US" sz="1800" b="1" dirty="0">
                <a:solidFill>
                  <a:schemeClr val="accent3"/>
                </a:solidFill>
              </a:rPr>
              <a:t>Military weakness</a:t>
            </a:r>
            <a:endParaRPr lang="en-US" sz="1800" dirty="0"/>
          </a:p>
        </p:txBody>
      </p:sp>
      <p:sp>
        <p:nvSpPr>
          <p:cNvPr id="13" name="Text 2399"/>
          <p:cNvSpPr txBox="1"/>
          <p:nvPr/>
        </p:nvSpPr>
        <p:spPr>
          <a:xfrm>
            <a:off x="3817620" y="2171700"/>
            <a:ext cx="7642555" cy="452628"/>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Forces unready; couldn't fight Germany, Italy and Japan at once; fear of bombing</a:t>
            </a:r>
            <a:endParaRPr lang="en-US" sz="1400" dirty="0"/>
          </a:p>
        </p:txBody>
      </p:sp>
      <p:sp>
        <p:nvSpPr>
          <p:cNvPr id="14" name="Mnemonic row 2400"/>
          <p:cNvSpPr/>
          <p:nvPr/>
        </p:nvSpPr>
        <p:spPr>
          <a:xfrm>
            <a:off x="548640" y="2788920"/>
            <a:ext cx="11094415" cy="525780"/>
          </a:xfrm>
          <a:prstGeom prst="roundRect">
            <a:avLst>
              <a:gd name="adj" fmla="val 13913"/>
            </a:avLst>
          </a:prstGeom>
          <a:solidFill>
            <a:schemeClr val="accent3">
              <a:alpha val="8000"/>
            </a:schemeClr>
          </a:solidFill>
          <a:ln/>
        </p:spPr>
      </p:sp>
      <p:sp>
        <p:nvSpPr>
          <p:cNvPr id="15" name="Letter circle 2401"/>
          <p:cNvSpPr/>
          <p:nvPr/>
        </p:nvSpPr>
        <p:spPr>
          <a:xfrm>
            <a:off x="676656" y="2816352"/>
            <a:ext cx="470916" cy="470916"/>
          </a:xfrm>
          <a:prstGeom prst="ellipse">
            <a:avLst/>
          </a:prstGeom>
          <a:solidFill>
            <a:schemeClr val="accent4"/>
          </a:solidFill>
          <a:ln/>
        </p:spPr>
      </p:sp>
      <p:sp>
        <p:nvSpPr>
          <p:cNvPr id="16" name="Text 2402"/>
          <p:cNvSpPr txBox="1"/>
          <p:nvPr/>
        </p:nvSpPr>
        <p:spPr>
          <a:xfrm>
            <a:off x="676656" y="2816352"/>
            <a:ext cx="470916" cy="470916"/>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P</a:t>
            </a:r>
            <a:endParaRPr lang="en-US" sz="2800" dirty="0"/>
          </a:p>
        </p:txBody>
      </p:sp>
      <p:sp>
        <p:nvSpPr>
          <p:cNvPr id="17" name="Text 2403"/>
          <p:cNvSpPr txBox="1"/>
          <p:nvPr/>
        </p:nvSpPr>
        <p:spPr>
          <a:xfrm>
            <a:off x="1348740" y="2788920"/>
            <a:ext cx="2377440" cy="525780"/>
          </a:xfrm>
          <a:prstGeom prst="rect">
            <a:avLst/>
          </a:prstGeom>
          <a:noFill/>
          <a:ln/>
        </p:spPr>
        <p:txBody>
          <a:bodyPr wrap="square" lIns="0" tIns="0" rIns="0" bIns="0" rtlCol="0" anchor="ctr"/>
          <a:lstStyle/>
          <a:p>
            <a:pPr algn="l" indent="0" marL="0">
              <a:spcAft>
                <a:spcPts val="600"/>
              </a:spcAft>
              <a:buNone/>
            </a:pPr>
            <a:r>
              <a:rPr lang="en-US" sz="1800" b="1" dirty="0">
                <a:solidFill>
                  <a:schemeClr val="accent3"/>
                </a:solidFill>
              </a:rPr>
              <a:t>Public opinion</a:t>
            </a:r>
            <a:endParaRPr lang="en-US" sz="1800" dirty="0"/>
          </a:p>
        </p:txBody>
      </p:sp>
      <p:sp>
        <p:nvSpPr>
          <p:cNvPr id="18" name="Text 2404"/>
          <p:cNvSpPr txBox="1"/>
          <p:nvPr/>
        </p:nvSpPr>
        <p:spPr>
          <a:xfrm>
            <a:off x="3817620" y="2825496"/>
            <a:ext cx="7642555" cy="452628"/>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Memories of WW1 and strong pacifism (Peace Ballot, 1935)</a:t>
            </a:r>
            <a:endParaRPr lang="en-US" sz="1400" dirty="0"/>
          </a:p>
        </p:txBody>
      </p:sp>
      <p:sp>
        <p:nvSpPr>
          <p:cNvPr id="19" name="Mnemonic row 2405"/>
          <p:cNvSpPr/>
          <p:nvPr/>
        </p:nvSpPr>
        <p:spPr>
          <a:xfrm>
            <a:off x="548640" y="3442716"/>
            <a:ext cx="11094415" cy="525780"/>
          </a:xfrm>
          <a:prstGeom prst="roundRect">
            <a:avLst>
              <a:gd name="adj" fmla="val 13913"/>
            </a:avLst>
          </a:prstGeom>
          <a:solidFill>
            <a:schemeClr val="accent3">
              <a:alpha val="8000"/>
            </a:schemeClr>
          </a:solidFill>
          <a:ln/>
        </p:spPr>
      </p:sp>
      <p:sp>
        <p:nvSpPr>
          <p:cNvPr id="20" name="Letter circle 2406"/>
          <p:cNvSpPr/>
          <p:nvPr/>
        </p:nvSpPr>
        <p:spPr>
          <a:xfrm>
            <a:off x="676656" y="3470148"/>
            <a:ext cx="470916" cy="470916"/>
          </a:xfrm>
          <a:prstGeom prst="ellipse">
            <a:avLst/>
          </a:prstGeom>
          <a:solidFill>
            <a:schemeClr val="accent4"/>
          </a:solidFill>
          <a:ln/>
        </p:spPr>
      </p:sp>
      <p:sp>
        <p:nvSpPr>
          <p:cNvPr id="21" name="Text 2407"/>
          <p:cNvSpPr txBox="1"/>
          <p:nvPr/>
        </p:nvSpPr>
        <p:spPr>
          <a:xfrm>
            <a:off x="676656" y="3470148"/>
            <a:ext cx="470916" cy="470916"/>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I</a:t>
            </a:r>
            <a:endParaRPr lang="en-US" sz="2800" dirty="0"/>
          </a:p>
        </p:txBody>
      </p:sp>
      <p:sp>
        <p:nvSpPr>
          <p:cNvPr id="22" name="Text 2408"/>
          <p:cNvSpPr txBox="1"/>
          <p:nvPr/>
        </p:nvSpPr>
        <p:spPr>
          <a:xfrm>
            <a:off x="1348740" y="3442716"/>
            <a:ext cx="2377440" cy="525780"/>
          </a:xfrm>
          <a:prstGeom prst="rect">
            <a:avLst/>
          </a:prstGeom>
          <a:noFill/>
          <a:ln/>
        </p:spPr>
        <p:txBody>
          <a:bodyPr wrap="square" lIns="0" tIns="0" rIns="0" bIns="0" rtlCol="0" anchor="ctr"/>
          <a:lstStyle/>
          <a:p>
            <a:pPr algn="l" indent="0" marL="0">
              <a:spcAft>
                <a:spcPts val="600"/>
              </a:spcAft>
              <a:buNone/>
            </a:pPr>
            <a:r>
              <a:rPr lang="en-US" sz="1800" b="1" dirty="0">
                <a:solidFill>
                  <a:schemeClr val="accent3"/>
                </a:solidFill>
              </a:rPr>
              <a:t>Imperial priorities</a:t>
            </a:r>
            <a:endParaRPr lang="en-US" sz="1800" dirty="0"/>
          </a:p>
        </p:txBody>
      </p:sp>
      <p:sp>
        <p:nvSpPr>
          <p:cNvPr id="23" name="Text 2409"/>
          <p:cNvSpPr txBox="1"/>
          <p:nvPr/>
        </p:nvSpPr>
        <p:spPr>
          <a:xfrm>
            <a:off x="3817620" y="3479292"/>
            <a:ext cx="7642555" cy="452628"/>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The Dominions would not fight over Central Europe; empire overstretched</a:t>
            </a:r>
            <a:endParaRPr lang="en-US" sz="1400" dirty="0"/>
          </a:p>
        </p:txBody>
      </p:sp>
      <p:sp>
        <p:nvSpPr>
          <p:cNvPr id="24" name="Mnemonic row 2410"/>
          <p:cNvSpPr/>
          <p:nvPr/>
        </p:nvSpPr>
        <p:spPr>
          <a:xfrm>
            <a:off x="548640" y="4096512"/>
            <a:ext cx="11094415" cy="525780"/>
          </a:xfrm>
          <a:prstGeom prst="roundRect">
            <a:avLst>
              <a:gd name="adj" fmla="val 13913"/>
            </a:avLst>
          </a:prstGeom>
          <a:solidFill>
            <a:schemeClr val="accent3">
              <a:alpha val="8000"/>
            </a:schemeClr>
          </a:solidFill>
          <a:ln/>
        </p:spPr>
      </p:sp>
      <p:sp>
        <p:nvSpPr>
          <p:cNvPr id="25" name="Letter circle 2411"/>
          <p:cNvSpPr/>
          <p:nvPr/>
        </p:nvSpPr>
        <p:spPr>
          <a:xfrm>
            <a:off x="676656" y="4123944"/>
            <a:ext cx="470916" cy="470916"/>
          </a:xfrm>
          <a:prstGeom prst="ellipse">
            <a:avLst/>
          </a:prstGeom>
          <a:solidFill>
            <a:schemeClr val="accent4"/>
          </a:solidFill>
          <a:ln/>
        </p:spPr>
      </p:sp>
      <p:sp>
        <p:nvSpPr>
          <p:cNvPr id="26" name="Text 2412"/>
          <p:cNvSpPr txBox="1"/>
          <p:nvPr/>
        </p:nvSpPr>
        <p:spPr>
          <a:xfrm>
            <a:off x="676656" y="4123944"/>
            <a:ext cx="470916" cy="470916"/>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R</a:t>
            </a:r>
            <a:endParaRPr lang="en-US" sz="2800" dirty="0"/>
          </a:p>
        </p:txBody>
      </p:sp>
      <p:sp>
        <p:nvSpPr>
          <p:cNvPr id="27" name="Text 2413"/>
          <p:cNvSpPr txBox="1"/>
          <p:nvPr/>
        </p:nvSpPr>
        <p:spPr>
          <a:xfrm>
            <a:off x="1348740" y="4096512"/>
            <a:ext cx="2377440" cy="525780"/>
          </a:xfrm>
          <a:prstGeom prst="rect">
            <a:avLst/>
          </a:prstGeom>
          <a:noFill/>
          <a:ln/>
        </p:spPr>
        <p:txBody>
          <a:bodyPr wrap="square" lIns="0" tIns="0" rIns="0" bIns="0" rtlCol="0" anchor="ctr"/>
          <a:lstStyle/>
          <a:p>
            <a:pPr algn="l" indent="0" marL="0">
              <a:spcAft>
                <a:spcPts val="600"/>
              </a:spcAft>
              <a:buNone/>
            </a:pPr>
            <a:r>
              <a:rPr lang="en-US" sz="1800" b="1" dirty="0">
                <a:solidFill>
                  <a:schemeClr val="accent3"/>
                </a:solidFill>
              </a:rPr>
              <a:t>Reasonable grievances</a:t>
            </a:r>
            <a:endParaRPr lang="en-US" sz="1800" dirty="0"/>
          </a:p>
        </p:txBody>
      </p:sp>
      <p:sp>
        <p:nvSpPr>
          <p:cNvPr id="28" name="Text 2414"/>
          <p:cNvSpPr txBox="1"/>
          <p:nvPr/>
        </p:nvSpPr>
        <p:spPr>
          <a:xfrm>
            <a:off x="3817620" y="4133088"/>
            <a:ext cx="7642555" cy="452628"/>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Many thought Versailles unfair — the Rhineland was Germany's 'own back garden'</a:t>
            </a:r>
            <a:endParaRPr lang="en-US" sz="1400" dirty="0"/>
          </a:p>
        </p:txBody>
      </p:sp>
      <p:sp>
        <p:nvSpPr>
          <p:cNvPr id="29" name="Mnemonic row 2415"/>
          <p:cNvSpPr/>
          <p:nvPr/>
        </p:nvSpPr>
        <p:spPr>
          <a:xfrm>
            <a:off x="548640" y="4750308"/>
            <a:ext cx="11094415" cy="525780"/>
          </a:xfrm>
          <a:prstGeom prst="roundRect">
            <a:avLst>
              <a:gd name="adj" fmla="val 13913"/>
            </a:avLst>
          </a:prstGeom>
          <a:solidFill>
            <a:schemeClr val="accent3">
              <a:alpha val="8000"/>
            </a:schemeClr>
          </a:solidFill>
          <a:ln/>
        </p:spPr>
      </p:sp>
      <p:sp>
        <p:nvSpPr>
          <p:cNvPr id="30" name="Letter circle 2416"/>
          <p:cNvSpPr/>
          <p:nvPr/>
        </p:nvSpPr>
        <p:spPr>
          <a:xfrm>
            <a:off x="676656" y="4777740"/>
            <a:ext cx="470916" cy="470916"/>
          </a:xfrm>
          <a:prstGeom prst="ellipse">
            <a:avLst/>
          </a:prstGeom>
          <a:solidFill>
            <a:schemeClr val="accent4"/>
          </a:solidFill>
          <a:ln/>
        </p:spPr>
      </p:sp>
      <p:sp>
        <p:nvSpPr>
          <p:cNvPr id="31" name="Text 2417"/>
          <p:cNvSpPr txBox="1"/>
          <p:nvPr/>
        </p:nvSpPr>
        <p:spPr>
          <a:xfrm>
            <a:off x="676656" y="4777740"/>
            <a:ext cx="470916" cy="470916"/>
          </a:xfrm>
          <a:prstGeom prst="rect">
            <a:avLst/>
          </a:prstGeom>
          <a:noFill/>
          <a:ln/>
        </p:spPr>
        <p:txBody>
          <a:bodyPr wrap="square" lIns="0" tIns="0" rIns="0" bIns="0" rtlCol="0" anchor="ctr"/>
          <a:lstStyle/>
          <a:p>
            <a:pPr algn="ctr" indent="0" marL="0">
              <a:spcAft>
                <a:spcPts val="600"/>
              </a:spcAft>
              <a:buNone/>
            </a:pPr>
            <a:r>
              <a:rPr lang="en-US" sz="2800" b="1" dirty="0">
                <a:solidFill>
                  <a:schemeClr val="tx2"/>
                </a:solidFill>
                <a:latin typeface="+mj-lt" pitchFamily="34" charset="0"/>
                <a:ea typeface="+mj-lt" pitchFamily="34" charset="-122"/>
                <a:cs typeface="+mj-lt" pitchFamily="34" charset="-120"/>
              </a:rPr>
              <a:t>E</a:t>
            </a:r>
            <a:endParaRPr lang="en-US" sz="2800" dirty="0"/>
          </a:p>
        </p:txBody>
      </p:sp>
      <p:sp>
        <p:nvSpPr>
          <p:cNvPr id="32" name="Text 2418"/>
          <p:cNvSpPr txBox="1"/>
          <p:nvPr/>
        </p:nvSpPr>
        <p:spPr>
          <a:xfrm>
            <a:off x="1348740" y="4750308"/>
            <a:ext cx="2377440" cy="525780"/>
          </a:xfrm>
          <a:prstGeom prst="rect">
            <a:avLst/>
          </a:prstGeom>
          <a:noFill/>
          <a:ln/>
        </p:spPr>
        <p:txBody>
          <a:bodyPr wrap="square" lIns="0" tIns="0" rIns="0" bIns="0" rtlCol="0" anchor="ctr"/>
          <a:lstStyle/>
          <a:p>
            <a:pPr algn="l" indent="0" marL="0">
              <a:spcAft>
                <a:spcPts val="600"/>
              </a:spcAft>
              <a:buNone/>
            </a:pPr>
            <a:r>
              <a:rPr lang="en-US" sz="1800" b="1" dirty="0">
                <a:solidFill>
                  <a:schemeClr val="accent3"/>
                </a:solidFill>
              </a:rPr>
              <a:t>Enemy is communism</a:t>
            </a:r>
            <a:endParaRPr lang="en-US" sz="1800" dirty="0"/>
          </a:p>
        </p:txBody>
      </p:sp>
      <p:sp>
        <p:nvSpPr>
          <p:cNvPr id="33" name="Text 2419"/>
          <p:cNvSpPr txBox="1"/>
          <p:nvPr/>
        </p:nvSpPr>
        <p:spPr>
          <a:xfrm>
            <a:off x="3817620" y="4786884"/>
            <a:ext cx="7642555" cy="452628"/>
          </a:xfrm>
          <a:prstGeom prst="rect">
            <a:avLst/>
          </a:prstGeom>
          <a:noFill/>
          <a:ln/>
        </p:spPr>
        <p:txBody>
          <a:bodyPr wrap="square" lIns="0" tIns="0" rIns="0" bIns="0" rtlCol="0" anchor="ctr"/>
          <a:lstStyle/>
          <a:p>
            <a:pPr algn="l" indent="0" marL="0">
              <a:spcAft>
                <a:spcPts val="600"/>
              </a:spcAft>
              <a:buNone/>
            </a:pPr>
            <a:r>
              <a:rPr lang="en-US" sz="1400" dirty="0">
                <a:solidFill>
                  <a:schemeClr val="tx1"/>
                </a:solidFill>
              </a:rPr>
              <a:t>Hitler seen as a barrier to Stalin; deep distrust of the USSR</a:t>
            </a:r>
            <a:endParaRPr lang="en-US" sz="1400" dirty="0"/>
          </a:p>
        </p:txBody>
      </p:sp>
      <p:sp>
        <p:nvSpPr>
          <p:cNvPr id="34" name="Callout 2420"/>
          <p:cNvSpPr/>
          <p:nvPr/>
        </p:nvSpPr>
        <p:spPr>
          <a:xfrm>
            <a:off x="548640" y="5550408"/>
            <a:ext cx="11094415" cy="713232"/>
          </a:xfrm>
          <a:prstGeom prst="roundRect">
            <a:avLst>
              <a:gd name="adj" fmla="val 12821"/>
            </a:avLst>
          </a:prstGeom>
          <a:solidFill>
            <a:schemeClr val="accent4">
              <a:alpha val="20000"/>
            </a:schemeClr>
          </a:solidFill>
          <a:ln/>
        </p:spPr>
      </p:sp>
      <p:sp>
        <p:nvSpPr>
          <p:cNvPr id="35" name="Callout label 2421"/>
          <p:cNvSpPr/>
          <p:nvPr/>
        </p:nvSpPr>
        <p:spPr>
          <a:xfrm>
            <a:off x="731520" y="5751576"/>
            <a:ext cx="650098" cy="310896"/>
          </a:xfrm>
          <a:prstGeom prst="roundRect">
            <a:avLst>
              <a:gd name="adj" fmla="val 50000"/>
            </a:avLst>
          </a:prstGeom>
          <a:solidFill>
            <a:schemeClr val="accent4"/>
          </a:solidFill>
          <a:ln/>
        </p:spPr>
      </p:sp>
      <p:sp>
        <p:nvSpPr>
          <p:cNvPr id="36" name="Text 2422"/>
          <p:cNvSpPr txBox="1"/>
          <p:nvPr/>
        </p:nvSpPr>
        <p:spPr>
          <a:xfrm>
            <a:off x="731520" y="5751576"/>
            <a:ext cx="650098"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ALSO</a:t>
            </a:r>
            <a:endParaRPr lang="en-US" sz="1200" dirty="0"/>
          </a:p>
        </p:txBody>
      </p:sp>
      <p:sp>
        <p:nvSpPr>
          <p:cNvPr id="37" name="Text 2423"/>
          <p:cNvSpPr txBox="1"/>
          <p:nvPr/>
        </p:nvSpPr>
        <p:spPr>
          <a:xfrm>
            <a:off x="1564498" y="5623560"/>
            <a:ext cx="9895677"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No reliable allies (USA isolationist, France weak) — and Chamberlain believed Hitler could be reasoned with.</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Kicker 242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KQ3 · FRANCE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did France appease?</a:t>
            </a:r>
            <a:endParaRPr lang="en-US" sz="3400" dirty="0"/>
          </a:p>
        </p:txBody>
      </p:sp>
      <p:sp>
        <p:nvSpPr>
          <p:cNvPr id="4" name="Card 2425"/>
          <p:cNvSpPr/>
          <p:nvPr/>
        </p:nvSpPr>
        <p:spPr>
          <a:xfrm>
            <a:off x="548640" y="1481328"/>
            <a:ext cx="3515258" cy="1760220"/>
          </a:xfrm>
          <a:prstGeom prst="roundRect">
            <a:avLst>
              <a:gd name="adj" fmla="val 5195"/>
            </a:avLst>
          </a:prstGeom>
          <a:solidFill>
            <a:schemeClr val="accent3">
              <a:alpha val="10000"/>
            </a:schemeClr>
          </a:solidFill>
          <a:ln/>
        </p:spPr>
      </p:sp>
      <p:sp>
        <p:nvSpPr>
          <p:cNvPr id="5" name="Icon circle 2426"/>
          <p:cNvSpPr/>
          <p:nvPr/>
        </p:nvSpPr>
        <p:spPr>
          <a:xfrm>
            <a:off x="731520" y="1664208"/>
            <a:ext cx="475488" cy="475488"/>
          </a:xfrm>
          <a:prstGeom prst="ellipse">
            <a:avLst/>
          </a:prstGeom>
          <a:solidFill>
            <a:schemeClr val="accent3"/>
          </a:solidFill>
          <a:ln/>
        </p:spPr>
      </p:sp>
      <p:pic>
        <p:nvPicPr>
          <p:cNvPr id="6" name="Icon FaPeopleArrows 2427"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428"/>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Divided politics</a:t>
            </a:r>
            <a:endParaRPr lang="en-US" sz="1600" dirty="0"/>
          </a:p>
        </p:txBody>
      </p:sp>
      <p:sp>
        <p:nvSpPr>
          <p:cNvPr id="8" name="Text 2429"/>
          <p:cNvSpPr txBox="1"/>
          <p:nvPr/>
        </p:nvSpPr>
        <p:spPr>
          <a:xfrm>
            <a:off x="731520"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Left v right; governments changed often. Some on the right said 'Better Hitler than Blum'.</a:t>
            </a:r>
            <a:endParaRPr lang="en-US" sz="1700" dirty="0"/>
          </a:p>
        </p:txBody>
      </p:sp>
      <p:sp>
        <p:nvSpPr>
          <p:cNvPr id="9" name="Card 2430"/>
          <p:cNvSpPr/>
          <p:nvPr/>
        </p:nvSpPr>
        <p:spPr>
          <a:xfrm>
            <a:off x="4338218" y="1481328"/>
            <a:ext cx="3515258" cy="1760220"/>
          </a:xfrm>
          <a:prstGeom prst="roundRect">
            <a:avLst>
              <a:gd name="adj" fmla="val 5195"/>
            </a:avLst>
          </a:prstGeom>
          <a:solidFill>
            <a:schemeClr val="accent3">
              <a:alpha val="10000"/>
            </a:schemeClr>
          </a:solidFill>
          <a:ln/>
        </p:spPr>
      </p:sp>
      <p:sp>
        <p:nvSpPr>
          <p:cNvPr id="10" name="Icon circle 2431"/>
          <p:cNvSpPr/>
          <p:nvPr/>
        </p:nvSpPr>
        <p:spPr>
          <a:xfrm>
            <a:off x="4521098" y="1664208"/>
            <a:ext cx="475488" cy="475488"/>
          </a:xfrm>
          <a:prstGeom prst="ellipse">
            <a:avLst/>
          </a:prstGeom>
          <a:solidFill>
            <a:schemeClr val="accent3"/>
          </a:solidFill>
          <a:ln/>
        </p:spPr>
      </p:sp>
      <p:pic>
        <p:nvPicPr>
          <p:cNvPr id="11" name="Icon FaShieldAlt 2432"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2433"/>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Defensive mindset</a:t>
            </a:r>
            <a:endParaRPr lang="en-US" sz="1600" dirty="0"/>
          </a:p>
        </p:txBody>
      </p:sp>
      <p:sp>
        <p:nvSpPr>
          <p:cNvPr id="13" name="Text 2434"/>
          <p:cNvSpPr txBox="1"/>
          <p:nvPr/>
        </p:nvSpPr>
        <p:spPr>
          <a:xfrm>
            <a:off x="4521098"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The Maginot Line: the army planned to defend, not attack.</a:t>
            </a:r>
            <a:endParaRPr lang="en-US" sz="1700" dirty="0"/>
          </a:p>
        </p:txBody>
      </p:sp>
      <p:sp>
        <p:nvSpPr>
          <p:cNvPr id="14" name="Card 2435"/>
          <p:cNvSpPr/>
          <p:nvPr/>
        </p:nvSpPr>
        <p:spPr>
          <a:xfrm>
            <a:off x="8127797" y="1481328"/>
            <a:ext cx="3515258" cy="1760220"/>
          </a:xfrm>
          <a:prstGeom prst="roundRect">
            <a:avLst>
              <a:gd name="adj" fmla="val 5195"/>
            </a:avLst>
          </a:prstGeom>
          <a:solidFill>
            <a:schemeClr val="accent3">
              <a:alpha val="10000"/>
            </a:schemeClr>
          </a:solidFill>
          <a:ln/>
        </p:spPr>
      </p:sp>
      <p:sp>
        <p:nvSpPr>
          <p:cNvPr id="15" name="Icon circle 2436"/>
          <p:cNvSpPr/>
          <p:nvPr/>
        </p:nvSpPr>
        <p:spPr>
          <a:xfrm>
            <a:off x="8310677" y="1664208"/>
            <a:ext cx="475488" cy="475488"/>
          </a:xfrm>
          <a:prstGeom prst="ellipse">
            <a:avLst/>
          </a:prstGeom>
          <a:solidFill>
            <a:schemeClr val="accent3"/>
          </a:solidFill>
          <a:ln/>
        </p:spPr>
      </p:sp>
      <p:pic>
        <p:nvPicPr>
          <p:cNvPr id="16" name="Icon FaArrowTrendDown 2437"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2438"/>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Economic weakness</a:t>
            </a:r>
            <a:endParaRPr lang="en-US" sz="1600" dirty="0"/>
          </a:p>
        </p:txBody>
      </p:sp>
      <p:sp>
        <p:nvSpPr>
          <p:cNvPr id="18" name="Text 2439"/>
          <p:cNvSpPr txBox="1"/>
          <p:nvPr/>
        </p:nvSpPr>
        <p:spPr>
          <a:xfrm>
            <a:off x="8310677"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The Depression hit France late and lasted long; a weak franc.</a:t>
            </a:r>
            <a:endParaRPr lang="en-US" sz="1700" dirty="0"/>
          </a:p>
        </p:txBody>
      </p:sp>
      <p:sp>
        <p:nvSpPr>
          <p:cNvPr id="19" name="Card 2440"/>
          <p:cNvSpPr/>
          <p:nvPr/>
        </p:nvSpPr>
        <p:spPr>
          <a:xfrm>
            <a:off x="548640" y="3515868"/>
            <a:ext cx="3515258" cy="1760220"/>
          </a:xfrm>
          <a:prstGeom prst="roundRect">
            <a:avLst>
              <a:gd name="adj" fmla="val 5195"/>
            </a:avLst>
          </a:prstGeom>
          <a:solidFill>
            <a:schemeClr val="accent3">
              <a:alpha val="10000"/>
            </a:schemeClr>
          </a:solidFill>
          <a:ln/>
        </p:spPr>
      </p:sp>
      <p:sp>
        <p:nvSpPr>
          <p:cNvPr id="20" name="Icon circle 2441"/>
          <p:cNvSpPr/>
          <p:nvPr/>
        </p:nvSpPr>
        <p:spPr>
          <a:xfrm>
            <a:off x="731520" y="3698748"/>
            <a:ext cx="475488" cy="475488"/>
          </a:xfrm>
          <a:prstGeom prst="ellipse">
            <a:avLst/>
          </a:prstGeom>
          <a:solidFill>
            <a:schemeClr val="accent3"/>
          </a:solidFill>
          <a:ln/>
        </p:spPr>
      </p:sp>
      <p:pic>
        <p:nvPicPr>
          <p:cNvPr id="21" name="Icon FaHandshake 2442" descr="preencoded.png">    </p:cNvPr>
          <p:cNvPicPr>
            <a:picLocks noChangeAspect="1"/>
          </p:cNvPicPr>
          <p:nvPr/>
        </p:nvPicPr>
        <p:blipFill>
          <a:blip r:embed="rId4"/>
          <a:stretch>
            <a:fillRect/>
          </a:stretch>
        </p:blipFill>
        <p:spPr>
          <a:xfrm>
            <a:off x="836127" y="3803355"/>
            <a:ext cx="266273" cy="266273"/>
          </a:xfrm>
          <a:prstGeom prst="rect">
            <a:avLst/>
          </a:prstGeom>
        </p:spPr>
      </p:pic>
      <p:sp>
        <p:nvSpPr>
          <p:cNvPr id="22" name="Card title 2443"/>
          <p:cNvSpPr txBox="1"/>
          <p:nvPr/>
        </p:nvSpPr>
        <p:spPr>
          <a:xfrm>
            <a:off x="1335024"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Needed Britain</a:t>
            </a:r>
            <a:endParaRPr lang="en-US" sz="1600" dirty="0"/>
          </a:p>
        </p:txBody>
      </p:sp>
      <p:sp>
        <p:nvSpPr>
          <p:cNvPr id="23" name="Text 2444"/>
          <p:cNvSpPr txBox="1"/>
          <p:nvPr/>
        </p:nvSpPr>
        <p:spPr>
          <a:xfrm>
            <a:off x="731520"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France would not act alone — e.g. no action over the Rhineland (1936).</a:t>
            </a:r>
            <a:endParaRPr lang="en-US" sz="1700" dirty="0"/>
          </a:p>
        </p:txBody>
      </p:sp>
      <p:sp>
        <p:nvSpPr>
          <p:cNvPr id="24" name="Card 2445"/>
          <p:cNvSpPr/>
          <p:nvPr/>
        </p:nvSpPr>
        <p:spPr>
          <a:xfrm>
            <a:off x="4338218" y="3515868"/>
            <a:ext cx="3515258" cy="1760220"/>
          </a:xfrm>
          <a:prstGeom prst="roundRect">
            <a:avLst>
              <a:gd name="adj" fmla="val 5195"/>
            </a:avLst>
          </a:prstGeom>
          <a:solidFill>
            <a:schemeClr val="accent3">
              <a:alpha val="10000"/>
            </a:schemeClr>
          </a:solidFill>
          <a:ln/>
        </p:spPr>
      </p:sp>
      <p:sp>
        <p:nvSpPr>
          <p:cNvPr id="25" name="Icon circle 2446"/>
          <p:cNvSpPr/>
          <p:nvPr/>
        </p:nvSpPr>
        <p:spPr>
          <a:xfrm>
            <a:off x="4521098" y="3698748"/>
            <a:ext cx="475488" cy="475488"/>
          </a:xfrm>
          <a:prstGeom prst="ellipse">
            <a:avLst/>
          </a:prstGeom>
          <a:solidFill>
            <a:schemeClr val="accent3"/>
          </a:solidFill>
          <a:ln/>
        </p:spPr>
      </p:sp>
      <p:pic>
        <p:nvPicPr>
          <p:cNvPr id="26" name="Icon FaUnlink 2447" descr="preencoded.png">    </p:cNvPr>
          <p:cNvPicPr>
            <a:picLocks noChangeAspect="1"/>
          </p:cNvPicPr>
          <p:nvPr/>
        </p:nvPicPr>
        <p:blipFill>
          <a:blip r:embed="rId5"/>
          <a:stretch>
            <a:fillRect/>
          </a:stretch>
        </p:blipFill>
        <p:spPr>
          <a:xfrm>
            <a:off x="4625706" y="3803355"/>
            <a:ext cx="266273" cy="266273"/>
          </a:xfrm>
          <a:prstGeom prst="rect">
            <a:avLst/>
          </a:prstGeom>
        </p:spPr>
      </p:pic>
      <p:sp>
        <p:nvSpPr>
          <p:cNvPr id="27" name="Card title 2448"/>
          <p:cNvSpPr txBox="1"/>
          <p:nvPr/>
        </p:nvSpPr>
        <p:spPr>
          <a:xfrm>
            <a:off x="5124602"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Weak alliances</a:t>
            </a:r>
            <a:endParaRPr lang="en-US" sz="1600" dirty="0"/>
          </a:p>
        </p:txBody>
      </p:sp>
      <p:sp>
        <p:nvSpPr>
          <p:cNvPr id="28" name="Text 2449"/>
          <p:cNvSpPr txBox="1"/>
          <p:nvPr/>
        </p:nvSpPr>
        <p:spPr>
          <a:xfrm>
            <a:off x="4521098"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Eastern allies unreliable; the Soviet pact had no military talks behind it.</a:t>
            </a:r>
            <a:endParaRPr lang="en-US" sz="1700" dirty="0"/>
          </a:p>
        </p:txBody>
      </p:sp>
      <p:sp>
        <p:nvSpPr>
          <p:cNvPr id="29" name="Callout 2450"/>
          <p:cNvSpPr/>
          <p:nvPr/>
        </p:nvSpPr>
        <p:spPr>
          <a:xfrm>
            <a:off x="548640" y="5550408"/>
            <a:ext cx="11094415" cy="713232"/>
          </a:xfrm>
          <a:prstGeom prst="roundRect">
            <a:avLst>
              <a:gd name="adj" fmla="val 12821"/>
            </a:avLst>
          </a:prstGeom>
          <a:solidFill>
            <a:schemeClr val="accent4">
              <a:alpha val="20000"/>
            </a:schemeClr>
          </a:solidFill>
          <a:ln/>
        </p:spPr>
      </p:sp>
      <p:sp>
        <p:nvSpPr>
          <p:cNvPr id="30" name="Callout label 2451"/>
          <p:cNvSpPr/>
          <p:nvPr/>
        </p:nvSpPr>
        <p:spPr>
          <a:xfrm>
            <a:off x="731520" y="5751576"/>
            <a:ext cx="894203" cy="310896"/>
          </a:xfrm>
          <a:prstGeom prst="roundRect">
            <a:avLst>
              <a:gd name="adj" fmla="val 50000"/>
            </a:avLst>
          </a:prstGeom>
          <a:solidFill>
            <a:schemeClr val="accent4"/>
          </a:solidFill>
          <a:ln/>
        </p:spPr>
      </p:sp>
      <p:sp>
        <p:nvSpPr>
          <p:cNvPr id="31" name="Text 2452"/>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32" name="Text 2453"/>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France had most to fear from Germany, yet felt too weak to act alone — so it followed Britain's lead.</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Kicker 245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KQ3 · RHINELAND</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Rhineland, March 1936</a:t>
            </a:r>
            <a:endParaRPr lang="en-US" sz="3400" dirty="0"/>
          </a:p>
        </p:txBody>
      </p:sp>
      <p:sp>
        <p:nvSpPr>
          <p:cNvPr id="4" name="Card 2455"/>
          <p:cNvSpPr/>
          <p:nvPr/>
        </p:nvSpPr>
        <p:spPr>
          <a:xfrm>
            <a:off x="548640" y="1481328"/>
            <a:ext cx="5410048" cy="2253996"/>
          </a:xfrm>
          <a:prstGeom prst="roundRect">
            <a:avLst>
              <a:gd name="adj" fmla="val 4057"/>
            </a:avLst>
          </a:prstGeom>
          <a:solidFill>
            <a:schemeClr val="accent3">
              <a:alpha val="10000"/>
            </a:schemeClr>
          </a:solidFill>
          <a:ln/>
        </p:spPr>
      </p:sp>
      <p:sp>
        <p:nvSpPr>
          <p:cNvPr id="5" name="Icon circle 2456"/>
          <p:cNvSpPr/>
          <p:nvPr/>
        </p:nvSpPr>
        <p:spPr>
          <a:xfrm>
            <a:off x="731520" y="1664208"/>
            <a:ext cx="475488" cy="475488"/>
          </a:xfrm>
          <a:prstGeom prst="ellipse">
            <a:avLst/>
          </a:prstGeom>
          <a:solidFill>
            <a:schemeClr val="accent3"/>
          </a:solidFill>
          <a:ln/>
        </p:spPr>
      </p:sp>
      <p:pic>
        <p:nvPicPr>
          <p:cNvPr id="6" name="Icon FaPersonRifle 2457"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458"/>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What happened</a:t>
            </a:r>
            <a:endParaRPr lang="en-US" sz="1700" dirty="0"/>
          </a:p>
        </p:txBody>
      </p:sp>
      <p:sp>
        <p:nvSpPr>
          <p:cNvPr id="8" name="Text 2459"/>
          <p:cNvSpPr txBox="1"/>
          <p:nvPr/>
        </p:nvSpPr>
        <p:spPr>
          <a:xfrm>
            <a:off x="731520" y="2249424"/>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7 March 1936: German troops marched into the demilitarised Rhineland, breaking Versailles and Locarno.</a:t>
            </a:r>
            <a:endParaRPr lang="en-US" sz="2000" dirty="0"/>
          </a:p>
        </p:txBody>
      </p:sp>
      <p:sp>
        <p:nvSpPr>
          <p:cNvPr id="9" name="Card 2460"/>
          <p:cNvSpPr/>
          <p:nvPr/>
        </p:nvSpPr>
        <p:spPr>
          <a:xfrm>
            <a:off x="6233008" y="1481328"/>
            <a:ext cx="5410048" cy="2253996"/>
          </a:xfrm>
          <a:prstGeom prst="roundRect">
            <a:avLst>
              <a:gd name="adj" fmla="val 4057"/>
            </a:avLst>
          </a:prstGeom>
          <a:solidFill>
            <a:schemeClr val="accent3">
              <a:alpha val="10000"/>
            </a:schemeClr>
          </a:solidFill>
          <a:ln/>
        </p:spPr>
      </p:sp>
      <p:sp>
        <p:nvSpPr>
          <p:cNvPr id="10" name="Icon circle 2461"/>
          <p:cNvSpPr/>
          <p:nvPr/>
        </p:nvSpPr>
        <p:spPr>
          <a:xfrm>
            <a:off x="6415888" y="1664208"/>
            <a:ext cx="475488" cy="475488"/>
          </a:xfrm>
          <a:prstGeom prst="ellipse">
            <a:avLst/>
          </a:prstGeom>
          <a:solidFill>
            <a:schemeClr val="accent3"/>
          </a:solidFill>
          <a:ln/>
        </p:spPr>
      </p:sp>
      <p:pic>
        <p:nvPicPr>
          <p:cNvPr id="11" name="Icon FaChessKnight 2462"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2463"/>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Hitler's gamble</a:t>
            </a:r>
            <a:endParaRPr lang="en-US" sz="1700" dirty="0"/>
          </a:p>
        </p:txBody>
      </p:sp>
      <p:sp>
        <p:nvSpPr>
          <p:cNvPr id="13" name="Text 2464"/>
          <p:cNvSpPr txBox="1"/>
          <p:nvPr/>
        </p:nvSpPr>
        <p:spPr>
          <a:xfrm>
            <a:off x="6415888" y="2249424"/>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Excuse: the Franco-Soviet Pact. Britain and France were distracted by Abyssinia. Generals had orders to pull back if France resisted.</a:t>
            </a:r>
            <a:endParaRPr lang="en-US" sz="2000" dirty="0"/>
          </a:p>
        </p:txBody>
      </p:sp>
      <p:sp>
        <p:nvSpPr>
          <p:cNvPr id="14" name="Card 2465"/>
          <p:cNvSpPr/>
          <p:nvPr/>
        </p:nvSpPr>
        <p:spPr>
          <a:xfrm>
            <a:off x="548640" y="4009644"/>
            <a:ext cx="5410048" cy="2253996"/>
          </a:xfrm>
          <a:prstGeom prst="roundRect">
            <a:avLst>
              <a:gd name="adj" fmla="val 4057"/>
            </a:avLst>
          </a:prstGeom>
          <a:solidFill>
            <a:schemeClr val="accent3">
              <a:alpha val="10000"/>
            </a:schemeClr>
          </a:solidFill>
          <a:ln/>
        </p:spPr>
      </p:sp>
      <p:sp>
        <p:nvSpPr>
          <p:cNvPr id="15" name="Icon circle 2466"/>
          <p:cNvSpPr/>
          <p:nvPr/>
        </p:nvSpPr>
        <p:spPr>
          <a:xfrm>
            <a:off x="731520" y="4192524"/>
            <a:ext cx="475488" cy="475488"/>
          </a:xfrm>
          <a:prstGeom prst="ellipse">
            <a:avLst/>
          </a:prstGeom>
          <a:solidFill>
            <a:schemeClr val="accent3"/>
          </a:solidFill>
          <a:ln/>
        </p:spPr>
      </p:sp>
      <p:pic>
        <p:nvPicPr>
          <p:cNvPr id="16" name="Icon FaBan 2467" descr="preencoded.png">    </p:cNvPr>
          <p:cNvPicPr>
            <a:picLocks noChangeAspect="1"/>
          </p:cNvPicPr>
          <p:nvPr/>
        </p:nvPicPr>
        <p:blipFill>
          <a:blip r:embed="rId3"/>
          <a:stretch>
            <a:fillRect/>
          </a:stretch>
        </p:blipFill>
        <p:spPr>
          <a:xfrm>
            <a:off x="836127" y="4297131"/>
            <a:ext cx="266273" cy="266273"/>
          </a:xfrm>
          <a:prstGeom prst="rect">
            <a:avLst/>
          </a:prstGeom>
        </p:spPr>
      </p:pic>
      <p:sp>
        <p:nvSpPr>
          <p:cNvPr id="17" name="Card title 2468"/>
          <p:cNvSpPr txBox="1"/>
          <p:nvPr/>
        </p:nvSpPr>
        <p:spPr>
          <a:xfrm>
            <a:off x="1335024" y="4192524"/>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Why no response</a:t>
            </a:r>
            <a:endParaRPr lang="en-US" sz="1700" dirty="0"/>
          </a:p>
        </p:txBody>
      </p:sp>
      <p:sp>
        <p:nvSpPr>
          <p:cNvPr id="18" name="Text 2469"/>
          <p:cNvSpPr txBox="1"/>
          <p:nvPr/>
        </p:nvSpPr>
        <p:spPr>
          <a:xfrm>
            <a:off x="731520" y="4777740"/>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France was in an election campaign and would not act without Britain. Many Britons thought Germany was 'going into its own back garden'.</a:t>
            </a:r>
            <a:endParaRPr lang="en-US" sz="2000" dirty="0"/>
          </a:p>
        </p:txBody>
      </p:sp>
      <p:sp>
        <p:nvSpPr>
          <p:cNvPr id="19" name="Card 2470"/>
          <p:cNvSpPr/>
          <p:nvPr/>
        </p:nvSpPr>
        <p:spPr>
          <a:xfrm>
            <a:off x="6233008" y="4009644"/>
            <a:ext cx="5410048" cy="2253996"/>
          </a:xfrm>
          <a:prstGeom prst="roundRect">
            <a:avLst>
              <a:gd name="adj" fmla="val 4057"/>
            </a:avLst>
          </a:prstGeom>
          <a:solidFill>
            <a:schemeClr val="accent3">
              <a:alpha val="10000"/>
            </a:schemeClr>
          </a:solidFill>
          <a:ln/>
        </p:spPr>
      </p:sp>
      <p:sp>
        <p:nvSpPr>
          <p:cNvPr id="20" name="Icon circle 2471"/>
          <p:cNvSpPr/>
          <p:nvPr/>
        </p:nvSpPr>
        <p:spPr>
          <a:xfrm>
            <a:off x="6415888" y="4192524"/>
            <a:ext cx="475488" cy="475488"/>
          </a:xfrm>
          <a:prstGeom prst="ellipse">
            <a:avLst/>
          </a:prstGeom>
          <a:solidFill>
            <a:schemeClr val="accent3"/>
          </a:solidFill>
          <a:ln/>
        </p:spPr>
      </p:sp>
      <p:pic>
        <p:nvPicPr>
          <p:cNvPr id="21" name="Icon FaExclamationTriangle 2472" descr="preencoded.png">    </p:cNvPr>
          <p:cNvPicPr>
            <a:picLocks noChangeAspect="1"/>
          </p:cNvPicPr>
          <p:nvPr/>
        </p:nvPicPr>
        <p:blipFill>
          <a:blip r:embed="rId4"/>
          <a:stretch>
            <a:fillRect/>
          </a:stretch>
        </p:blipFill>
        <p:spPr>
          <a:xfrm>
            <a:off x="6520495" y="4297131"/>
            <a:ext cx="266273" cy="266273"/>
          </a:xfrm>
          <a:prstGeom prst="rect">
            <a:avLst/>
          </a:prstGeom>
        </p:spPr>
      </p:pic>
      <p:sp>
        <p:nvSpPr>
          <p:cNvPr id="22" name="Card title 2473"/>
          <p:cNvSpPr txBox="1"/>
          <p:nvPr/>
        </p:nvSpPr>
        <p:spPr>
          <a:xfrm>
            <a:off x="7019392" y="4192524"/>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Consequences</a:t>
            </a:r>
            <a:endParaRPr lang="en-US" sz="1700" dirty="0"/>
          </a:p>
        </p:txBody>
      </p:sp>
      <p:sp>
        <p:nvSpPr>
          <p:cNvPr id="23" name="Text 2474"/>
          <p:cNvSpPr txBox="1"/>
          <p:nvPr/>
        </p:nvSpPr>
        <p:spPr>
          <a:xfrm>
            <a:off x="6415888" y="4777740"/>
            <a:ext cx="5044288" cy="1303020"/>
          </a:xfrm>
          <a:prstGeom prst="rect">
            <a:avLst/>
          </a:prstGeom>
          <a:noFill/>
          <a:ln/>
        </p:spPr>
        <p:txBody>
          <a:bodyPr wrap="square" lIns="0" tIns="0" rIns="0" bIns="0" rtlCol="0" anchor="t"/>
          <a:lstStyle/>
          <a:p>
            <a:pPr algn="l" indent="0" marL="0">
              <a:spcAft>
                <a:spcPts val="500"/>
              </a:spcAft>
              <a:buNone/>
            </a:pPr>
            <a:r>
              <a:rPr lang="en-US" sz="2000" dirty="0">
                <a:solidFill>
                  <a:schemeClr val="tx1"/>
                </a:solidFill>
              </a:rPr>
              <a:t>Hitler's confidence soared. German forts in the west made it harder for France to help its eastern allies.</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Kicker 2475"/>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KQ3 · SPAIN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Spanish Civil War, 1936–39</a:t>
            </a:r>
            <a:endParaRPr lang="en-US" sz="3400" dirty="0"/>
          </a:p>
        </p:txBody>
      </p:sp>
      <p:sp>
        <p:nvSpPr>
          <p:cNvPr id="4" name="Card 2476"/>
          <p:cNvSpPr/>
          <p:nvPr/>
        </p:nvSpPr>
        <p:spPr>
          <a:xfrm>
            <a:off x="548640" y="1481328"/>
            <a:ext cx="3515258" cy="2880360"/>
          </a:xfrm>
          <a:prstGeom prst="roundRect">
            <a:avLst>
              <a:gd name="adj" fmla="val 3175"/>
            </a:avLst>
          </a:prstGeom>
          <a:solidFill>
            <a:schemeClr val="accent3">
              <a:alpha val="10000"/>
            </a:schemeClr>
          </a:solidFill>
          <a:ln/>
        </p:spPr>
      </p:sp>
      <p:sp>
        <p:nvSpPr>
          <p:cNvPr id="5" name="Icon circle 2477"/>
          <p:cNvSpPr/>
          <p:nvPr/>
        </p:nvSpPr>
        <p:spPr>
          <a:xfrm>
            <a:off x="731520" y="1664208"/>
            <a:ext cx="475488" cy="475488"/>
          </a:xfrm>
          <a:prstGeom prst="ellipse">
            <a:avLst/>
          </a:prstGeom>
          <a:solidFill>
            <a:schemeClr val="accent3"/>
          </a:solidFill>
          <a:ln/>
        </p:spPr>
      </p:sp>
      <p:pic>
        <p:nvPicPr>
          <p:cNvPr id="6" name="Icon FaFistRaised 2478"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479"/>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Helped Franco</a:t>
            </a:r>
            <a:endParaRPr lang="en-US" sz="1700" dirty="0"/>
          </a:p>
        </p:txBody>
      </p:sp>
      <p:sp>
        <p:nvSpPr>
          <p:cNvPr id="8" name="Text 2480"/>
          <p:cNvSpPr txBox="1"/>
          <p:nvPr/>
        </p:nvSpPr>
        <p:spPr>
          <a:xfrm>
            <a:off x="731520" y="2249424"/>
            <a:ext cx="3149498" cy="1929384"/>
          </a:xfrm>
          <a:prstGeom prst="rect">
            <a:avLst/>
          </a:prstGeom>
          <a:noFill/>
          <a:ln/>
        </p:spPr>
        <p:txBody>
          <a:bodyPr wrap="square" lIns="0" tIns="0" rIns="0" bIns="0" rtlCol="0" anchor="t"/>
          <a:lstStyle/>
          <a:p>
            <a:pPr algn="l" marL="190500" indent="-190500">
              <a:spcAft>
                <a:spcPts val="500"/>
              </a:spcAft>
              <a:buSzPct val="100000"/>
              <a:buChar char="•"/>
            </a:pPr>
            <a:r>
              <a:rPr lang="en-US" sz="1800" b="1" dirty="0">
                <a:solidFill>
                  <a:schemeClr val="tx1"/>
                </a:solidFill>
              </a:rPr>
              <a:t>Germany:</a:t>
            </a:r>
            <a:r>
              <a:rPr lang="en-US" sz="1800" dirty="0">
                <a:solidFill>
                  <a:schemeClr val="tx1"/>
                </a:solidFill>
              </a:rPr>
              <a:t> Condor Legion; bombing of Guernica (1937); tested weapons</a:t>
            </a:r>
            <a:endParaRPr lang="en-US" sz="1800" dirty="0"/>
          </a:p>
          <a:p>
            <a:pPr algn="l" marL="190500" indent="-190500">
              <a:spcAft>
                <a:spcPts val="500"/>
              </a:spcAft>
              <a:buSzPct val="100000"/>
              <a:buChar char="•"/>
            </a:pPr>
            <a:r>
              <a:rPr lang="en-US" sz="1800" b="1" dirty="0">
                <a:solidFill>
                  <a:schemeClr val="tx1"/>
                </a:solidFill>
              </a:rPr>
              <a:t>Italy:</a:t>
            </a:r>
            <a:r>
              <a:rPr lang="en-US" sz="1800" dirty="0">
                <a:solidFill>
                  <a:schemeClr val="tx1"/>
                </a:solidFill>
              </a:rPr>
              <a:t> tens of thousands of troops; submarines attacked shipping</a:t>
            </a:r>
            <a:endParaRPr lang="en-US" sz="1800" dirty="0"/>
          </a:p>
        </p:txBody>
      </p:sp>
      <p:sp>
        <p:nvSpPr>
          <p:cNvPr id="9" name="Card 2481"/>
          <p:cNvSpPr/>
          <p:nvPr/>
        </p:nvSpPr>
        <p:spPr>
          <a:xfrm>
            <a:off x="4338218" y="1481328"/>
            <a:ext cx="3515258" cy="2880360"/>
          </a:xfrm>
          <a:prstGeom prst="roundRect">
            <a:avLst>
              <a:gd name="adj" fmla="val 3175"/>
            </a:avLst>
          </a:prstGeom>
          <a:solidFill>
            <a:schemeClr val="bg2"/>
          </a:solidFill>
          <a:ln/>
        </p:spPr>
      </p:sp>
      <p:sp>
        <p:nvSpPr>
          <p:cNvPr id="10" name="Icon circle 2482"/>
          <p:cNvSpPr/>
          <p:nvPr/>
        </p:nvSpPr>
        <p:spPr>
          <a:xfrm>
            <a:off x="4521098" y="1664208"/>
            <a:ext cx="475488" cy="475488"/>
          </a:xfrm>
          <a:prstGeom prst="ellipse">
            <a:avLst/>
          </a:prstGeom>
          <a:solidFill>
            <a:schemeClr val="accent3"/>
          </a:solidFill>
          <a:ln/>
        </p:spPr>
      </p:sp>
      <p:pic>
        <p:nvPicPr>
          <p:cNvPr id="11" name="Icon FaBan 2483"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2484"/>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Non-intervention</a:t>
            </a:r>
            <a:endParaRPr lang="en-US" sz="1700" dirty="0"/>
          </a:p>
        </p:txBody>
      </p:sp>
      <p:sp>
        <p:nvSpPr>
          <p:cNvPr id="13" name="Text 2485"/>
          <p:cNvSpPr txBox="1"/>
          <p:nvPr/>
        </p:nvSpPr>
        <p:spPr>
          <a:xfrm>
            <a:off x="4521098" y="2249424"/>
            <a:ext cx="3149498" cy="1929384"/>
          </a:xfrm>
          <a:prstGeom prst="rect">
            <a:avLst/>
          </a:prstGeom>
          <a:noFill/>
          <a:ln/>
        </p:spPr>
        <p:txBody>
          <a:bodyPr wrap="square" lIns="0" tIns="0" rIns="0" bIns="0" rtlCol="0" anchor="t"/>
          <a:lstStyle/>
          <a:p>
            <a:pPr algn="l" marL="190500" indent="-190500">
              <a:spcAft>
                <a:spcPts val="500"/>
              </a:spcAft>
              <a:buSzPct val="100000"/>
              <a:buChar char="•"/>
            </a:pPr>
            <a:r>
              <a:rPr lang="en-US" sz="1800" dirty="0">
                <a:solidFill>
                  <a:schemeClr val="tx1"/>
                </a:solidFill>
              </a:rPr>
              <a:t>Britain and France set up a Non-Intervention Committee (1936)</a:t>
            </a:r>
            <a:endParaRPr lang="en-US" sz="1800" dirty="0"/>
          </a:p>
          <a:p>
            <a:pPr algn="l" marL="190500" indent="-190500">
              <a:spcAft>
                <a:spcPts val="500"/>
              </a:spcAft>
              <a:buSzPct val="100000"/>
              <a:buChar char="•"/>
            </a:pPr>
            <a:r>
              <a:rPr lang="en-US" sz="1800" dirty="0">
                <a:solidFill>
                  <a:schemeClr val="tx1"/>
                </a:solidFill>
              </a:rPr>
              <a:t>Germany and Italy joined — and ignored it</a:t>
            </a:r>
            <a:endParaRPr lang="en-US" sz="1800" dirty="0"/>
          </a:p>
          <a:p>
            <a:pPr algn="l" marL="190500" indent="-190500">
              <a:spcAft>
                <a:spcPts val="500"/>
              </a:spcAft>
              <a:buSzPct val="100000"/>
              <a:buChar char="•"/>
            </a:pPr>
            <a:r>
              <a:rPr lang="en-US" sz="1800" dirty="0">
                <a:solidFill>
                  <a:schemeClr val="tx1"/>
                </a:solidFill>
              </a:rPr>
              <a:t>USA: neutral</a:t>
            </a:r>
            <a:endParaRPr lang="en-US" sz="1800" dirty="0"/>
          </a:p>
        </p:txBody>
      </p:sp>
      <p:sp>
        <p:nvSpPr>
          <p:cNvPr id="14" name="Card 2486"/>
          <p:cNvSpPr/>
          <p:nvPr/>
        </p:nvSpPr>
        <p:spPr>
          <a:xfrm>
            <a:off x="8127797" y="1481328"/>
            <a:ext cx="3515258" cy="2880360"/>
          </a:xfrm>
          <a:prstGeom prst="roundRect">
            <a:avLst>
              <a:gd name="adj" fmla="val 3175"/>
            </a:avLst>
          </a:prstGeom>
          <a:solidFill>
            <a:schemeClr val="accent3">
              <a:alpha val="10000"/>
            </a:schemeClr>
          </a:solidFill>
          <a:ln/>
        </p:spPr>
      </p:sp>
      <p:sp>
        <p:nvSpPr>
          <p:cNvPr id="15" name="Icon circle 2487"/>
          <p:cNvSpPr/>
          <p:nvPr/>
        </p:nvSpPr>
        <p:spPr>
          <a:xfrm>
            <a:off x="8310677" y="1664208"/>
            <a:ext cx="475488" cy="475488"/>
          </a:xfrm>
          <a:prstGeom prst="ellipse">
            <a:avLst/>
          </a:prstGeom>
          <a:solidFill>
            <a:schemeClr val="accent3"/>
          </a:solidFill>
          <a:ln/>
        </p:spPr>
      </p:sp>
      <p:pic>
        <p:nvPicPr>
          <p:cNvPr id="16" name="Icon FaHandFist 2488"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2489"/>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Helped the Republic</a:t>
            </a:r>
            <a:endParaRPr lang="en-US" sz="1700" dirty="0"/>
          </a:p>
        </p:txBody>
      </p:sp>
      <p:sp>
        <p:nvSpPr>
          <p:cNvPr id="18" name="Text 2490"/>
          <p:cNvSpPr txBox="1"/>
          <p:nvPr/>
        </p:nvSpPr>
        <p:spPr>
          <a:xfrm>
            <a:off x="8310677" y="2249424"/>
            <a:ext cx="3149498" cy="1929384"/>
          </a:xfrm>
          <a:prstGeom prst="rect">
            <a:avLst/>
          </a:prstGeom>
          <a:noFill/>
          <a:ln/>
        </p:spPr>
        <p:txBody>
          <a:bodyPr wrap="square" lIns="0" tIns="0" rIns="0" bIns="0" rtlCol="0" anchor="t"/>
          <a:lstStyle/>
          <a:p>
            <a:pPr algn="l" marL="190500" indent="-190500">
              <a:spcAft>
                <a:spcPts val="500"/>
              </a:spcAft>
              <a:buSzPct val="100000"/>
              <a:buChar char="•"/>
            </a:pPr>
            <a:r>
              <a:rPr lang="en-US" sz="1800" b="1" dirty="0">
                <a:solidFill>
                  <a:schemeClr val="tx1"/>
                </a:solidFill>
              </a:rPr>
              <a:t>USSR:</a:t>
            </a:r>
            <a:r>
              <a:rPr lang="en-US" sz="1800" dirty="0">
                <a:solidFill>
                  <a:schemeClr val="tx1"/>
                </a:solidFill>
              </a:rPr>
              <a:t> tanks, aircraft and advisers, paid for with Spanish gold</a:t>
            </a:r>
            <a:endParaRPr lang="en-US" sz="1800" dirty="0"/>
          </a:p>
          <a:p>
            <a:pPr algn="l" marL="190500" indent="-190500">
              <a:spcAft>
                <a:spcPts val="500"/>
              </a:spcAft>
              <a:buSzPct val="100000"/>
              <a:buChar char="•"/>
            </a:pPr>
            <a:r>
              <a:rPr lang="en-US" sz="1800" b="1" dirty="0">
                <a:solidFill>
                  <a:schemeClr val="tx1"/>
                </a:solidFill>
              </a:rPr>
              <a:t>International Brigades:</a:t>
            </a:r>
            <a:r>
              <a:rPr lang="en-US" sz="1800" dirty="0">
                <a:solidFill>
                  <a:schemeClr val="tx1"/>
                </a:solidFill>
              </a:rPr>
              <a:t> volunteers organised by the Comintern</a:t>
            </a:r>
            <a:endParaRPr lang="en-US" sz="1800" dirty="0"/>
          </a:p>
        </p:txBody>
      </p:sp>
      <p:sp>
        <p:nvSpPr>
          <p:cNvPr id="19" name="Text 2491"/>
          <p:cNvSpPr txBox="1"/>
          <p:nvPr/>
        </p:nvSpPr>
        <p:spPr>
          <a:xfrm>
            <a:off x="548640" y="4636008"/>
            <a:ext cx="11094415" cy="365760"/>
          </a:xfrm>
          <a:prstGeom prst="rect">
            <a:avLst/>
          </a:prstGeom>
          <a:noFill/>
          <a:ln/>
        </p:spPr>
        <p:txBody>
          <a:bodyPr wrap="square" lIns="0" tIns="0" rIns="0" bIns="0" rtlCol="0" anchor="t"/>
          <a:lstStyle/>
          <a:p>
            <a:pPr algn="l" indent="0" marL="0">
              <a:spcAft>
                <a:spcPts val="600"/>
              </a:spcAft>
              <a:buNone/>
            </a:pPr>
            <a:r>
              <a:rPr lang="en-US" sz="1700" b="1" dirty="0">
                <a:solidFill>
                  <a:schemeClr val="accent3"/>
                </a:solidFill>
              </a:rPr>
              <a:t>Impact on international relations</a:t>
            </a:r>
            <a:endParaRPr lang="en-US" sz="1700" dirty="0"/>
          </a:p>
        </p:txBody>
      </p:sp>
      <p:sp>
        <p:nvSpPr>
          <p:cNvPr id="20" name="Impact 2492"/>
          <p:cNvSpPr/>
          <p:nvPr/>
        </p:nvSpPr>
        <p:spPr>
          <a:xfrm>
            <a:off x="548640" y="5093208"/>
            <a:ext cx="2567864" cy="1170432"/>
          </a:xfrm>
          <a:prstGeom prst="roundRect">
            <a:avLst>
              <a:gd name="adj" fmla="val 6250"/>
            </a:avLst>
          </a:prstGeom>
          <a:solidFill>
            <a:schemeClr val="accent3">
              <a:alpha val="9000"/>
            </a:schemeClr>
          </a:solidFill>
          <a:ln/>
        </p:spPr>
      </p:sp>
      <p:sp>
        <p:nvSpPr>
          <p:cNvPr id="21" name="Text 2493"/>
          <p:cNvSpPr txBox="1"/>
          <p:nvPr/>
        </p:nvSpPr>
        <p:spPr>
          <a:xfrm>
            <a:off x="713232" y="5138928"/>
            <a:ext cx="2238680" cy="1078992"/>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Brought Hitler and Mussolini together (Axis, 1936)</a:t>
            </a:r>
            <a:endParaRPr lang="en-US" sz="1500" dirty="0"/>
          </a:p>
        </p:txBody>
      </p:sp>
      <p:sp>
        <p:nvSpPr>
          <p:cNvPr id="22" name="Impact 2494"/>
          <p:cNvSpPr/>
          <p:nvPr/>
        </p:nvSpPr>
        <p:spPr>
          <a:xfrm>
            <a:off x="3390824" y="5093208"/>
            <a:ext cx="2567864" cy="1170432"/>
          </a:xfrm>
          <a:prstGeom prst="roundRect">
            <a:avLst>
              <a:gd name="adj" fmla="val 6250"/>
            </a:avLst>
          </a:prstGeom>
          <a:solidFill>
            <a:schemeClr val="accent3">
              <a:alpha val="9000"/>
            </a:schemeClr>
          </a:solidFill>
          <a:ln/>
        </p:spPr>
      </p:sp>
      <p:sp>
        <p:nvSpPr>
          <p:cNvPr id="23" name="Text 2495"/>
          <p:cNvSpPr txBox="1"/>
          <p:nvPr/>
        </p:nvSpPr>
        <p:spPr>
          <a:xfrm>
            <a:off x="3555416" y="5138928"/>
            <a:ext cx="2238680" cy="1078992"/>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Showed the democracies were weak</a:t>
            </a:r>
            <a:endParaRPr lang="en-US" sz="1500" dirty="0"/>
          </a:p>
        </p:txBody>
      </p:sp>
      <p:sp>
        <p:nvSpPr>
          <p:cNvPr id="24" name="Impact 2496"/>
          <p:cNvSpPr/>
          <p:nvPr/>
        </p:nvSpPr>
        <p:spPr>
          <a:xfrm>
            <a:off x="6233008" y="5093208"/>
            <a:ext cx="2567864" cy="1170432"/>
          </a:xfrm>
          <a:prstGeom prst="roundRect">
            <a:avLst>
              <a:gd name="adj" fmla="val 6250"/>
            </a:avLst>
          </a:prstGeom>
          <a:solidFill>
            <a:schemeClr val="accent3">
              <a:alpha val="9000"/>
            </a:schemeClr>
          </a:solidFill>
          <a:ln/>
        </p:spPr>
      </p:sp>
      <p:sp>
        <p:nvSpPr>
          <p:cNvPr id="25" name="Text 2497"/>
          <p:cNvSpPr txBox="1"/>
          <p:nvPr/>
        </p:nvSpPr>
        <p:spPr>
          <a:xfrm>
            <a:off x="6397600" y="5138928"/>
            <a:ext cx="2238680" cy="1078992"/>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Deepened Soviet distrust of Britain and France</a:t>
            </a:r>
            <a:endParaRPr lang="en-US" sz="1500" dirty="0"/>
          </a:p>
        </p:txBody>
      </p:sp>
      <p:sp>
        <p:nvSpPr>
          <p:cNvPr id="26" name="Impact 2498"/>
          <p:cNvSpPr/>
          <p:nvPr/>
        </p:nvSpPr>
        <p:spPr>
          <a:xfrm>
            <a:off x="9075191" y="5093208"/>
            <a:ext cx="2567864" cy="1170432"/>
          </a:xfrm>
          <a:prstGeom prst="roundRect">
            <a:avLst>
              <a:gd name="adj" fmla="val 6250"/>
            </a:avLst>
          </a:prstGeom>
          <a:solidFill>
            <a:schemeClr val="accent3">
              <a:alpha val="9000"/>
            </a:schemeClr>
          </a:solidFill>
          <a:ln/>
        </p:spPr>
      </p:sp>
      <p:sp>
        <p:nvSpPr>
          <p:cNvPr id="27" name="Text 2499"/>
          <p:cNvSpPr txBox="1"/>
          <p:nvPr/>
        </p:nvSpPr>
        <p:spPr>
          <a:xfrm>
            <a:off x="9239783" y="5138928"/>
            <a:ext cx="2238680" cy="1078992"/>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 'dress rehearsal' for the bombing of cities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Kicker 2500"/>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KQ3 · ANSCHLUSS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Anschluss, March 1938</a:t>
            </a:r>
            <a:endParaRPr lang="en-US" sz="3400" dirty="0"/>
          </a:p>
        </p:txBody>
      </p:sp>
      <p:sp>
        <p:nvSpPr>
          <p:cNvPr id="4" name="Step 2501"/>
          <p:cNvSpPr/>
          <p:nvPr/>
        </p:nvSpPr>
        <p:spPr>
          <a:xfrm>
            <a:off x="548640" y="1481328"/>
            <a:ext cx="1984797" cy="3794760"/>
          </a:xfrm>
          <a:prstGeom prst="roundRect">
            <a:avLst>
              <a:gd name="adj" fmla="val 4607"/>
            </a:avLst>
          </a:prstGeom>
          <a:solidFill>
            <a:schemeClr val="accent3">
              <a:alpha val="10000"/>
            </a:schemeClr>
          </a:solidFill>
          <a:ln/>
        </p:spPr>
      </p:sp>
      <p:sp>
        <p:nvSpPr>
          <p:cNvPr id="5" name="Step number 2502"/>
          <p:cNvSpPr/>
          <p:nvPr/>
        </p:nvSpPr>
        <p:spPr>
          <a:xfrm>
            <a:off x="713232" y="1645920"/>
            <a:ext cx="420624" cy="420624"/>
          </a:xfrm>
          <a:prstGeom prst="ellipse">
            <a:avLst/>
          </a:prstGeom>
          <a:solidFill>
            <a:schemeClr val="accent3"/>
          </a:solidFill>
          <a:ln/>
        </p:spPr>
      </p:sp>
      <p:sp>
        <p:nvSpPr>
          <p:cNvPr id="6" name="Text 2503"/>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1934</a:t>
            </a:r>
            <a:endParaRPr lang="en-US" sz="1100" dirty="0"/>
          </a:p>
        </p:txBody>
      </p:sp>
      <p:sp>
        <p:nvSpPr>
          <p:cNvPr id="7" name="Text 2504"/>
          <p:cNvSpPr txBox="1"/>
          <p:nvPr/>
        </p:nvSpPr>
        <p:spPr>
          <a:xfrm>
            <a:off x="1243584" y="1645920"/>
            <a:ext cx="1161837" cy="465087"/>
          </a:xfrm>
          <a:prstGeom prst="rect">
            <a:avLst/>
          </a:prstGeom>
          <a:noFill/>
          <a:ln/>
        </p:spPr>
        <p:txBody>
          <a:bodyPr wrap="square" lIns="0" tIns="0" rIns="0" bIns="0" rtlCol="0" anchor="t"/>
          <a:lstStyle/>
          <a:p>
            <a:pPr algn="l" indent="0" marL="0">
              <a:spcAft>
                <a:spcPts val="600"/>
              </a:spcAft>
              <a:buNone/>
            </a:pPr>
            <a:r>
              <a:rPr lang="en-US" sz="1500" b="1" dirty="0">
                <a:solidFill>
                  <a:schemeClr val="tx2"/>
                </a:solidFill>
              </a:rPr>
              <a:t>First attempt fails</a:t>
            </a:r>
            <a:endParaRPr lang="en-US" sz="1500" dirty="0"/>
          </a:p>
        </p:txBody>
      </p:sp>
      <p:sp>
        <p:nvSpPr>
          <p:cNvPr id="8" name="Text 2505"/>
          <p:cNvSpPr txBox="1"/>
          <p:nvPr/>
        </p:nvSpPr>
        <p:spPr>
          <a:xfrm>
            <a:off x="713232" y="2220735"/>
            <a:ext cx="1655613" cy="2918193"/>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Austrian Nazis murdered Dollfuss; Mussolini sent troops to the Brenner Pass.</a:t>
            </a:r>
            <a:endParaRPr lang="en-US" sz="1800" dirty="0"/>
          </a:p>
        </p:txBody>
      </p:sp>
      <p:sp>
        <p:nvSpPr>
          <p:cNvPr id="9" name="Arrow 2506"/>
          <p:cNvSpPr/>
          <p:nvPr/>
        </p:nvSpPr>
        <p:spPr>
          <a:xfrm>
            <a:off x="2597445" y="3232404"/>
            <a:ext cx="164592" cy="292608"/>
          </a:xfrm>
          <a:prstGeom prst="chevron">
            <a:avLst/>
          </a:prstGeom>
          <a:solidFill>
            <a:schemeClr val="accent3"/>
          </a:solidFill>
          <a:ln/>
        </p:spPr>
      </p:sp>
      <p:sp>
        <p:nvSpPr>
          <p:cNvPr id="10" name="Step 2507"/>
          <p:cNvSpPr/>
          <p:nvPr/>
        </p:nvSpPr>
        <p:spPr>
          <a:xfrm>
            <a:off x="2826045" y="1481328"/>
            <a:ext cx="1984797" cy="3794760"/>
          </a:xfrm>
          <a:prstGeom prst="roundRect">
            <a:avLst>
              <a:gd name="adj" fmla="val 4607"/>
            </a:avLst>
          </a:prstGeom>
          <a:solidFill>
            <a:schemeClr val="accent3">
              <a:alpha val="10000"/>
            </a:schemeClr>
          </a:solidFill>
          <a:ln/>
        </p:spPr>
      </p:sp>
      <p:sp>
        <p:nvSpPr>
          <p:cNvPr id="11" name="Step number 2508"/>
          <p:cNvSpPr/>
          <p:nvPr/>
        </p:nvSpPr>
        <p:spPr>
          <a:xfrm>
            <a:off x="2990637" y="1645920"/>
            <a:ext cx="420624" cy="420624"/>
          </a:xfrm>
          <a:prstGeom prst="ellipse">
            <a:avLst/>
          </a:prstGeom>
          <a:solidFill>
            <a:schemeClr val="accent3"/>
          </a:solidFill>
          <a:ln/>
        </p:spPr>
      </p:sp>
      <p:sp>
        <p:nvSpPr>
          <p:cNvPr id="12" name="Text 2509"/>
          <p:cNvSpPr txBox="1"/>
          <p:nvPr/>
        </p:nvSpPr>
        <p:spPr>
          <a:xfrm>
            <a:off x="2990637"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1936</a:t>
            </a:r>
            <a:endParaRPr lang="en-US" sz="1100" dirty="0"/>
          </a:p>
        </p:txBody>
      </p:sp>
      <p:sp>
        <p:nvSpPr>
          <p:cNvPr id="13" name="Text 2510"/>
          <p:cNvSpPr txBox="1"/>
          <p:nvPr/>
        </p:nvSpPr>
        <p:spPr>
          <a:xfrm>
            <a:off x="3520989"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Italy drifts</a:t>
            </a:r>
            <a:endParaRPr lang="en-US" sz="1500" dirty="0"/>
          </a:p>
        </p:txBody>
      </p:sp>
      <p:sp>
        <p:nvSpPr>
          <p:cNvPr id="14" name="Text 2511"/>
          <p:cNvSpPr txBox="1"/>
          <p:nvPr/>
        </p:nvSpPr>
        <p:spPr>
          <a:xfrm>
            <a:off x="2990637"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Axis: Mussolini no longer protects Austria.</a:t>
            </a:r>
            <a:endParaRPr lang="en-US" sz="1800" dirty="0"/>
          </a:p>
        </p:txBody>
      </p:sp>
      <p:sp>
        <p:nvSpPr>
          <p:cNvPr id="15" name="Arrow 2512"/>
          <p:cNvSpPr/>
          <p:nvPr/>
        </p:nvSpPr>
        <p:spPr>
          <a:xfrm>
            <a:off x="4874849" y="3232404"/>
            <a:ext cx="164592" cy="292608"/>
          </a:xfrm>
          <a:prstGeom prst="chevron">
            <a:avLst/>
          </a:prstGeom>
          <a:solidFill>
            <a:schemeClr val="accent3"/>
          </a:solidFill>
          <a:ln/>
        </p:spPr>
      </p:sp>
      <p:sp>
        <p:nvSpPr>
          <p:cNvPr id="16" name="Step 2513"/>
          <p:cNvSpPr/>
          <p:nvPr/>
        </p:nvSpPr>
        <p:spPr>
          <a:xfrm>
            <a:off x="5103449" y="1481328"/>
            <a:ext cx="1984797" cy="3794760"/>
          </a:xfrm>
          <a:prstGeom prst="roundRect">
            <a:avLst>
              <a:gd name="adj" fmla="val 4607"/>
            </a:avLst>
          </a:prstGeom>
          <a:solidFill>
            <a:schemeClr val="accent3">
              <a:alpha val="10000"/>
            </a:schemeClr>
          </a:solidFill>
          <a:ln/>
        </p:spPr>
      </p:sp>
      <p:sp>
        <p:nvSpPr>
          <p:cNvPr id="17" name="Step number 2514"/>
          <p:cNvSpPr/>
          <p:nvPr/>
        </p:nvSpPr>
        <p:spPr>
          <a:xfrm>
            <a:off x="5268041" y="1645920"/>
            <a:ext cx="420624" cy="420624"/>
          </a:xfrm>
          <a:prstGeom prst="ellipse">
            <a:avLst/>
          </a:prstGeom>
          <a:solidFill>
            <a:schemeClr val="accent3"/>
          </a:solidFill>
          <a:ln/>
        </p:spPr>
      </p:sp>
      <p:sp>
        <p:nvSpPr>
          <p:cNvPr id="18" name="Text 2515"/>
          <p:cNvSpPr txBox="1"/>
          <p:nvPr/>
        </p:nvSpPr>
        <p:spPr>
          <a:xfrm>
            <a:off x="5268041"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Feb 38</a:t>
            </a:r>
            <a:endParaRPr lang="en-US" sz="1100" dirty="0"/>
          </a:p>
        </p:txBody>
      </p:sp>
      <p:sp>
        <p:nvSpPr>
          <p:cNvPr id="19" name="Text 2516"/>
          <p:cNvSpPr txBox="1"/>
          <p:nvPr/>
        </p:nvSpPr>
        <p:spPr>
          <a:xfrm>
            <a:off x="5798393"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Bullying</a:t>
            </a:r>
            <a:endParaRPr lang="en-US" sz="1500" dirty="0"/>
          </a:p>
        </p:txBody>
      </p:sp>
      <p:sp>
        <p:nvSpPr>
          <p:cNvPr id="20" name="Text 2517"/>
          <p:cNvSpPr txBox="1"/>
          <p:nvPr/>
        </p:nvSpPr>
        <p:spPr>
          <a:xfrm>
            <a:off x="5268041"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Hitler forced Schuschnigg to put Nazis in his government.</a:t>
            </a:r>
            <a:endParaRPr lang="en-US" sz="1800" dirty="0"/>
          </a:p>
        </p:txBody>
      </p:sp>
      <p:sp>
        <p:nvSpPr>
          <p:cNvPr id="21" name="Arrow 2518"/>
          <p:cNvSpPr/>
          <p:nvPr/>
        </p:nvSpPr>
        <p:spPr>
          <a:xfrm>
            <a:off x="7152254" y="3232404"/>
            <a:ext cx="164592" cy="292608"/>
          </a:xfrm>
          <a:prstGeom prst="chevron">
            <a:avLst/>
          </a:prstGeom>
          <a:solidFill>
            <a:schemeClr val="accent3"/>
          </a:solidFill>
          <a:ln/>
        </p:spPr>
      </p:sp>
      <p:sp>
        <p:nvSpPr>
          <p:cNvPr id="22" name="Step 2519"/>
          <p:cNvSpPr/>
          <p:nvPr/>
        </p:nvSpPr>
        <p:spPr>
          <a:xfrm>
            <a:off x="7380854" y="1481328"/>
            <a:ext cx="1984797" cy="3794760"/>
          </a:xfrm>
          <a:prstGeom prst="roundRect">
            <a:avLst>
              <a:gd name="adj" fmla="val 4607"/>
            </a:avLst>
          </a:prstGeom>
          <a:solidFill>
            <a:schemeClr val="accent3">
              <a:alpha val="10000"/>
            </a:schemeClr>
          </a:solidFill>
          <a:ln/>
        </p:spPr>
      </p:sp>
      <p:sp>
        <p:nvSpPr>
          <p:cNvPr id="23" name="Step number 2520"/>
          <p:cNvSpPr/>
          <p:nvPr/>
        </p:nvSpPr>
        <p:spPr>
          <a:xfrm>
            <a:off x="7545446" y="1645920"/>
            <a:ext cx="420624" cy="420624"/>
          </a:xfrm>
          <a:prstGeom prst="ellipse">
            <a:avLst/>
          </a:prstGeom>
          <a:solidFill>
            <a:schemeClr val="accent3"/>
          </a:solidFill>
          <a:ln/>
        </p:spPr>
      </p:sp>
      <p:sp>
        <p:nvSpPr>
          <p:cNvPr id="24" name="Text 2521"/>
          <p:cNvSpPr txBox="1"/>
          <p:nvPr/>
        </p:nvSpPr>
        <p:spPr>
          <a:xfrm>
            <a:off x="7545446"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Mar 38</a:t>
            </a:r>
            <a:endParaRPr lang="en-US" sz="1100" dirty="0"/>
          </a:p>
        </p:txBody>
      </p:sp>
      <p:sp>
        <p:nvSpPr>
          <p:cNvPr id="25" name="Text 2522"/>
          <p:cNvSpPr txBox="1"/>
          <p:nvPr/>
        </p:nvSpPr>
        <p:spPr>
          <a:xfrm>
            <a:off x="8075798"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Invasion</a:t>
            </a:r>
            <a:endParaRPr lang="en-US" sz="1500" dirty="0"/>
          </a:p>
        </p:txBody>
      </p:sp>
      <p:sp>
        <p:nvSpPr>
          <p:cNvPr id="26" name="Text 2523"/>
          <p:cNvSpPr txBox="1"/>
          <p:nvPr/>
        </p:nvSpPr>
        <p:spPr>
          <a:xfrm>
            <a:off x="7545446"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Schuschnigg called a vote; German troops marched in (12 Mar).</a:t>
            </a:r>
            <a:endParaRPr lang="en-US" sz="1800" dirty="0"/>
          </a:p>
        </p:txBody>
      </p:sp>
      <p:sp>
        <p:nvSpPr>
          <p:cNvPr id="27" name="Arrow 2524"/>
          <p:cNvSpPr/>
          <p:nvPr/>
        </p:nvSpPr>
        <p:spPr>
          <a:xfrm>
            <a:off x="9429659" y="3232404"/>
            <a:ext cx="164592" cy="292608"/>
          </a:xfrm>
          <a:prstGeom prst="chevron">
            <a:avLst/>
          </a:prstGeom>
          <a:solidFill>
            <a:schemeClr val="accent3"/>
          </a:solidFill>
          <a:ln/>
        </p:spPr>
      </p:sp>
      <p:sp>
        <p:nvSpPr>
          <p:cNvPr id="28" name="Step 2525"/>
          <p:cNvSpPr/>
          <p:nvPr/>
        </p:nvSpPr>
        <p:spPr>
          <a:xfrm>
            <a:off x="9658259" y="1481328"/>
            <a:ext cx="1984797" cy="3794760"/>
          </a:xfrm>
          <a:prstGeom prst="roundRect">
            <a:avLst>
              <a:gd name="adj" fmla="val 4607"/>
            </a:avLst>
          </a:prstGeom>
          <a:solidFill>
            <a:schemeClr val="accent3">
              <a:alpha val="10000"/>
            </a:schemeClr>
          </a:solidFill>
          <a:ln/>
        </p:spPr>
      </p:sp>
      <p:sp>
        <p:nvSpPr>
          <p:cNvPr id="29" name="Step number 2526"/>
          <p:cNvSpPr/>
          <p:nvPr/>
        </p:nvSpPr>
        <p:spPr>
          <a:xfrm>
            <a:off x="9822851" y="1645920"/>
            <a:ext cx="420624" cy="420624"/>
          </a:xfrm>
          <a:prstGeom prst="ellipse">
            <a:avLst/>
          </a:prstGeom>
          <a:solidFill>
            <a:schemeClr val="accent3"/>
          </a:solidFill>
          <a:ln/>
        </p:spPr>
      </p:sp>
      <p:sp>
        <p:nvSpPr>
          <p:cNvPr id="30" name="Text 2527"/>
          <p:cNvSpPr txBox="1"/>
          <p:nvPr/>
        </p:nvSpPr>
        <p:spPr>
          <a:xfrm>
            <a:off x="9822851"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Apr 38</a:t>
            </a:r>
            <a:endParaRPr lang="en-US" sz="1100" dirty="0"/>
          </a:p>
        </p:txBody>
      </p:sp>
      <p:sp>
        <p:nvSpPr>
          <p:cNvPr id="31" name="Text 2528"/>
          <p:cNvSpPr txBox="1"/>
          <p:nvPr/>
        </p:nvSpPr>
        <p:spPr>
          <a:xfrm>
            <a:off x="10353203" y="1645920"/>
            <a:ext cx="1161837" cy="420624"/>
          </a:xfrm>
          <a:prstGeom prst="rect">
            <a:avLst/>
          </a:prstGeom>
          <a:noFill/>
          <a:ln/>
        </p:spPr>
        <p:txBody>
          <a:bodyPr wrap="square" lIns="0" tIns="0" rIns="0" bIns="0" rtlCol="0" anchor="ctr"/>
          <a:lstStyle/>
          <a:p>
            <a:pPr algn="l" indent="0" marL="0">
              <a:spcAft>
                <a:spcPts val="600"/>
              </a:spcAft>
              <a:buNone/>
            </a:pPr>
            <a:r>
              <a:rPr lang="en-US" sz="1500" b="1" dirty="0">
                <a:solidFill>
                  <a:schemeClr val="tx2"/>
                </a:solidFill>
              </a:rPr>
              <a:t>Plebiscite</a:t>
            </a:r>
            <a:endParaRPr lang="en-US" sz="1500" dirty="0"/>
          </a:p>
        </p:txBody>
      </p:sp>
      <p:sp>
        <p:nvSpPr>
          <p:cNvPr id="32" name="Text 2529"/>
          <p:cNvSpPr txBox="1"/>
          <p:nvPr/>
        </p:nvSpPr>
        <p:spPr>
          <a:xfrm>
            <a:off x="9822851" y="2176272"/>
            <a:ext cx="1655613"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A Nazi-run vote gave 99.7% 'yes'.</a:t>
            </a:r>
            <a:endParaRPr lang="en-US" sz="1800" dirty="0"/>
          </a:p>
        </p:txBody>
      </p:sp>
      <p:sp>
        <p:nvSpPr>
          <p:cNvPr id="33" name="Callout 2530"/>
          <p:cNvSpPr/>
          <p:nvPr/>
        </p:nvSpPr>
        <p:spPr>
          <a:xfrm>
            <a:off x="548640" y="5550408"/>
            <a:ext cx="11094415" cy="713232"/>
          </a:xfrm>
          <a:prstGeom prst="roundRect">
            <a:avLst>
              <a:gd name="adj" fmla="val 12821"/>
            </a:avLst>
          </a:prstGeom>
          <a:solidFill>
            <a:schemeClr val="accent4">
              <a:alpha val="20000"/>
            </a:schemeClr>
          </a:solidFill>
          <a:ln/>
        </p:spPr>
      </p:sp>
      <p:sp>
        <p:nvSpPr>
          <p:cNvPr id="34" name="Callout label 2531"/>
          <p:cNvSpPr/>
          <p:nvPr/>
        </p:nvSpPr>
        <p:spPr>
          <a:xfrm>
            <a:off x="731520" y="5751576"/>
            <a:ext cx="1097794" cy="310896"/>
          </a:xfrm>
          <a:prstGeom prst="roundRect">
            <a:avLst>
              <a:gd name="adj" fmla="val 50000"/>
            </a:avLst>
          </a:prstGeom>
          <a:solidFill>
            <a:schemeClr val="accent4"/>
          </a:solidFill>
          <a:ln/>
        </p:spPr>
      </p:sp>
      <p:sp>
        <p:nvSpPr>
          <p:cNvPr id="35" name="Text 2532"/>
          <p:cNvSpPr txBox="1"/>
          <p:nvPr/>
        </p:nvSpPr>
        <p:spPr>
          <a:xfrm>
            <a:off x="731520" y="5751576"/>
            <a:ext cx="109779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REACTIONS</a:t>
            </a:r>
            <a:endParaRPr lang="en-US" sz="1200" dirty="0"/>
          </a:p>
        </p:txBody>
      </p:sp>
      <p:sp>
        <p:nvSpPr>
          <p:cNvPr id="36" name="Text 2533"/>
          <p:cNvSpPr txBox="1"/>
          <p:nvPr/>
        </p:nvSpPr>
        <p:spPr>
          <a:xfrm>
            <a:off x="2012194" y="5623560"/>
            <a:ext cx="944798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Britain and France only protested; Mussolini accepted it. Versailles was broken again — and Czechoslovakia was now surrounded on three sides.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Kicker 253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KQ3 · MUNICH</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Munich Crisis, 1938</a:t>
            </a:r>
            <a:endParaRPr lang="en-US" sz="3400" dirty="0"/>
          </a:p>
        </p:txBody>
      </p:sp>
      <p:sp>
        <p:nvSpPr>
          <p:cNvPr id="4" name="Step 2535"/>
          <p:cNvSpPr/>
          <p:nvPr/>
        </p:nvSpPr>
        <p:spPr>
          <a:xfrm>
            <a:off x="548640" y="1481328"/>
            <a:ext cx="2485568" cy="3794760"/>
          </a:xfrm>
          <a:prstGeom prst="roundRect">
            <a:avLst>
              <a:gd name="adj" fmla="val 3679"/>
            </a:avLst>
          </a:prstGeom>
          <a:solidFill>
            <a:schemeClr val="accent3">
              <a:alpha val="10000"/>
            </a:schemeClr>
          </a:solidFill>
          <a:ln/>
        </p:spPr>
      </p:sp>
      <p:sp>
        <p:nvSpPr>
          <p:cNvPr id="5" name="Step number 2536"/>
          <p:cNvSpPr/>
          <p:nvPr/>
        </p:nvSpPr>
        <p:spPr>
          <a:xfrm>
            <a:off x="713232" y="1645920"/>
            <a:ext cx="420624" cy="420624"/>
          </a:xfrm>
          <a:prstGeom prst="ellipse">
            <a:avLst/>
          </a:prstGeom>
          <a:solidFill>
            <a:schemeClr val="accent3"/>
          </a:solidFill>
          <a:ln/>
        </p:spPr>
      </p:sp>
      <p:sp>
        <p:nvSpPr>
          <p:cNvPr id="6" name="Text 2537"/>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1938</a:t>
            </a:r>
            <a:endParaRPr lang="en-US" sz="1100" dirty="0"/>
          </a:p>
        </p:txBody>
      </p:sp>
      <p:sp>
        <p:nvSpPr>
          <p:cNvPr id="7" name="Text 2538"/>
          <p:cNvSpPr txBox="1"/>
          <p:nvPr/>
        </p:nvSpPr>
        <p:spPr>
          <a:xfrm>
            <a:off x="1243584"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Sudeten crisis</a:t>
            </a:r>
            <a:endParaRPr lang="en-US" sz="1600" dirty="0"/>
          </a:p>
        </p:txBody>
      </p:sp>
      <p:sp>
        <p:nvSpPr>
          <p:cNvPr id="8" name="Text 2539"/>
          <p:cNvSpPr txBox="1"/>
          <p:nvPr/>
        </p:nvSpPr>
        <p:spPr>
          <a:xfrm>
            <a:off x="713232"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3 million Sudeten Germans; Henlein's party, directed by Hitler, demanded autonomy.</a:t>
            </a:r>
            <a:endParaRPr lang="en-US" sz="1800" dirty="0"/>
          </a:p>
        </p:txBody>
      </p:sp>
      <p:sp>
        <p:nvSpPr>
          <p:cNvPr id="9" name="Arrow 2540"/>
          <p:cNvSpPr/>
          <p:nvPr/>
        </p:nvSpPr>
        <p:spPr>
          <a:xfrm>
            <a:off x="3098216" y="3232404"/>
            <a:ext cx="256032" cy="292608"/>
          </a:xfrm>
          <a:prstGeom prst="chevron">
            <a:avLst/>
          </a:prstGeom>
          <a:solidFill>
            <a:schemeClr val="accent3"/>
          </a:solidFill>
          <a:ln/>
        </p:spPr>
      </p:sp>
      <p:sp>
        <p:nvSpPr>
          <p:cNvPr id="10" name="Step 2541"/>
          <p:cNvSpPr/>
          <p:nvPr/>
        </p:nvSpPr>
        <p:spPr>
          <a:xfrm>
            <a:off x="3418256" y="1481328"/>
            <a:ext cx="2485568" cy="3794760"/>
          </a:xfrm>
          <a:prstGeom prst="roundRect">
            <a:avLst>
              <a:gd name="adj" fmla="val 3679"/>
            </a:avLst>
          </a:prstGeom>
          <a:solidFill>
            <a:schemeClr val="accent3">
              <a:alpha val="10000"/>
            </a:schemeClr>
          </a:solidFill>
          <a:ln/>
        </p:spPr>
      </p:sp>
      <p:sp>
        <p:nvSpPr>
          <p:cNvPr id="11" name="Step number 2542"/>
          <p:cNvSpPr/>
          <p:nvPr/>
        </p:nvSpPr>
        <p:spPr>
          <a:xfrm>
            <a:off x="3582848" y="1645920"/>
            <a:ext cx="420624" cy="420624"/>
          </a:xfrm>
          <a:prstGeom prst="ellipse">
            <a:avLst/>
          </a:prstGeom>
          <a:solidFill>
            <a:schemeClr val="accent3"/>
          </a:solidFill>
          <a:ln/>
        </p:spPr>
      </p:sp>
      <p:sp>
        <p:nvSpPr>
          <p:cNvPr id="12" name="Text 2543"/>
          <p:cNvSpPr txBox="1"/>
          <p:nvPr/>
        </p:nvSpPr>
        <p:spPr>
          <a:xfrm>
            <a:off x="3582848"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15 Sept</a:t>
            </a:r>
            <a:endParaRPr lang="en-US" sz="1100" dirty="0"/>
          </a:p>
        </p:txBody>
      </p:sp>
      <p:sp>
        <p:nvSpPr>
          <p:cNvPr id="13" name="Text 2544"/>
          <p:cNvSpPr txBox="1"/>
          <p:nvPr/>
        </p:nvSpPr>
        <p:spPr>
          <a:xfrm>
            <a:off x="4113200"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Berchtesgaden</a:t>
            </a:r>
            <a:endParaRPr lang="en-US" sz="1600" dirty="0"/>
          </a:p>
        </p:txBody>
      </p:sp>
      <p:sp>
        <p:nvSpPr>
          <p:cNvPr id="14" name="Text 2545"/>
          <p:cNvSpPr txBox="1"/>
          <p:nvPr/>
        </p:nvSpPr>
        <p:spPr>
          <a:xfrm>
            <a:off x="3582848"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Chamberlain agreed: areas over 50% German would go to Germany.</a:t>
            </a:r>
            <a:endParaRPr lang="en-US" sz="1800" dirty="0"/>
          </a:p>
        </p:txBody>
      </p:sp>
      <p:sp>
        <p:nvSpPr>
          <p:cNvPr id="15" name="Arrow 2546"/>
          <p:cNvSpPr/>
          <p:nvPr/>
        </p:nvSpPr>
        <p:spPr>
          <a:xfrm>
            <a:off x="5967832" y="3232404"/>
            <a:ext cx="256032" cy="292608"/>
          </a:xfrm>
          <a:prstGeom prst="chevron">
            <a:avLst/>
          </a:prstGeom>
          <a:solidFill>
            <a:schemeClr val="accent3"/>
          </a:solidFill>
          <a:ln/>
        </p:spPr>
      </p:sp>
      <p:sp>
        <p:nvSpPr>
          <p:cNvPr id="16" name="Step 2547"/>
          <p:cNvSpPr/>
          <p:nvPr/>
        </p:nvSpPr>
        <p:spPr>
          <a:xfrm>
            <a:off x="6287872" y="1481328"/>
            <a:ext cx="2485568" cy="3794760"/>
          </a:xfrm>
          <a:prstGeom prst="roundRect">
            <a:avLst>
              <a:gd name="adj" fmla="val 3679"/>
            </a:avLst>
          </a:prstGeom>
          <a:solidFill>
            <a:schemeClr val="accent3">
              <a:alpha val="10000"/>
            </a:schemeClr>
          </a:solidFill>
          <a:ln/>
        </p:spPr>
      </p:sp>
      <p:sp>
        <p:nvSpPr>
          <p:cNvPr id="17" name="Step number 2548"/>
          <p:cNvSpPr/>
          <p:nvPr/>
        </p:nvSpPr>
        <p:spPr>
          <a:xfrm>
            <a:off x="6452464" y="1645920"/>
            <a:ext cx="420624" cy="420624"/>
          </a:xfrm>
          <a:prstGeom prst="ellipse">
            <a:avLst/>
          </a:prstGeom>
          <a:solidFill>
            <a:schemeClr val="accent3"/>
          </a:solidFill>
          <a:ln/>
        </p:spPr>
      </p:sp>
      <p:sp>
        <p:nvSpPr>
          <p:cNvPr id="18" name="Text 2549"/>
          <p:cNvSpPr txBox="1"/>
          <p:nvPr/>
        </p:nvSpPr>
        <p:spPr>
          <a:xfrm>
            <a:off x="6452464"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22 Sept</a:t>
            </a:r>
            <a:endParaRPr lang="en-US" sz="1100" dirty="0"/>
          </a:p>
        </p:txBody>
      </p:sp>
      <p:sp>
        <p:nvSpPr>
          <p:cNvPr id="19" name="Text 2550"/>
          <p:cNvSpPr txBox="1"/>
          <p:nvPr/>
        </p:nvSpPr>
        <p:spPr>
          <a:xfrm>
            <a:off x="6982816"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Bad Godesberg</a:t>
            </a:r>
            <a:endParaRPr lang="en-US" sz="1600" dirty="0"/>
          </a:p>
        </p:txBody>
      </p:sp>
      <p:sp>
        <p:nvSpPr>
          <p:cNvPr id="20" name="Text 2551"/>
          <p:cNvSpPr txBox="1"/>
          <p:nvPr/>
        </p:nvSpPr>
        <p:spPr>
          <a:xfrm>
            <a:off x="6452464"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Hitler demanded immediate occupation. Europe prepared for war.</a:t>
            </a:r>
            <a:endParaRPr lang="en-US" sz="1800" dirty="0"/>
          </a:p>
        </p:txBody>
      </p:sp>
      <p:sp>
        <p:nvSpPr>
          <p:cNvPr id="21" name="Arrow 2552"/>
          <p:cNvSpPr/>
          <p:nvPr/>
        </p:nvSpPr>
        <p:spPr>
          <a:xfrm>
            <a:off x="8837447" y="3232404"/>
            <a:ext cx="256032" cy="292608"/>
          </a:xfrm>
          <a:prstGeom prst="chevron">
            <a:avLst/>
          </a:prstGeom>
          <a:solidFill>
            <a:schemeClr val="accent3"/>
          </a:solidFill>
          <a:ln/>
        </p:spPr>
      </p:sp>
      <p:sp>
        <p:nvSpPr>
          <p:cNvPr id="22" name="Step 2553"/>
          <p:cNvSpPr/>
          <p:nvPr/>
        </p:nvSpPr>
        <p:spPr>
          <a:xfrm>
            <a:off x="9157487" y="1481328"/>
            <a:ext cx="2485568" cy="3794760"/>
          </a:xfrm>
          <a:prstGeom prst="roundRect">
            <a:avLst>
              <a:gd name="adj" fmla="val 3679"/>
            </a:avLst>
          </a:prstGeom>
          <a:solidFill>
            <a:schemeClr val="accent3">
              <a:alpha val="10000"/>
            </a:schemeClr>
          </a:solidFill>
          <a:ln/>
        </p:spPr>
      </p:sp>
      <p:sp>
        <p:nvSpPr>
          <p:cNvPr id="23" name="Step number 2554"/>
          <p:cNvSpPr/>
          <p:nvPr/>
        </p:nvSpPr>
        <p:spPr>
          <a:xfrm>
            <a:off x="9322079" y="1645920"/>
            <a:ext cx="420624" cy="420624"/>
          </a:xfrm>
          <a:prstGeom prst="ellipse">
            <a:avLst/>
          </a:prstGeom>
          <a:solidFill>
            <a:schemeClr val="accent3"/>
          </a:solidFill>
          <a:ln/>
        </p:spPr>
      </p:sp>
      <p:sp>
        <p:nvSpPr>
          <p:cNvPr id="24" name="Text 2555"/>
          <p:cNvSpPr txBox="1"/>
          <p:nvPr/>
        </p:nvSpPr>
        <p:spPr>
          <a:xfrm>
            <a:off x="9322079" y="1645920"/>
            <a:ext cx="420624" cy="420624"/>
          </a:xfrm>
          <a:prstGeom prst="rect">
            <a:avLst/>
          </a:prstGeom>
          <a:noFill/>
          <a:ln/>
        </p:spPr>
        <p:txBody>
          <a:bodyPr wrap="square" lIns="0" tIns="0" rIns="0" bIns="0" rtlCol="0" anchor="ctr"/>
          <a:lstStyle/>
          <a:p>
            <a:pPr algn="ctr" indent="0" marL="0">
              <a:spcAft>
                <a:spcPts val="600"/>
              </a:spcAft>
              <a:buNone/>
            </a:pPr>
            <a:r>
              <a:rPr lang="en-US" sz="1100" b="1" dirty="0">
                <a:solidFill>
                  <a:schemeClr val="bg1"/>
                </a:solidFill>
              </a:rPr>
              <a:t>29–30 Sept</a:t>
            </a:r>
            <a:endParaRPr lang="en-US" sz="1100" dirty="0"/>
          </a:p>
        </p:txBody>
      </p:sp>
      <p:sp>
        <p:nvSpPr>
          <p:cNvPr id="25" name="Text 2556"/>
          <p:cNvSpPr txBox="1"/>
          <p:nvPr/>
        </p:nvSpPr>
        <p:spPr>
          <a:xfrm>
            <a:off x="9852431"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Munich</a:t>
            </a:r>
            <a:endParaRPr lang="en-US" sz="1600" dirty="0"/>
          </a:p>
        </p:txBody>
      </p:sp>
      <p:sp>
        <p:nvSpPr>
          <p:cNvPr id="26" name="Text 2557"/>
          <p:cNvSpPr txBox="1"/>
          <p:nvPr/>
        </p:nvSpPr>
        <p:spPr>
          <a:xfrm>
            <a:off x="9322079"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Hitler, Chamberlain, Daladier, Mussolini. No Czechs, no Soviets. Sudetenland to Germany.</a:t>
            </a:r>
            <a:endParaRPr lang="en-US" sz="1800" dirty="0"/>
          </a:p>
        </p:txBody>
      </p:sp>
      <p:sp>
        <p:nvSpPr>
          <p:cNvPr id="27" name="Callout 2558"/>
          <p:cNvSpPr/>
          <p:nvPr/>
        </p:nvSpPr>
        <p:spPr>
          <a:xfrm>
            <a:off x="548640" y="5550408"/>
            <a:ext cx="11094415" cy="713232"/>
          </a:xfrm>
          <a:prstGeom prst="roundRect">
            <a:avLst>
              <a:gd name="adj" fmla="val 12821"/>
            </a:avLst>
          </a:prstGeom>
          <a:solidFill>
            <a:schemeClr val="accent4">
              <a:alpha val="20000"/>
            </a:schemeClr>
          </a:solidFill>
          <a:ln/>
        </p:spPr>
      </p:sp>
      <p:sp>
        <p:nvSpPr>
          <p:cNvPr id="28" name="Callout label 2559"/>
          <p:cNvSpPr/>
          <p:nvPr/>
        </p:nvSpPr>
        <p:spPr>
          <a:xfrm>
            <a:off x="731520" y="5751576"/>
            <a:ext cx="1168115" cy="310896"/>
          </a:xfrm>
          <a:prstGeom prst="roundRect">
            <a:avLst>
              <a:gd name="adj" fmla="val 50000"/>
            </a:avLst>
          </a:prstGeom>
          <a:solidFill>
            <a:schemeClr val="accent4"/>
          </a:solidFill>
          <a:ln/>
        </p:spPr>
      </p:sp>
      <p:sp>
        <p:nvSpPr>
          <p:cNvPr id="29" name="Text 2560"/>
          <p:cNvSpPr txBox="1"/>
          <p:nvPr/>
        </p:nvSpPr>
        <p:spPr>
          <a:xfrm>
            <a:off x="731520" y="5751576"/>
            <a:ext cx="1168115"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AFTERMATH</a:t>
            </a:r>
            <a:endParaRPr lang="en-US" sz="1200" dirty="0"/>
          </a:p>
        </p:txBody>
      </p:sp>
      <p:sp>
        <p:nvSpPr>
          <p:cNvPr id="30" name="Text 2561"/>
          <p:cNvSpPr txBox="1"/>
          <p:nvPr/>
        </p:nvSpPr>
        <p:spPr>
          <a:xfrm>
            <a:off x="2082515" y="5623560"/>
            <a:ext cx="9377660"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Chamberlain promised 'peace for our time'. Poland took Teschen and Hungary took southern Slovakia.</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Kicker 256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KQ3 · DEBATE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Munich: betrayal or breathing space?</a:t>
            </a:r>
            <a:endParaRPr lang="en-US" sz="3400" dirty="0"/>
          </a:p>
        </p:txBody>
      </p:sp>
      <p:sp>
        <p:nvSpPr>
          <p:cNvPr id="4" name="Card 2563"/>
          <p:cNvSpPr/>
          <p:nvPr/>
        </p:nvSpPr>
        <p:spPr>
          <a:xfrm>
            <a:off x="548640" y="1481328"/>
            <a:ext cx="5410048" cy="3794760"/>
          </a:xfrm>
          <a:prstGeom prst="roundRect">
            <a:avLst>
              <a:gd name="adj" fmla="val 2410"/>
            </a:avLst>
          </a:prstGeom>
          <a:solidFill>
            <a:schemeClr val="accent1">
              <a:alpha val="10000"/>
            </a:schemeClr>
          </a:solidFill>
          <a:ln/>
        </p:spPr>
      </p:sp>
      <p:sp>
        <p:nvSpPr>
          <p:cNvPr id="5" name="Icon circle 2564"/>
          <p:cNvSpPr/>
          <p:nvPr/>
        </p:nvSpPr>
        <p:spPr>
          <a:xfrm>
            <a:off x="731520" y="1664208"/>
            <a:ext cx="475488" cy="475488"/>
          </a:xfrm>
          <a:prstGeom prst="ellipse">
            <a:avLst/>
          </a:prstGeom>
          <a:solidFill>
            <a:schemeClr val="accent1"/>
          </a:solidFill>
          <a:ln/>
        </p:spPr>
      </p:sp>
      <p:pic>
        <p:nvPicPr>
          <p:cNvPr id="6" name="Icon FaCircleXmark 2565"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566"/>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'Guilty Men' — a betrayal</a:t>
            </a:r>
            <a:endParaRPr lang="en-US" sz="1700" dirty="0"/>
          </a:p>
        </p:txBody>
      </p:sp>
      <p:sp>
        <p:nvSpPr>
          <p:cNvPr id="8" name="Text 2567"/>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Abandoned Czechoslovakia: a democracy with a strong army and border forts</a:t>
            </a:r>
            <a:endParaRPr lang="en-US" sz="2000" dirty="0"/>
          </a:p>
          <a:p>
            <a:pPr algn="l" marL="190500" indent="-190500">
              <a:spcAft>
                <a:spcPts val="800"/>
              </a:spcAft>
              <a:buSzPct val="100000"/>
              <a:buChar char="•"/>
            </a:pPr>
            <a:r>
              <a:rPr lang="en-US" sz="2000" dirty="0">
                <a:solidFill>
                  <a:schemeClr val="tx1"/>
                </a:solidFill>
              </a:rPr>
              <a:t>Encouraged Hitler to demand more</a:t>
            </a:r>
            <a:endParaRPr lang="en-US" sz="2000" dirty="0"/>
          </a:p>
          <a:p>
            <a:pPr algn="l" marL="190500" indent="-190500">
              <a:spcAft>
                <a:spcPts val="800"/>
              </a:spcAft>
              <a:buSzPct val="100000"/>
              <a:buChar char="•"/>
            </a:pPr>
            <a:r>
              <a:rPr lang="en-US" sz="2000" dirty="0">
                <a:solidFill>
                  <a:schemeClr val="tx1"/>
                </a:solidFill>
              </a:rPr>
              <a:t>Convinced Stalin the West would not stand up to Hitler</a:t>
            </a:r>
            <a:endParaRPr lang="en-US" sz="2000" dirty="0"/>
          </a:p>
          <a:p>
            <a:pPr algn="l" marL="190500" indent="-190500">
              <a:spcAft>
                <a:spcPts val="800"/>
              </a:spcAft>
              <a:buSzPct val="100000"/>
              <a:buChar char="•"/>
            </a:pPr>
            <a:r>
              <a:rPr lang="en-US" sz="2000" dirty="0">
                <a:solidFill>
                  <a:schemeClr val="tx1"/>
                </a:solidFill>
              </a:rPr>
              <a:t>Critics: Churchill; 'Guilty Men' (1940)</a:t>
            </a:r>
            <a:endParaRPr lang="en-US" sz="2000" dirty="0"/>
          </a:p>
        </p:txBody>
      </p:sp>
      <p:sp>
        <p:nvSpPr>
          <p:cNvPr id="9" name="Card 2568"/>
          <p:cNvSpPr/>
          <p:nvPr/>
        </p:nvSpPr>
        <p:spPr>
          <a:xfrm>
            <a:off x="6233008" y="1481328"/>
            <a:ext cx="5410048" cy="3794760"/>
          </a:xfrm>
          <a:prstGeom prst="roundRect">
            <a:avLst>
              <a:gd name="adj" fmla="val 2410"/>
            </a:avLst>
          </a:prstGeom>
          <a:solidFill>
            <a:schemeClr val="accent2">
              <a:alpha val="10000"/>
            </a:schemeClr>
          </a:solidFill>
          <a:ln/>
        </p:spPr>
      </p:sp>
      <p:sp>
        <p:nvSpPr>
          <p:cNvPr id="10" name="Icon circle 2569"/>
          <p:cNvSpPr/>
          <p:nvPr/>
        </p:nvSpPr>
        <p:spPr>
          <a:xfrm>
            <a:off x="6415888" y="1664208"/>
            <a:ext cx="475488" cy="475488"/>
          </a:xfrm>
          <a:prstGeom prst="ellipse">
            <a:avLst/>
          </a:prstGeom>
          <a:solidFill>
            <a:schemeClr val="accent2"/>
          </a:solidFill>
          <a:ln/>
        </p:spPr>
      </p:sp>
      <p:pic>
        <p:nvPicPr>
          <p:cNvPr id="11" name="Icon FaCircleCheck 2570"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2571"/>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Revisionists — a breathing space</a:t>
            </a:r>
            <a:endParaRPr lang="en-US" sz="1700" dirty="0"/>
          </a:p>
        </p:txBody>
      </p:sp>
      <p:sp>
        <p:nvSpPr>
          <p:cNvPr id="13" name="Text 2572"/>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Britain was not ready: radar and modern fighters came in 1939–40</a:t>
            </a:r>
            <a:endParaRPr lang="en-US" sz="2000" dirty="0"/>
          </a:p>
          <a:p>
            <a:pPr algn="l" marL="190500" indent="-190500">
              <a:spcAft>
                <a:spcPts val="800"/>
              </a:spcAft>
              <a:buSzPct val="100000"/>
              <a:buChar char="•"/>
            </a:pPr>
            <a:r>
              <a:rPr lang="en-US" sz="2000" dirty="0">
                <a:solidFill>
                  <a:schemeClr val="tx1"/>
                </a:solidFill>
              </a:rPr>
              <a:t>The Dominions and public would not back war in 1938</a:t>
            </a:r>
            <a:endParaRPr lang="en-US" sz="2000" dirty="0"/>
          </a:p>
          <a:p>
            <a:pPr algn="l" marL="190500" indent="-190500">
              <a:spcAft>
                <a:spcPts val="800"/>
              </a:spcAft>
              <a:buSzPct val="100000"/>
              <a:buChar char="•"/>
            </a:pPr>
            <a:r>
              <a:rPr lang="en-US" sz="2000" dirty="0">
                <a:solidFill>
                  <a:schemeClr val="tx1"/>
                </a:solidFill>
              </a:rPr>
              <a:t>France was unwilling to fight</a:t>
            </a:r>
            <a:endParaRPr lang="en-US" sz="2000" dirty="0"/>
          </a:p>
          <a:p>
            <a:pPr algn="l" marL="190500" indent="-190500">
              <a:spcAft>
                <a:spcPts val="800"/>
              </a:spcAft>
              <a:buSzPct val="100000"/>
              <a:buChar char="•"/>
            </a:pPr>
            <a:r>
              <a:rPr lang="en-US" sz="2000" dirty="0">
                <a:solidFill>
                  <a:schemeClr val="tx1"/>
                </a:solidFill>
              </a:rPr>
              <a:t>Exposed Hitler's bad faith, uniting Britain for war in 1939</a:t>
            </a:r>
            <a:endParaRPr lang="en-US" sz="2000" dirty="0"/>
          </a:p>
        </p:txBody>
      </p:sp>
      <p:sp>
        <p:nvSpPr>
          <p:cNvPr id="14" name="Callout 2573"/>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2574"/>
          <p:cNvSpPr/>
          <p:nvPr/>
        </p:nvSpPr>
        <p:spPr>
          <a:xfrm>
            <a:off x="731520" y="5751576"/>
            <a:ext cx="775296" cy="310896"/>
          </a:xfrm>
          <a:prstGeom prst="roundRect">
            <a:avLst>
              <a:gd name="adj" fmla="val 50000"/>
            </a:avLst>
          </a:prstGeom>
          <a:solidFill>
            <a:schemeClr val="accent4"/>
          </a:solidFill>
          <a:ln/>
        </p:spPr>
      </p:sp>
      <p:sp>
        <p:nvSpPr>
          <p:cNvPr id="16" name="Text 2575"/>
          <p:cNvSpPr txBox="1"/>
          <p:nvPr/>
        </p:nvSpPr>
        <p:spPr>
          <a:xfrm>
            <a:off x="731520" y="5751576"/>
            <a:ext cx="775296"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TODAY</a:t>
            </a:r>
            <a:endParaRPr lang="en-US" sz="1200" dirty="0"/>
          </a:p>
        </p:txBody>
      </p:sp>
      <p:sp>
        <p:nvSpPr>
          <p:cNvPr id="17" name="Text 2576"/>
          <p:cNvSpPr txBox="1"/>
          <p:nvPr/>
        </p:nvSpPr>
        <p:spPr>
          <a:xfrm>
            <a:off x="1689696" y="5623560"/>
            <a:ext cx="9770479"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Post-revisionists (e.g. R.A.C. Parker) argue Chamberlain had alternatives — such as an alliance with the USSR — but chose appeasement.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Kicker 257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KQ4 · 1939</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March 1939: the turning point</a:t>
            </a:r>
            <a:endParaRPr lang="en-US" sz="3400" dirty="0"/>
          </a:p>
        </p:txBody>
      </p:sp>
      <p:sp>
        <p:nvSpPr>
          <p:cNvPr id="4" name="Card 2578"/>
          <p:cNvSpPr/>
          <p:nvPr/>
        </p:nvSpPr>
        <p:spPr>
          <a:xfrm>
            <a:off x="548640" y="1481328"/>
            <a:ext cx="5410048" cy="1760220"/>
          </a:xfrm>
          <a:prstGeom prst="roundRect">
            <a:avLst>
              <a:gd name="adj" fmla="val 5195"/>
            </a:avLst>
          </a:prstGeom>
          <a:solidFill>
            <a:schemeClr val="accent3">
              <a:alpha val="10000"/>
            </a:schemeClr>
          </a:solidFill>
          <a:ln/>
        </p:spPr>
      </p:sp>
      <p:sp>
        <p:nvSpPr>
          <p:cNvPr id="5" name="Icon circle 2579"/>
          <p:cNvSpPr/>
          <p:nvPr/>
        </p:nvSpPr>
        <p:spPr>
          <a:xfrm>
            <a:off x="731520" y="1664208"/>
            <a:ext cx="475488" cy="475488"/>
          </a:xfrm>
          <a:prstGeom prst="ellipse">
            <a:avLst/>
          </a:prstGeom>
          <a:solidFill>
            <a:schemeClr val="accent3"/>
          </a:solidFill>
          <a:ln/>
        </p:spPr>
      </p:sp>
      <p:pic>
        <p:nvPicPr>
          <p:cNvPr id="6" name="Icon FaPersonRifle 2580"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581"/>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15 March: Prague</a:t>
            </a:r>
            <a:endParaRPr lang="en-US" sz="1700" dirty="0"/>
          </a:p>
        </p:txBody>
      </p:sp>
      <p:sp>
        <p:nvSpPr>
          <p:cNvPr id="8" name="Text 2582"/>
          <p:cNvSpPr txBox="1"/>
          <p:nvPr/>
        </p:nvSpPr>
        <p:spPr>
          <a:xfrm>
            <a:off x="731520" y="224942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Germany occupied Bohemia and Moravia — the first non-German land taken. Hitler clearly could not be trusted.</a:t>
            </a:r>
            <a:endParaRPr lang="en-US" sz="1700" dirty="0"/>
          </a:p>
        </p:txBody>
      </p:sp>
      <p:sp>
        <p:nvSpPr>
          <p:cNvPr id="9" name="Card 2583"/>
          <p:cNvSpPr/>
          <p:nvPr/>
        </p:nvSpPr>
        <p:spPr>
          <a:xfrm>
            <a:off x="6233008" y="1481328"/>
            <a:ext cx="5410048" cy="1760220"/>
          </a:xfrm>
          <a:prstGeom prst="roundRect">
            <a:avLst>
              <a:gd name="adj" fmla="val 5195"/>
            </a:avLst>
          </a:prstGeom>
          <a:solidFill>
            <a:schemeClr val="accent3">
              <a:alpha val="10000"/>
            </a:schemeClr>
          </a:solidFill>
          <a:ln/>
        </p:spPr>
      </p:sp>
      <p:sp>
        <p:nvSpPr>
          <p:cNvPr id="10" name="Icon circle 2584"/>
          <p:cNvSpPr/>
          <p:nvPr/>
        </p:nvSpPr>
        <p:spPr>
          <a:xfrm>
            <a:off x="6415888" y="1664208"/>
            <a:ext cx="475488" cy="475488"/>
          </a:xfrm>
          <a:prstGeom prst="ellipse">
            <a:avLst/>
          </a:prstGeom>
          <a:solidFill>
            <a:schemeClr val="accent3"/>
          </a:solidFill>
          <a:ln/>
        </p:spPr>
      </p:sp>
      <p:pic>
        <p:nvPicPr>
          <p:cNvPr id="11" name="Icon FaShieldAlt 2585"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2586"/>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31 March: Poland guaranteed</a:t>
            </a:r>
            <a:endParaRPr lang="en-US" sz="1700" dirty="0"/>
          </a:p>
        </p:txBody>
      </p:sp>
      <p:sp>
        <p:nvSpPr>
          <p:cNvPr id="13" name="Text 2587"/>
          <p:cNvSpPr txBox="1"/>
          <p:nvPr/>
        </p:nvSpPr>
        <p:spPr>
          <a:xfrm>
            <a:off x="6415888" y="224942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Britain and France promised to defend Poland — later also Romania and Greece after Italy invaded Albania (April).</a:t>
            </a:r>
            <a:endParaRPr lang="en-US" sz="1700" dirty="0"/>
          </a:p>
        </p:txBody>
      </p:sp>
      <p:sp>
        <p:nvSpPr>
          <p:cNvPr id="14" name="Card 2588"/>
          <p:cNvSpPr/>
          <p:nvPr/>
        </p:nvSpPr>
        <p:spPr>
          <a:xfrm>
            <a:off x="548640" y="3515868"/>
            <a:ext cx="5410048" cy="1760220"/>
          </a:xfrm>
          <a:prstGeom prst="roundRect">
            <a:avLst>
              <a:gd name="adj" fmla="val 5195"/>
            </a:avLst>
          </a:prstGeom>
          <a:solidFill>
            <a:schemeClr val="accent3">
              <a:alpha val="10000"/>
            </a:schemeClr>
          </a:solidFill>
          <a:ln/>
        </p:spPr>
      </p:sp>
      <p:sp>
        <p:nvSpPr>
          <p:cNvPr id="15" name="Icon circle 2589"/>
          <p:cNvSpPr/>
          <p:nvPr/>
        </p:nvSpPr>
        <p:spPr>
          <a:xfrm>
            <a:off x="731520" y="3698748"/>
            <a:ext cx="475488" cy="475488"/>
          </a:xfrm>
          <a:prstGeom prst="ellipse">
            <a:avLst/>
          </a:prstGeom>
          <a:solidFill>
            <a:schemeClr val="accent3"/>
          </a:solidFill>
          <a:ln/>
        </p:spPr>
      </p:sp>
      <p:pic>
        <p:nvPicPr>
          <p:cNvPr id="16" name="Icon FaMapMarkedAlt 2590" descr="preencoded.png">    </p:cNvPr>
          <p:cNvPicPr>
            <a:picLocks noChangeAspect="1"/>
          </p:cNvPicPr>
          <p:nvPr/>
        </p:nvPicPr>
        <p:blipFill>
          <a:blip r:embed="rId3"/>
          <a:stretch>
            <a:fillRect/>
          </a:stretch>
        </p:blipFill>
        <p:spPr>
          <a:xfrm>
            <a:off x="836127" y="3803355"/>
            <a:ext cx="266273" cy="266273"/>
          </a:xfrm>
          <a:prstGeom prst="rect">
            <a:avLst/>
          </a:prstGeom>
        </p:spPr>
      </p:pic>
      <p:sp>
        <p:nvSpPr>
          <p:cNvPr id="17" name="Card title 2591"/>
          <p:cNvSpPr txBox="1"/>
          <p:nvPr/>
        </p:nvSpPr>
        <p:spPr>
          <a:xfrm>
            <a:off x="1335024"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Hitler's next target</a:t>
            </a:r>
            <a:endParaRPr lang="en-US" sz="1700" dirty="0"/>
          </a:p>
        </p:txBody>
      </p:sp>
      <p:sp>
        <p:nvSpPr>
          <p:cNvPr id="18" name="Text 2592"/>
          <p:cNvSpPr txBox="1"/>
          <p:nvPr/>
        </p:nvSpPr>
        <p:spPr>
          <a:xfrm>
            <a:off x="731520" y="428396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Danzig (a German-speaking Free City) and a route across the Polish Corridor. Poland refused.</a:t>
            </a:r>
            <a:endParaRPr lang="en-US" sz="1700" dirty="0"/>
          </a:p>
        </p:txBody>
      </p:sp>
      <p:sp>
        <p:nvSpPr>
          <p:cNvPr id="19" name="Card 2593"/>
          <p:cNvSpPr/>
          <p:nvPr/>
        </p:nvSpPr>
        <p:spPr>
          <a:xfrm>
            <a:off x="6233008" y="3515868"/>
            <a:ext cx="5410048" cy="1760220"/>
          </a:xfrm>
          <a:prstGeom prst="roundRect">
            <a:avLst>
              <a:gd name="adj" fmla="val 5195"/>
            </a:avLst>
          </a:prstGeom>
          <a:solidFill>
            <a:schemeClr val="accent3">
              <a:alpha val="10000"/>
            </a:schemeClr>
          </a:solidFill>
          <a:ln/>
        </p:spPr>
      </p:sp>
      <p:sp>
        <p:nvSpPr>
          <p:cNvPr id="20" name="Icon circle 2594"/>
          <p:cNvSpPr/>
          <p:nvPr/>
        </p:nvSpPr>
        <p:spPr>
          <a:xfrm>
            <a:off x="6415888" y="3698748"/>
            <a:ext cx="475488" cy="475488"/>
          </a:xfrm>
          <a:prstGeom prst="ellipse">
            <a:avLst/>
          </a:prstGeom>
          <a:solidFill>
            <a:schemeClr val="accent3"/>
          </a:solidFill>
          <a:ln/>
        </p:spPr>
      </p:sp>
      <p:pic>
        <p:nvPicPr>
          <p:cNvPr id="21" name="Icon FaFire 2595" descr="preencoded.png">    </p:cNvPr>
          <p:cNvPicPr>
            <a:picLocks noChangeAspect="1"/>
          </p:cNvPicPr>
          <p:nvPr/>
        </p:nvPicPr>
        <p:blipFill>
          <a:blip r:embed="rId4"/>
          <a:stretch>
            <a:fillRect/>
          </a:stretch>
        </p:blipFill>
        <p:spPr>
          <a:xfrm>
            <a:off x="6520495" y="3803355"/>
            <a:ext cx="266273" cy="266273"/>
          </a:xfrm>
          <a:prstGeom prst="rect">
            <a:avLst/>
          </a:prstGeom>
        </p:spPr>
      </p:pic>
      <p:sp>
        <p:nvSpPr>
          <p:cNvPr id="22" name="Card title 2596"/>
          <p:cNvSpPr txBox="1"/>
          <p:nvPr/>
        </p:nvSpPr>
        <p:spPr>
          <a:xfrm>
            <a:off x="7019392"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Lines harden</a:t>
            </a:r>
            <a:endParaRPr lang="en-US" sz="1700" dirty="0"/>
          </a:p>
        </p:txBody>
      </p:sp>
      <p:sp>
        <p:nvSpPr>
          <p:cNvPr id="23" name="Text 2597"/>
          <p:cNvSpPr txBox="1"/>
          <p:nvPr/>
        </p:nvSpPr>
        <p:spPr>
          <a:xfrm>
            <a:off x="6415888" y="4283964"/>
            <a:ext cx="504428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Britain began conscription (April); Hitler scrapped his pacts with Britain and Poland; Pact of Steel with Italy (May).</a:t>
            </a:r>
            <a:endParaRPr lang="en-US" sz="1700" dirty="0"/>
          </a:p>
        </p:txBody>
      </p:sp>
      <p:sp>
        <p:nvSpPr>
          <p:cNvPr id="24" name="Callout 2598"/>
          <p:cNvSpPr/>
          <p:nvPr/>
        </p:nvSpPr>
        <p:spPr>
          <a:xfrm>
            <a:off x="548640" y="5550408"/>
            <a:ext cx="11094415" cy="713232"/>
          </a:xfrm>
          <a:prstGeom prst="roundRect">
            <a:avLst>
              <a:gd name="adj" fmla="val 12821"/>
            </a:avLst>
          </a:prstGeom>
          <a:solidFill>
            <a:schemeClr val="accent4">
              <a:alpha val="20000"/>
            </a:schemeClr>
          </a:solidFill>
          <a:ln/>
        </p:spPr>
      </p:sp>
      <p:sp>
        <p:nvSpPr>
          <p:cNvPr id="25" name="Callout label 2599"/>
          <p:cNvSpPr/>
          <p:nvPr/>
        </p:nvSpPr>
        <p:spPr>
          <a:xfrm>
            <a:off x="731520" y="5751576"/>
            <a:ext cx="1045034" cy="310896"/>
          </a:xfrm>
          <a:prstGeom prst="roundRect">
            <a:avLst>
              <a:gd name="adj" fmla="val 50000"/>
            </a:avLst>
          </a:prstGeom>
          <a:solidFill>
            <a:schemeClr val="accent4"/>
          </a:solidFill>
          <a:ln/>
        </p:spPr>
      </p:sp>
      <p:sp>
        <p:nvSpPr>
          <p:cNvPr id="26" name="Text 2600"/>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27" name="Text 2601"/>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Appeasement gave way to deterrence — but a guarantee to Poland needed Soviet help to be credible.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Kicker 260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KQ4 · THE PACT</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Why the Nazi–Soviet Pact, August 1939?</a:t>
            </a:r>
            <a:endParaRPr lang="en-US" sz="3400" dirty="0"/>
          </a:p>
        </p:txBody>
      </p:sp>
      <p:sp>
        <p:nvSpPr>
          <p:cNvPr id="4" name="Card 2603"/>
          <p:cNvSpPr/>
          <p:nvPr/>
        </p:nvSpPr>
        <p:spPr>
          <a:xfrm>
            <a:off x="548640" y="1481328"/>
            <a:ext cx="5410048" cy="3794760"/>
          </a:xfrm>
          <a:prstGeom prst="roundRect">
            <a:avLst>
              <a:gd name="adj" fmla="val 2410"/>
            </a:avLst>
          </a:prstGeom>
          <a:solidFill>
            <a:schemeClr val="accent3">
              <a:alpha val="10000"/>
            </a:schemeClr>
          </a:solidFill>
          <a:ln/>
        </p:spPr>
      </p:sp>
      <p:sp>
        <p:nvSpPr>
          <p:cNvPr id="5" name="Icon circle 2604"/>
          <p:cNvSpPr/>
          <p:nvPr/>
        </p:nvSpPr>
        <p:spPr>
          <a:xfrm>
            <a:off x="731520" y="1664208"/>
            <a:ext cx="475488" cy="475488"/>
          </a:xfrm>
          <a:prstGeom prst="ellipse">
            <a:avLst/>
          </a:prstGeom>
          <a:solidFill>
            <a:schemeClr val="accent3"/>
          </a:solidFill>
          <a:ln/>
        </p:spPr>
      </p:sp>
      <p:pic>
        <p:nvPicPr>
          <p:cNvPr id="6" name="Icon FaHandFist 2605"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606"/>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Stalin's motives</a:t>
            </a:r>
            <a:endParaRPr lang="en-US" sz="1700" dirty="0"/>
          </a:p>
        </p:txBody>
      </p:sp>
      <p:sp>
        <p:nvSpPr>
          <p:cNvPr id="8" name="Text 2607"/>
          <p:cNvSpPr txBox="1"/>
          <p:nvPr/>
        </p:nvSpPr>
        <p:spPr>
          <a:xfrm>
            <a:off x="731520"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1900" dirty="0">
                <a:solidFill>
                  <a:schemeClr val="tx1"/>
                </a:solidFill>
              </a:rPr>
              <a:t>Distrust of Britain and France after Munich</a:t>
            </a:r>
            <a:endParaRPr lang="en-US" sz="1900" dirty="0"/>
          </a:p>
          <a:p>
            <a:pPr algn="l" marL="190500" indent="-190500">
              <a:spcAft>
                <a:spcPts val="800"/>
              </a:spcAft>
              <a:buSzPct val="100000"/>
              <a:buChar char="•"/>
            </a:pPr>
            <a:r>
              <a:rPr lang="en-US" sz="1900" dirty="0">
                <a:solidFill>
                  <a:schemeClr val="tx1"/>
                </a:solidFill>
              </a:rPr>
              <a:t>Slow, half-hearted Anglo-French talks (Aug 1939)</a:t>
            </a:r>
            <a:endParaRPr lang="en-US" sz="1900" dirty="0"/>
          </a:p>
          <a:p>
            <a:pPr algn="l" marL="190500" indent="-190500">
              <a:spcAft>
                <a:spcPts val="800"/>
              </a:spcAft>
              <a:buSzPct val="100000"/>
              <a:buChar char="•"/>
            </a:pPr>
            <a:r>
              <a:rPr lang="en-US" sz="1900" dirty="0">
                <a:solidFill>
                  <a:schemeClr val="tx1"/>
                </a:solidFill>
              </a:rPr>
              <a:t>Poland refused to let Soviet troops cross its land</a:t>
            </a:r>
            <a:endParaRPr lang="en-US" sz="1900" dirty="0"/>
          </a:p>
          <a:p>
            <a:pPr algn="l" marL="190500" indent="-190500">
              <a:spcAft>
                <a:spcPts val="800"/>
              </a:spcAft>
              <a:buSzPct val="100000"/>
              <a:buChar char="•"/>
            </a:pPr>
            <a:r>
              <a:rPr lang="en-US" sz="1900" dirty="0">
                <a:solidFill>
                  <a:schemeClr val="tx1"/>
                </a:solidFill>
              </a:rPr>
              <a:t>Time to rebuild after the purges; fighting Japan in the east</a:t>
            </a:r>
            <a:endParaRPr lang="en-US" sz="1900" dirty="0"/>
          </a:p>
          <a:p>
            <a:pPr algn="l" marL="190500" indent="-190500">
              <a:spcAft>
                <a:spcPts val="800"/>
              </a:spcAft>
              <a:buSzPct val="100000"/>
              <a:buChar char="•"/>
            </a:pPr>
            <a:r>
              <a:rPr lang="en-US" sz="1900" dirty="0">
                <a:solidFill>
                  <a:schemeClr val="tx1"/>
                </a:solidFill>
              </a:rPr>
              <a:t>Gains: eastern Poland and the Baltic states</a:t>
            </a:r>
            <a:endParaRPr lang="en-US" sz="1900" dirty="0"/>
          </a:p>
        </p:txBody>
      </p:sp>
      <p:sp>
        <p:nvSpPr>
          <p:cNvPr id="9" name="Card 2608"/>
          <p:cNvSpPr/>
          <p:nvPr/>
        </p:nvSpPr>
        <p:spPr>
          <a:xfrm>
            <a:off x="6233008" y="1481328"/>
            <a:ext cx="5410048" cy="3794760"/>
          </a:xfrm>
          <a:prstGeom prst="roundRect">
            <a:avLst>
              <a:gd name="adj" fmla="val 2410"/>
            </a:avLst>
          </a:prstGeom>
          <a:solidFill>
            <a:schemeClr val="bg2"/>
          </a:solidFill>
          <a:ln/>
        </p:spPr>
      </p:sp>
      <p:sp>
        <p:nvSpPr>
          <p:cNvPr id="10" name="Icon circle 2609"/>
          <p:cNvSpPr/>
          <p:nvPr/>
        </p:nvSpPr>
        <p:spPr>
          <a:xfrm>
            <a:off x="6415888" y="1664208"/>
            <a:ext cx="475488" cy="475488"/>
          </a:xfrm>
          <a:prstGeom prst="ellipse">
            <a:avLst/>
          </a:prstGeom>
          <a:solidFill>
            <a:schemeClr val="accent3"/>
          </a:solidFill>
          <a:ln/>
        </p:spPr>
      </p:sp>
      <p:pic>
        <p:nvPicPr>
          <p:cNvPr id="11" name="Icon FaChessKnight 2610"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2611"/>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Hitler's motives</a:t>
            </a:r>
            <a:endParaRPr lang="en-US" sz="1700" dirty="0"/>
          </a:p>
        </p:txBody>
      </p:sp>
      <p:sp>
        <p:nvSpPr>
          <p:cNvPr id="13" name="Text 2612"/>
          <p:cNvSpPr txBox="1"/>
          <p:nvPr/>
        </p:nvSpPr>
        <p:spPr>
          <a:xfrm>
            <a:off x="6415888" y="2249424"/>
            <a:ext cx="5044288" cy="2843784"/>
          </a:xfrm>
          <a:prstGeom prst="rect">
            <a:avLst/>
          </a:prstGeom>
          <a:noFill/>
          <a:ln/>
        </p:spPr>
        <p:txBody>
          <a:bodyPr wrap="square" lIns="0" tIns="0" rIns="0" bIns="0" rtlCol="0" anchor="t"/>
          <a:lstStyle/>
          <a:p>
            <a:pPr algn="l" marL="190500" indent="-190500">
              <a:spcAft>
                <a:spcPts val="800"/>
              </a:spcAft>
              <a:buSzPct val="100000"/>
              <a:buChar char="•"/>
            </a:pPr>
            <a:r>
              <a:rPr lang="en-US" sz="1900" dirty="0">
                <a:solidFill>
                  <a:schemeClr val="tx1"/>
                </a:solidFill>
              </a:rPr>
              <a:t>Avoid a war on two fronts</a:t>
            </a:r>
            <a:endParaRPr lang="en-US" sz="1900" dirty="0"/>
          </a:p>
          <a:p>
            <a:pPr algn="l" marL="190500" indent="-190500">
              <a:spcAft>
                <a:spcPts val="800"/>
              </a:spcAft>
              <a:buSzPct val="100000"/>
              <a:buChar char="•"/>
            </a:pPr>
            <a:r>
              <a:rPr lang="en-US" sz="1900" dirty="0">
                <a:solidFill>
                  <a:schemeClr val="tx1"/>
                </a:solidFill>
              </a:rPr>
              <a:t>Free hand to attack Poland</a:t>
            </a:r>
            <a:endParaRPr lang="en-US" sz="1900" dirty="0"/>
          </a:p>
          <a:p>
            <a:pPr algn="l" marL="190500" indent="-190500">
              <a:spcAft>
                <a:spcPts val="800"/>
              </a:spcAft>
              <a:buSzPct val="100000"/>
              <a:buChar char="•"/>
            </a:pPr>
            <a:r>
              <a:rPr lang="en-US" sz="1900" dirty="0">
                <a:solidFill>
                  <a:schemeClr val="tx1"/>
                </a:solidFill>
              </a:rPr>
              <a:t>Hoped Britain and France would back down without a Soviet ally</a:t>
            </a:r>
            <a:endParaRPr lang="en-US" sz="1900" dirty="0"/>
          </a:p>
          <a:p>
            <a:pPr algn="l" marL="190500" indent="-190500">
              <a:spcAft>
                <a:spcPts val="800"/>
              </a:spcAft>
              <a:buSzPct val="100000"/>
              <a:buChar char="•"/>
            </a:pPr>
            <a:r>
              <a:rPr lang="en-US" sz="1900" dirty="0">
                <a:solidFill>
                  <a:schemeClr val="tx1"/>
                </a:solidFill>
              </a:rPr>
              <a:t>Raw materials from the USSR (trade deal, Aug 1939)</a:t>
            </a:r>
            <a:endParaRPr lang="en-US" sz="1900" dirty="0"/>
          </a:p>
        </p:txBody>
      </p:sp>
      <p:sp>
        <p:nvSpPr>
          <p:cNvPr id="14" name="Callout 2613"/>
          <p:cNvSpPr/>
          <p:nvPr/>
        </p:nvSpPr>
        <p:spPr>
          <a:xfrm>
            <a:off x="548640" y="5550408"/>
            <a:ext cx="11094415" cy="713232"/>
          </a:xfrm>
          <a:prstGeom prst="roundRect">
            <a:avLst>
              <a:gd name="adj" fmla="val 12821"/>
            </a:avLst>
          </a:prstGeom>
          <a:solidFill>
            <a:schemeClr val="accent4">
              <a:alpha val="20000"/>
            </a:schemeClr>
          </a:solidFill>
          <a:ln/>
        </p:spPr>
      </p:sp>
      <p:sp>
        <p:nvSpPr>
          <p:cNvPr id="15" name="Callout label 2614"/>
          <p:cNvSpPr/>
          <p:nvPr/>
        </p:nvSpPr>
        <p:spPr>
          <a:xfrm>
            <a:off x="731520" y="5751576"/>
            <a:ext cx="770013" cy="310896"/>
          </a:xfrm>
          <a:prstGeom prst="roundRect">
            <a:avLst>
              <a:gd name="adj" fmla="val 50000"/>
            </a:avLst>
          </a:prstGeom>
          <a:solidFill>
            <a:schemeClr val="accent4"/>
          </a:solidFill>
          <a:ln/>
        </p:spPr>
      </p:sp>
      <p:sp>
        <p:nvSpPr>
          <p:cNvPr id="16" name="Text 2615"/>
          <p:cNvSpPr txBox="1"/>
          <p:nvPr/>
        </p:nvSpPr>
        <p:spPr>
          <a:xfrm>
            <a:off x="731520" y="5751576"/>
            <a:ext cx="77001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TERMS</a:t>
            </a:r>
            <a:endParaRPr lang="en-US" sz="1200" dirty="0"/>
          </a:p>
        </p:txBody>
      </p:sp>
      <p:sp>
        <p:nvSpPr>
          <p:cNvPr id="17" name="Text 2616"/>
          <p:cNvSpPr txBox="1"/>
          <p:nvPr/>
        </p:nvSpPr>
        <p:spPr>
          <a:xfrm>
            <a:off x="1684413" y="5623560"/>
            <a:ext cx="977576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Signed 23 Aug 1939 by Molotov and Ribbentrop: 10-year non-aggression, plus a secret protocol dividing Poland and Eastern Europe.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Kicker 261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KQ4 · 1939</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Countdown to war, August–September 1939</a:t>
            </a:r>
            <a:endParaRPr lang="en-US" sz="3400" dirty="0"/>
          </a:p>
        </p:txBody>
      </p:sp>
      <p:sp>
        <p:nvSpPr>
          <p:cNvPr id="4" name="Connector 2618"/>
          <p:cNvSpPr/>
          <p:nvPr/>
        </p:nvSpPr>
        <p:spPr>
          <a:xfrm>
            <a:off x="640080" y="3378708"/>
            <a:ext cx="10911535" cy="0"/>
          </a:xfrm>
          <a:prstGeom prst="line">
            <a:avLst/>
          </a:prstGeom>
          <a:noFill/>
          <a:ln w="31750">
            <a:solidFill>
              <a:schemeClr val="accent3"/>
            </a:solidFill>
            <a:prstDash val="solid"/>
          </a:ln>
        </p:spPr>
      </p:sp>
      <p:sp>
        <p:nvSpPr>
          <p:cNvPr id="5" name="Timeline dot 2619"/>
          <p:cNvSpPr/>
          <p:nvPr/>
        </p:nvSpPr>
        <p:spPr>
          <a:xfrm>
            <a:off x="1430503" y="3259836"/>
            <a:ext cx="237744" cy="237744"/>
          </a:xfrm>
          <a:prstGeom prst="ellipse">
            <a:avLst/>
          </a:prstGeom>
          <a:solidFill>
            <a:schemeClr val="accent3"/>
          </a:solidFill>
          <a:ln/>
        </p:spPr>
      </p:sp>
      <p:sp>
        <p:nvSpPr>
          <p:cNvPr id="6" name="Connector 2620"/>
          <p:cNvSpPr/>
          <p:nvPr/>
        </p:nvSpPr>
        <p:spPr>
          <a:xfrm flipV="1">
            <a:off x="1549375" y="3086100"/>
            <a:ext cx="0" cy="173736"/>
          </a:xfrm>
          <a:prstGeom prst="line">
            <a:avLst/>
          </a:prstGeom>
          <a:noFill/>
          <a:ln w="12700">
            <a:solidFill>
              <a:schemeClr val="accent3"/>
            </a:solidFill>
            <a:prstDash val="solid"/>
          </a:ln>
        </p:spPr>
      </p:sp>
      <p:sp>
        <p:nvSpPr>
          <p:cNvPr id="7" name="Text 2621"/>
          <p:cNvSpPr txBox="1"/>
          <p:nvPr/>
        </p:nvSpPr>
        <p:spPr>
          <a:xfrm>
            <a:off x="640080" y="2775204"/>
            <a:ext cx="237744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3"/>
                </a:solidFill>
              </a:rPr>
              <a:t>23 Aug</a:t>
            </a:r>
            <a:endParaRPr lang="en-US" sz="1500" dirty="0"/>
          </a:p>
        </p:txBody>
      </p:sp>
      <p:sp>
        <p:nvSpPr>
          <p:cNvPr id="8" name="Text 2622"/>
          <p:cNvSpPr txBox="1"/>
          <p:nvPr/>
        </p:nvSpPr>
        <p:spPr>
          <a:xfrm>
            <a:off x="640080" y="1481328"/>
            <a:ext cx="2377440" cy="1293876"/>
          </a:xfrm>
          <a:prstGeom prst="rect">
            <a:avLst/>
          </a:prstGeom>
          <a:noFill/>
          <a:ln/>
        </p:spPr>
        <p:txBody>
          <a:bodyPr wrap="square" lIns="0" tIns="0" rIns="0" bIns="0" rtlCol="0" anchor="b"/>
          <a:lstStyle/>
          <a:p>
            <a:pPr algn="ctr" indent="0" marL="0">
              <a:spcAft>
                <a:spcPts val="600"/>
              </a:spcAft>
              <a:buNone/>
            </a:pPr>
            <a:r>
              <a:rPr lang="en-US" sz="1500" dirty="0">
                <a:solidFill>
                  <a:schemeClr val="tx1"/>
                </a:solidFill>
              </a:rPr>
              <a:t>Nazi–Soviet Pact signed</a:t>
            </a:r>
            <a:endParaRPr lang="en-US" sz="1500" dirty="0"/>
          </a:p>
        </p:txBody>
      </p:sp>
      <p:sp>
        <p:nvSpPr>
          <p:cNvPr id="9" name="Timeline dot 2623"/>
          <p:cNvSpPr/>
          <p:nvPr/>
        </p:nvSpPr>
        <p:spPr>
          <a:xfrm>
            <a:off x="3249092" y="3259836"/>
            <a:ext cx="237744" cy="237744"/>
          </a:xfrm>
          <a:prstGeom prst="ellipse">
            <a:avLst/>
          </a:prstGeom>
          <a:solidFill>
            <a:schemeClr val="accent3"/>
          </a:solidFill>
          <a:ln/>
        </p:spPr>
      </p:sp>
      <p:sp>
        <p:nvSpPr>
          <p:cNvPr id="10" name="Connector 2624"/>
          <p:cNvSpPr/>
          <p:nvPr/>
        </p:nvSpPr>
        <p:spPr>
          <a:xfrm>
            <a:off x="3367964" y="3497580"/>
            <a:ext cx="0" cy="173736"/>
          </a:xfrm>
          <a:prstGeom prst="line">
            <a:avLst/>
          </a:prstGeom>
          <a:noFill/>
          <a:ln w="12700">
            <a:solidFill>
              <a:schemeClr val="accent3"/>
            </a:solidFill>
            <a:prstDash val="solid"/>
          </a:ln>
        </p:spPr>
      </p:sp>
      <p:sp>
        <p:nvSpPr>
          <p:cNvPr id="11" name="Text 2625"/>
          <p:cNvSpPr txBox="1"/>
          <p:nvPr/>
        </p:nvSpPr>
        <p:spPr>
          <a:xfrm>
            <a:off x="2179244" y="3671316"/>
            <a:ext cx="237744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3"/>
                </a:solidFill>
              </a:rPr>
              <a:t>25 Aug</a:t>
            </a:r>
            <a:endParaRPr lang="en-US" sz="1500" dirty="0"/>
          </a:p>
        </p:txBody>
      </p:sp>
      <p:sp>
        <p:nvSpPr>
          <p:cNvPr id="12" name="Text 2626"/>
          <p:cNvSpPr txBox="1"/>
          <p:nvPr/>
        </p:nvSpPr>
        <p:spPr>
          <a:xfrm>
            <a:off x="2179244" y="4018788"/>
            <a:ext cx="2377440" cy="1293876"/>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Anglo-Polish treaty; Italy not ready; Hitler delays</a:t>
            </a:r>
            <a:endParaRPr lang="en-US" sz="1500" dirty="0"/>
          </a:p>
        </p:txBody>
      </p:sp>
      <p:sp>
        <p:nvSpPr>
          <p:cNvPr id="13" name="Timeline dot 2627"/>
          <p:cNvSpPr/>
          <p:nvPr/>
        </p:nvSpPr>
        <p:spPr>
          <a:xfrm>
            <a:off x="5067681" y="3259836"/>
            <a:ext cx="237744" cy="237744"/>
          </a:xfrm>
          <a:prstGeom prst="ellipse">
            <a:avLst/>
          </a:prstGeom>
          <a:solidFill>
            <a:schemeClr val="accent3"/>
          </a:solidFill>
          <a:ln/>
        </p:spPr>
      </p:sp>
      <p:sp>
        <p:nvSpPr>
          <p:cNvPr id="14" name="Connector 2628"/>
          <p:cNvSpPr/>
          <p:nvPr/>
        </p:nvSpPr>
        <p:spPr>
          <a:xfrm flipV="1">
            <a:off x="5186553" y="3086100"/>
            <a:ext cx="0" cy="173736"/>
          </a:xfrm>
          <a:prstGeom prst="line">
            <a:avLst/>
          </a:prstGeom>
          <a:noFill/>
          <a:ln w="12700">
            <a:solidFill>
              <a:schemeClr val="accent3"/>
            </a:solidFill>
            <a:prstDash val="solid"/>
          </a:ln>
        </p:spPr>
      </p:sp>
      <p:sp>
        <p:nvSpPr>
          <p:cNvPr id="15" name="Text 2629"/>
          <p:cNvSpPr txBox="1"/>
          <p:nvPr/>
        </p:nvSpPr>
        <p:spPr>
          <a:xfrm>
            <a:off x="3997833" y="2775204"/>
            <a:ext cx="237744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3"/>
                </a:solidFill>
              </a:rPr>
              <a:t>31 Aug</a:t>
            </a:r>
            <a:endParaRPr lang="en-US" sz="1500" dirty="0"/>
          </a:p>
        </p:txBody>
      </p:sp>
      <p:sp>
        <p:nvSpPr>
          <p:cNvPr id="16" name="Text 2630"/>
          <p:cNvSpPr txBox="1"/>
          <p:nvPr/>
        </p:nvSpPr>
        <p:spPr>
          <a:xfrm>
            <a:off x="3997833" y="1481328"/>
            <a:ext cx="2377440" cy="1293876"/>
          </a:xfrm>
          <a:prstGeom prst="rect">
            <a:avLst/>
          </a:prstGeom>
          <a:noFill/>
          <a:ln/>
        </p:spPr>
        <p:txBody>
          <a:bodyPr wrap="square" lIns="0" tIns="0" rIns="0" bIns="0" rtlCol="0" anchor="b"/>
          <a:lstStyle/>
          <a:p>
            <a:pPr algn="ctr" indent="0" marL="0">
              <a:spcAft>
                <a:spcPts val="600"/>
              </a:spcAft>
              <a:buNone/>
            </a:pPr>
            <a:r>
              <a:rPr lang="en-US" sz="1500" dirty="0">
                <a:solidFill>
                  <a:schemeClr val="tx1"/>
                </a:solidFill>
              </a:rPr>
              <a:t>Staged 'Polish' attack at Gleiwitz</a:t>
            </a:r>
            <a:endParaRPr lang="en-US" sz="1500" dirty="0"/>
          </a:p>
        </p:txBody>
      </p:sp>
      <p:sp>
        <p:nvSpPr>
          <p:cNvPr id="17" name="Timeline dot 2631"/>
          <p:cNvSpPr/>
          <p:nvPr/>
        </p:nvSpPr>
        <p:spPr>
          <a:xfrm>
            <a:off x="6886270" y="3259836"/>
            <a:ext cx="237744" cy="237744"/>
          </a:xfrm>
          <a:prstGeom prst="ellipse">
            <a:avLst/>
          </a:prstGeom>
          <a:solidFill>
            <a:schemeClr val="accent3"/>
          </a:solidFill>
          <a:ln/>
        </p:spPr>
      </p:sp>
      <p:sp>
        <p:nvSpPr>
          <p:cNvPr id="18" name="Connector 2632"/>
          <p:cNvSpPr/>
          <p:nvPr/>
        </p:nvSpPr>
        <p:spPr>
          <a:xfrm>
            <a:off x="7005142" y="3497580"/>
            <a:ext cx="0" cy="173736"/>
          </a:xfrm>
          <a:prstGeom prst="line">
            <a:avLst/>
          </a:prstGeom>
          <a:noFill/>
          <a:ln w="12700">
            <a:solidFill>
              <a:schemeClr val="accent3"/>
            </a:solidFill>
            <a:prstDash val="solid"/>
          </a:ln>
        </p:spPr>
      </p:sp>
      <p:sp>
        <p:nvSpPr>
          <p:cNvPr id="19" name="Text 2633"/>
          <p:cNvSpPr txBox="1"/>
          <p:nvPr/>
        </p:nvSpPr>
        <p:spPr>
          <a:xfrm>
            <a:off x="5816422" y="3671316"/>
            <a:ext cx="237744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3"/>
                </a:solidFill>
              </a:rPr>
              <a:t>1 Sept</a:t>
            </a:r>
            <a:endParaRPr lang="en-US" sz="1500" dirty="0"/>
          </a:p>
        </p:txBody>
      </p:sp>
      <p:sp>
        <p:nvSpPr>
          <p:cNvPr id="20" name="Text 2634"/>
          <p:cNvSpPr txBox="1"/>
          <p:nvPr/>
        </p:nvSpPr>
        <p:spPr>
          <a:xfrm>
            <a:off x="5816422" y="4018788"/>
            <a:ext cx="2377440" cy="1293876"/>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Germany invades Poland</a:t>
            </a:r>
            <a:endParaRPr lang="en-US" sz="1500" dirty="0"/>
          </a:p>
        </p:txBody>
      </p:sp>
      <p:sp>
        <p:nvSpPr>
          <p:cNvPr id="21" name="Timeline dot 2635"/>
          <p:cNvSpPr/>
          <p:nvPr/>
        </p:nvSpPr>
        <p:spPr>
          <a:xfrm>
            <a:off x="8704859" y="3259836"/>
            <a:ext cx="237744" cy="237744"/>
          </a:xfrm>
          <a:prstGeom prst="ellipse">
            <a:avLst/>
          </a:prstGeom>
          <a:solidFill>
            <a:schemeClr val="accent3"/>
          </a:solidFill>
          <a:ln/>
        </p:spPr>
      </p:sp>
      <p:sp>
        <p:nvSpPr>
          <p:cNvPr id="22" name="Connector 2636"/>
          <p:cNvSpPr/>
          <p:nvPr/>
        </p:nvSpPr>
        <p:spPr>
          <a:xfrm flipV="1">
            <a:off x="8823731" y="3086100"/>
            <a:ext cx="0" cy="173736"/>
          </a:xfrm>
          <a:prstGeom prst="line">
            <a:avLst/>
          </a:prstGeom>
          <a:noFill/>
          <a:ln w="12700">
            <a:solidFill>
              <a:schemeClr val="accent3"/>
            </a:solidFill>
            <a:prstDash val="solid"/>
          </a:ln>
        </p:spPr>
      </p:sp>
      <p:sp>
        <p:nvSpPr>
          <p:cNvPr id="23" name="Text 2637"/>
          <p:cNvSpPr txBox="1"/>
          <p:nvPr/>
        </p:nvSpPr>
        <p:spPr>
          <a:xfrm>
            <a:off x="7635011" y="2775204"/>
            <a:ext cx="2377440" cy="310896"/>
          </a:xfrm>
          <a:prstGeom prst="rect">
            <a:avLst/>
          </a:prstGeom>
          <a:noFill/>
          <a:ln/>
        </p:spPr>
        <p:txBody>
          <a:bodyPr wrap="square" lIns="0" tIns="0" rIns="0" bIns="0" rtlCol="0" anchor="b"/>
          <a:lstStyle/>
          <a:p>
            <a:pPr algn="ctr" indent="0" marL="0">
              <a:spcAft>
                <a:spcPts val="600"/>
              </a:spcAft>
              <a:buNone/>
            </a:pPr>
            <a:r>
              <a:rPr lang="en-US" sz="1500" b="1" dirty="0">
                <a:solidFill>
                  <a:schemeClr val="accent3"/>
                </a:solidFill>
              </a:rPr>
              <a:t>3 Sept</a:t>
            </a:r>
            <a:endParaRPr lang="en-US" sz="1500" dirty="0"/>
          </a:p>
        </p:txBody>
      </p:sp>
      <p:sp>
        <p:nvSpPr>
          <p:cNvPr id="24" name="Text 2638"/>
          <p:cNvSpPr txBox="1"/>
          <p:nvPr/>
        </p:nvSpPr>
        <p:spPr>
          <a:xfrm>
            <a:off x="7635011" y="1481328"/>
            <a:ext cx="2377440" cy="1293876"/>
          </a:xfrm>
          <a:prstGeom prst="rect">
            <a:avLst/>
          </a:prstGeom>
          <a:noFill/>
          <a:ln/>
        </p:spPr>
        <p:txBody>
          <a:bodyPr wrap="square" lIns="0" tIns="0" rIns="0" bIns="0" rtlCol="0" anchor="b"/>
          <a:lstStyle/>
          <a:p>
            <a:pPr algn="ctr" indent="0" marL="0">
              <a:spcAft>
                <a:spcPts val="600"/>
              </a:spcAft>
              <a:buNone/>
            </a:pPr>
            <a:r>
              <a:rPr lang="en-US" sz="1500" dirty="0">
                <a:solidFill>
                  <a:schemeClr val="tx1"/>
                </a:solidFill>
              </a:rPr>
              <a:t>Britain and France declare war</a:t>
            </a:r>
            <a:endParaRPr lang="en-US" sz="1500" dirty="0"/>
          </a:p>
        </p:txBody>
      </p:sp>
      <p:sp>
        <p:nvSpPr>
          <p:cNvPr id="25" name="Timeline dot 2639"/>
          <p:cNvSpPr/>
          <p:nvPr/>
        </p:nvSpPr>
        <p:spPr>
          <a:xfrm>
            <a:off x="10523449" y="3259836"/>
            <a:ext cx="237744" cy="237744"/>
          </a:xfrm>
          <a:prstGeom prst="ellipse">
            <a:avLst/>
          </a:prstGeom>
          <a:solidFill>
            <a:schemeClr val="accent3"/>
          </a:solidFill>
          <a:ln/>
        </p:spPr>
      </p:sp>
      <p:sp>
        <p:nvSpPr>
          <p:cNvPr id="26" name="Connector 2640"/>
          <p:cNvSpPr/>
          <p:nvPr/>
        </p:nvSpPr>
        <p:spPr>
          <a:xfrm>
            <a:off x="10642321" y="3497580"/>
            <a:ext cx="0" cy="173736"/>
          </a:xfrm>
          <a:prstGeom prst="line">
            <a:avLst/>
          </a:prstGeom>
          <a:noFill/>
          <a:ln w="12700">
            <a:solidFill>
              <a:schemeClr val="accent3"/>
            </a:solidFill>
            <a:prstDash val="solid"/>
          </a:ln>
        </p:spPr>
      </p:sp>
      <p:sp>
        <p:nvSpPr>
          <p:cNvPr id="27" name="Text 2641"/>
          <p:cNvSpPr txBox="1"/>
          <p:nvPr/>
        </p:nvSpPr>
        <p:spPr>
          <a:xfrm>
            <a:off x="9174175" y="3671316"/>
            <a:ext cx="2377440" cy="310896"/>
          </a:xfrm>
          <a:prstGeom prst="rect">
            <a:avLst/>
          </a:prstGeom>
          <a:noFill/>
          <a:ln/>
        </p:spPr>
        <p:txBody>
          <a:bodyPr wrap="square" lIns="0" tIns="0" rIns="0" bIns="0" rtlCol="0" anchor="t"/>
          <a:lstStyle/>
          <a:p>
            <a:pPr algn="ctr" indent="0" marL="0">
              <a:spcAft>
                <a:spcPts val="600"/>
              </a:spcAft>
              <a:buNone/>
            </a:pPr>
            <a:r>
              <a:rPr lang="en-US" sz="1500" b="1" dirty="0">
                <a:solidFill>
                  <a:schemeClr val="accent3"/>
                </a:solidFill>
              </a:rPr>
              <a:t>17 Sept</a:t>
            </a:r>
            <a:endParaRPr lang="en-US" sz="1500" dirty="0"/>
          </a:p>
        </p:txBody>
      </p:sp>
      <p:sp>
        <p:nvSpPr>
          <p:cNvPr id="28" name="Text 2642"/>
          <p:cNvSpPr txBox="1"/>
          <p:nvPr/>
        </p:nvSpPr>
        <p:spPr>
          <a:xfrm>
            <a:off x="9174175" y="4018788"/>
            <a:ext cx="2377440" cy="1293876"/>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Soviet troops invade eastern Poland</a:t>
            </a:r>
            <a:endParaRPr lang="en-US" sz="1500" dirty="0"/>
          </a:p>
        </p:txBody>
      </p:sp>
      <p:sp>
        <p:nvSpPr>
          <p:cNvPr id="29" name="Callout 2643"/>
          <p:cNvSpPr/>
          <p:nvPr/>
        </p:nvSpPr>
        <p:spPr>
          <a:xfrm>
            <a:off x="548640" y="5550408"/>
            <a:ext cx="11094415" cy="713232"/>
          </a:xfrm>
          <a:prstGeom prst="roundRect">
            <a:avLst>
              <a:gd name="adj" fmla="val 12821"/>
            </a:avLst>
          </a:prstGeom>
          <a:solidFill>
            <a:schemeClr val="accent4">
              <a:alpha val="20000"/>
            </a:schemeClr>
          </a:solidFill>
          <a:ln/>
        </p:spPr>
      </p:sp>
      <p:sp>
        <p:nvSpPr>
          <p:cNvPr id="30" name="Callout label 2644"/>
          <p:cNvSpPr/>
          <p:nvPr/>
        </p:nvSpPr>
        <p:spPr>
          <a:xfrm>
            <a:off x="731520" y="5751576"/>
            <a:ext cx="1045034" cy="310896"/>
          </a:xfrm>
          <a:prstGeom prst="roundRect">
            <a:avLst>
              <a:gd name="adj" fmla="val 50000"/>
            </a:avLst>
          </a:prstGeom>
          <a:solidFill>
            <a:schemeClr val="accent4"/>
          </a:solidFill>
          <a:ln/>
        </p:spPr>
      </p:sp>
      <p:sp>
        <p:nvSpPr>
          <p:cNvPr id="31" name="Text 2645"/>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32" name="Text 2646"/>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Hitler expected a local war over Poland; Britain and France turned it into a European war.</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Kicker 264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KQ4 · CAUSES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What caused the war in 1939?</a:t>
            </a:r>
            <a:endParaRPr lang="en-US" sz="3400" dirty="0"/>
          </a:p>
        </p:txBody>
      </p:sp>
      <p:sp>
        <p:nvSpPr>
          <p:cNvPr id="4" name="Card 2648"/>
          <p:cNvSpPr/>
          <p:nvPr/>
        </p:nvSpPr>
        <p:spPr>
          <a:xfrm>
            <a:off x="548640" y="1481328"/>
            <a:ext cx="3515258" cy="1760220"/>
          </a:xfrm>
          <a:prstGeom prst="roundRect">
            <a:avLst>
              <a:gd name="adj" fmla="val 5195"/>
            </a:avLst>
          </a:prstGeom>
          <a:solidFill>
            <a:schemeClr val="accent3">
              <a:alpha val="10000"/>
            </a:schemeClr>
          </a:solidFill>
          <a:ln/>
        </p:spPr>
      </p:sp>
      <p:sp>
        <p:nvSpPr>
          <p:cNvPr id="5" name="Icon circle 2649"/>
          <p:cNvSpPr/>
          <p:nvPr/>
        </p:nvSpPr>
        <p:spPr>
          <a:xfrm>
            <a:off x="731520" y="1664208"/>
            <a:ext cx="475488" cy="475488"/>
          </a:xfrm>
          <a:prstGeom prst="ellipse">
            <a:avLst/>
          </a:prstGeom>
          <a:solidFill>
            <a:schemeClr val="accent3"/>
          </a:solidFill>
          <a:ln/>
        </p:spPr>
      </p:sp>
      <p:pic>
        <p:nvPicPr>
          <p:cNvPr id="6" name="Icon FaBullseye 2650"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651"/>
          <p:cNvSpPr txBox="1"/>
          <p:nvPr/>
        </p:nvSpPr>
        <p:spPr>
          <a:xfrm>
            <a:off x="1335024"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Hitler's aims</a:t>
            </a:r>
            <a:endParaRPr lang="en-US" sz="1600" dirty="0"/>
          </a:p>
        </p:txBody>
      </p:sp>
      <p:sp>
        <p:nvSpPr>
          <p:cNvPr id="8" name="Text 2652"/>
          <p:cNvSpPr txBox="1"/>
          <p:nvPr/>
        </p:nvSpPr>
        <p:spPr>
          <a:xfrm>
            <a:off x="731520"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Lebensraum and racial war; the Hossbach Memorandum (1937).</a:t>
            </a:r>
            <a:endParaRPr lang="en-US" sz="1700" dirty="0"/>
          </a:p>
        </p:txBody>
      </p:sp>
      <p:sp>
        <p:nvSpPr>
          <p:cNvPr id="9" name="Card 2653"/>
          <p:cNvSpPr/>
          <p:nvPr/>
        </p:nvSpPr>
        <p:spPr>
          <a:xfrm>
            <a:off x="4338218" y="1481328"/>
            <a:ext cx="3515258" cy="1760220"/>
          </a:xfrm>
          <a:prstGeom prst="roundRect">
            <a:avLst>
              <a:gd name="adj" fmla="val 5195"/>
            </a:avLst>
          </a:prstGeom>
          <a:solidFill>
            <a:schemeClr val="accent3">
              <a:alpha val="10000"/>
            </a:schemeClr>
          </a:solidFill>
          <a:ln/>
        </p:spPr>
      </p:sp>
      <p:sp>
        <p:nvSpPr>
          <p:cNvPr id="10" name="Icon circle 2654"/>
          <p:cNvSpPr/>
          <p:nvPr/>
        </p:nvSpPr>
        <p:spPr>
          <a:xfrm>
            <a:off x="4521098" y="1664208"/>
            <a:ext cx="475488" cy="475488"/>
          </a:xfrm>
          <a:prstGeom prst="ellipse">
            <a:avLst/>
          </a:prstGeom>
          <a:solidFill>
            <a:schemeClr val="accent3"/>
          </a:solidFill>
          <a:ln/>
        </p:spPr>
      </p:sp>
      <p:pic>
        <p:nvPicPr>
          <p:cNvPr id="11" name="Icon FaHandshake 2655"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2" name="Card title 2656"/>
          <p:cNvSpPr txBox="1"/>
          <p:nvPr/>
        </p:nvSpPr>
        <p:spPr>
          <a:xfrm>
            <a:off x="5124602"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Appeasement</a:t>
            </a:r>
            <a:endParaRPr lang="en-US" sz="1600" dirty="0"/>
          </a:p>
        </p:txBody>
      </p:sp>
      <p:sp>
        <p:nvSpPr>
          <p:cNvPr id="13" name="Text 2657"/>
          <p:cNvSpPr txBox="1"/>
          <p:nvPr/>
        </p:nvSpPr>
        <p:spPr>
          <a:xfrm>
            <a:off x="4521098"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Encouraged Hitler and delayed resistance until it was harder.</a:t>
            </a:r>
            <a:endParaRPr lang="en-US" sz="1700" dirty="0"/>
          </a:p>
        </p:txBody>
      </p:sp>
      <p:sp>
        <p:nvSpPr>
          <p:cNvPr id="14" name="Card 2658"/>
          <p:cNvSpPr/>
          <p:nvPr/>
        </p:nvSpPr>
        <p:spPr>
          <a:xfrm>
            <a:off x="8127797" y="1481328"/>
            <a:ext cx="3515258" cy="1760220"/>
          </a:xfrm>
          <a:prstGeom prst="roundRect">
            <a:avLst>
              <a:gd name="adj" fmla="val 5195"/>
            </a:avLst>
          </a:prstGeom>
          <a:solidFill>
            <a:schemeClr val="accent3">
              <a:alpha val="10000"/>
            </a:schemeClr>
          </a:solidFill>
          <a:ln/>
        </p:spPr>
      </p:sp>
      <p:sp>
        <p:nvSpPr>
          <p:cNvPr id="15" name="Icon circle 2659"/>
          <p:cNvSpPr/>
          <p:nvPr/>
        </p:nvSpPr>
        <p:spPr>
          <a:xfrm>
            <a:off x="8310677" y="1664208"/>
            <a:ext cx="475488" cy="475488"/>
          </a:xfrm>
          <a:prstGeom prst="ellipse">
            <a:avLst/>
          </a:prstGeom>
          <a:solidFill>
            <a:schemeClr val="accent3"/>
          </a:solidFill>
          <a:ln/>
        </p:spPr>
      </p:sp>
      <p:pic>
        <p:nvPicPr>
          <p:cNvPr id="16" name="Icon FaFileContract 2660"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7" name="Card title 2661"/>
          <p:cNvSpPr txBox="1"/>
          <p:nvPr/>
        </p:nvSpPr>
        <p:spPr>
          <a:xfrm>
            <a:off x="8914181" y="166420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Versailles</a:t>
            </a:r>
            <a:endParaRPr lang="en-US" sz="1600" dirty="0"/>
          </a:p>
        </p:txBody>
      </p:sp>
      <p:sp>
        <p:nvSpPr>
          <p:cNvPr id="18" name="Text 2662"/>
          <p:cNvSpPr txBox="1"/>
          <p:nvPr/>
        </p:nvSpPr>
        <p:spPr>
          <a:xfrm>
            <a:off x="8310677" y="224942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Created grievances and weak new states such as Czechoslovakia.</a:t>
            </a:r>
            <a:endParaRPr lang="en-US" sz="1700" dirty="0"/>
          </a:p>
        </p:txBody>
      </p:sp>
      <p:sp>
        <p:nvSpPr>
          <p:cNvPr id="19" name="Card 2663"/>
          <p:cNvSpPr/>
          <p:nvPr/>
        </p:nvSpPr>
        <p:spPr>
          <a:xfrm>
            <a:off x="548640" y="3515868"/>
            <a:ext cx="3515258" cy="1760220"/>
          </a:xfrm>
          <a:prstGeom prst="roundRect">
            <a:avLst>
              <a:gd name="adj" fmla="val 5195"/>
            </a:avLst>
          </a:prstGeom>
          <a:solidFill>
            <a:schemeClr val="accent3">
              <a:alpha val="10000"/>
            </a:schemeClr>
          </a:solidFill>
          <a:ln/>
        </p:spPr>
      </p:sp>
      <p:sp>
        <p:nvSpPr>
          <p:cNvPr id="20" name="Icon circle 2664"/>
          <p:cNvSpPr/>
          <p:nvPr/>
        </p:nvSpPr>
        <p:spPr>
          <a:xfrm>
            <a:off x="731520" y="3698748"/>
            <a:ext cx="475488" cy="475488"/>
          </a:xfrm>
          <a:prstGeom prst="ellipse">
            <a:avLst/>
          </a:prstGeom>
          <a:solidFill>
            <a:schemeClr val="accent3"/>
          </a:solidFill>
          <a:ln/>
        </p:spPr>
      </p:sp>
      <p:pic>
        <p:nvPicPr>
          <p:cNvPr id="21" name="Icon GiBrokenShield 2665" descr="preencoded.png">    </p:cNvPr>
          <p:cNvPicPr>
            <a:picLocks noChangeAspect="1"/>
          </p:cNvPicPr>
          <p:nvPr/>
        </p:nvPicPr>
        <p:blipFill>
          <a:blip r:embed="rId4"/>
          <a:stretch>
            <a:fillRect/>
          </a:stretch>
        </p:blipFill>
        <p:spPr>
          <a:xfrm>
            <a:off x="836127" y="3803355"/>
            <a:ext cx="266273" cy="266273"/>
          </a:xfrm>
          <a:prstGeom prst="rect">
            <a:avLst/>
          </a:prstGeom>
        </p:spPr>
      </p:pic>
      <p:sp>
        <p:nvSpPr>
          <p:cNvPr id="22" name="Card title 2666"/>
          <p:cNvSpPr txBox="1"/>
          <p:nvPr/>
        </p:nvSpPr>
        <p:spPr>
          <a:xfrm>
            <a:off x="1335024"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League failure</a:t>
            </a:r>
            <a:endParaRPr lang="en-US" sz="1600" dirty="0"/>
          </a:p>
        </p:txBody>
      </p:sp>
      <p:sp>
        <p:nvSpPr>
          <p:cNvPr id="23" name="Text 2667"/>
          <p:cNvSpPr txBox="1"/>
          <p:nvPr/>
        </p:nvSpPr>
        <p:spPr>
          <a:xfrm>
            <a:off x="731520"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After Manchuria and Abyssinia, collective security was dead.</a:t>
            </a:r>
            <a:endParaRPr lang="en-US" sz="1700" dirty="0"/>
          </a:p>
        </p:txBody>
      </p:sp>
      <p:sp>
        <p:nvSpPr>
          <p:cNvPr id="24" name="Card 2668"/>
          <p:cNvSpPr/>
          <p:nvPr/>
        </p:nvSpPr>
        <p:spPr>
          <a:xfrm>
            <a:off x="4338218" y="3515868"/>
            <a:ext cx="3515258" cy="1760220"/>
          </a:xfrm>
          <a:prstGeom prst="roundRect">
            <a:avLst>
              <a:gd name="adj" fmla="val 5195"/>
            </a:avLst>
          </a:prstGeom>
          <a:solidFill>
            <a:schemeClr val="accent3">
              <a:alpha val="10000"/>
            </a:schemeClr>
          </a:solidFill>
          <a:ln/>
        </p:spPr>
      </p:sp>
      <p:sp>
        <p:nvSpPr>
          <p:cNvPr id="25" name="Icon circle 2669"/>
          <p:cNvSpPr/>
          <p:nvPr/>
        </p:nvSpPr>
        <p:spPr>
          <a:xfrm>
            <a:off x="4521098" y="3698748"/>
            <a:ext cx="475488" cy="475488"/>
          </a:xfrm>
          <a:prstGeom prst="ellipse">
            <a:avLst/>
          </a:prstGeom>
          <a:solidFill>
            <a:schemeClr val="accent3"/>
          </a:solidFill>
          <a:ln/>
        </p:spPr>
      </p:sp>
      <p:pic>
        <p:nvPicPr>
          <p:cNvPr id="26" name="Icon FaArrowTrendDown 2670" descr="preencoded.png">    </p:cNvPr>
          <p:cNvPicPr>
            <a:picLocks noChangeAspect="1"/>
          </p:cNvPicPr>
          <p:nvPr/>
        </p:nvPicPr>
        <p:blipFill>
          <a:blip r:embed="rId5"/>
          <a:stretch>
            <a:fillRect/>
          </a:stretch>
        </p:blipFill>
        <p:spPr>
          <a:xfrm>
            <a:off x="4625706" y="3803355"/>
            <a:ext cx="266273" cy="266273"/>
          </a:xfrm>
          <a:prstGeom prst="rect">
            <a:avLst/>
          </a:prstGeom>
        </p:spPr>
      </p:pic>
      <p:sp>
        <p:nvSpPr>
          <p:cNvPr id="27" name="Card title 2671"/>
          <p:cNvSpPr txBox="1"/>
          <p:nvPr/>
        </p:nvSpPr>
        <p:spPr>
          <a:xfrm>
            <a:off x="5124602"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The Depression</a:t>
            </a:r>
            <a:endParaRPr lang="en-US" sz="1600" dirty="0"/>
          </a:p>
        </p:txBody>
      </p:sp>
      <p:sp>
        <p:nvSpPr>
          <p:cNvPr id="28" name="Text 2672"/>
          <p:cNvSpPr txBox="1"/>
          <p:nvPr/>
        </p:nvSpPr>
        <p:spPr>
          <a:xfrm>
            <a:off x="4521098"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Brought Hitler to power and left democracies weak.</a:t>
            </a:r>
            <a:endParaRPr lang="en-US" sz="1700" dirty="0"/>
          </a:p>
        </p:txBody>
      </p:sp>
      <p:sp>
        <p:nvSpPr>
          <p:cNvPr id="29" name="Card 2673"/>
          <p:cNvSpPr/>
          <p:nvPr/>
        </p:nvSpPr>
        <p:spPr>
          <a:xfrm>
            <a:off x="8127797" y="3515868"/>
            <a:ext cx="3515258" cy="1760220"/>
          </a:xfrm>
          <a:prstGeom prst="roundRect">
            <a:avLst>
              <a:gd name="adj" fmla="val 5195"/>
            </a:avLst>
          </a:prstGeom>
          <a:solidFill>
            <a:schemeClr val="accent3">
              <a:alpha val="10000"/>
            </a:schemeClr>
          </a:solidFill>
          <a:ln/>
        </p:spPr>
      </p:sp>
      <p:sp>
        <p:nvSpPr>
          <p:cNvPr id="30" name="Icon circle 2674"/>
          <p:cNvSpPr/>
          <p:nvPr/>
        </p:nvSpPr>
        <p:spPr>
          <a:xfrm>
            <a:off x="8310677" y="3698748"/>
            <a:ext cx="475488" cy="475488"/>
          </a:xfrm>
          <a:prstGeom prst="ellipse">
            <a:avLst/>
          </a:prstGeom>
          <a:solidFill>
            <a:schemeClr val="accent3"/>
          </a:solidFill>
          <a:ln/>
        </p:spPr>
      </p:sp>
      <p:pic>
        <p:nvPicPr>
          <p:cNvPr id="31" name="Icon FaUnlink 2675" descr="preencoded.png">    </p:cNvPr>
          <p:cNvPicPr>
            <a:picLocks noChangeAspect="1"/>
          </p:cNvPicPr>
          <p:nvPr/>
        </p:nvPicPr>
        <p:blipFill>
          <a:blip r:embed="rId6"/>
          <a:stretch>
            <a:fillRect/>
          </a:stretch>
        </p:blipFill>
        <p:spPr>
          <a:xfrm>
            <a:off x="8415284" y="3803355"/>
            <a:ext cx="266273" cy="266273"/>
          </a:xfrm>
          <a:prstGeom prst="rect">
            <a:avLst/>
          </a:prstGeom>
        </p:spPr>
      </p:pic>
      <p:sp>
        <p:nvSpPr>
          <p:cNvPr id="32" name="Card title 2676"/>
          <p:cNvSpPr txBox="1"/>
          <p:nvPr/>
        </p:nvSpPr>
        <p:spPr>
          <a:xfrm>
            <a:off x="8914181" y="3698748"/>
            <a:ext cx="2545994" cy="475488"/>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Nazi–Soviet Pact</a:t>
            </a:r>
            <a:endParaRPr lang="en-US" sz="1600" dirty="0"/>
          </a:p>
        </p:txBody>
      </p:sp>
      <p:sp>
        <p:nvSpPr>
          <p:cNvPr id="33" name="Text 2677"/>
          <p:cNvSpPr txBox="1"/>
          <p:nvPr/>
        </p:nvSpPr>
        <p:spPr>
          <a:xfrm>
            <a:off x="8310677" y="4283964"/>
            <a:ext cx="3149498" cy="809244"/>
          </a:xfrm>
          <a:prstGeom prst="rect">
            <a:avLst/>
          </a:prstGeom>
          <a:noFill/>
          <a:ln/>
        </p:spPr>
        <p:txBody>
          <a:bodyPr wrap="square" lIns="0" tIns="0" rIns="0" bIns="0" rtlCol="0" anchor="t"/>
          <a:lstStyle/>
          <a:p>
            <a:pPr algn="l" indent="0" marL="0">
              <a:spcAft>
                <a:spcPts val="500"/>
              </a:spcAft>
              <a:buNone/>
            </a:pPr>
            <a:r>
              <a:rPr lang="en-US" sz="1700" dirty="0">
                <a:solidFill>
                  <a:schemeClr val="tx1"/>
                </a:solidFill>
              </a:rPr>
              <a:t>Removed Hitler's fear of a two-front war.</a:t>
            </a:r>
            <a:endParaRPr lang="en-US" sz="1700" dirty="0"/>
          </a:p>
        </p:txBody>
      </p:sp>
      <p:sp>
        <p:nvSpPr>
          <p:cNvPr id="34" name="Callout 2678"/>
          <p:cNvSpPr/>
          <p:nvPr/>
        </p:nvSpPr>
        <p:spPr>
          <a:xfrm>
            <a:off x="548640" y="5550408"/>
            <a:ext cx="11094415" cy="713232"/>
          </a:xfrm>
          <a:prstGeom prst="roundRect">
            <a:avLst>
              <a:gd name="adj" fmla="val 12821"/>
            </a:avLst>
          </a:prstGeom>
          <a:solidFill>
            <a:schemeClr val="accent4">
              <a:alpha val="20000"/>
            </a:schemeClr>
          </a:solidFill>
          <a:ln/>
        </p:spPr>
      </p:sp>
      <p:sp>
        <p:nvSpPr>
          <p:cNvPr id="35" name="Callout label 2679"/>
          <p:cNvSpPr/>
          <p:nvPr/>
        </p:nvSpPr>
        <p:spPr>
          <a:xfrm>
            <a:off x="731520" y="5751576"/>
            <a:ext cx="894203" cy="310896"/>
          </a:xfrm>
          <a:prstGeom prst="roundRect">
            <a:avLst>
              <a:gd name="adj" fmla="val 50000"/>
            </a:avLst>
          </a:prstGeom>
          <a:solidFill>
            <a:schemeClr val="accent4"/>
          </a:solidFill>
          <a:ln/>
        </p:spPr>
      </p:sp>
      <p:sp>
        <p:nvSpPr>
          <p:cNvPr id="36" name="Text 2680"/>
          <p:cNvSpPr txBox="1"/>
          <p:nvPr/>
        </p:nvSpPr>
        <p:spPr>
          <a:xfrm>
            <a:off x="731520" y="5751576"/>
            <a:ext cx="894203"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VERDICT</a:t>
            </a:r>
            <a:endParaRPr lang="en-US" sz="1200" dirty="0"/>
          </a:p>
        </p:txBody>
      </p:sp>
      <p:sp>
        <p:nvSpPr>
          <p:cNvPr id="37" name="Text 2681"/>
          <p:cNvSpPr txBox="1"/>
          <p:nvPr/>
        </p:nvSpPr>
        <p:spPr>
          <a:xfrm>
            <a:off x="1808603" y="5623560"/>
            <a:ext cx="9651572"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Long-term conditions + failure to stop him + Hitler's intentions = war. Most historians put Hitler at the centre.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Kicker 2682"/>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KQ4 · INTERPRETATIONS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Historians on the outbreak of war</a:t>
            </a:r>
            <a:endParaRPr lang="en-US" sz="3400" dirty="0"/>
          </a:p>
        </p:txBody>
      </p:sp>
      <p:sp>
        <p:nvSpPr>
          <p:cNvPr id="4" name="Card 2683"/>
          <p:cNvSpPr/>
          <p:nvPr/>
        </p:nvSpPr>
        <p:spPr>
          <a:xfrm>
            <a:off x="548640" y="1481328"/>
            <a:ext cx="5410048" cy="1760220"/>
          </a:xfrm>
          <a:prstGeom prst="roundRect">
            <a:avLst>
              <a:gd name="adj" fmla="val 5195"/>
            </a:avLst>
          </a:prstGeom>
          <a:solidFill>
            <a:schemeClr val="accent3">
              <a:alpha val="10000"/>
            </a:schemeClr>
          </a:solidFill>
          <a:ln/>
        </p:spPr>
      </p:sp>
      <p:sp>
        <p:nvSpPr>
          <p:cNvPr id="5" name="Icon circle 2684"/>
          <p:cNvSpPr/>
          <p:nvPr/>
        </p:nvSpPr>
        <p:spPr>
          <a:xfrm>
            <a:off x="731520" y="1664208"/>
            <a:ext cx="475488" cy="475488"/>
          </a:xfrm>
          <a:prstGeom prst="ellipse">
            <a:avLst/>
          </a:prstGeom>
          <a:solidFill>
            <a:schemeClr val="accent3"/>
          </a:solidFill>
          <a:ln/>
        </p:spPr>
      </p:sp>
      <p:pic>
        <p:nvPicPr>
          <p:cNvPr id="6" name="Icon FaBookOpen 2685"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2686"/>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Hugh Trevor-Roper</a:t>
            </a:r>
            <a:endParaRPr lang="en-US" sz="1700" dirty="0"/>
          </a:p>
        </p:txBody>
      </p:sp>
      <p:sp>
        <p:nvSpPr>
          <p:cNvPr id="8" name="Text 2687"/>
          <p:cNvSpPr txBox="1"/>
          <p:nvPr/>
        </p:nvSpPr>
        <p:spPr>
          <a:xfrm>
            <a:off x="731520" y="2249424"/>
            <a:ext cx="5044288" cy="809244"/>
          </a:xfrm>
          <a:prstGeom prst="rect">
            <a:avLst/>
          </a:prstGeom>
          <a:noFill/>
          <a:ln/>
        </p:spPr>
        <p:txBody>
          <a:bodyPr wrap="square" lIns="0" tIns="0" rIns="0" bIns="0" rtlCol="0" anchor="t"/>
          <a:lstStyle/>
          <a:p>
            <a:pPr algn="l" indent="0" marL="0">
              <a:spcAft>
                <a:spcPts val="500"/>
              </a:spcAft>
              <a:buNone/>
            </a:pPr>
            <a:r>
              <a:rPr lang="en-US" sz="1700" b="1" dirty="0">
                <a:solidFill>
                  <a:schemeClr val="tx1"/>
                </a:solidFill>
              </a:rPr>
              <a:t>Intentionalist:</a:t>
            </a:r>
            <a:r>
              <a:rPr lang="en-US" sz="1700" dirty="0">
                <a:solidFill>
                  <a:schemeClr val="tx1"/>
                </a:solidFill>
              </a:rPr>
              <a:t> Hitler followed a long-term plan from Mein Kampf to win Lebensraum in the East.</a:t>
            </a:r>
            <a:endParaRPr lang="en-US" sz="1700" dirty="0"/>
          </a:p>
        </p:txBody>
      </p:sp>
      <p:sp>
        <p:nvSpPr>
          <p:cNvPr id="9" name="Card 2688"/>
          <p:cNvSpPr/>
          <p:nvPr/>
        </p:nvSpPr>
        <p:spPr>
          <a:xfrm>
            <a:off x="6233008" y="1481328"/>
            <a:ext cx="5410048" cy="1760220"/>
          </a:xfrm>
          <a:prstGeom prst="roundRect">
            <a:avLst>
              <a:gd name="adj" fmla="val 5195"/>
            </a:avLst>
          </a:prstGeom>
          <a:solidFill>
            <a:schemeClr val="accent3">
              <a:alpha val="10000"/>
            </a:schemeClr>
          </a:solidFill>
          <a:ln/>
        </p:spPr>
      </p:sp>
      <p:sp>
        <p:nvSpPr>
          <p:cNvPr id="10" name="Icon circle 2689"/>
          <p:cNvSpPr/>
          <p:nvPr/>
        </p:nvSpPr>
        <p:spPr>
          <a:xfrm>
            <a:off x="6415888" y="1664208"/>
            <a:ext cx="475488" cy="475488"/>
          </a:xfrm>
          <a:prstGeom prst="ellipse">
            <a:avLst/>
          </a:prstGeom>
          <a:solidFill>
            <a:schemeClr val="accent3"/>
          </a:solidFill>
          <a:ln/>
        </p:spPr>
      </p:sp>
      <p:pic>
        <p:nvPicPr>
          <p:cNvPr id="11" name="Icon FaChessKnight 2690"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2691"/>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A.J.P. Taylor (1961)</a:t>
            </a:r>
            <a:endParaRPr lang="en-US" sz="1700" dirty="0"/>
          </a:p>
        </p:txBody>
      </p:sp>
      <p:sp>
        <p:nvSpPr>
          <p:cNvPr id="13" name="Text 2692"/>
          <p:cNvSpPr txBox="1"/>
          <p:nvPr/>
        </p:nvSpPr>
        <p:spPr>
          <a:xfrm>
            <a:off x="6415888" y="2249424"/>
            <a:ext cx="5044288" cy="809244"/>
          </a:xfrm>
          <a:prstGeom prst="rect">
            <a:avLst/>
          </a:prstGeom>
          <a:noFill/>
          <a:ln/>
        </p:spPr>
        <p:txBody>
          <a:bodyPr wrap="square" lIns="0" tIns="0" rIns="0" bIns="0" rtlCol="0" anchor="t"/>
          <a:lstStyle/>
          <a:p>
            <a:pPr algn="l" indent="0" marL="0">
              <a:spcAft>
                <a:spcPts val="500"/>
              </a:spcAft>
              <a:buNone/>
            </a:pPr>
            <a:r>
              <a:rPr lang="en-US" sz="1700" b="1" dirty="0">
                <a:solidFill>
                  <a:schemeClr val="tx1"/>
                </a:solidFill>
              </a:rPr>
              <a:t>Opportunist:</a:t>
            </a:r>
            <a:r>
              <a:rPr lang="en-US" sz="1700" dirty="0">
                <a:solidFill>
                  <a:schemeClr val="tx1"/>
                </a:solidFill>
              </a:rPr>
              <a:t> Hitler was like earlier German leaders; war in 1939 was a miscalculation. Versailles and the appeasers share the blame.</a:t>
            </a:r>
            <a:endParaRPr lang="en-US" sz="1700" dirty="0"/>
          </a:p>
        </p:txBody>
      </p:sp>
      <p:sp>
        <p:nvSpPr>
          <p:cNvPr id="14" name="Card 2693"/>
          <p:cNvSpPr/>
          <p:nvPr/>
        </p:nvSpPr>
        <p:spPr>
          <a:xfrm>
            <a:off x="548640" y="3515868"/>
            <a:ext cx="5410048" cy="1760220"/>
          </a:xfrm>
          <a:prstGeom prst="roundRect">
            <a:avLst>
              <a:gd name="adj" fmla="val 5195"/>
            </a:avLst>
          </a:prstGeom>
          <a:solidFill>
            <a:schemeClr val="accent3">
              <a:alpha val="10000"/>
            </a:schemeClr>
          </a:solidFill>
          <a:ln/>
        </p:spPr>
      </p:sp>
      <p:sp>
        <p:nvSpPr>
          <p:cNvPr id="15" name="Icon circle 2694"/>
          <p:cNvSpPr/>
          <p:nvPr/>
        </p:nvSpPr>
        <p:spPr>
          <a:xfrm>
            <a:off x="731520" y="3698748"/>
            <a:ext cx="475488" cy="475488"/>
          </a:xfrm>
          <a:prstGeom prst="ellipse">
            <a:avLst/>
          </a:prstGeom>
          <a:solidFill>
            <a:schemeClr val="accent3"/>
          </a:solidFill>
          <a:ln/>
        </p:spPr>
      </p:sp>
      <p:pic>
        <p:nvPicPr>
          <p:cNvPr id="16" name="Icon FaBalanceScale 2695" descr="preencoded.png">    </p:cNvPr>
          <p:cNvPicPr>
            <a:picLocks noChangeAspect="1"/>
          </p:cNvPicPr>
          <p:nvPr/>
        </p:nvPicPr>
        <p:blipFill>
          <a:blip r:embed="rId3"/>
          <a:stretch>
            <a:fillRect/>
          </a:stretch>
        </p:blipFill>
        <p:spPr>
          <a:xfrm>
            <a:off x="836127" y="3803355"/>
            <a:ext cx="266273" cy="266273"/>
          </a:xfrm>
          <a:prstGeom prst="rect">
            <a:avLst/>
          </a:prstGeom>
        </p:spPr>
      </p:pic>
      <p:sp>
        <p:nvSpPr>
          <p:cNvPr id="17" name="Card title 2696"/>
          <p:cNvSpPr txBox="1"/>
          <p:nvPr/>
        </p:nvSpPr>
        <p:spPr>
          <a:xfrm>
            <a:off x="1335024"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Alan Bullock</a:t>
            </a:r>
            <a:endParaRPr lang="en-US" sz="1700" dirty="0"/>
          </a:p>
        </p:txBody>
      </p:sp>
      <p:sp>
        <p:nvSpPr>
          <p:cNvPr id="18" name="Text 2697"/>
          <p:cNvSpPr txBox="1"/>
          <p:nvPr/>
        </p:nvSpPr>
        <p:spPr>
          <a:xfrm>
            <a:off x="731520" y="4283964"/>
            <a:ext cx="5044288" cy="809244"/>
          </a:xfrm>
          <a:prstGeom prst="rect">
            <a:avLst/>
          </a:prstGeom>
          <a:noFill/>
          <a:ln/>
        </p:spPr>
        <p:txBody>
          <a:bodyPr wrap="square" lIns="0" tIns="0" rIns="0" bIns="0" rtlCol="0" anchor="t"/>
          <a:lstStyle/>
          <a:p>
            <a:pPr algn="l" indent="0" marL="0">
              <a:spcAft>
                <a:spcPts val="500"/>
              </a:spcAft>
              <a:buNone/>
            </a:pPr>
            <a:r>
              <a:rPr lang="en-US" sz="1700" b="1" dirty="0">
                <a:solidFill>
                  <a:schemeClr val="tx1"/>
                </a:solidFill>
              </a:rPr>
              <a:t>Both:</a:t>
            </a:r>
            <a:r>
              <a:rPr lang="en-US" sz="1700" dirty="0">
                <a:solidFill>
                  <a:schemeClr val="tx1"/>
                </a:solidFill>
              </a:rPr>
              <a:t> Hitler had fixed aims but was flexible and opportunistic about methods and timing.</a:t>
            </a:r>
            <a:endParaRPr lang="en-US" sz="1700" dirty="0"/>
          </a:p>
        </p:txBody>
      </p:sp>
      <p:sp>
        <p:nvSpPr>
          <p:cNvPr id="19" name="Card 2698"/>
          <p:cNvSpPr/>
          <p:nvPr/>
        </p:nvSpPr>
        <p:spPr>
          <a:xfrm>
            <a:off x="6233008" y="3515868"/>
            <a:ext cx="5410048" cy="1760220"/>
          </a:xfrm>
          <a:prstGeom prst="roundRect">
            <a:avLst>
              <a:gd name="adj" fmla="val 5195"/>
            </a:avLst>
          </a:prstGeom>
          <a:solidFill>
            <a:schemeClr val="accent3">
              <a:alpha val="10000"/>
            </a:schemeClr>
          </a:solidFill>
          <a:ln/>
        </p:spPr>
      </p:sp>
      <p:sp>
        <p:nvSpPr>
          <p:cNvPr id="20" name="Icon circle 2699"/>
          <p:cNvSpPr/>
          <p:nvPr/>
        </p:nvSpPr>
        <p:spPr>
          <a:xfrm>
            <a:off x="6415888" y="3698748"/>
            <a:ext cx="475488" cy="475488"/>
          </a:xfrm>
          <a:prstGeom prst="ellipse">
            <a:avLst/>
          </a:prstGeom>
          <a:solidFill>
            <a:schemeClr val="accent3"/>
          </a:solidFill>
          <a:ln/>
        </p:spPr>
      </p:sp>
      <p:pic>
        <p:nvPicPr>
          <p:cNvPr id="21" name="Icon FaGlobeEurope 2700" descr="preencoded.png">    </p:cNvPr>
          <p:cNvPicPr>
            <a:picLocks noChangeAspect="1"/>
          </p:cNvPicPr>
          <p:nvPr/>
        </p:nvPicPr>
        <p:blipFill>
          <a:blip r:embed="rId4"/>
          <a:stretch>
            <a:fillRect/>
          </a:stretch>
        </p:blipFill>
        <p:spPr>
          <a:xfrm>
            <a:off x="6520495" y="3803355"/>
            <a:ext cx="266273" cy="266273"/>
          </a:xfrm>
          <a:prstGeom prst="rect">
            <a:avLst/>
          </a:prstGeom>
        </p:spPr>
      </p:pic>
      <p:sp>
        <p:nvSpPr>
          <p:cNvPr id="22" name="Card title 2701"/>
          <p:cNvSpPr txBox="1"/>
          <p:nvPr/>
        </p:nvSpPr>
        <p:spPr>
          <a:xfrm>
            <a:off x="7019392" y="369874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Richard Overy</a:t>
            </a:r>
            <a:endParaRPr lang="en-US" sz="1700" dirty="0"/>
          </a:p>
        </p:txBody>
      </p:sp>
      <p:sp>
        <p:nvSpPr>
          <p:cNvPr id="23" name="Text 2702"/>
          <p:cNvSpPr txBox="1"/>
          <p:nvPr/>
        </p:nvSpPr>
        <p:spPr>
          <a:xfrm>
            <a:off x="6415888" y="4283964"/>
            <a:ext cx="5044288" cy="809244"/>
          </a:xfrm>
          <a:prstGeom prst="rect">
            <a:avLst/>
          </a:prstGeom>
          <a:noFill/>
          <a:ln/>
        </p:spPr>
        <p:txBody>
          <a:bodyPr wrap="square" lIns="0" tIns="0" rIns="0" bIns="0" rtlCol="0" anchor="t"/>
          <a:lstStyle/>
          <a:p>
            <a:pPr algn="l" indent="0" marL="0">
              <a:spcAft>
                <a:spcPts val="500"/>
              </a:spcAft>
              <a:buNone/>
            </a:pPr>
            <a:r>
              <a:rPr lang="en-US" sz="1700" b="1" dirty="0">
                <a:solidFill>
                  <a:schemeClr val="tx1"/>
                </a:solidFill>
              </a:rPr>
              <a:t>Great-power view:</a:t>
            </a:r>
            <a:r>
              <a:rPr lang="en-US" sz="1700" dirty="0">
                <a:solidFill>
                  <a:schemeClr val="tx1"/>
                </a:solidFill>
              </a:rPr>
              <a:t> Hitler expected a local war; Britain and France chose to fight to defend their position.</a:t>
            </a:r>
            <a:endParaRPr lang="en-US" sz="1700" dirty="0"/>
          </a:p>
        </p:txBody>
      </p:sp>
      <p:sp>
        <p:nvSpPr>
          <p:cNvPr id="24" name="Callout 2703"/>
          <p:cNvSpPr/>
          <p:nvPr/>
        </p:nvSpPr>
        <p:spPr>
          <a:xfrm>
            <a:off x="548640" y="5550408"/>
            <a:ext cx="11094415" cy="713232"/>
          </a:xfrm>
          <a:prstGeom prst="roundRect">
            <a:avLst>
              <a:gd name="adj" fmla="val 12821"/>
            </a:avLst>
          </a:prstGeom>
          <a:solidFill>
            <a:schemeClr val="accent4">
              <a:alpha val="20000"/>
            </a:schemeClr>
          </a:solidFill>
          <a:ln/>
        </p:spPr>
      </p:sp>
      <p:sp>
        <p:nvSpPr>
          <p:cNvPr id="25" name="Callout label 2704"/>
          <p:cNvSpPr/>
          <p:nvPr/>
        </p:nvSpPr>
        <p:spPr>
          <a:xfrm>
            <a:off x="731520" y="5751576"/>
            <a:ext cx="977581" cy="310896"/>
          </a:xfrm>
          <a:prstGeom prst="roundRect">
            <a:avLst>
              <a:gd name="adj" fmla="val 50000"/>
            </a:avLst>
          </a:prstGeom>
          <a:solidFill>
            <a:schemeClr val="accent4"/>
          </a:solidFill>
          <a:ln/>
        </p:spPr>
      </p:sp>
      <p:sp>
        <p:nvSpPr>
          <p:cNvPr id="26" name="Text 2705"/>
          <p:cNvSpPr txBox="1"/>
          <p:nvPr/>
        </p:nvSpPr>
        <p:spPr>
          <a:xfrm>
            <a:off x="731520" y="5751576"/>
            <a:ext cx="97758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EXAM TIP</a:t>
            </a:r>
            <a:endParaRPr lang="en-US" sz="1200" dirty="0"/>
          </a:p>
        </p:txBody>
      </p:sp>
      <p:sp>
        <p:nvSpPr>
          <p:cNvPr id="27" name="Text 2706"/>
          <p:cNvSpPr txBox="1"/>
          <p:nvPr/>
        </p:nvSpPr>
        <p:spPr>
          <a:xfrm>
            <a:off x="1891981" y="5623560"/>
            <a:ext cx="956819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Use these as ready-made arguments in (b) essays — but always back them with your own evidence.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Kicker 270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KQ4 · ASIA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The road to war in Asia, 1937–39</a:t>
            </a:r>
            <a:endParaRPr lang="en-US" sz="3400" dirty="0"/>
          </a:p>
        </p:txBody>
      </p:sp>
      <p:sp>
        <p:nvSpPr>
          <p:cNvPr id="4" name="Connector 2708"/>
          <p:cNvSpPr/>
          <p:nvPr/>
        </p:nvSpPr>
        <p:spPr>
          <a:xfrm>
            <a:off x="1234440" y="1856232"/>
            <a:ext cx="0" cy="295656"/>
          </a:xfrm>
          <a:prstGeom prst="line">
            <a:avLst/>
          </a:prstGeom>
          <a:noFill/>
          <a:ln w="15875">
            <a:solidFill>
              <a:schemeClr val="accent3"/>
            </a:solidFill>
            <a:prstDash val="solid"/>
          </a:ln>
        </p:spPr>
      </p:sp>
      <p:sp>
        <p:nvSpPr>
          <p:cNvPr id="5" name="Date pill 2709"/>
          <p:cNvSpPr/>
          <p:nvPr/>
        </p:nvSpPr>
        <p:spPr>
          <a:xfrm>
            <a:off x="548640" y="1527048"/>
            <a:ext cx="1371600" cy="329184"/>
          </a:xfrm>
          <a:prstGeom prst="roundRect">
            <a:avLst>
              <a:gd name="adj" fmla="val 50000"/>
            </a:avLst>
          </a:prstGeom>
          <a:solidFill>
            <a:schemeClr val="accent3"/>
          </a:solidFill>
          <a:ln/>
        </p:spPr>
      </p:sp>
      <p:sp>
        <p:nvSpPr>
          <p:cNvPr id="6" name="Text 2710"/>
          <p:cNvSpPr txBox="1"/>
          <p:nvPr/>
        </p:nvSpPr>
        <p:spPr>
          <a:xfrm>
            <a:off x="548640" y="1527048"/>
            <a:ext cx="13716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July 1937</a:t>
            </a:r>
            <a:endParaRPr lang="en-US" sz="1300" dirty="0"/>
          </a:p>
        </p:txBody>
      </p:sp>
      <p:sp>
        <p:nvSpPr>
          <p:cNvPr id="7" name="Text 2711"/>
          <p:cNvSpPr txBox="1"/>
          <p:nvPr/>
        </p:nvSpPr>
        <p:spPr>
          <a:xfrm>
            <a:off x="2084832" y="1508760"/>
            <a:ext cx="9558223" cy="588264"/>
          </a:xfrm>
          <a:prstGeom prst="rect">
            <a:avLst/>
          </a:prstGeom>
          <a:noFill/>
          <a:ln/>
        </p:spPr>
        <p:txBody>
          <a:bodyPr wrap="square" lIns="0" tIns="0" rIns="0" bIns="0" rtlCol="0" anchor="t"/>
          <a:lstStyle/>
          <a:p>
            <a:pPr algn="l" indent="0" marL="0">
              <a:spcAft>
                <a:spcPts val="600"/>
              </a:spcAft>
              <a:buNone/>
            </a:pPr>
            <a:r>
              <a:rPr lang="en-US" sz="1600" b="1" dirty="0">
                <a:solidFill>
                  <a:schemeClr val="tx1"/>
                </a:solidFill>
              </a:rPr>
              <a:t>Marco Polo Bridge</a:t>
            </a:r>
            <a:r>
              <a:rPr lang="en-US" sz="1600" dirty="0">
                <a:solidFill>
                  <a:schemeClr val="tx1"/>
                </a:solidFill>
              </a:rPr>
              <a:t> clash → full-scale war with China</a:t>
            </a:r>
            <a:endParaRPr lang="en-US" sz="1600" dirty="0"/>
          </a:p>
        </p:txBody>
      </p:sp>
      <p:sp>
        <p:nvSpPr>
          <p:cNvPr id="8" name="Connector 2712"/>
          <p:cNvSpPr/>
          <p:nvPr/>
        </p:nvSpPr>
        <p:spPr>
          <a:xfrm>
            <a:off x="1234440" y="2481072"/>
            <a:ext cx="0" cy="295656"/>
          </a:xfrm>
          <a:prstGeom prst="line">
            <a:avLst/>
          </a:prstGeom>
          <a:noFill/>
          <a:ln w="15875">
            <a:solidFill>
              <a:schemeClr val="accent3"/>
            </a:solidFill>
            <a:prstDash val="solid"/>
          </a:ln>
        </p:spPr>
      </p:sp>
      <p:sp>
        <p:nvSpPr>
          <p:cNvPr id="9" name="Date pill 2713"/>
          <p:cNvSpPr/>
          <p:nvPr/>
        </p:nvSpPr>
        <p:spPr>
          <a:xfrm>
            <a:off x="548640" y="2151888"/>
            <a:ext cx="1371600" cy="329184"/>
          </a:xfrm>
          <a:prstGeom prst="roundRect">
            <a:avLst>
              <a:gd name="adj" fmla="val 50000"/>
            </a:avLst>
          </a:prstGeom>
          <a:solidFill>
            <a:schemeClr val="accent3"/>
          </a:solidFill>
          <a:ln/>
        </p:spPr>
      </p:sp>
      <p:sp>
        <p:nvSpPr>
          <p:cNvPr id="10" name="Text 2714"/>
          <p:cNvSpPr txBox="1"/>
          <p:nvPr/>
        </p:nvSpPr>
        <p:spPr>
          <a:xfrm>
            <a:off x="548640" y="2151888"/>
            <a:ext cx="13716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Nov 1937</a:t>
            </a:r>
            <a:endParaRPr lang="en-US" sz="1300" dirty="0"/>
          </a:p>
        </p:txBody>
      </p:sp>
      <p:sp>
        <p:nvSpPr>
          <p:cNvPr id="11" name="Text 2715"/>
          <p:cNvSpPr txBox="1"/>
          <p:nvPr/>
        </p:nvSpPr>
        <p:spPr>
          <a:xfrm>
            <a:off x="2084832" y="2133600"/>
            <a:ext cx="9558223" cy="588264"/>
          </a:xfrm>
          <a:prstGeom prst="rect">
            <a:avLst/>
          </a:prstGeom>
          <a:noFill/>
          <a:ln/>
        </p:spPr>
        <p:txBody>
          <a:bodyPr wrap="square" lIns="0" tIns="0" rIns="0" bIns="0" rtlCol="0" anchor="t"/>
          <a:lstStyle/>
          <a:p>
            <a:pPr algn="l" indent="0" marL="0">
              <a:spcAft>
                <a:spcPts val="600"/>
              </a:spcAft>
              <a:buNone/>
            </a:pPr>
            <a:r>
              <a:rPr lang="en-US" sz="1600" b="1" dirty="0">
                <a:solidFill>
                  <a:schemeClr val="tx1"/>
                </a:solidFill>
              </a:rPr>
              <a:t>Brussels Conference</a:t>
            </a:r>
            <a:r>
              <a:rPr lang="en-US" sz="1600" dirty="0">
                <a:solidFill>
                  <a:schemeClr val="tx1"/>
                </a:solidFill>
              </a:rPr>
              <a:t> fails to act against Japan</a:t>
            </a:r>
            <a:endParaRPr lang="en-US" sz="1600" dirty="0"/>
          </a:p>
        </p:txBody>
      </p:sp>
      <p:sp>
        <p:nvSpPr>
          <p:cNvPr id="12" name="Connector 2716"/>
          <p:cNvSpPr/>
          <p:nvPr/>
        </p:nvSpPr>
        <p:spPr>
          <a:xfrm>
            <a:off x="1234440" y="3105912"/>
            <a:ext cx="0" cy="295656"/>
          </a:xfrm>
          <a:prstGeom prst="line">
            <a:avLst/>
          </a:prstGeom>
          <a:noFill/>
          <a:ln w="15875">
            <a:solidFill>
              <a:schemeClr val="accent3"/>
            </a:solidFill>
            <a:prstDash val="solid"/>
          </a:ln>
        </p:spPr>
      </p:sp>
      <p:sp>
        <p:nvSpPr>
          <p:cNvPr id="13" name="Date pill 2717"/>
          <p:cNvSpPr/>
          <p:nvPr/>
        </p:nvSpPr>
        <p:spPr>
          <a:xfrm>
            <a:off x="548640" y="2776728"/>
            <a:ext cx="1371600" cy="329184"/>
          </a:xfrm>
          <a:prstGeom prst="roundRect">
            <a:avLst>
              <a:gd name="adj" fmla="val 50000"/>
            </a:avLst>
          </a:prstGeom>
          <a:solidFill>
            <a:schemeClr val="accent3"/>
          </a:solidFill>
          <a:ln/>
        </p:spPr>
      </p:sp>
      <p:sp>
        <p:nvSpPr>
          <p:cNvPr id="14" name="Text 2718"/>
          <p:cNvSpPr txBox="1"/>
          <p:nvPr/>
        </p:nvSpPr>
        <p:spPr>
          <a:xfrm>
            <a:off x="548640" y="2776728"/>
            <a:ext cx="13716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Dec 1937</a:t>
            </a:r>
            <a:endParaRPr lang="en-US" sz="1300" dirty="0"/>
          </a:p>
        </p:txBody>
      </p:sp>
      <p:sp>
        <p:nvSpPr>
          <p:cNvPr id="15" name="Text 2719"/>
          <p:cNvSpPr txBox="1"/>
          <p:nvPr/>
        </p:nvSpPr>
        <p:spPr>
          <a:xfrm>
            <a:off x="2084832" y="2758440"/>
            <a:ext cx="9558223" cy="588264"/>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Nanjing falls: the </a:t>
            </a:r>
            <a:r>
              <a:rPr lang="en-US" sz="1600" b="1" dirty="0">
                <a:solidFill>
                  <a:schemeClr val="tx1"/>
                </a:solidFill>
              </a:rPr>
              <a:t>Nanjing massacre</a:t>
            </a:r>
            <a:endParaRPr lang="en-US" sz="1600" dirty="0"/>
          </a:p>
        </p:txBody>
      </p:sp>
      <p:sp>
        <p:nvSpPr>
          <p:cNvPr id="16" name="Connector 2720"/>
          <p:cNvSpPr/>
          <p:nvPr/>
        </p:nvSpPr>
        <p:spPr>
          <a:xfrm>
            <a:off x="1234440" y="3730752"/>
            <a:ext cx="0" cy="295656"/>
          </a:xfrm>
          <a:prstGeom prst="line">
            <a:avLst/>
          </a:prstGeom>
          <a:noFill/>
          <a:ln w="15875">
            <a:solidFill>
              <a:schemeClr val="accent3"/>
            </a:solidFill>
            <a:prstDash val="solid"/>
          </a:ln>
        </p:spPr>
      </p:sp>
      <p:sp>
        <p:nvSpPr>
          <p:cNvPr id="17" name="Date pill 2721"/>
          <p:cNvSpPr/>
          <p:nvPr/>
        </p:nvSpPr>
        <p:spPr>
          <a:xfrm>
            <a:off x="548640" y="3401568"/>
            <a:ext cx="1371600" cy="329184"/>
          </a:xfrm>
          <a:prstGeom prst="roundRect">
            <a:avLst>
              <a:gd name="adj" fmla="val 50000"/>
            </a:avLst>
          </a:prstGeom>
          <a:solidFill>
            <a:schemeClr val="accent3"/>
          </a:solidFill>
          <a:ln/>
        </p:spPr>
      </p:sp>
      <p:sp>
        <p:nvSpPr>
          <p:cNvPr id="18" name="Text 2722"/>
          <p:cNvSpPr txBox="1"/>
          <p:nvPr/>
        </p:nvSpPr>
        <p:spPr>
          <a:xfrm>
            <a:off x="548640" y="3401568"/>
            <a:ext cx="13716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Dec 1937</a:t>
            </a:r>
            <a:endParaRPr lang="en-US" sz="1300" dirty="0"/>
          </a:p>
        </p:txBody>
      </p:sp>
      <p:sp>
        <p:nvSpPr>
          <p:cNvPr id="19" name="Text 2723"/>
          <p:cNvSpPr txBox="1"/>
          <p:nvPr/>
        </p:nvSpPr>
        <p:spPr>
          <a:xfrm>
            <a:off x="2084832" y="3383280"/>
            <a:ext cx="9558223" cy="588264"/>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Japanese planes sink the </a:t>
            </a:r>
            <a:r>
              <a:rPr lang="en-US" sz="1600" b="1" dirty="0">
                <a:solidFill>
                  <a:schemeClr val="tx1"/>
                </a:solidFill>
              </a:rPr>
              <a:t>USS Panay</a:t>
            </a:r>
            <a:r>
              <a:rPr lang="en-US" sz="1600" dirty="0">
                <a:solidFill>
                  <a:schemeClr val="tx1"/>
                </a:solidFill>
              </a:rPr>
              <a:t> — Japan apologises</a:t>
            </a:r>
            <a:endParaRPr lang="en-US" sz="1600" dirty="0"/>
          </a:p>
        </p:txBody>
      </p:sp>
      <p:sp>
        <p:nvSpPr>
          <p:cNvPr id="20" name="Connector 2724"/>
          <p:cNvSpPr/>
          <p:nvPr/>
        </p:nvSpPr>
        <p:spPr>
          <a:xfrm>
            <a:off x="1234440" y="4355592"/>
            <a:ext cx="0" cy="295656"/>
          </a:xfrm>
          <a:prstGeom prst="line">
            <a:avLst/>
          </a:prstGeom>
          <a:noFill/>
          <a:ln w="15875">
            <a:solidFill>
              <a:schemeClr val="accent3"/>
            </a:solidFill>
            <a:prstDash val="solid"/>
          </a:ln>
        </p:spPr>
      </p:sp>
      <p:sp>
        <p:nvSpPr>
          <p:cNvPr id="21" name="Date pill 2725"/>
          <p:cNvSpPr/>
          <p:nvPr/>
        </p:nvSpPr>
        <p:spPr>
          <a:xfrm>
            <a:off x="548640" y="4026408"/>
            <a:ext cx="1371600" cy="329184"/>
          </a:xfrm>
          <a:prstGeom prst="roundRect">
            <a:avLst>
              <a:gd name="adj" fmla="val 50000"/>
            </a:avLst>
          </a:prstGeom>
          <a:solidFill>
            <a:schemeClr val="accent3"/>
          </a:solidFill>
          <a:ln/>
        </p:spPr>
      </p:sp>
      <p:sp>
        <p:nvSpPr>
          <p:cNvPr id="22" name="Text 2726"/>
          <p:cNvSpPr txBox="1"/>
          <p:nvPr/>
        </p:nvSpPr>
        <p:spPr>
          <a:xfrm>
            <a:off x="548640" y="4026408"/>
            <a:ext cx="13716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Nov 1938</a:t>
            </a:r>
            <a:endParaRPr lang="en-US" sz="1300" dirty="0"/>
          </a:p>
        </p:txBody>
      </p:sp>
      <p:sp>
        <p:nvSpPr>
          <p:cNvPr id="23" name="Text 2727"/>
          <p:cNvSpPr txBox="1"/>
          <p:nvPr/>
        </p:nvSpPr>
        <p:spPr>
          <a:xfrm>
            <a:off x="2084832" y="4008120"/>
            <a:ext cx="9558223" cy="588264"/>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Konoe proclaims a </a:t>
            </a:r>
            <a:r>
              <a:rPr lang="en-US" sz="1600" b="1" dirty="0">
                <a:solidFill>
                  <a:schemeClr val="tx1"/>
                </a:solidFill>
              </a:rPr>
              <a:t>'New Order in East Asia'</a:t>
            </a:r>
            <a:endParaRPr lang="en-US" sz="1600" dirty="0"/>
          </a:p>
        </p:txBody>
      </p:sp>
      <p:sp>
        <p:nvSpPr>
          <p:cNvPr id="24" name="Date pill 2728"/>
          <p:cNvSpPr/>
          <p:nvPr/>
        </p:nvSpPr>
        <p:spPr>
          <a:xfrm>
            <a:off x="548640" y="4651248"/>
            <a:ext cx="1371600" cy="329184"/>
          </a:xfrm>
          <a:prstGeom prst="roundRect">
            <a:avLst>
              <a:gd name="adj" fmla="val 50000"/>
            </a:avLst>
          </a:prstGeom>
          <a:solidFill>
            <a:schemeClr val="accent3"/>
          </a:solidFill>
          <a:ln/>
        </p:spPr>
      </p:sp>
      <p:sp>
        <p:nvSpPr>
          <p:cNvPr id="25" name="Text 2729"/>
          <p:cNvSpPr txBox="1"/>
          <p:nvPr/>
        </p:nvSpPr>
        <p:spPr>
          <a:xfrm>
            <a:off x="548640" y="4651248"/>
            <a:ext cx="1371600" cy="329184"/>
          </a:xfrm>
          <a:prstGeom prst="rect">
            <a:avLst/>
          </a:prstGeom>
          <a:noFill/>
          <a:ln/>
        </p:spPr>
        <p:txBody>
          <a:bodyPr wrap="square" lIns="0" tIns="0" rIns="0" bIns="0" rtlCol="0" anchor="ctr"/>
          <a:lstStyle/>
          <a:p>
            <a:pPr algn="ctr" indent="0" marL="0">
              <a:spcAft>
                <a:spcPts val="600"/>
              </a:spcAft>
              <a:buNone/>
            </a:pPr>
            <a:r>
              <a:rPr lang="en-US" sz="1300" b="1" dirty="0">
                <a:solidFill>
                  <a:schemeClr val="bg1"/>
                </a:solidFill>
              </a:rPr>
              <a:t>1938–39</a:t>
            </a:r>
            <a:endParaRPr lang="en-US" sz="1300" dirty="0"/>
          </a:p>
        </p:txBody>
      </p:sp>
      <p:sp>
        <p:nvSpPr>
          <p:cNvPr id="26" name="Text 2730"/>
          <p:cNvSpPr txBox="1"/>
          <p:nvPr/>
        </p:nvSpPr>
        <p:spPr>
          <a:xfrm>
            <a:off x="2084832" y="4632960"/>
            <a:ext cx="9558223" cy="588264"/>
          </a:xfrm>
          <a:prstGeom prst="rect">
            <a:avLst/>
          </a:prstGeom>
          <a:noFill/>
          <a:ln/>
        </p:spPr>
        <p:txBody>
          <a:bodyPr wrap="square" lIns="0" tIns="0" rIns="0" bIns="0" rtlCol="0" anchor="t"/>
          <a:lstStyle/>
          <a:p>
            <a:pPr algn="l" indent="0" marL="0">
              <a:spcAft>
                <a:spcPts val="600"/>
              </a:spcAft>
              <a:buNone/>
            </a:pPr>
            <a:r>
              <a:rPr lang="en-US" sz="1600" dirty="0">
                <a:solidFill>
                  <a:schemeClr val="tx1"/>
                </a:solidFill>
              </a:rPr>
              <a:t>Clashes with the USSR: </a:t>
            </a:r>
            <a:r>
              <a:rPr lang="en-US" sz="1600" b="1" dirty="0">
                <a:solidFill>
                  <a:schemeClr val="tx1"/>
                </a:solidFill>
              </a:rPr>
              <a:t>Lake Khasan</a:t>
            </a:r>
            <a:r>
              <a:rPr lang="en-US" sz="1600" dirty="0">
                <a:solidFill>
                  <a:schemeClr val="tx1"/>
                </a:solidFill>
              </a:rPr>
              <a:t> and </a:t>
            </a:r>
            <a:r>
              <a:rPr lang="en-US" sz="1600" b="1" dirty="0">
                <a:solidFill>
                  <a:schemeClr val="tx1"/>
                </a:solidFill>
              </a:rPr>
              <a:t>Khalkhin Gol</a:t>
            </a:r>
            <a:r>
              <a:rPr lang="en-US" sz="1600" dirty="0">
                <a:solidFill>
                  <a:schemeClr val="tx1"/>
                </a:solidFill>
              </a:rPr>
              <a:t> (Japan defeated)</a:t>
            </a:r>
            <a:endParaRPr lang="en-US" sz="1600" dirty="0"/>
          </a:p>
        </p:txBody>
      </p:sp>
      <p:sp>
        <p:nvSpPr>
          <p:cNvPr id="27" name="Callout 2731"/>
          <p:cNvSpPr/>
          <p:nvPr/>
        </p:nvSpPr>
        <p:spPr>
          <a:xfrm>
            <a:off x="548640" y="5550408"/>
            <a:ext cx="11094415" cy="713232"/>
          </a:xfrm>
          <a:prstGeom prst="roundRect">
            <a:avLst>
              <a:gd name="adj" fmla="val 12821"/>
            </a:avLst>
          </a:prstGeom>
          <a:solidFill>
            <a:schemeClr val="accent4">
              <a:alpha val="20000"/>
            </a:schemeClr>
          </a:solidFill>
          <a:ln/>
        </p:spPr>
      </p:sp>
      <p:sp>
        <p:nvSpPr>
          <p:cNvPr id="28" name="Callout label 2732"/>
          <p:cNvSpPr/>
          <p:nvPr/>
        </p:nvSpPr>
        <p:spPr>
          <a:xfrm>
            <a:off x="731520" y="5751576"/>
            <a:ext cx="1045034" cy="310896"/>
          </a:xfrm>
          <a:prstGeom prst="roundRect">
            <a:avLst>
              <a:gd name="adj" fmla="val 50000"/>
            </a:avLst>
          </a:prstGeom>
          <a:solidFill>
            <a:schemeClr val="accent4"/>
          </a:solidFill>
          <a:ln/>
        </p:spPr>
      </p:sp>
      <p:sp>
        <p:nvSpPr>
          <p:cNvPr id="29" name="Text 2733"/>
          <p:cNvSpPr txBox="1"/>
          <p:nvPr/>
        </p:nvSpPr>
        <p:spPr>
          <a:xfrm>
            <a:off x="731520" y="5751576"/>
            <a:ext cx="1045034"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KEY POINT</a:t>
            </a:r>
            <a:endParaRPr lang="en-US" sz="1200" dirty="0"/>
          </a:p>
        </p:txBody>
      </p:sp>
      <p:sp>
        <p:nvSpPr>
          <p:cNvPr id="30" name="Text 2734"/>
          <p:cNvSpPr txBox="1"/>
          <p:nvPr/>
        </p:nvSpPr>
        <p:spPr>
          <a:xfrm>
            <a:off x="1959434" y="5623560"/>
            <a:ext cx="9500741"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War in Asia began in 1937 — two years before Europe. The League, Britain and the USA protested but did nothing.</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Kicker 2735"/>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SUMMARY</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From Depression to war: the chain</a:t>
            </a:r>
            <a:endParaRPr lang="en-US" sz="3400" dirty="0"/>
          </a:p>
        </p:txBody>
      </p:sp>
      <p:sp>
        <p:nvSpPr>
          <p:cNvPr id="4" name="Domino 2736"/>
          <p:cNvSpPr/>
          <p:nvPr/>
        </p:nvSpPr>
        <p:spPr>
          <a:xfrm>
            <a:off x="548640" y="1664208"/>
            <a:ext cx="1412487" cy="2377440"/>
          </a:xfrm>
          <a:prstGeom prst="roundRect">
            <a:avLst>
              <a:gd name="adj" fmla="val 6474"/>
            </a:avLst>
          </a:prstGeom>
          <a:solidFill>
            <a:schemeClr val="accent3">
              <a:alpha val="12000"/>
            </a:schemeClr>
          </a:solidFill>
          <a:ln/>
        </p:spPr>
      </p:sp>
      <p:sp>
        <p:nvSpPr>
          <p:cNvPr id="5" name="Icon circle 2737"/>
          <p:cNvSpPr/>
          <p:nvPr/>
        </p:nvSpPr>
        <p:spPr>
          <a:xfrm>
            <a:off x="971419" y="1892808"/>
            <a:ext cx="566928" cy="566928"/>
          </a:xfrm>
          <a:prstGeom prst="ellipse">
            <a:avLst/>
          </a:prstGeom>
          <a:solidFill>
            <a:schemeClr val="accent3"/>
          </a:solidFill>
          <a:ln/>
        </p:spPr>
      </p:sp>
      <p:pic>
        <p:nvPicPr>
          <p:cNvPr id="6" name="Icon FaArrowTrendDown 2738" descr="preencoded.png">    </p:cNvPr>
          <p:cNvPicPr>
            <a:picLocks noChangeAspect="1"/>
          </p:cNvPicPr>
          <p:nvPr/>
        </p:nvPicPr>
        <p:blipFill>
          <a:blip r:embed="rId1"/>
          <a:stretch>
            <a:fillRect/>
          </a:stretch>
        </p:blipFill>
        <p:spPr>
          <a:xfrm>
            <a:off x="1096144" y="2017532"/>
            <a:ext cx="317480" cy="317480"/>
          </a:xfrm>
          <a:prstGeom prst="rect">
            <a:avLst/>
          </a:prstGeom>
        </p:spPr>
      </p:pic>
      <p:sp>
        <p:nvSpPr>
          <p:cNvPr id="7" name="Text 2739"/>
          <p:cNvSpPr txBox="1"/>
          <p:nvPr/>
        </p:nvSpPr>
        <p:spPr>
          <a:xfrm>
            <a:off x="621792" y="2578608"/>
            <a:ext cx="1266183" cy="365760"/>
          </a:xfrm>
          <a:prstGeom prst="rect">
            <a:avLst/>
          </a:prstGeom>
          <a:noFill/>
          <a:ln/>
        </p:spPr>
        <p:txBody>
          <a:bodyPr wrap="square" lIns="0" tIns="0" rIns="0" bIns="0" rtlCol="0" anchor="t"/>
          <a:lstStyle/>
          <a:p>
            <a:pPr algn="ctr" indent="0" marL="0">
              <a:spcAft>
                <a:spcPts val="600"/>
              </a:spcAft>
              <a:buNone/>
            </a:pPr>
            <a:r>
              <a:rPr lang="en-US" sz="1400" b="1" dirty="0">
                <a:solidFill>
                  <a:schemeClr val="accent3"/>
                </a:solidFill>
              </a:rPr>
              <a:t>1929</a:t>
            </a:r>
            <a:endParaRPr lang="en-US" sz="1400" dirty="0"/>
          </a:p>
        </p:txBody>
      </p:sp>
      <p:sp>
        <p:nvSpPr>
          <p:cNvPr id="8" name="Text 2740"/>
          <p:cNvSpPr txBox="1"/>
          <p:nvPr/>
        </p:nvSpPr>
        <p:spPr>
          <a:xfrm>
            <a:off x="621792" y="2962656"/>
            <a:ext cx="1266183" cy="914400"/>
          </a:xfrm>
          <a:prstGeom prst="rect">
            <a:avLst/>
          </a:prstGeom>
          <a:noFill/>
          <a:ln/>
        </p:spPr>
        <p:txBody>
          <a:bodyPr wrap="square" lIns="0" tIns="0" rIns="0" bIns="0" rtlCol="0" anchor="t"/>
          <a:lstStyle/>
          <a:p>
            <a:pPr algn="ctr" indent="0" marL="0">
              <a:spcAft>
                <a:spcPts val="600"/>
              </a:spcAft>
              <a:buNone/>
            </a:pPr>
            <a:r>
              <a:rPr lang="en-US" sz="1500" b="1" dirty="0">
                <a:solidFill>
                  <a:schemeClr val="tx2"/>
                </a:solidFill>
              </a:rPr>
              <a:t>Depression</a:t>
            </a:r>
            <a:endParaRPr lang="en-US" sz="1500" dirty="0"/>
          </a:p>
        </p:txBody>
      </p:sp>
      <p:sp>
        <p:nvSpPr>
          <p:cNvPr id="9" name="Domino 2741"/>
          <p:cNvSpPr/>
          <p:nvPr/>
        </p:nvSpPr>
        <p:spPr>
          <a:xfrm>
            <a:off x="2162295" y="1984248"/>
            <a:ext cx="1412487" cy="2377440"/>
          </a:xfrm>
          <a:prstGeom prst="roundRect">
            <a:avLst>
              <a:gd name="adj" fmla="val 6474"/>
            </a:avLst>
          </a:prstGeom>
          <a:solidFill>
            <a:schemeClr val="accent3">
              <a:alpha val="18000"/>
            </a:schemeClr>
          </a:solidFill>
          <a:ln/>
        </p:spPr>
      </p:sp>
      <p:sp>
        <p:nvSpPr>
          <p:cNvPr id="10" name="Icon circle 2742"/>
          <p:cNvSpPr/>
          <p:nvPr/>
        </p:nvSpPr>
        <p:spPr>
          <a:xfrm>
            <a:off x="2585074" y="2212848"/>
            <a:ext cx="566928" cy="566928"/>
          </a:xfrm>
          <a:prstGeom prst="ellipse">
            <a:avLst/>
          </a:prstGeom>
          <a:solidFill>
            <a:schemeClr val="accent3"/>
          </a:solidFill>
          <a:ln/>
        </p:spPr>
      </p:sp>
      <p:pic>
        <p:nvPicPr>
          <p:cNvPr id="11" name="Icon FaFistRaised 2743" descr="preencoded.png">    </p:cNvPr>
          <p:cNvPicPr>
            <a:picLocks noChangeAspect="1"/>
          </p:cNvPicPr>
          <p:nvPr/>
        </p:nvPicPr>
        <p:blipFill>
          <a:blip r:embed="rId2"/>
          <a:stretch>
            <a:fillRect/>
          </a:stretch>
        </p:blipFill>
        <p:spPr>
          <a:xfrm>
            <a:off x="2709798" y="2337572"/>
            <a:ext cx="317480" cy="317480"/>
          </a:xfrm>
          <a:prstGeom prst="rect">
            <a:avLst/>
          </a:prstGeom>
        </p:spPr>
      </p:pic>
      <p:sp>
        <p:nvSpPr>
          <p:cNvPr id="12" name="Text 2744"/>
          <p:cNvSpPr txBox="1"/>
          <p:nvPr/>
        </p:nvSpPr>
        <p:spPr>
          <a:xfrm>
            <a:off x="2235447" y="2898648"/>
            <a:ext cx="1266183" cy="365760"/>
          </a:xfrm>
          <a:prstGeom prst="rect">
            <a:avLst/>
          </a:prstGeom>
          <a:noFill/>
          <a:ln/>
        </p:spPr>
        <p:txBody>
          <a:bodyPr wrap="square" lIns="0" tIns="0" rIns="0" bIns="0" rtlCol="0" anchor="t"/>
          <a:lstStyle/>
          <a:p>
            <a:pPr algn="ctr" indent="0" marL="0">
              <a:spcAft>
                <a:spcPts val="600"/>
              </a:spcAft>
              <a:buNone/>
            </a:pPr>
            <a:r>
              <a:rPr lang="en-US" sz="1400" b="1" dirty="0">
                <a:solidFill>
                  <a:schemeClr val="accent3"/>
                </a:solidFill>
              </a:rPr>
              <a:t>1931–33</a:t>
            </a:r>
            <a:endParaRPr lang="en-US" sz="1400" dirty="0"/>
          </a:p>
        </p:txBody>
      </p:sp>
      <p:sp>
        <p:nvSpPr>
          <p:cNvPr id="13" name="Text 2745"/>
          <p:cNvSpPr txBox="1"/>
          <p:nvPr/>
        </p:nvSpPr>
        <p:spPr>
          <a:xfrm>
            <a:off x="2235447" y="3282696"/>
            <a:ext cx="1266183" cy="914400"/>
          </a:xfrm>
          <a:prstGeom prst="rect">
            <a:avLst/>
          </a:prstGeom>
          <a:noFill/>
          <a:ln/>
        </p:spPr>
        <p:txBody>
          <a:bodyPr wrap="square" lIns="0" tIns="0" rIns="0" bIns="0" rtlCol="0" anchor="t"/>
          <a:lstStyle/>
          <a:p>
            <a:pPr algn="ctr" indent="0" marL="0">
              <a:spcAft>
                <a:spcPts val="600"/>
              </a:spcAft>
              <a:buNone/>
            </a:pPr>
            <a:r>
              <a:rPr lang="en-US" sz="1500" b="1" dirty="0">
                <a:solidFill>
                  <a:schemeClr val="tx2"/>
                </a:solidFill>
              </a:rPr>
              <a:t>Extremists rise</a:t>
            </a:r>
            <a:endParaRPr lang="en-US" sz="1500" dirty="0"/>
          </a:p>
        </p:txBody>
      </p:sp>
      <p:sp>
        <p:nvSpPr>
          <p:cNvPr id="14" name="Domino 2746"/>
          <p:cNvSpPr/>
          <p:nvPr/>
        </p:nvSpPr>
        <p:spPr>
          <a:xfrm>
            <a:off x="3775949" y="1664208"/>
            <a:ext cx="1412487" cy="2377440"/>
          </a:xfrm>
          <a:prstGeom prst="roundRect">
            <a:avLst>
              <a:gd name="adj" fmla="val 6474"/>
            </a:avLst>
          </a:prstGeom>
          <a:solidFill>
            <a:schemeClr val="accent3">
              <a:alpha val="24000"/>
            </a:schemeClr>
          </a:solidFill>
          <a:ln/>
        </p:spPr>
      </p:sp>
      <p:sp>
        <p:nvSpPr>
          <p:cNvPr id="15" name="Icon circle 2747"/>
          <p:cNvSpPr/>
          <p:nvPr/>
        </p:nvSpPr>
        <p:spPr>
          <a:xfrm>
            <a:off x="4198729" y="1892808"/>
            <a:ext cx="566928" cy="566928"/>
          </a:xfrm>
          <a:prstGeom prst="ellipse">
            <a:avLst/>
          </a:prstGeom>
          <a:solidFill>
            <a:schemeClr val="accent3"/>
          </a:solidFill>
          <a:ln/>
        </p:spPr>
      </p:sp>
      <p:pic>
        <p:nvPicPr>
          <p:cNvPr id="16" name="Icon GiBrokenShield 2748" descr="preencoded.png">    </p:cNvPr>
          <p:cNvPicPr>
            <a:picLocks noChangeAspect="1"/>
          </p:cNvPicPr>
          <p:nvPr/>
        </p:nvPicPr>
        <p:blipFill>
          <a:blip r:embed="rId3"/>
          <a:stretch>
            <a:fillRect/>
          </a:stretch>
        </p:blipFill>
        <p:spPr>
          <a:xfrm>
            <a:off x="4323453" y="2017532"/>
            <a:ext cx="317480" cy="317480"/>
          </a:xfrm>
          <a:prstGeom prst="rect">
            <a:avLst/>
          </a:prstGeom>
        </p:spPr>
      </p:pic>
      <p:sp>
        <p:nvSpPr>
          <p:cNvPr id="17" name="Text 2749"/>
          <p:cNvSpPr txBox="1"/>
          <p:nvPr/>
        </p:nvSpPr>
        <p:spPr>
          <a:xfrm>
            <a:off x="3849101" y="2578608"/>
            <a:ext cx="1266183" cy="365760"/>
          </a:xfrm>
          <a:prstGeom prst="rect">
            <a:avLst/>
          </a:prstGeom>
          <a:noFill/>
          <a:ln/>
        </p:spPr>
        <p:txBody>
          <a:bodyPr wrap="square" lIns="0" tIns="0" rIns="0" bIns="0" rtlCol="0" anchor="t"/>
          <a:lstStyle/>
          <a:p>
            <a:pPr algn="ctr" indent="0" marL="0">
              <a:spcAft>
                <a:spcPts val="600"/>
              </a:spcAft>
              <a:buNone/>
            </a:pPr>
            <a:r>
              <a:rPr lang="en-US" sz="1400" b="1" dirty="0">
                <a:solidFill>
                  <a:schemeClr val="accent3"/>
                </a:solidFill>
              </a:rPr>
              <a:t>1931–36</a:t>
            </a:r>
            <a:endParaRPr lang="en-US" sz="1400" dirty="0"/>
          </a:p>
        </p:txBody>
      </p:sp>
      <p:sp>
        <p:nvSpPr>
          <p:cNvPr id="18" name="Text 2750"/>
          <p:cNvSpPr txBox="1"/>
          <p:nvPr/>
        </p:nvSpPr>
        <p:spPr>
          <a:xfrm>
            <a:off x="3849101" y="2962656"/>
            <a:ext cx="1266183" cy="914400"/>
          </a:xfrm>
          <a:prstGeom prst="rect">
            <a:avLst/>
          </a:prstGeom>
          <a:noFill/>
          <a:ln/>
        </p:spPr>
        <p:txBody>
          <a:bodyPr wrap="square" lIns="0" tIns="0" rIns="0" bIns="0" rtlCol="0" anchor="t"/>
          <a:lstStyle/>
          <a:p>
            <a:pPr algn="ctr" indent="0" marL="0">
              <a:spcAft>
                <a:spcPts val="600"/>
              </a:spcAft>
              <a:buNone/>
            </a:pPr>
            <a:r>
              <a:rPr lang="en-US" sz="1500" b="1" dirty="0">
                <a:solidFill>
                  <a:schemeClr val="tx2"/>
                </a:solidFill>
              </a:rPr>
              <a:t>League fails</a:t>
            </a:r>
            <a:endParaRPr lang="en-US" sz="1500" dirty="0"/>
          </a:p>
        </p:txBody>
      </p:sp>
      <p:sp>
        <p:nvSpPr>
          <p:cNvPr id="19" name="Domino 2751"/>
          <p:cNvSpPr/>
          <p:nvPr/>
        </p:nvSpPr>
        <p:spPr>
          <a:xfrm>
            <a:off x="5389604" y="1984248"/>
            <a:ext cx="1412487" cy="2377440"/>
          </a:xfrm>
          <a:prstGeom prst="roundRect">
            <a:avLst>
              <a:gd name="adj" fmla="val 6474"/>
            </a:avLst>
          </a:prstGeom>
          <a:solidFill>
            <a:schemeClr val="accent3">
              <a:alpha val="30000"/>
            </a:schemeClr>
          </a:solidFill>
          <a:ln/>
        </p:spPr>
      </p:sp>
      <p:sp>
        <p:nvSpPr>
          <p:cNvPr id="20" name="Icon circle 2752"/>
          <p:cNvSpPr/>
          <p:nvPr/>
        </p:nvSpPr>
        <p:spPr>
          <a:xfrm>
            <a:off x="5812384" y="2212848"/>
            <a:ext cx="566928" cy="566928"/>
          </a:xfrm>
          <a:prstGeom prst="ellipse">
            <a:avLst/>
          </a:prstGeom>
          <a:solidFill>
            <a:schemeClr val="accent3"/>
          </a:solidFill>
          <a:ln/>
        </p:spPr>
      </p:sp>
      <p:pic>
        <p:nvPicPr>
          <p:cNvPr id="21" name="Icon FaHandshake 2753" descr="preencoded.png">    </p:cNvPr>
          <p:cNvPicPr>
            <a:picLocks noChangeAspect="1"/>
          </p:cNvPicPr>
          <p:nvPr/>
        </p:nvPicPr>
        <p:blipFill>
          <a:blip r:embed="rId4"/>
          <a:stretch>
            <a:fillRect/>
          </a:stretch>
        </p:blipFill>
        <p:spPr>
          <a:xfrm>
            <a:off x="5937108" y="2337572"/>
            <a:ext cx="317480" cy="317480"/>
          </a:xfrm>
          <a:prstGeom prst="rect">
            <a:avLst/>
          </a:prstGeom>
        </p:spPr>
      </p:pic>
      <p:sp>
        <p:nvSpPr>
          <p:cNvPr id="22" name="Text 2754"/>
          <p:cNvSpPr txBox="1"/>
          <p:nvPr/>
        </p:nvSpPr>
        <p:spPr>
          <a:xfrm>
            <a:off x="5462756" y="2898648"/>
            <a:ext cx="1266183" cy="365760"/>
          </a:xfrm>
          <a:prstGeom prst="rect">
            <a:avLst/>
          </a:prstGeom>
          <a:noFill/>
          <a:ln/>
        </p:spPr>
        <p:txBody>
          <a:bodyPr wrap="square" lIns="0" tIns="0" rIns="0" bIns="0" rtlCol="0" anchor="t"/>
          <a:lstStyle/>
          <a:p>
            <a:pPr algn="ctr" indent="0" marL="0">
              <a:spcAft>
                <a:spcPts val="600"/>
              </a:spcAft>
              <a:buNone/>
            </a:pPr>
            <a:r>
              <a:rPr lang="en-US" sz="1400" b="1" dirty="0">
                <a:solidFill>
                  <a:schemeClr val="accent3"/>
                </a:solidFill>
              </a:rPr>
              <a:t>1935–38</a:t>
            </a:r>
            <a:endParaRPr lang="en-US" sz="1400" dirty="0"/>
          </a:p>
        </p:txBody>
      </p:sp>
      <p:sp>
        <p:nvSpPr>
          <p:cNvPr id="23" name="Text 2755"/>
          <p:cNvSpPr txBox="1"/>
          <p:nvPr/>
        </p:nvSpPr>
        <p:spPr>
          <a:xfrm>
            <a:off x="5462756" y="3282696"/>
            <a:ext cx="1266183" cy="914400"/>
          </a:xfrm>
          <a:prstGeom prst="rect">
            <a:avLst/>
          </a:prstGeom>
          <a:noFill/>
          <a:ln/>
        </p:spPr>
        <p:txBody>
          <a:bodyPr wrap="square" lIns="0" tIns="0" rIns="0" bIns="0" rtlCol="0" anchor="t"/>
          <a:lstStyle/>
          <a:p>
            <a:pPr algn="ctr" indent="0" marL="0">
              <a:spcAft>
                <a:spcPts val="600"/>
              </a:spcAft>
              <a:buNone/>
            </a:pPr>
            <a:r>
              <a:rPr lang="en-US" sz="1500" b="1" dirty="0">
                <a:solidFill>
                  <a:schemeClr val="tx2"/>
                </a:solidFill>
              </a:rPr>
              <a:t>Appeasement</a:t>
            </a:r>
            <a:endParaRPr lang="en-US" sz="1500" dirty="0"/>
          </a:p>
        </p:txBody>
      </p:sp>
      <p:sp>
        <p:nvSpPr>
          <p:cNvPr id="24" name="Domino 2756"/>
          <p:cNvSpPr/>
          <p:nvPr/>
        </p:nvSpPr>
        <p:spPr>
          <a:xfrm>
            <a:off x="7003259" y="1664208"/>
            <a:ext cx="1412487" cy="2377440"/>
          </a:xfrm>
          <a:prstGeom prst="roundRect">
            <a:avLst>
              <a:gd name="adj" fmla="val 6474"/>
            </a:avLst>
          </a:prstGeom>
          <a:solidFill>
            <a:schemeClr val="accent3">
              <a:alpha val="36000"/>
            </a:schemeClr>
          </a:solidFill>
          <a:ln/>
        </p:spPr>
      </p:sp>
      <p:sp>
        <p:nvSpPr>
          <p:cNvPr id="25" name="Icon circle 2757"/>
          <p:cNvSpPr/>
          <p:nvPr/>
        </p:nvSpPr>
        <p:spPr>
          <a:xfrm>
            <a:off x="7426038" y="1892808"/>
            <a:ext cx="566928" cy="566928"/>
          </a:xfrm>
          <a:prstGeom prst="ellipse">
            <a:avLst/>
          </a:prstGeom>
          <a:solidFill>
            <a:schemeClr val="accent3"/>
          </a:solidFill>
          <a:ln/>
        </p:spPr>
      </p:sp>
      <p:pic>
        <p:nvPicPr>
          <p:cNvPr id="26" name="Icon FaShieldAlt 2758" descr="preencoded.png">    </p:cNvPr>
          <p:cNvPicPr>
            <a:picLocks noChangeAspect="1"/>
          </p:cNvPicPr>
          <p:nvPr/>
        </p:nvPicPr>
        <p:blipFill>
          <a:blip r:embed="rId5"/>
          <a:stretch>
            <a:fillRect/>
          </a:stretch>
        </p:blipFill>
        <p:spPr>
          <a:xfrm>
            <a:off x="7550763" y="2017532"/>
            <a:ext cx="317480" cy="317480"/>
          </a:xfrm>
          <a:prstGeom prst="rect">
            <a:avLst/>
          </a:prstGeom>
        </p:spPr>
      </p:pic>
      <p:sp>
        <p:nvSpPr>
          <p:cNvPr id="27" name="Text 2759"/>
          <p:cNvSpPr txBox="1"/>
          <p:nvPr/>
        </p:nvSpPr>
        <p:spPr>
          <a:xfrm>
            <a:off x="7076411" y="2578608"/>
            <a:ext cx="1266183" cy="365760"/>
          </a:xfrm>
          <a:prstGeom prst="rect">
            <a:avLst/>
          </a:prstGeom>
          <a:noFill/>
          <a:ln/>
        </p:spPr>
        <p:txBody>
          <a:bodyPr wrap="square" lIns="0" tIns="0" rIns="0" bIns="0" rtlCol="0" anchor="t"/>
          <a:lstStyle/>
          <a:p>
            <a:pPr algn="ctr" indent="0" marL="0">
              <a:spcAft>
                <a:spcPts val="600"/>
              </a:spcAft>
              <a:buNone/>
            </a:pPr>
            <a:r>
              <a:rPr lang="en-US" sz="1400" b="1" dirty="0">
                <a:solidFill>
                  <a:schemeClr val="accent3"/>
                </a:solidFill>
              </a:rPr>
              <a:t>Mar 1939</a:t>
            </a:r>
            <a:endParaRPr lang="en-US" sz="1400" dirty="0"/>
          </a:p>
        </p:txBody>
      </p:sp>
      <p:sp>
        <p:nvSpPr>
          <p:cNvPr id="28" name="Text 2760"/>
          <p:cNvSpPr txBox="1"/>
          <p:nvPr/>
        </p:nvSpPr>
        <p:spPr>
          <a:xfrm>
            <a:off x="7076411" y="2962656"/>
            <a:ext cx="1266183" cy="914400"/>
          </a:xfrm>
          <a:prstGeom prst="rect">
            <a:avLst/>
          </a:prstGeom>
          <a:noFill/>
          <a:ln/>
        </p:spPr>
        <p:txBody>
          <a:bodyPr wrap="square" lIns="0" tIns="0" rIns="0" bIns="0" rtlCol="0" anchor="t"/>
          <a:lstStyle/>
          <a:p>
            <a:pPr algn="ctr" indent="0" marL="0">
              <a:spcAft>
                <a:spcPts val="600"/>
              </a:spcAft>
              <a:buNone/>
            </a:pPr>
            <a:r>
              <a:rPr lang="en-US" sz="1500" b="1" dirty="0">
                <a:solidFill>
                  <a:schemeClr val="tx2"/>
                </a:solidFill>
              </a:rPr>
              <a:t>Prague &amp; guarantee</a:t>
            </a:r>
            <a:endParaRPr lang="en-US" sz="1500" dirty="0"/>
          </a:p>
        </p:txBody>
      </p:sp>
      <p:sp>
        <p:nvSpPr>
          <p:cNvPr id="29" name="Domino 2761"/>
          <p:cNvSpPr/>
          <p:nvPr/>
        </p:nvSpPr>
        <p:spPr>
          <a:xfrm>
            <a:off x="8616914" y="1984248"/>
            <a:ext cx="1412487" cy="2377440"/>
          </a:xfrm>
          <a:prstGeom prst="roundRect">
            <a:avLst>
              <a:gd name="adj" fmla="val 6474"/>
            </a:avLst>
          </a:prstGeom>
          <a:solidFill>
            <a:schemeClr val="accent3">
              <a:alpha val="42000"/>
            </a:schemeClr>
          </a:solidFill>
          <a:ln/>
        </p:spPr>
      </p:sp>
      <p:sp>
        <p:nvSpPr>
          <p:cNvPr id="30" name="Icon circle 2762"/>
          <p:cNvSpPr/>
          <p:nvPr/>
        </p:nvSpPr>
        <p:spPr>
          <a:xfrm>
            <a:off x="9039693" y="2212848"/>
            <a:ext cx="566928" cy="566928"/>
          </a:xfrm>
          <a:prstGeom prst="ellipse">
            <a:avLst/>
          </a:prstGeom>
          <a:solidFill>
            <a:schemeClr val="accent3"/>
          </a:solidFill>
          <a:ln/>
        </p:spPr>
      </p:sp>
      <p:pic>
        <p:nvPicPr>
          <p:cNvPr id="31" name="Icon FaUnlink 2763" descr="preencoded.png">    </p:cNvPr>
          <p:cNvPicPr>
            <a:picLocks noChangeAspect="1"/>
          </p:cNvPicPr>
          <p:nvPr/>
        </p:nvPicPr>
        <p:blipFill>
          <a:blip r:embed="rId6"/>
          <a:stretch>
            <a:fillRect/>
          </a:stretch>
        </p:blipFill>
        <p:spPr>
          <a:xfrm>
            <a:off x="9164417" y="2337572"/>
            <a:ext cx="317480" cy="317480"/>
          </a:xfrm>
          <a:prstGeom prst="rect">
            <a:avLst/>
          </a:prstGeom>
        </p:spPr>
      </p:pic>
      <p:sp>
        <p:nvSpPr>
          <p:cNvPr id="32" name="Text 2764"/>
          <p:cNvSpPr txBox="1"/>
          <p:nvPr/>
        </p:nvSpPr>
        <p:spPr>
          <a:xfrm>
            <a:off x="8690066" y="2898648"/>
            <a:ext cx="1266183" cy="365760"/>
          </a:xfrm>
          <a:prstGeom prst="rect">
            <a:avLst/>
          </a:prstGeom>
          <a:noFill/>
          <a:ln/>
        </p:spPr>
        <p:txBody>
          <a:bodyPr wrap="square" lIns="0" tIns="0" rIns="0" bIns="0" rtlCol="0" anchor="t"/>
          <a:lstStyle/>
          <a:p>
            <a:pPr algn="ctr" indent="0" marL="0">
              <a:spcAft>
                <a:spcPts val="600"/>
              </a:spcAft>
              <a:buNone/>
            </a:pPr>
            <a:r>
              <a:rPr lang="en-US" sz="1400" b="1" dirty="0">
                <a:solidFill>
                  <a:schemeClr val="accent3"/>
                </a:solidFill>
              </a:rPr>
              <a:t>Aug 1939</a:t>
            </a:r>
            <a:endParaRPr lang="en-US" sz="1400" dirty="0"/>
          </a:p>
        </p:txBody>
      </p:sp>
      <p:sp>
        <p:nvSpPr>
          <p:cNvPr id="33" name="Text 2765"/>
          <p:cNvSpPr txBox="1"/>
          <p:nvPr/>
        </p:nvSpPr>
        <p:spPr>
          <a:xfrm>
            <a:off x="8690066" y="3282696"/>
            <a:ext cx="1266183" cy="914400"/>
          </a:xfrm>
          <a:prstGeom prst="rect">
            <a:avLst/>
          </a:prstGeom>
          <a:noFill/>
          <a:ln/>
        </p:spPr>
        <p:txBody>
          <a:bodyPr wrap="square" lIns="0" tIns="0" rIns="0" bIns="0" rtlCol="0" anchor="t"/>
          <a:lstStyle/>
          <a:p>
            <a:pPr algn="ctr" indent="0" marL="0">
              <a:spcAft>
                <a:spcPts val="600"/>
              </a:spcAft>
              <a:buNone/>
            </a:pPr>
            <a:r>
              <a:rPr lang="en-US" sz="1500" b="1" dirty="0">
                <a:solidFill>
                  <a:schemeClr val="tx2"/>
                </a:solidFill>
              </a:rPr>
              <a:t>Nazi–Soviet Pact</a:t>
            </a:r>
            <a:endParaRPr lang="en-US" sz="1500" dirty="0"/>
          </a:p>
        </p:txBody>
      </p:sp>
      <p:sp>
        <p:nvSpPr>
          <p:cNvPr id="34" name="Domino 2766"/>
          <p:cNvSpPr/>
          <p:nvPr/>
        </p:nvSpPr>
        <p:spPr>
          <a:xfrm>
            <a:off x="10230568" y="1664208"/>
            <a:ext cx="1412487" cy="2377440"/>
          </a:xfrm>
          <a:prstGeom prst="roundRect">
            <a:avLst>
              <a:gd name="adj" fmla="val 6474"/>
            </a:avLst>
          </a:prstGeom>
          <a:solidFill>
            <a:schemeClr val="accent1"/>
          </a:solidFill>
          <a:ln/>
        </p:spPr>
      </p:sp>
      <p:sp>
        <p:nvSpPr>
          <p:cNvPr id="35" name="Icon circle 2767"/>
          <p:cNvSpPr/>
          <p:nvPr/>
        </p:nvSpPr>
        <p:spPr>
          <a:xfrm>
            <a:off x="10653348" y="1892808"/>
            <a:ext cx="566928" cy="566928"/>
          </a:xfrm>
          <a:prstGeom prst="ellipse">
            <a:avLst/>
          </a:prstGeom>
          <a:solidFill>
            <a:schemeClr val="tx2"/>
          </a:solidFill>
          <a:ln/>
        </p:spPr>
      </p:sp>
      <p:pic>
        <p:nvPicPr>
          <p:cNvPr id="36" name="Icon FaFire 2768" descr="preencoded.png">    </p:cNvPr>
          <p:cNvPicPr>
            <a:picLocks noChangeAspect="1"/>
          </p:cNvPicPr>
          <p:nvPr/>
        </p:nvPicPr>
        <p:blipFill>
          <a:blip r:embed="rId7"/>
          <a:stretch>
            <a:fillRect/>
          </a:stretch>
        </p:blipFill>
        <p:spPr>
          <a:xfrm>
            <a:off x="10778072" y="2017532"/>
            <a:ext cx="317480" cy="317480"/>
          </a:xfrm>
          <a:prstGeom prst="rect">
            <a:avLst/>
          </a:prstGeom>
        </p:spPr>
      </p:pic>
      <p:sp>
        <p:nvSpPr>
          <p:cNvPr id="37" name="Text 2769"/>
          <p:cNvSpPr txBox="1"/>
          <p:nvPr/>
        </p:nvSpPr>
        <p:spPr>
          <a:xfrm>
            <a:off x="10303720" y="2578608"/>
            <a:ext cx="1266183" cy="365760"/>
          </a:xfrm>
          <a:prstGeom prst="rect">
            <a:avLst/>
          </a:prstGeom>
          <a:noFill/>
          <a:ln/>
        </p:spPr>
        <p:txBody>
          <a:bodyPr wrap="square" lIns="0" tIns="0" rIns="0" bIns="0" rtlCol="0" anchor="t"/>
          <a:lstStyle/>
          <a:p>
            <a:pPr algn="ctr" indent="0" marL="0">
              <a:spcAft>
                <a:spcPts val="600"/>
              </a:spcAft>
              <a:buNone/>
            </a:pPr>
            <a:r>
              <a:rPr lang="en-US" sz="1400" b="1" dirty="0">
                <a:solidFill>
                  <a:schemeClr val="bg1"/>
                </a:solidFill>
              </a:rPr>
              <a:t>Sept 1939</a:t>
            </a:r>
            <a:endParaRPr lang="en-US" sz="1400" dirty="0"/>
          </a:p>
        </p:txBody>
      </p:sp>
      <p:sp>
        <p:nvSpPr>
          <p:cNvPr id="38" name="Text 2770"/>
          <p:cNvSpPr txBox="1"/>
          <p:nvPr/>
        </p:nvSpPr>
        <p:spPr>
          <a:xfrm>
            <a:off x="10303720" y="2962656"/>
            <a:ext cx="1266183" cy="914400"/>
          </a:xfrm>
          <a:prstGeom prst="rect">
            <a:avLst/>
          </a:prstGeom>
          <a:noFill/>
          <a:ln/>
        </p:spPr>
        <p:txBody>
          <a:bodyPr wrap="square" lIns="0" tIns="0" rIns="0" bIns="0" rtlCol="0" anchor="t"/>
          <a:lstStyle/>
          <a:p>
            <a:pPr algn="ctr" indent="0" marL="0">
              <a:spcAft>
                <a:spcPts val="600"/>
              </a:spcAft>
              <a:buNone/>
            </a:pPr>
            <a:r>
              <a:rPr lang="en-US" sz="1500" b="1" dirty="0">
                <a:solidFill>
                  <a:schemeClr val="bg1"/>
                </a:solidFill>
              </a:rPr>
              <a:t>War</a:t>
            </a:r>
            <a:endParaRPr lang="en-US" sz="1500" dirty="0"/>
          </a:p>
        </p:txBody>
      </p:sp>
      <p:sp>
        <p:nvSpPr>
          <p:cNvPr id="39" name="Card 2771"/>
          <p:cNvSpPr/>
          <p:nvPr/>
        </p:nvSpPr>
        <p:spPr>
          <a:xfrm>
            <a:off x="548640" y="4681728"/>
            <a:ext cx="11094415" cy="1581912"/>
          </a:xfrm>
          <a:prstGeom prst="roundRect">
            <a:avLst>
              <a:gd name="adj" fmla="val 5780"/>
            </a:avLst>
          </a:prstGeom>
          <a:solidFill>
            <a:schemeClr val="accent3">
              <a:alpha val="10000"/>
            </a:schemeClr>
          </a:solidFill>
          <a:ln/>
        </p:spPr>
      </p:sp>
      <p:sp>
        <p:nvSpPr>
          <p:cNvPr id="40" name="Icon circle 2772"/>
          <p:cNvSpPr/>
          <p:nvPr/>
        </p:nvSpPr>
        <p:spPr>
          <a:xfrm>
            <a:off x="731520" y="4864608"/>
            <a:ext cx="475488" cy="475488"/>
          </a:xfrm>
          <a:prstGeom prst="ellipse">
            <a:avLst/>
          </a:prstGeom>
          <a:solidFill>
            <a:schemeClr val="accent3"/>
          </a:solidFill>
          <a:ln/>
        </p:spPr>
      </p:sp>
      <p:pic>
        <p:nvPicPr>
          <p:cNvPr id="41" name="Icon FaLightbulb 2773" descr="preencoded.png">    </p:cNvPr>
          <p:cNvPicPr>
            <a:picLocks noChangeAspect="1"/>
          </p:cNvPicPr>
          <p:nvPr/>
        </p:nvPicPr>
        <p:blipFill>
          <a:blip r:embed="rId8"/>
          <a:stretch>
            <a:fillRect/>
          </a:stretch>
        </p:blipFill>
        <p:spPr>
          <a:xfrm>
            <a:off x="836127" y="4969215"/>
            <a:ext cx="266273" cy="266273"/>
          </a:xfrm>
          <a:prstGeom prst="rect">
            <a:avLst/>
          </a:prstGeom>
        </p:spPr>
      </p:pic>
      <p:sp>
        <p:nvSpPr>
          <p:cNvPr id="42" name="Card title 2774"/>
          <p:cNvSpPr txBox="1"/>
          <p:nvPr/>
        </p:nvSpPr>
        <p:spPr>
          <a:xfrm>
            <a:off x="1335024" y="4864608"/>
            <a:ext cx="10125151"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Use the chain in essays</a:t>
            </a:r>
            <a:endParaRPr lang="en-US" sz="1700" dirty="0"/>
          </a:p>
        </p:txBody>
      </p:sp>
      <p:sp>
        <p:nvSpPr>
          <p:cNvPr id="43" name="Text 2775"/>
          <p:cNvSpPr txBox="1"/>
          <p:nvPr/>
        </p:nvSpPr>
        <p:spPr>
          <a:xfrm>
            <a:off x="731520" y="5449824"/>
            <a:ext cx="10728655" cy="63093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Each link made the next more likely. For 'How far was X the main cause?' questions, show where X sits in the chain — and which links it depended on.</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Kicker 277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KEY PEOPLE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people: the dictators</a:t>
            </a:r>
            <a:endParaRPr lang="en-US" sz="3400" dirty="0"/>
          </a:p>
        </p:txBody>
      </p:sp>
      <p:sp>
        <p:nvSpPr>
          <p:cNvPr id="4" name="Person card 2777"/>
          <p:cNvSpPr/>
          <p:nvPr/>
        </p:nvSpPr>
        <p:spPr>
          <a:xfrm>
            <a:off x="548640" y="1481328"/>
            <a:ext cx="3515258" cy="2253996"/>
          </a:xfrm>
          <a:prstGeom prst="roundRect">
            <a:avLst>
              <a:gd name="adj" fmla="val 4057"/>
            </a:avLst>
          </a:prstGeom>
          <a:solidFill>
            <a:schemeClr val="accent3">
              <a:alpha val="9000"/>
            </a:schemeClr>
          </a:solidFill>
          <a:ln/>
        </p:spPr>
      </p:sp>
      <p:sp>
        <p:nvSpPr>
          <p:cNvPr id="5" name="Icon circle 2778"/>
          <p:cNvSpPr/>
          <p:nvPr/>
        </p:nvSpPr>
        <p:spPr>
          <a:xfrm>
            <a:off x="731520" y="1664208"/>
            <a:ext cx="475488" cy="475488"/>
          </a:xfrm>
          <a:prstGeom prst="ellipse">
            <a:avLst/>
          </a:prstGeom>
          <a:solidFill>
            <a:schemeClr val="accent3"/>
          </a:solidFill>
          <a:ln/>
        </p:spPr>
      </p:sp>
      <p:pic>
        <p:nvPicPr>
          <p:cNvPr id="6" name="Icon FaFistRaised 2779"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Text 2780"/>
          <p:cNvSpPr txBox="1"/>
          <p:nvPr/>
        </p:nvSpPr>
        <p:spPr>
          <a:xfrm>
            <a:off x="1335024"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Adolf Hitler</a:t>
            </a:r>
            <a:endParaRPr lang="en-US" sz="1700" dirty="0"/>
          </a:p>
        </p:txBody>
      </p:sp>
      <p:sp>
        <p:nvSpPr>
          <p:cNvPr id="8" name="Text 2781"/>
          <p:cNvSpPr txBox="1"/>
          <p:nvPr/>
        </p:nvSpPr>
        <p:spPr>
          <a:xfrm>
            <a:off x="1335024"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German leader, 1933–45</a:t>
            </a:r>
            <a:endParaRPr lang="en-US" sz="1300" dirty="0"/>
          </a:p>
        </p:txBody>
      </p:sp>
      <p:sp>
        <p:nvSpPr>
          <p:cNvPr id="9" name="Text 2782"/>
          <p:cNvSpPr txBox="1"/>
          <p:nvPr/>
        </p:nvSpPr>
        <p:spPr>
          <a:xfrm>
            <a:off x="731520"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Overturned Versailles step by step; invaded Poland in 1939.</a:t>
            </a:r>
            <a:endParaRPr lang="en-US" sz="1800" dirty="0"/>
          </a:p>
        </p:txBody>
      </p:sp>
      <p:sp>
        <p:nvSpPr>
          <p:cNvPr id="10" name="Person card 2783"/>
          <p:cNvSpPr/>
          <p:nvPr/>
        </p:nvSpPr>
        <p:spPr>
          <a:xfrm>
            <a:off x="4338218" y="1481328"/>
            <a:ext cx="3515258" cy="2253996"/>
          </a:xfrm>
          <a:prstGeom prst="roundRect">
            <a:avLst>
              <a:gd name="adj" fmla="val 4057"/>
            </a:avLst>
          </a:prstGeom>
          <a:solidFill>
            <a:schemeClr val="accent3">
              <a:alpha val="9000"/>
            </a:schemeClr>
          </a:solidFill>
          <a:ln/>
        </p:spPr>
      </p:sp>
      <p:sp>
        <p:nvSpPr>
          <p:cNvPr id="11" name="Icon circle 2784"/>
          <p:cNvSpPr/>
          <p:nvPr/>
        </p:nvSpPr>
        <p:spPr>
          <a:xfrm>
            <a:off x="4521098" y="1664208"/>
            <a:ext cx="475488" cy="475488"/>
          </a:xfrm>
          <a:prstGeom prst="ellipse">
            <a:avLst/>
          </a:prstGeom>
          <a:solidFill>
            <a:schemeClr val="accent3"/>
          </a:solidFill>
          <a:ln/>
        </p:spPr>
      </p:sp>
      <p:pic>
        <p:nvPicPr>
          <p:cNvPr id="12" name="Icon FaFlag 2785"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3" name="Text 2786"/>
          <p:cNvSpPr txBox="1"/>
          <p:nvPr/>
        </p:nvSpPr>
        <p:spPr>
          <a:xfrm>
            <a:off x="5124602"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Benito Mussolini</a:t>
            </a:r>
            <a:endParaRPr lang="en-US" sz="1700" dirty="0"/>
          </a:p>
        </p:txBody>
      </p:sp>
      <p:sp>
        <p:nvSpPr>
          <p:cNvPr id="14" name="Text 2787"/>
          <p:cNvSpPr txBox="1"/>
          <p:nvPr/>
        </p:nvSpPr>
        <p:spPr>
          <a:xfrm>
            <a:off x="5124602"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Italian leader, 1922–43</a:t>
            </a:r>
            <a:endParaRPr lang="en-US" sz="1300" dirty="0"/>
          </a:p>
        </p:txBody>
      </p:sp>
      <p:sp>
        <p:nvSpPr>
          <p:cNvPr id="15" name="Text 2788"/>
          <p:cNvSpPr txBox="1"/>
          <p:nvPr/>
        </p:nvSpPr>
        <p:spPr>
          <a:xfrm>
            <a:off x="4521098"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Conquered Abyssinia; moved from Stresa to the Axis.</a:t>
            </a:r>
            <a:endParaRPr lang="en-US" sz="1800" dirty="0"/>
          </a:p>
        </p:txBody>
      </p:sp>
      <p:sp>
        <p:nvSpPr>
          <p:cNvPr id="16" name="Person card 2789"/>
          <p:cNvSpPr/>
          <p:nvPr/>
        </p:nvSpPr>
        <p:spPr>
          <a:xfrm>
            <a:off x="8127797" y="1481328"/>
            <a:ext cx="3515258" cy="2253996"/>
          </a:xfrm>
          <a:prstGeom prst="roundRect">
            <a:avLst>
              <a:gd name="adj" fmla="val 4057"/>
            </a:avLst>
          </a:prstGeom>
          <a:solidFill>
            <a:schemeClr val="accent3">
              <a:alpha val="9000"/>
            </a:schemeClr>
          </a:solidFill>
          <a:ln/>
        </p:spPr>
      </p:sp>
      <p:sp>
        <p:nvSpPr>
          <p:cNvPr id="17" name="Icon circle 2790"/>
          <p:cNvSpPr/>
          <p:nvPr/>
        </p:nvSpPr>
        <p:spPr>
          <a:xfrm>
            <a:off x="8310677" y="1664208"/>
            <a:ext cx="475488" cy="475488"/>
          </a:xfrm>
          <a:prstGeom prst="ellipse">
            <a:avLst/>
          </a:prstGeom>
          <a:solidFill>
            <a:schemeClr val="accent3"/>
          </a:solidFill>
          <a:ln/>
        </p:spPr>
      </p:sp>
      <p:pic>
        <p:nvPicPr>
          <p:cNvPr id="18" name="Icon FaHandFist 2791"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9" name="Text 2792"/>
          <p:cNvSpPr txBox="1"/>
          <p:nvPr/>
        </p:nvSpPr>
        <p:spPr>
          <a:xfrm>
            <a:off x="8914181"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Joseph Stalin</a:t>
            </a:r>
            <a:endParaRPr lang="en-US" sz="1700" dirty="0"/>
          </a:p>
        </p:txBody>
      </p:sp>
      <p:sp>
        <p:nvSpPr>
          <p:cNvPr id="20" name="Text 2793"/>
          <p:cNvSpPr txBox="1"/>
          <p:nvPr/>
        </p:nvSpPr>
        <p:spPr>
          <a:xfrm>
            <a:off x="8914181"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Soviet leader</a:t>
            </a:r>
            <a:endParaRPr lang="en-US" sz="1300" dirty="0"/>
          </a:p>
        </p:txBody>
      </p:sp>
      <p:sp>
        <p:nvSpPr>
          <p:cNvPr id="21" name="Text 2794"/>
          <p:cNvSpPr txBox="1"/>
          <p:nvPr/>
        </p:nvSpPr>
        <p:spPr>
          <a:xfrm>
            <a:off x="8310677"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Tried collective security, then signed the Nazi–Soviet Pact.</a:t>
            </a:r>
            <a:endParaRPr lang="en-US" sz="1800" dirty="0"/>
          </a:p>
        </p:txBody>
      </p:sp>
      <p:sp>
        <p:nvSpPr>
          <p:cNvPr id="22" name="Person card 2795"/>
          <p:cNvSpPr/>
          <p:nvPr/>
        </p:nvSpPr>
        <p:spPr>
          <a:xfrm>
            <a:off x="548640" y="4009644"/>
            <a:ext cx="3515258" cy="2253996"/>
          </a:xfrm>
          <a:prstGeom prst="roundRect">
            <a:avLst>
              <a:gd name="adj" fmla="val 4057"/>
            </a:avLst>
          </a:prstGeom>
          <a:solidFill>
            <a:schemeClr val="accent3">
              <a:alpha val="9000"/>
            </a:schemeClr>
          </a:solidFill>
          <a:ln/>
        </p:spPr>
      </p:sp>
      <p:sp>
        <p:nvSpPr>
          <p:cNvPr id="23" name="Icon circle 2796"/>
          <p:cNvSpPr/>
          <p:nvPr/>
        </p:nvSpPr>
        <p:spPr>
          <a:xfrm>
            <a:off x="731520" y="4192524"/>
            <a:ext cx="475488" cy="475488"/>
          </a:xfrm>
          <a:prstGeom prst="ellipse">
            <a:avLst/>
          </a:prstGeom>
          <a:solidFill>
            <a:schemeClr val="accent3"/>
          </a:solidFill>
          <a:ln/>
        </p:spPr>
      </p:sp>
      <p:pic>
        <p:nvPicPr>
          <p:cNvPr id="24" name="Icon FaPersonRifle 2797"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5" name="Text 2798"/>
          <p:cNvSpPr txBox="1"/>
          <p:nvPr/>
        </p:nvSpPr>
        <p:spPr>
          <a:xfrm>
            <a:off x="1335024"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Francisco Franco</a:t>
            </a:r>
            <a:endParaRPr lang="en-US" sz="1700" dirty="0"/>
          </a:p>
        </p:txBody>
      </p:sp>
      <p:sp>
        <p:nvSpPr>
          <p:cNvPr id="26" name="Text 2799"/>
          <p:cNvSpPr txBox="1"/>
          <p:nvPr/>
        </p:nvSpPr>
        <p:spPr>
          <a:xfrm>
            <a:off x="1335024"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Spanish Nationalist leader</a:t>
            </a:r>
            <a:endParaRPr lang="en-US" sz="1300" dirty="0"/>
          </a:p>
        </p:txBody>
      </p:sp>
      <p:sp>
        <p:nvSpPr>
          <p:cNvPr id="27" name="Text 2800"/>
          <p:cNvSpPr txBox="1"/>
          <p:nvPr/>
        </p:nvSpPr>
        <p:spPr>
          <a:xfrm>
            <a:off x="731520"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Won the Civil War (1939) with German and Italian help.</a:t>
            </a:r>
            <a:endParaRPr lang="en-US" sz="1800" dirty="0"/>
          </a:p>
        </p:txBody>
      </p:sp>
      <p:sp>
        <p:nvSpPr>
          <p:cNvPr id="28" name="Person card 2801"/>
          <p:cNvSpPr/>
          <p:nvPr/>
        </p:nvSpPr>
        <p:spPr>
          <a:xfrm>
            <a:off x="4338218" y="4009644"/>
            <a:ext cx="3515258" cy="2253996"/>
          </a:xfrm>
          <a:prstGeom prst="roundRect">
            <a:avLst>
              <a:gd name="adj" fmla="val 4057"/>
            </a:avLst>
          </a:prstGeom>
          <a:solidFill>
            <a:schemeClr val="accent3">
              <a:alpha val="9000"/>
            </a:schemeClr>
          </a:solidFill>
          <a:ln/>
        </p:spPr>
      </p:sp>
      <p:sp>
        <p:nvSpPr>
          <p:cNvPr id="29" name="Icon circle 2802"/>
          <p:cNvSpPr/>
          <p:nvPr/>
        </p:nvSpPr>
        <p:spPr>
          <a:xfrm>
            <a:off x="4521098" y="4192524"/>
            <a:ext cx="475488" cy="475488"/>
          </a:xfrm>
          <a:prstGeom prst="ellipse">
            <a:avLst/>
          </a:prstGeom>
          <a:solidFill>
            <a:schemeClr val="accent3"/>
          </a:solidFill>
          <a:ln/>
        </p:spPr>
      </p:sp>
      <p:pic>
        <p:nvPicPr>
          <p:cNvPr id="30" name="Icon GiJapan 2803"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31" name="Text 2804"/>
          <p:cNvSpPr txBox="1"/>
          <p:nvPr/>
        </p:nvSpPr>
        <p:spPr>
          <a:xfrm>
            <a:off x="5124602"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Fumimaro Konoe</a:t>
            </a:r>
            <a:endParaRPr lang="en-US" sz="1700" dirty="0"/>
          </a:p>
        </p:txBody>
      </p:sp>
      <p:sp>
        <p:nvSpPr>
          <p:cNvPr id="32" name="Text 2805"/>
          <p:cNvSpPr txBox="1"/>
          <p:nvPr/>
        </p:nvSpPr>
        <p:spPr>
          <a:xfrm>
            <a:off x="5124602"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Japanese Prime Minister, 1937–39</a:t>
            </a:r>
            <a:endParaRPr lang="en-US" sz="1300" dirty="0"/>
          </a:p>
        </p:txBody>
      </p:sp>
      <p:sp>
        <p:nvSpPr>
          <p:cNvPr id="33" name="Text 2806"/>
          <p:cNvSpPr txBox="1"/>
          <p:nvPr/>
        </p:nvSpPr>
        <p:spPr>
          <a:xfrm>
            <a:off x="4521098"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Led Japan into war with China; 'New Order in East Asia'.</a:t>
            </a:r>
            <a:endParaRPr lang="en-US" sz="1800" dirty="0"/>
          </a:p>
        </p:txBody>
      </p:sp>
      <p:sp>
        <p:nvSpPr>
          <p:cNvPr id="34" name="Person card 2807"/>
          <p:cNvSpPr/>
          <p:nvPr/>
        </p:nvSpPr>
        <p:spPr>
          <a:xfrm>
            <a:off x="8127797" y="4009644"/>
            <a:ext cx="3515258" cy="2253996"/>
          </a:xfrm>
          <a:prstGeom prst="roundRect">
            <a:avLst>
              <a:gd name="adj" fmla="val 4057"/>
            </a:avLst>
          </a:prstGeom>
          <a:solidFill>
            <a:schemeClr val="accent3">
              <a:alpha val="9000"/>
            </a:schemeClr>
          </a:solidFill>
          <a:ln/>
        </p:spPr>
      </p:sp>
      <p:sp>
        <p:nvSpPr>
          <p:cNvPr id="35" name="Icon circle 2808"/>
          <p:cNvSpPr/>
          <p:nvPr/>
        </p:nvSpPr>
        <p:spPr>
          <a:xfrm>
            <a:off x="8310677" y="4192524"/>
            <a:ext cx="475488" cy="475488"/>
          </a:xfrm>
          <a:prstGeom prst="ellipse">
            <a:avLst/>
          </a:prstGeom>
          <a:solidFill>
            <a:schemeClr val="accent3"/>
          </a:solidFill>
          <a:ln/>
        </p:spPr>
      </p:sp>
      <p:pic>
        <p:nvPicPr>
          <p:cNvPr id="36" name="Icon FaFileSignature 2809"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7" name="Text 2810"/>
          <p:cNvSpPr txBox="1"/>
          <p:nvPr/>
        </p:nvSpPr>
        <p:spPr>
          <a:xfrm>
            <a:off x="8914181"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V. Molotov &amp; J. Ribbentrop</a:t>
            </a:r>
            <a:endParaRPr lang="en-US" sz="1700" dirty="0"/>
          </a:p>
        </p:txBody>
      </p:sp>
      <p:sp>
        <p:nvSpPr>
          <p:cNvPr id="38" name="Text 2811"/>
          <p:cNvSpPr txBox="1"/>
          <p:nvPr/>
        </p:nvSpPr>
        <p:spPr>
          <a:xfrm>
            <a:off x="8914181"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Soviet and German Foreign Ministers</a:t>
            </a:r>
            <a:endParaRPr lang="en-US" sz="1300" dirty="0"/>
          </a:p>
        </p:txBody>
      </p:sp>
      <p:sp>
        <p:nvSpPr>
          <p:cNvPr id="39" name="Text 2812"/>
          <p:cNvSpPr txBox="1"/>
          <p:nvPr/>
        </p:nvSpPr>
        <p:spPr>
          <a:xfrm>
            <a:off x="8310677"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Signed the Nazi–Soviet Pact, 23 August 1939.</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Kicker 281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KEY PEOPLE</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people: the democracies and victims</a:t>
            </a:r>
            <a:endParaRPr lang="en-US" sz="3400" dirty="0"/>
          </a:p>
        </p:txBody>
      </p:sp>
      <p:sp>
        <p:nvSpPr>
          <p:cNvPr id="4" name="Person card 2814"/>
          <p:cNvSpPr/>
          <p:nvPr/>
        </p:nvSpPr>
        <p:spPr>
          <a:xfrm>
            <a:off x="548640" y="1481328"/>
            <a:ext cx="3515258" cy="2253996"/>
          </a:xfrm>
          <a:prstGeom prst="roundRect">
            <a:avLst>
              <a:gd name="adj" fmla="val 4057"/>
            </a:avLst>
          </a:prstGeom>
          <a:solidFill>
            <a:schemeClr val="accent3">
              <a:alpha val="9000"/>
            </a:schemeClr>
          </a:solidFill>
          <a:ln/>
        </p:spPr>
      </p:sp>
      <p:sp>
        <p:nvSpPr>
          <p:cNvPr id="5" name="Icon circle 2815"/>
          <p:cNvSpPr/>
          <p:nvPr/>
        </p:nvSpPr>
        <p:spPr>
          <a:xfrm>
            <a:off x="731520" y="1664208"/>
            <a:ext cx="475488" cy="475488"/>
          </a:xfrm>
          <a:prstGeom prst="ellipse">
            <a:avLst/>
          </a:prstGeom>
          <a:solidFill>
            <a:schemeClr val="accent3"/>
          </a:solidFill>
          <a:ln/>
        </p:spPr>
      </p:sp>
      <p:pic>
        <p:nvPicPr>
          <p:cNvPr id="6" name="Icon FaUserTie 2816"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Text 2817"/>
          <p:cNvSpPr txBox="1"/>
          <p:nvPr/>
        </p:nvSpPr>
        <p:spPr>
          <a:xfrm>
            <a:off x="1335024"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Neville Chamberlain</a:t>
            </a:r>
            <a:endParaRPr lang="en-US" sz="1700" dirty="0"/>
          </a:p>
        </p:txBody>
      </p:sp>
      <p:sp>
        <p:nvSpPr>
          <p:cNvPr id="8" name="Text 2818"/>
          <p:cNvSpPr txBox="1"/>
          <p:nvPr/>
        </p:nvSpPr>
        <p:spPr>
          <a:xfrm>
            <a:off x="1335024"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British Prime Minister, 1937–40</a:t>
            </a:r>
            <a:endParaRPr lang="en-US" sz="1300" dirty="0"/>
          </a:p>
        </p:txBody>
      </p:sp>
      <p:sp>
        <p:nvSpPr>
          <p:cNvPr id="9" name="Text 2819"/>
          <p:cNvSpPr txBox="1"/>
          <p:nvPr/>
        </p:nvSpPr>
        <p:spPr>
          <a:xfrm>
            <a:off x="731520"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Architect of appeasement; Munich; guaranteed Poland.</a:t>
            </a:r>
            <a:endParaRPr lang="en-US" sz="1800" dirty="0"/>
          </a:p>
        </p:txBody>
      </p:sp>
      <p:sp>
        <p:nvSpPr>
          <p:cNvPr id="10" name="Person card 2820"/>
          <p:cNvSpPr/>
          <p:nvPr/>
        </p:nvSpPr>
        <p:spPr>
          <a:xfrm>
            <a:off x="4338218" y="1481328"/>
            <a:ext cx="3515258" cy="2253996"/>
          </a:xfrm>
          <a:prstGeom prst="roundRect">
            <a:avLst>
              <a:gd name="adj" fmla="val 4057"/>
            </a:avLst>
          </a:prstGeom>
          <a:solidFill>
            <a:schemeClr val="accent3">
              <a:alpha val="9000"/>
            </a:schemeClr>
          </a:solidFill>
          <a:ln/>
        </p:spPr>
      </p:sp>
      <p:sp>
        <p:nvSpPr>
          <p:cNvPr id="11" name="Icon circle 2821"/>
          <p:cNvSpPr/>
          <p:nvPr/>
        </p:nvSpPr>
        <p:spPr>
          <a:xfrm>
            <a:off x="4521098" y="1664208"/>
            <a:ext cx="475488" cy="475488"/>
          </a:xfrm>
          <a:prstGeom prst="ellipse">
            <a:avLst/>
          </a:prstGeom>
          <a:solidFill>
            <a:schemeClr val="accent3"/>
          </a:solidFill>
          <a:ln/>
        </p:spPr>
      </p:sp>
      <p:pic>
        <p:nvPicPr>
          <p:cNvPr id="12" name="Icon FaLandmark 2822" descr="preencoded.png">    </p:cNvPr>
          <p:cNvPicPr>
            <a:picLocks noChangeAspect="1"/>
          </p:cNvPicPr>
          <p:nvPr/>
        </p:nvPicPr>
        <p:blipFill>
          <a:blip r:embed="rId2"/>
          <a:stretch>
            <a:fillRect/>
          </a:stretch>
        </p:blipFill>
        <p:spPr>
          <a:xfrm>
            <a:off x="4625706" y="1768815"/>
            <a:ext cx="266273" cy="266273"/>
          </a:xfrm>
          <a:prstGeom prst="rect">
            <a:avLst/>
          </a:prstGeom>
        </p:spPr>
      </p:pic>
      <p:sp>
        <p:nvSpPr>
          <p:cNvPr id="13" name="Text 2823"/>
          <p:cNvSpPr txBox="1"/>
          <p:nvPr/>
        </p:nvSpPr>
        <p:spPr>
          <a:xfrm>
            <a:off x="5124602"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Édouard Daladier</a:t>
            </a:r>
            <a:endParaRPr lang="en-US" sz="1700" dirty="0"/>
          </a:p>
        </p:txBody>
      </p:sp>
      <p:sp>
        <p:nvSpPr>
          <p:cNvPr id="14" name="Text 2824"/>
          <p:cNvSpPr txBox="1"/>
          <p:nvPr/>
        </p:nvSpPr>
        <p:spPr>
          <a:xfrm>
            <a:off x="5124602"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French Prime Minister, 1938–40</a:t>
            </a:r>
            <a:endParaRPr lang="en-US" sz="1300" dirty="0"/>
          </a:p>
        </p:txBody>
      </p:sp>
      <p:sp>
        <p:nvSpPr>
          <p:cNvPr id="15" name="Text 2825"/>
          <p:cNvSpPr txBox="1"/>
          <p:nvPr/>
        </p:nvSpPr>
        <p:spPr>
          <a:xfrm>
            <a:off x="4521098"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Signed Munich; followed Britain's lead.</a:t>
            </a:r>
            <a:endParaRPr lang="en-US" sz="1800" dirty="0"/>
          </a:p>
        </p:txBody>
      </p:sp>
      <p:sp>
        <p:nvSpPr>
          <p:cNvPr id="16" name="Person card 2826"/>
          <p:cNvSpPr/>
          <p:nvPr/>
        </p:nvSpPr>
        <p:spPr>
          <a:xfrm>
            <a:off x="8127797" y="1481328"/>
            <a:ext cx="3515258" cy="2253996"/>
          </a:xfrm>
          <a:prstGeom prst="roundRect">
            <a:avLst>
              <a:gd name="adj" fmla="val 4057"/>
            </a:avLst>
          </a:prstGeom>
          <a:solidFill>
            <a:schemeClr val="accent3">
              <a:alpha val="9000"/>
            </a:schemeClr>
          </a:solidFill>
          <a:ln/>
        </p:spPr>
      </p:sp>
      <p:sp>
        <p:nvSpPr>
          <p:cNvPr id="17" name="Icon circle 2827"/>
          <p:cNvSpPr/>
          <p:nvPr/>
        </p:nvSpPr>
        <p:spPr>
          <a:xfrm>
            <a:off x="8310677" y="1664208"/>
            <a:ext cx="475488" cy="475488"/>
          </a:xfrm>
          <a:prstGeom prst="ellipse">
            <a:avLst/>
          </a:prstGeom>
          <a:solidFill>
            <a:schemeClr val="accent3"/>
          </a:solidFill>
          <a:ln/>
        </p:spPr>
      </p:sp>
      <p:pic>
        <p:nvPicPr>
          <p:cNvPr id="18" name="Icon FaUserSecret 2828" descr="preencoded.png">    </p:cNvPr>
          <p:cNvPicPr>
            <a:picLocks noChangeAspect="1"/>
          </p:cNvPicPr>
          <p:nvPr/>
        </p:nvPicPr>
        <p:blipFill>
          <a:blip r:embed="rId3"/>
          <a:stretch>
            <a:fillRect/>
          </a:stretch>
        </p:blipFill>
        <p:spPr>
          <a:xfrm>
            <a:off x="8415284" y="1768815"/>
            <a:ext cx="266273" cy="266273"/>
          </a:xfrm>
          <a:prstGeom prst="rect">
            <a:avLst/>
          </a:prstGeom>
        </p:spPr>
      </p:pic>
      <p:sp>
        <p:nvSpPr>
          <p:cNvPr id="19" name="Text 2829"/>
          <p:cNvSpPr txBox="1"/>
          <p:nvPr/>
        </p:nvSpPr>
        <p:spPr>
          <a:xfrm>
            <a:off x="8914181" y="1609344"/>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Hoare &amp; Laval</a:t>
            </a:r>
            <a:endParaRPr lang="en-US" sz="1700" dirty="0"/>
          </a:p>
        </p:txBody>
      </p:sp>
      <p:sp>
        <p:nvSpPr>
          <p:cNvPr id="20" name="Text 2830"/>
          <p:cNvSpPr txBox="1"/>
          <p:nvPr/>
        </p:nvSpPr>
        <p:spPr>
          <a:xfrm>
            <a:off x="8914181" y="1938528"/>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British and French Foreign Ministers</a:t>
            </a:r>
            <a:endParaRPr lang="en-US" sz="1300" dirty="0"/>
          </a:p>
        </p:txBody>
      </p:sp>
      <p:sp>
        <p:nvSpPr>
          <p:cNvPr id="21" name="Text 2831"/>
          <p:cNvSpPr txBox="1"/>
          <p:nvPr/>
        </p:nvSpPr>
        <p:spPr>
          <a:xfrm>
            <a:off x="8310677" y="2350008"/>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Their secret 1935 pact offered Italy most of Abyssinia.</a:t>
            </a:r>
            <a:endParaRPr lang="en-US" sz="1800" dirty="0"/>
          </a:p>
        </p:txBody>
      </p:sp>
      <p:sp>
        <p:nvSpPr>
          <p:cNvPr id="22" name="Person card 2832"/>
          <p:cNvSpPr/>
          <p:nvPr/>
        </p:nvSpPr>
        <p:spPr>
          <a:xfrm>
            <a:off x="548640" y="4009644"/>
            <a:ext cx="3515258" cy="2253996"/>
          </a:xfrm>
          <a:prstGeom prst="roundRect">
            <a:avLst>
              <a:gd name="adj" fmla="val 4057"/>
            </a:avLst>
          </a:prstGeom>
          <a:solidFill>
            <a:schemeClr val="accent3">
              <a:alpha val="9000"/>
            </a:schemeClr>
          </a:solidFill>
          <a:ln/>
        </p:spPr>
      </p:sp>
      <p:sp>
        <p:nvSpPr>
          <p:cNvPr id="23" name="Icon circle 2833"/>
          <p:cNvSpPr/>
          <p:nvPr/>
        </p:nvSpPr>
        <p:spPr>
          <a:xfrm>
            <a:off x="731520" y="4192524"/>
            <a:ext cx="475488" cy="475488"/>
          </a:xfrm>
          <a:prstGeom prst="ellipse">
            <a:avLst/>
          </a:prstGeom>
          <a:solidFill>
            <a:schemeClr val="accent3"/>
          </a:solidFill>
          <a:ln/>
        </p:spPr>
      </p:sp>
      <p:pic>
        <p:nvPicPr>
          <p:cNvPr id="24" name="Icon FaHandshake 2834" descr="preencoded.png">    </p:cNvPr>
          <p:cNvPicPr>
            <a:picLocks noChangeAspect="1"/>
          </p:cNvPicPr>
          <p:nvPr/>
        </p:nvPicPr>
        <p:blipFill>
          <a:blip r:embed="rId4"/>
          <a:stretch>
            <a:fillRect/>
          </a:stretch>
        </p:blipFill>
        <p:spPr>
          <a:xfrm>
            <a:off x="836127" y="4297131"/>
            <a:ext cx="266273" cy="266273"/>
          </a:xfrm>
          <a:prstGeom prst="rect">
            <a:avLst/>
          </a:prstGeom>
        </p:spPr>
      </p:pic>
      <p:sp>
        <p:nvSpPr>
          <p:cNvPr id="25" name="Text 2835"/>
          <p:cNvSpPr txBox="1"/>
          <p:nvPr/>
        </p:nvSpPr>
        <p:spPr>
          <a:xfrm>
            <a:off x="1335024"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Maxim Litvinov</a:t>
            </a:r>
            <a:endParaRPr lang="en-US" sz="1700" dirty="0"/>
          </a:p>
        </p:txBody>
      </p:sp>
      <p:sp>
        <p:nvSpPr>
          <p:cNvPr id="26" name="Text 2836"/>
          <p:cNvSpPr txBox="1"/>
          <p:nvPr/>
        </p:nvSpPr>
        <p:spPr>
          <a:xfrm>
            <a:off x="1335024"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Soviet Foreign Commissar, 1930–39</a:t>
            </a:r>
            <a:endParaRPr lang="en-US" sz="1300" dirty="0"/>
          </a:p>
        </p:txBody>
      </p:sp>
      <p:sp>
        <p:nvSpPr>
          <p:cNvPr id="27" name="Text 2837"/>
          <p:cNvSpPr txBox="1"/>
          <p:nvPr/>
        </p:nvSpPr>
        <p:spPr>
          <a:xfrm>
            <a:off x="731520"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Champion of collective security; replaced May 1939.</a:t>
            </a:r>
            <a:endParaRPr lang="en-US" sz="1800" dirty="0"/>
          </a:p>
        </p:txBody>
      </p:sp>
      <p:sp>
        <p:nvSpPr>
          <p:cNvPr id="28" name="Person card 2838"/>
          <p:cNvSpPr/>
          <p:nvPr/>
        </p:nvSpPr>
        <p:spPr>
          <a:xfrm>
            <a:off x="4338218" y="4009644"/>
            <a:ext cx="3515258" cy="2253996"/>
          </a:xfrm>
          <a:prstGeom prst="roundRect">
            <a:avLst>
              <a:gd name="adj" fmla="val 4057"/>
            </a:avLst>
          </a:prstGeom>
          <a:solidFill>
            <a:schemeClr val="accent3">
              <a:alpha val="9000"/>
            </a:schemeClr>
          </a:solidFill>
          <a:ln/>
        </p:spPr>
      </p:sp>
      <p:sp>
        <p:nvSpPr>
          <p:cNvPr id="29" name="Icon circle 2839"/>
          <p:cNvSpPr/>
          <p:nvPr/>
        </p:nvSpPr>
        <p:spPr>
          <a:xfrm>
            <a:off x="4521098" y="4192524"/>
            <a:ext cx="475488" cy="475488"/>
          </a:xfrm>
          <a:prstGeom prst="ellipse">
            <a:avLst/>
          </a:prstGeom>
          <a:solidFill>
            <a:schemeClr val="accent3"/>
          </a:solidFill>
          <a:ln/>
        </p:spPr>
      </p:sp>
      <p:pic>
        <p:nvPicPr>
          <p:cNvPr id="30" name="Icon GiCrown 2840" descr="preencoded.png">    </p:cNvPr>
          <p:cNvPicPr>
            <a:picLocks noChangeAspect="1"/>
          </p:cNvPicPr>
          <p:nvPr/>
        </p:nvPicPr>
        <p:blipFill>
          <a:blip r:embed="rId5"/>
          <a:stretch>
            <a:fillRect/>
          </a:stretch>
        </p:blipFill>
        <p:spPr>
          <a:xfrm>
            <a:off x="4625706" y="4297131"/>
            <a:ext cx="266273" cy="266273"/>
          </a:xfrm>
          <a:prstGeom prst="rect">
            <a:avLst/>
          </a:prstGeom>
        </p:spPr>
      </p:pic>
      <p:sp>
        <p:nvSpPr>
          <p:cNvPr id="31" name="Text 2841"/>
          <p:cNvSpPr txBox="1"/>
          <p:nvPr/>
        </p:nvSpPr>
        <p:spPr>
          <a:xfrm>
            <a:off x="5124602"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Haile Selassie</a:t>
            </a:r>
            <a:endParaRPr lang="en-US" sz="1700" dirty="0"/>
          </a:p>
        </p:txBody>
      </p:sp>
      <p:sp>
        <p:nvSpPr>
          <p:cNvPr id="32" name="Text 2842"/>
          <p:cNvSpPr txBox="1"/>
          <p:nvPr/>
        </p:nvSpPr>
        <p:spPr>
          <a:xfrm>
            <a:off x="5124602"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Emperor of Abyssinia</a:t>
            </a:r>
            <a:endParaRPr lang="en-US" sz="1300" dirty="0"/>
          </a:p>
        </p:txBody>
      </p:sp>
      <p:sp>
        <p:nvSpPr>
          <p:cNvPr id="33" name="Text 2843"/>
          <p:cNvSpPr txBox="1"/>
          <p:nvPr/>
        </p:nvSpPr>
        <p:spPr>
          <a:xfrm>
            <a:off x="4521098"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Appealed to the League in 1936: 'It is us today. It will be you tomorrow.'</a:t>
            </a:r>
            <a:endParaRPr lang="en-US" sz="1800" dirty="0"/>
          </a:p>
        </p:txBody>
      </p:sp>
      <p:sp>
        <p:nvSpPr>
          <p:cNvPr id="34" name="Person card 2844"/>
          <p:cNvSpPr/>
          <p:nvPr/>
        </p:nvSpPr>
        <p:spPr>
          <a:xfrm>
            <a:off x="8127797" y="4009644"/>
            <a:ext cx="3515258" cy="2253996"/>
          </a:xfrm>
          <a:prstGeom prst="roundRect">
            <a:avLst>
              <a:gd name="adj" fmla="val 4057"/>
            </a:avLst>
          </a:prstGeom>
          <a:solidFill>
            <a:schemeClr val="accent3">
              <a:alpha val="9000"/>
            </a:schemeClr>
          </a:solidFill>
          <a:ln/>
        </p:spPr>
      </p:sp>
      <p:sp>
        <p:nvSpPr>
          <p:cNvPr id="35" name="Icon circle 2845"/>
          <p:cNvSpPr/>
          <p:nvPr/>
        </p:nvSpPr>
        <p:spPr>
          <a:xfrm>
            <a:off x="8310677" y="4192524"/>
            <a:ext cx="475488" cy="475488"/>
          </a:xfrm>
          <a:prstGeom prst="ellipse">
            <a:avLst/>
          </a:prstGeom>
          <a:solidFill>
            <a:schemeClr val="accent3"/>
          </a:solidFill>
          <a:ln/>
        </p:spPr>
      </p:sp>
      <p:pic>
        <p:nvPicPr>
          <p:cNvPr id="36" name="Icon FaFlag 2846" descr="preencoded.png">    </p:cNvPr>
          <p:cNvPicPr>
            <a:picLocks noChangeAspect="1"/>
          </p:cNvPicPr>
          <p:nvPr/>
        </p:nvPicPr>
        <p:blipFill>
          <a:blip r:embed="rId6"/>
          <a:stretch>
            <a:fillRect/>
          </a:stretch>
        </p:blipFill>
        <p:spPr>
          <a:xfrm>
            <a:off x="8415284" y="4297131"/>
            <a:ext cx="266273" cy="266273"/>
          </a:xfrm>
          <a:prstGeom prst="rect">
            <a:avLst/>
          </a:prstGeom>
        </p:spPr>
      </p:pic>
      <p:sp>
        <p:nvSpPr>
          <p:cNvPr id="37" name="Text 2847"/>
          <p:cNvSpPr txBox="1"/>
          <p:nvPr/>
        </p:nvSpPr>
        <p:spPr>
          <a:xfrm>
            <a:off x="8914181" y="4137660"/>
            <a:ext cx="2564282" cy="329184"/>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Edvard Beneš</a:t>
            </a:r>
            <a:endParaRPr lang="en-US" sz="1700" dirty="0"/>
          </a:p>
        </p:txBody>
      </p:sp>
      <p:sp>
        <p:nvSpPr>
          <p:cNvPr id="38" name="Text 2848"/>
          <p:cNvSpPr txBox="1"/>
          <p:nvPr/>
        </p:nvSpPr>
        <p:spPr>
          <a:xfrm>
            <a:off x="8914181" y="4466844"/>
            <a:ext cx="2564282" cy="274320"/>
          </a:xfrm>
          <a:prstGeom prst="rect">
            <a:avLst/>
          </a:prstGeom>
          <a:noFill/>
          <a:ln/>
        </p:spPr>
        <p:txBody>
          <a:bodyPr wrap="square" lIns="0" tIns="0" rIns="0" bIns="0" rtlCol="0" anchor="t"/>
          <a:lstStyle/>
          <a:p>
            <a:pPr algn="l" indent="0" marL="0">
              <a:spcAft>
                <a:spcPts val="600"/>
              </a:spcAft>
              <a:buNone/>
            </a:pPr>
            <a:r>
              <a:rPr lang="en-US" sz="1300" i="1" dirty="0">
                <a:solidFill>
                  <a:schemeClr val="accent3"/>
                </a:solidFill>
              </a:rPr>
              <a:t>Czechoslovak President</a:t>
            </a:r>
            <a:endParaRPr lang="en-US" sz="1300" dirty="0"/>
          </a:p>
        </p:txBody>
      </p:sp>
      <p:sp>
        <p:nvSpPr>
          <p:cNvPr id="39" name="Text 2849"/>
          <p:cNvSpPr txBox="1"/>
          <p:nvPr/>
        </p:nvSpPr>
        <p:spPr>
          <a:xfrm>
            <a:off x="8310677" y="4878324"/>
            <a:ext cx="3149498" cy="1248156"/>
          </a:xfrm>
          <a:prstGeom prst="rect">
            <a:avLst/>
          </a:prstGeom>
          <a:noFill/>
          <a:ln/>
        </p:spPr>
        <p:txBody>
          <a:bodyPr wrap="square" lIns="0" tIns="0" rIns="0" bIns="0" rtlCol="0" anchor="t"/>
          <a:lstStyle/>
          <a:p>
            <a:pPr algn="l" indent="0" marL="0">
              <a:spcAft>
                <a:spcPts val="600"/>
              </a:spcAft>
              <a:buNone/>
            </a:pPr>
            <a:r>
              <a:rPr lang="en-US" sz="1800" dirty="0">
                <a:solidFill>
                  <a:schemeClr val="tx1"/>
                </a:solidFill>
              </a:rPr>
              <a:t>Abandoned at Munich; resigned in October 1938.</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Kicker 2850"/>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KEY TERMS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Key terms: Topic 3</a:t>
            </a:r>
            <a:endParaRPr lang="en-US" sz="3400" dirty="0"/>
          </a:p>
        </p:txBody>
      </p:sp>
      <p:graphicFrame>
        <p:nvGraphicFramePr>
          <p:cNvPr id="118" name="Table 2851"/>
          <p:cNvGraphicFramePr>
            <a:graphicFrameLocks noGrp="1"/>
          </p:cNvGraphicFramePr>
          <p:nvPr>
            <p:extLst>
              <p:ext uri="{D42A27DB-BD31-4B8C-83A1-F6EECF244321}">
                <p14:modId xmlns:p14="http://schemas.microsoft.com/office/powerpoint/2010/main" val="1579011935"/>
              </p:ext>
            </p:extLst>
          </p:nvPr>
        </p:nvGraphicFramePr>
        <p:xfrm>
          <a:off x="548640" y="1481328"/>
          <a:ext cx="5410048" cy="914400"/>
        </p:xfrm>
        <a:graphic>
          <a:graphicData uri="http://schemas.openxmlformats.org/drawingml/2006/table">
            <a:tbl>
              <a:tblPr/>
              <a:tblGrid>
                <a:gridCol w="1828800"/>
                <a:gridCol w="3581248"/>
              </a:tblGrid>
              <a:tr h="384048">
                <a:tc>
                  <a:txBody>
                    <a:bodyPr/>
                    <a:lstStyle/>
                    <a:p>
                      <a:pPr indent="0" marL="0">
                        <a:buNone/>
                      </a:pPr>
                      <a:r>
                        <a:rPr lang="en-US" sz="1400" b="1" dirty="0">
                          <a:solidFill>
                            <a:schemeClr val="bg1"/>
                          </a:solidFill>
                        </a:rPr>
                        <a:t>Term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Meaning</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r>
              <a:tr h="594360">
                <a:tc>
                  <a:txBody>
                    <a:bodyPr/>
                    <a:lstStyle/>
                    <a:p>
                      <a:pPr algn="l" indent="0" marL="0">
                        <a:buNone/>
                      </a:pPr>
                      <a:r>
                        <a:rPr lang="en-US" sz="1400" b="1" dirty="0">
                          <a:solidFill>
                            <a:schemeClr val="accent3"/>
                          </a:solidFill>
                        </a:rPr>
                        <a:t>Protectionism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Taxing imports to protect home industry</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72409">
                <a:tc>
                  <a:txBody>
                    <a:bodyPr/>
                    <a:lstStyle/>
                    <a:p>
                      <a:pPr algn="l" indent="0" marL="0">
                        <a:buNone/>
                      </a:pPr>
                      <a:r>
                        <a:rPr lang="en-US" sz="1400" b="1" dirty="0">
                          <a:solidFill>
                            <a:schemeClr val="accent3"/>
                          </a:solidFill>
                        </a:rPr>
                        <a:t>Lebensraum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'Living space': Hitler's aim of land in Eastern Europe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594360">
                <a:tc>
                  <a:txBody>
                    <a:bodyPr/>
                    <a:lstStyle/>
                    <a:p>
                      <a:pPr algn="l" indent="0" marL="0">
                        <a:buNone/>
                      </a:pPr>
                      <a:r>
                        <a:rPr lang="en-US" sz="1400" b="1" dirty="0">
                          <a:solidFill>
                            <a:schemeClr val="accent3"/>
                          </a:solidFill>
                        </a:rPr>
                        <a:t>Anschluss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Union of Germany and Austria (March 1938)</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72409">
                <a:tc>
                  <a:txBody>
                    <a:bodyPr/>
                    <a:lstStyle/>
                    <a:p>
                      <a:pPr algn="l" indent="0" marL="0">
                        <a:buNone/>
                      </a:pPr>
                      <a:r>
                        <a:rPr lang="en-US" sz="1400" b="1" dirty="0">
                          <a:solidFill>
                            <a:schemeClr val="accent3"/>
                          </a:solidFill>
                        </a:rPr>
                        <a:t>Appeasement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Avoiding war by giving in to 'reasonable' demands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72409">
                <a:tc>
                  <a:txBody>
                    <a:bodyPr/>
                    <a:lstStyle/>
                    <a:p>
                      <a:pPr algn="l" indent="0" marL="0">
                        <a:buNone/>
                      </a:pPr>
                      <a:r>
                        <a:rPr lang="en-US" sz="1400" b="1" dirty="0">
                          <a:solidFill>
                            <a:schemeClr val="accent3"/>
                          </a:solidFill>
                        </a:rPr>
                        <a:t>Stresa Front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Britain, France and Italy against German rearmament (1935)</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94360">
                <a:tc>
                  <a:txBody>
                    <a:bodyPr/>
                    <a:lstStyle/>
                    <a:p>
                      <a:pPr algn="l" indent="0" marL="0">
                        <a:buNone/>
                      </a:pPr>
                      <a:r>
                        <a:rPr lang="en-US" sz="1400" b="1" dirty="0">
                          <a:solidFill>
                            <a:schemeClr val="accent3"/>
                          </a:solidFill>
                        </a:rPr>
                        <a:t>Rome–Berlin Axis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Italian–German understanding (1936)</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graphicFrame>
        <p:nvGraphicFramePr>
          <p:cNvPr id="235" name="Table 2852"/>
          <p:cNvGraphicFramePr>
            <a:graphicFrameLocks noGrp="1"/>
          </p:cNvGraphicFramePr>
          <p:nvPr>
            <p:extLst>
              <p:ext uri="{D42A27DB-BD31-4B8C-83A1-F6EECF244321}">
                <p14:modId xmlns:p14="http://schemas.microsoft.com/office/powerpoint/2010/main" val="1579011935"/>
              </p:ext>
            </p:extLst>
          </p:nvPr>
        </p:nvGraphicFramePr>
        <p:xfrm>
          <a:off x="6233008" y="1481328"/>
          <a:ext cx="5410048" cy="914400"/>
        </p:xfrm>
        <a:graphic>
          <a:graphicData uri="http://schemas.openxmlformats.org/drawingml/2006/table">
            <a:tbl>
              <a:tblPr/>
              <a:tblGrid>
                <a:gridCol w="1828800"/>
                <a:gridCol w="3581248"/>
              </a:tblGrid>
              <a:tr h="384048">
                <a:tc>
                  <a:txBody>
                    <a:bodyPr/>
                    <a:lstStyle/>
                    <a:p>
                      <a:pPr indent="0" marL="0">
                        <a:buNone/>
                      </a:pPr>
                      <a:r>
                        <a:rPr lang="en-US" sz="1400" b="1" dirty="0">
                          <a:solidFill>
                            <a:schemeClr val="bg1"/>
                          </a:solidFill>
                        </a:rPr>
                        <a:t>Term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Meaning</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r>
              <a:tr h="772409">
                <a:tc>
                  <a:txBody>
                    <a:bodyPr/>
                    <a:lstStyle/>
                    <a:p>
                      <a:pPr algn="l" indent="0" marL="0">
                        <a:buNone/>
                      </a:pPr>
                      <a:r>
                        <a:rPr lang="en-US" sz="1400" b="1" dirty="0">
                          <a:solidFill>
                            <a:schemeClr val="accent3"/>
                          </a:solidFill>
                        </a:rPr>
                        <a:t>Anti-Comintern Pact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Germany and Japan (1936), later Italy, against communism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94360">
                <a:tc>
                  <a:txBody>
                    <a:bodyPr/>
                    <a:lstStyle/>
                    <a:p>
                      <a:pPr algn="l" indent="0" marL="0">
                        <a:buNone/>
                      </a:pPr>
                      <a:r>
                        <a:rPr lang="en-US" sz="1400" b="1" dirty="0">
                          <a:solidFill>
                            <a:schemeClr val="accent3"/>
                          </a:solidFill>
                        </a:rPr>
                        <a:t>Non-intervention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Agreement not to aid either side in Spain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594360">
                <a:tc>
                  <a:txBody>
                    <a:bodyPr/>
                    <a:lstStyle/>
                    <a:p>
                      <a:pPr algn="l" indent="0" marL="0">
                        <a:buNone/>
                      </a:pPr>
                      <a:r>
                        <a:rPr lang="en-US" sz="1400" b="1" dirty="0">
                          <a:solidFill>
                            <a:schemeClr val="accent3"/>
                          </a:solidFill>
                        </a:rPr>
                        <a:t>Manchukuo</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Japan's puppet state in Manchuria (1932)</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594360">
                <a:tc>
                  <a:txBody>
                    <a:bodyPr/>
                    <a:lstStyle/>
                    <a:p>
                      <a:pPr algn="l" indent="0" marL="0">
                        <a:buNone/>
                      </a:pPr>
                      <a:r>
                        <a:rPr lang="en-US" sz="1400" b="1" dirty="0">
                          <a:solidFill>
                            <a:schemeClr val="accent3"/>
                          </a:solidFill>
                        </a:rPr>
                        <a:t>Hoare–Laval Pact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1935 plan to give Italy most of Abyssinia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772409">
                <a:tc>
                  <a:txBody>
                    <a:bodyPr/>
                    <a:lstStyle/>
                    <a:p>
                      <a:pPr algn="l" indent="0" marL="0">
                        <a:buNone/>
                      </a:pPr>
                      <a:r>
                        <a:rPr lang="en-US" sz="1400" b="1" dirty="0">
                          <a:solidFill>
                            <a:schemeClr val="accent3"/>
                          </a:solidFill>
                        </a:rPr>
                        <a:t>Pact of Steel</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Military alliance of Germany and Italy (May 1939)</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72409">
                <a:tc>
                  <a:txBody>
                    <a:bodyPr/>
                    <a:lstStyle/>
                    <a:p>
                      <a:pPr algn="l" indent="0" marL="0">
                        <a:buNone/>
                      </a:pPr>
                      <a:r>
                        <a:rPr lang="en-US" sz="1400" b="1" dirty="0">
                          <a:solidFill>
                            <a:schemeClr val="accent3"/>
                          </a:solidFill>
                        </a:rPr>
                        <a:t>Nazi–Soviet Pact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German–Soviet non-aggression pact (Aug 1939)</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Kicker 285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4"/>
                </a:solidFill>
              </a:rPr>
              <a:t>TOPIC 3 · QUICK-FIRE QUIZ</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bg1"/>
                </a:solidFill>
              </a:rPr>
              <a:t>Test yourself: Topic 3</a:t>
            </a:r>
            <a:endParaRPr lang="en-US" sz="3400" dirty="0"/>
          </a:p>
        </p:txBody>
      </p:sp>
      <p:sp>
        <p:nvSpPr>
          <p:cNvPr id="4" name="Question number 2854"/>
          <p:cNvSpPr/>
          <p:nvPr/>
        </p:nvSpPr>
        <p:spPr>
          <a:xfrm>
            <a:off x="548640" y="1517904"/>
            <a:ext cx="457200" cy="457200"/>
          </a:xfrm>
          <a:prstGeom prst="ellipse">
            <a:avLst/>
          </a:prstGeom>
          <a:solidFill>
            <a:schemeClr val="accent4"/>
          </a:solidFill>
          <a:ln/>
        </p:spPr>
      </p:sp>
      <p:sp>
        <p:nvSpPr>
          <p:cNvPr id="5" name="Text 2855"/>
          <p:cNvSpPr txBox="1"/>
          <p:nvPr/>
        </p:nvSpPr>
        <p:spPr>
          <a:xfrm>
            <a:off x="548640" y="1517904"/>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1</a:t>
            </a:r>
            <a:endParaRPr lang="en-US" sz="1600" dirty="0"/>
          </a:p>
        </p:txBody>
      </p:sp>
      <p:sp>
        <p:nvSpPr>
          <p:cNvPr id="6" name="Text 2856"/>
          <p:cNvSpPr txBox="1"/>
          <p:nvPr/>
        </p:nvSpPr>
        <p:spPr>
          <a:xfrm>
            <a:off x="1170432" y="1499616"/>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Which incident started the Manchurian Crisis in 1931?</a:t>
            </a:r>
            <a:endParaRPr lang="en-US" sz="1700" dirty="0"/>
          </a:p>
        </p:txBody>
      </p:sp>
      <p:sp>
        <p:nvSpPr>
          <p:cNvPr id="7" name="Question number 2857"/>
          <p:cNvSpPr/>
          <p:nvPr/>
        </p:nvSpPr>
        <p:spPr>
          <a:xfrm>
            <a:off x="548640" y="2690622"/>
            <a:ext cx="457200" cy="457200"/>
          </a:xfrm>
          <a:prstGeom prst="ellipse">
            <a:avLst/>
          </a:prstGeom>
          <a:solidFill>
            <a:schemeClr val="accent4"/>
          </a:solidFill>
          <a:ln/>
        </p:spPr>
      </p:sp>
      <p:sp>
        <p:nvSpPr>
          <p:cNvPr id="8" name="Text 2858"/>
          <p:cNvSpPr txBox="1"/>
          <p:nvPr/>
        </p:nvSpPr>
        <p:spPr>
          <a:xfrm>
            <a:off x="548640" y="2690622"/>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2</a:t>
            </a:r>
            <a:endParaRPr lang="en-US" sz="1600" dirty="0"/>
          </a:p>
        </p:txBody>
      </p:sp>
      <p:sp>
        <p:nvSpPr>
          <p:cNvPr id="9" name="Text 2859"/>
          <p:cNvSpPr txBox="1"/>
          <p:nvPr/>
        </p:nvSpPr>
        <p:spPr>
          <a:xfrm>
            <a:off x="1170432" y="2672334"/>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did the Lytton Report conclude — and what did Japan do?</a:t>
            </a:r>
            <a:endParaRPr lang="en-US" sz="1700" dirty="0"/>
          </a:p>
        </p:txBody>
      </p:sp>
      <p:sp>
        <p:nvSpPr>
          <p:cNvPr id="10" name="Question number 2860"/>
          <p:cNvSpPr/>
          <p:nvPr/>
        </p:nvSpPr>
        <p:spPr>
          <a:xfrm>
            <a:off x="548640" y="3863340"/>
            <a:ext cx="457200" cy="457200"/>
          </a:xfrm>
          <a:prstGeom prst="ellipse">
            <a:avLst/>
          </a:prstGeom>
          <a:solidFill>
            <a:schemeClr val="accent4"/>
          </a:solidFill>
          <a:ln/>
        </p:spPr>
      </p:sp>
      <p:sp>
        <p:nvSpPr>
          <p:cNvPr id="11" name="Text 2861"/>
          <p:cNvSpPr txBox="1"/>
          <p:nvPr/>
        </p:nvSpPr>
        <p:spPr>
          <a:xfrm>
            <a:off x="548640" y="3863340"/>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3</a:t>
            </a:r>
            <a:endParaRPr lang="en-US" sz="1600" dirty="0"/>
          </a:p>
        </p:txBody>
      </p:sp>
      <p:sp>
        <p:nvSpPr>
          <p:cNvPr id="12" name="Text 2862"/>
          <p:cNvSpPr txBox="1"/>
          <p:nvPr/>
        </p:nvSpPr>
        <p:spPr>
          <a:xfrm>
            <a:off x="1170432" y="3845052"/>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did the World Disarmament Conference fail?</a:t>
            </a:r>
            <a:endParaRPr lang="en-US" sz="1700" dirty="0"/>
          </a:p>
        </p:txBody>
      </p:sp>
      <p:sp>
        <p:nvSpPr>
          <p:cNvPr id="13" name="Question number 2863"/>
          <p:cNvSpPr/>
          <p:nvPr/>
        </p:nvSpPr>
        <p:spPr>
          <a:xfrm>
            <a:off x="548640" y="5036058"/>
            <a:ext cx="457200" cy="457200"/>
          </a:xfrm>
          <a:prstGeom prst="ellipse">
            <a:avLst/>
          </a:prstGeom>
          <a:solidFill>
            <a:schemeClr val="accent4"/>
          </a:solidFill>
          <a:ln/>
        </p:spPr>
      </p:sp>
      <p:sp>
        <p:nvSpPr>
          <p:cNvPr id="14" name="Text 2864"/>
          <p:cNvSpPr txBox="1"/>
          <p:nvPr/>
        </p:nvSpPr>
        <p:spPr>
          <a:xfrm>
            <a:off x="548640" y="5036058"/>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4</a:t>
            </a:r>
            <a:endParaRPr lang="en-US" sz="1600" dirty="0"/>
          </a:p>
        </p:txBody>
      </p:sp>
      <p:sp>
        <p:nvSpPr>
          <p:cNvPr id="15" name="Text 2865"/>
          <p:cNvSpPr txBox="1"/>
          <p:nvPr/>
        </p:nvSpPr>
        <p:spPr>
          <a:xfrm>
            <a:off x="1170432" y="5017770"/>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was the Hoare–Laval Pact?</a:t>
            </a:r>
            <a:endParaRPr lang="en-US" sz="1700" dirty="0"/>
          </a:p>
        </p:txBody>
      </p:sp>
      <p:sp>
        <p:nvSpPr>
          <p:cNvPr id="16" name="Question number 2866"/>
          <p:cNvSpPr/>
          <p:nvPr/>
        </p:nvSpPr>
        <p:spPr>
          <a:xfrm>
            <a:off x="6324448" y="1517904"/>
            <a:ext cx="457200" cy="457200"/>
          </a:xfrm>
          <a:prstGeom prst="ellipse">
            <a:avLst/>
          </a:prstGeom>
          <a:solidFill>
            <a:schemeClr val="accent4"/>
          </a:solidFill>
          <a:ln/>
        </p:spPr>
      </p:sp>
      <p:sp>
        <p:nvSpPr>
          <p:cNvPr id="17" name="Text 2867"/>
          <p:cNvSpPr txBox="1"/>
          <p:nvPr/>
        </p:nvSpPr>
        <p:spPr>
          <a:xfrm>
            <a:off x="6324448" y="1517904"/>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5</a:t>
            </a:r>
            <a:endParaRPr lang="en-US" sz="1600" dirty="0"/>
          </a:p>
        </p:txBody>
      </p:sp>
      <p:sp>
        <p:nvSpPr>
          <p:cNvPr id="18" name="Text 2868"/>
          <p:cNvSpPr txBox="1"/>
          <p:nvPr/>
        </p:nvSpPr>
        <p:spPr>
          <a:xfrm>
            <a:off x="6946240" y="1499616"/>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Why didn't sanctions stop Italy conquering Abyssinia?</a:t>
            </a:r>
            <a:endParaRPr lang="en-US" sz="1700" dirty="0"/>
          </a:p>
        </p:txBody>
      </p:sp>
      <p:sp>
        <p:nvSpPr>
          <p:cNvPr id="19" name="Question number 2869"/>
          <p:cNvSpPr/>
          <p:nvPr/>
        </p:nvSpPr>
        <p:spPr>
          <a:xfrm>
            <a:off x="6324448" y="2690622"/>
            <a:ext cx="457200" cy="457200"/>
          </a:xfrm>
          <a:prstGeom prst="ellipse">
            <a:avLst/>
          </a:prstGeom>
          <a:solidFill>
            <a:schemeClr val="accent4"/>
          </a:solidFill>
          <a:ln/>
        </p:spPr>
      </p:sp>
      <p:sp>
        <p:nvSpPr>
          <p:cNvPr id="20" name="Text 2870"/>
          <p:cNvSpPr txBox="1"/>
          <p:nvPr/>
        </p:nvSpPr>
        <p:spPr>
          <a:xfrm>
            <a:off x="6324448" y="2690622"/>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6</a:t>
            </a:r>
            <a:endParaRPr lang="en-US" sz="1600" dirty="0"/>
          </a:p>
        </p:txBody>
      </p:sp>
      <p:sp>
        <p:nvSpPr>
          <p:cNvPr id="21" name="Text 2871"/>
          <p:cNvSpPr txBox="1"/>
          <p:nvPr/>
        </p:nvSpPr>
        <p:spPr>
          <a:xfrm>
            <a:off x="6946240" y="2672334"/>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What does EMPIRE stand for?</a:t>
            </a:r>
            <a:endParaRPr lang="en-US" sz="1700" dirty="0"/>
          </a:p>
        </p:txBody>
      </p:sp>
      <p:sp>
        <p:nvSpPr>
          <p:cNvPr id="22" name="Question number 2872"/>
          <p:cNvSpPr/>
          <p:nvPr/>
        </p:nvSpPr>
        <p:spPr>
          <a:xfrm>
            <a:off x="6324448" y="3863340"/>
            <a:ext cx="457200" cy="457200"/>
          </a:xfrm>
          <a:prstGeom prst="ellipse">
            <a:avLst/>
          </a:prstGeom>
          <a:solidFill>
            <a:schemeClr val="accent4"/>
          </a:solidFill>
          <a:ln/>
        </p:spPr>
      </p:sp>
      <p:sp>
        <p:nvSpPr>
          <p:cNvPr id="23" name="Text 2873"/>
          <p:cNvSpPr txBox="1"/>
          <p:nvPr/>
        </p:nvSpPr>
        <p:spPr>
          <a:xfrm>
            <a:off x="6324448" y="3863340"/>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7</a:t>
            </a:r>
            <a:endParaRPr lang="en-US" sz="1600" dirty="0"/>
          </a:p>
        </p:txBody>
      </p:sp>
      <p:sp>
        <p:nvSpPr>
          <p:cNvPr id="24" name="Text 2874"/>
          <p:cNvSpPr txBox="1"/>
          <p:nvPr/>
        </p:nvSpPr>
        <p:spPr>
          <a:xfrm>
            <a:off x="6946240" y="3845052"/>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Who was at the Munich Conference — and who wasn't?</a:t>
            </a:r>
            <a:endParaRPr lang="en-US" sz="1700" dirty="0"/>
          </a:p>
        </p:txBody>
      </p:sp>
      <p:sp>
        <p:nvSpPr>
          <p:cNvPr id="25" name="Question number 2875"/>
          <p:cNvSpPr/>
          <p:nvPr/>
        </p:nvSpPr>
        <p:spPr>
          <a:xfrm>
            <a:off x="6324448" y="5036058"/>
            <a:ext cx="457200" cy="457200"/>
          </a:xfrm>
          <a:prstGeom prst="ellipse">
            <a:avLst/>
          </a:prstGeom>
          <a:solidFill>
            <a:schemeClr val="accent4"/>
          </a:solidFill>
          <a:ln/>
        </p:spPr>
      </p:sp>
      <p:sp>
        <p:nvSpPr>
          <p:cNvPr id="26" name="Text 2876"/>
          <p:cNvSpPr txBox="1"/>
          <p:nvPr/>
        </p:nvSpPr>
        <p:spPr>
          <a:xfrm>
            <a:off x="6324448" y="5036058"/>
            <a:ext cx="457200" cy="457200"/>
          </a:xfrm>
          <a:prstGeom prst="rect">
            <a:avLst/>
          </a:prstGeom>
          <a:noFill/>
          <a:ln/>
        </p:spPr>
        <p:txBody>
          <a:bodyPr wrap="square" lIns="0" tIns="0" rIns="0" bIns="0" rtlCol="0" anchor="ctr"/>
          <a:lstStyle/>
          <a:p>
            <a:pPr algn="ctr" indent="0" marL="0">
              <a:spcAft>
                <a:spcPts val="600"/>
              </a:spcAft>
              <a:buNone/>
            </a:pPr>
            <a:r>
              <a:rPr lang="en-US" sz="1600" b="1" dirty="0">
                <a:solidFill>
                  <a:schemeClr val="tx2"/>
                </a:solidFill>
              </a:rPr>
              <a:t>8</a:t>
            </a:r>
            <a:endParaRPr lang="en-US" sz="1600" dirty="0"/>
          </a:p>
        </p:txBody>
      </p:sp>
      <p:sp>
        <p:nvSpPr>
          <p:cNvPr id="27" name="Text 2877"/>
          <p:cNvSpPr txBox="1"/>
          <p:nvPr/>
        </p:nvSpPr>
        <p:spPr>
          <a:xfrm>
            <a:off x="6946240" y="5017770"/>
            <a:ext cx="4696816" cy="109956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Give two reasons why Stalin signed the Nazi–Soviet Pact.</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F1F3F5"/>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Kicker 287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QUIZ ANSWERS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Answers: Topic 3</a:t>
            </a:r>
            <a:endParaRPr lang="en-US" sz="3400" dirty="0"/>
          </a:p>
        </p:txBody>
      </p:sp>
      <p:graphicFrame>
        <p:nvGraphicFramePr>
          <p:cNvPr id="120" name="Table 2879"/>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457200"/>
                <a:gridCol w="3657600"/>
                <a:gridCol w="6979615"/>
              </a:tblGrid>
              <a:tr h="384048">
                <a:tc>
                  <a:txBody>
                    <a:bodyPr/>
                    <a:lstStyle/>
                    <a:p>
                      <a:pPr indent="0" marL="0">
                        <a:buNone/>
                      </a:pPr>
                      <a:r>
                        <a:rPr lang="en-US" sz="1400" b="1" dirty="0">
                          <a:solidFill>
                            <a:schemeClr val="bg1"/>
                          </a:solidFill>
                        </a:rPr>
                        <a: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Question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Answer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3"/>
                    </a:solidFill>
                  </a:tcPr>
                </a:tc>
              </a:tr>
              <a:tr h="496127">
                <a:tc>
                  <a:txBody>
                    <a:bodyPr/>
                    <a:lstStyle/>
                    <a:p>
                      <a:pPr algn="ctr" indent="0" marL="0">
                        <a:buNone/>
                      </a:pPr>
                      <a:r>
                        <a:rPr lang="en-US" sz="1400" b="1" dirty="0">
                          <a:solidFill>
                            <a:schemeClr val="accent3"/>
                          </a:solidFill>
                        </a:rPr>
                        <a:t>1</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Manchuria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The Mukden Incident (Sept 1931): a staged railway explosion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496127">
                <a:tc>
                  <a:txBody>
                    <a:bodyPr/>
                    <a:lstStyle/>
                    <a:p>
                      <a:pPr algn="ctr" indent="0" marL="0">
                        <a:buNone/>
                      </a:pPr>
                      <a:r>
                        <a:rPr lang="en-US" sz="1400" b="1" dirty="0">
                          <a:solidFill>
                            <a:schemeClr val="accent3"/>
                          </a:solidFill>
                        </a:rPr>
                        <a:t>2</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Lytton Report</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Japan was the aggressor; Japan walked out and left the League (1933)</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496127">
                <a:tc>
                  <a:txBody>
                    <a:bodyPr/>
                    <a:lstStyle/>
                    <a:p>
                      <a:pPr algn="ctr" indent="0" marL="0">
                        <a:buNone/>
                      </a:pPr>
                      <a:r>
                        <a:rPr lang="en-US" sz="1400" b="1" dirty="0">
                          <a:solidFill>
                            <a:schemeClr val="accent3"/>
                          </a:solidFill>
                        </a:rPr>
                        <a:t>3</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Disarmament Conference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France wanted security first; Germany demanded equality and left (1933)</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496127">
                <a:tc>
                  <a:txBody>
                    <a:bodyPr/>
                    <a:lstStyle/>
                    <a:p>
                      <a:pPr algn="ctr" indent="0" marL="0">
                        <a:buNone/>
                      </a:pPr>
                      <a:r>
                        <a:rPr lang="en-US" sz="1400" b="1" dirty="0">
                          <a:solidFill>
                            <a:schemeClr val="accent3"/>
                          </a:solidFill>
                        </a:rPr>
                        <a:t>4</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Hoare–Laval</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Secret 1935 plan to give Italy about two-thirds of Abyssinia</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496127">
                <a:tc>
                  <a:txBody>
                    <a:bodyPr/>
                    <a:lstStyle/>
                    <a:p>
                      <a:pPr algn="ctr" indent="0" marL="0">
                        <a:buNone/>
                      </a:pPr>
                      <a:r>
                        <a:rPr lang="en-US" sz="1400" b="1" dirty="0">
                          <a:solidFill>
                            <a:schemeClr val="accent3"/>
                          </a:solidFill>
                        </a:rPr>
                        <a:t>5</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Sanctions</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No oil ban; Suez Canal left open; USA kept trading</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10752">
                <a:tc>
                  <a:txBody>
                    <a:bodyPr/>
                    <a:lstStyle/>
                    <a:p>
                      <a:pPr algn="ctr" indent="0" marL="0">
                        <a:buNone/>
                      </a:pPr>
                      <a:r>
                        <a:rPr lang="en-US" sz="1400" b="1" dirty="0">
                          <a:solidFill>
                            <a:schemeClr val="accent3"/>
                          </a:solidFill>
                        </a:rPr>
                        <a:t>6</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EMPIRE</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Economy, Military weakness, Public opinion, Imperial priorities, Reasonable grievances, Enemy is communism</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496127">
                <a:tc>
                  <a:txBody>
                    <a:bodyPr/>
                    <a:lstStyle/>
                    <a:p>
                      <a:pPr algn="ctr" indent="0" marL="0">
                        <a:buNone/>
                      </a:pPr>
                      <a:r>
                        <a:rPr lang="en-US" sz="1400" b="1" dirty="0">
                          <a:solidFill>
                            <a:schemeClr val="accent3"/>
                          </a:solidFill>
                        </a:rPr>
                        <a:t>7</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Munich</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Hitler, Chamberlain, Daladier, Mussolini — not Czechoslovakia or the USSR</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710752">
                <a:tc>
                  <a:txBody>
                    <a:bodyPr/>
                    <a:lstStyle/>
                    <a:p>
                      <a:pPr algn="ctr" indent="0" marL="0">
                        <a:buNone/>
                      </a:pPr>
                      <a:r>
                        <a:rPr lang="en-US" sz="1400" b="1" dirty="0">
                          <a:solidFill>
                            <a:schemeClr val="accent3"/>
                          </a:solidFill>
                        </a:rPr>
                        <a:t>8</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Stalin</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Any two: distrust after Munich, slow Anglo-French talks, time to rearm, land in Poland and the Baltic</a:t>
                      </a:r>
                      <a:endParaRPr lang="en-US" sz="14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Kicker 2880"/>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EXAM FOCUS · (A)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Plan it: the specimen (a) question</a:t>
            </a:r>
            <a:endParaRPr lang="en-US" sz="3400" dirty="0"/>
          </a:p>
        </p:txBody>
      </p:sp>
      <p:sp>
        <p:nvSpPr>
          <p:cNvPr id="4" name="Question banner 2881"/>
          <p:cNvSpPr/>
          <p:nvPr/>
        </p:nvSpPr>
        <p:spPr>
          <a:xfrm>
            <a:off x="548640" y="1481328"/>
            <a:ext cx="11094415" cy="960120"/>
          </a:xfrm>
          <a:prstGeom prst="roundRect">
            <a:avLst>
              <a:gd name="adj" fmla="val 9524"/>
            </a:avLst>
          </a:prstGeom>
          <a:solidFill>
            <a:schemeClr val="tx2"/>
          </a:solidFill>
          <a:ln/>
        </p:spPr>
      </p:sp>
      <p:sp>
        <p:nvSpPr>
          <p:cNvPr id="5" name="Icon circle 2882"/>
          <p:cNvSpPr/>
          <p:nvPr/>
        </p:nvSpPr>
        <p:spPr>
          <a:xfrm>
            <a:off x="749808" y="1709928"/>
            <a:ext cx="502920" cy="502920"/>
          </a:xfrm>
          <a:prstGeom prst="ellipse">
            <a:avLst/>
          </a:prstGeom>
          <a:solidFill>
            <a:schemeClr val="accent3"/>
          </a:solidFill>
          <a:ln/>
        </p:spPr>
      </p:sp>
      <p:pic>
        <p:nvPicPr>
          <p:cNvPr id="6" name="Icon FaQuestion 2883" descr="preencoded.png">    </p:cNvPr>
          <p:cNvPicPr>
            <a:picLocks noChangeAspect="1"/>
          </p:cNvPicPr>
          <p:nvPr/>
        </p:nvPicPr>
        <p:blipFill>
          <a:blip r:embed="rId1"/>
          <a:stretch>
            <a:fillRect/>
          </a:stretch>
        </p:blipFill>
        <p:spPr>
          <a:xfrm>
            <a:off x="860450" y="1820570"/>
            <a:ext cx="281635" cy="281635"/>
          </a:xfrm>
          <a:prstGeom prst="rect">
            <a:avLst/>
          </a:prstGeom>
        </p:spPr>
      </p:pic>
      <p:sp>
        <p:nvSpPr>
          <p:cNvPr id="7" name="Text 2884"/>
          <p:cNvSpPr txBox="1"/>
          <p:nvPr/>
        </p:nvSpPr>
        <p:spPr>
          <a:xfrm>
            <a:off x="1417320" y="1554480"/>
            <a:ext cx="8625535" cy="813816"/>
          </a:xfrm>
          <a:prstGeom prst="rect">
            <a:avLst/>
          </a:prstGeom>
          <a:noFill/>
          <a:ln/>
        </p:spPr>
        <p:txBody>
          <a:bodyPr wrap="square" lIns="0" tIns="0" rIns="0" bIns="0" rtlCol="0" anchor="ctr"/>
          <a:lstStyle/>
          <a:p>
            <a:pPr algn="l" indent="0" marL="0">
              <a:spcAft>
                <a:spcPts val="600"/>
              </a:spcAft>
              <a:buNone/>
            </a:pPr>
            <a:r>
              <a:rPr lang="en-US" sz="2000" i="1" dirty="0">
                <a:solidFill>
                  <a:schemeClr val="bg1"/>
                </a:solidFill>
                <a:latin typeface="+mj-lt" pitchFamily="34" charset="0"/>
                <a:ea typeface="+mj-lt" pitchFamily="34" charset="-122"/>
                <a:cs typeface="+mj-lt" pitchFamily="34" charset="-120"/>
              </a:rPr>
              <a:t>Explain why the Nazi–Soviet Pact was formed in 1939.</a:t>
            </a:r>
            <a:endParaRPr lang="en-US" sz="2000" dirty="0"/>
          </a:p>
        </p:txBody>
      </p:sp>
      <p:sp>
        <p:nvSpPr>
          <p:cNvPr id="8" name="Marks pill 2885"/>
          <p:cNvSpPr/>
          <p:nvPr/>
        </p:nvSpPr>
        <p:spPr>
          <a:xfrm>
            <a:off x="10225735" y="1760220"/>
            <a:ext cx="1234440" cy="402336"/>
          </a:xfrm>
          <a:prstGeom prst="roundRect">
            <a:avLst>
              <a:gd name="adj" fmla="val 50000"/>
            </a:avLst>
          </a:prstGeom>
          <a:solidFill>
            <a:schemeClr val="accent4"/>
          </a:solidFill>
          <a:ln/>
        </p:spPr>
      </p:sp>
      <p:sp>
        <p:nvSpPr>
          <p:cNvPr id="9" name="Text 2886"/>
          <p:cNvSpPr txBox="1"/>
          <p:nvPr/>
        </p:nvSpPr>
        <p:spPr>
          <a:xfrm>
            <a:off x="10225735" y="1760220"/>
            <a:ext cx="1234440" cy="402336"/>
          </a:xfrm>
          <a:prstGeom prst="rect">
            <a:avLst/>
          </a:prstGeom>
          <a:noFill/>
          <a:ln/>
        </p:spPr>
        <p:txBody>
          <a:bodyPr wrap="square" lIns="0" tIns="0" rIns="0" bIns="0" rtlCol="0" anchor="ctr"/>
          <a:lstStyle/>
          <a:p>
            <a:pPr algn="ctr" indent="0" marL="0">
              <a:spcAft>
                <a:spcPts val="600"/>
              </a:spcAft>
              <a:buNone/>
            </a:pPr>
            <a:r>
              <a:rPr lang="en-US" sz="1400" b="1" dirty="0">
                <a:solidFill>
                  <a:schemeClr val="tx2"/>
                </a:solidFill>
              </a:rPr>
              <a:t>10 marks</a:t>
            </a:r>
            <a:endParaRPr lang="en-US" sz="1400" dirty="0"/>
          </a:p>
        </p:txBody>
      </p:sp>
      <p:sp>
        <p:nvSpPr>
          <p:cNvPr id="10" name="Card 2887"/>
          <p:cNvSpPr/>
          <p:nvPr/>
        </p:nvSpPr>
        <p:spPr>
          <a:xfrm>
            <a:off x="548640" y="2715768"/>
            <a:ext cx="2602154" cy="2560320"/>
          </a:xfrm>
          <a:prstGeom prst="roundRect">
            <a:avLst>
              <a:gd name="adj" fmla="val 3571"/>
            </a:avLst>
          </a:prstGeom>
          <a:solidFill>
            <a:schemeClr val="accent3">
              <a:alpha val="10000"/>
            </a:schemeClr>
          </a:solidFill>
          <a:ln/>
        </p:spPr>
      </p:sp>
      <p:sp>
        <p:nvSpPr>
          <p:cNvPr id="11" name="Card title 2888"/>
          <p:cNvSpPr txBox="1"/>
          <p:nvPr/>
        </p:nvSpPr>
        <p:spPr>
          <a:xfrm>
            <a:off x="731520" y="2898648"/>
            <a:ext cx="2236394"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Soviet distrust</a:t>
            </a:r>
            <a:endParaRPr lang="en-US" sz="1700" dirty="0"/>
          </a:p>
        </p:txBody>
      </p:sp>
      <p:sp>
        <p:nvSpPr>
          <p:cNvPr id="12" name="Text 2889"/>
          <p:cNvSpPr txBox="1"/>
          <p:nvPr/>
        </p:nvSpPr>
        <p:spPr>
          <a:xfrm>
            <a:off x="731520" y="3483864"/>
            <a:ext cx="2236394" cy="1609344"/>
          </a:xfrm>
          <a:prstGeom prst="rect">
            <a:avLst/>
          </a:prstGeom>
          <a:noFill/>
          <a:ln/>
        </p:spPr>
        <p:txBody>
          <a:bodyPr wrap="square" lIns="0" tIns="0" rIns="0" bIns="0" rtlCol="0" anchor="t"/>
          <a:lstStyle/>
          <a:p>
            <a:pPr algn="l" indent="0" marL="0">
              <a:spcAft>
                <a:spcPts val="500"/>
              </a:spcAft>
              <a:buNone/>
            </a:pPr>
            <a:r>
              <a:rPr lang="en-US" sz="1900" dirty="0">
                <a:solidFill>
                  <a:schemeClr val="tx1"/>
                </a:solidFill>
              </a:rPr>
              <a:t>Munich (1938) left the USSR out; Stalin feared the West wanted Hitler to attack him.</a:t>
            </a:r>
            <a:endParaRPr lang="en-US" sz="1900" dirty="0"/>
          </a:p>
        </p:txBody>
      </p:sp>
      <p:sp>
        <p:nvSpPr>
          <p:cNvPr id="13" name="Card 2890"/>
          <p:cNvSpPr/>
          <p:nvPr/>
        </p:nvSpPr>
        <p:spPr>
          <a:xfrm>
            <a:off x="3379394" y="2715768"/>
            <a:ext cx="2602154" cy="2560320"/>
          </a:xfrm>
          <a:prstGeom prst="roundRect">
            <a:avLst>
              <a:gd name="adj" fmla="val 3571"/>
            </a:avLst>
          </a:prstGeom>
          <a:solidFill>
            <a:schemeClr val="accent3">
              <a:alpha val="10000"/>
            </a:schemeClr>
          </a:solidFill>
          <a:ln/>
        </p:spPr>
      </p:sp>
      <p:sp>
        <p:nvSpPr>
          <p:cNvPr id="14" name="Card title 2891"/>
          <p:cNvSpPr txBox="1"/>
          <p:nvPr/>
        </p:nvSpPr>
        <p:spPr>
          <a:xfrm>
            <a:off x="3562274" y="2898648"/>
            <a:ext cx="2236394"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Failed talks</a:t>
            </a:r>
            <a:endParaRPr lang="en-US" sz="1700" dirty="0"/>
          </a:p>
        </p:txBody>
      </p:sp>
      <p:sp>
        <p:nvSpPr>
          <p:cNvPr id="15" name="Text 2892"/>
          <p:cNvSpPr txBox="1"/>
          <p:nvPr/>
        </p:nvSpPr>
        <p:spPr>
          <a:xfrm>
            <a:off x="3562274" y="3483864"/>
            <a:ext cx="2236394" cy="1609344"/>
          </a:xfrm>
          <a:prstGeom prst="rect">
            <a:avLst/>
          </a:prstGeom>
          <a:noFill/>
          <a:ln/>
        </p:spPr>
        <p:txBody>
          <a:bodyPr wrap="square" lIns="0" tIns="0" rIns="0" bIns="0" rtlCol="0" anchor="t"/>
          <a:lstStyle/>
          <a:p>
            <a:pPr algn="l" indent="0" marL="0">
              <a:spcAft>
                <a:spcPts val="500"/>
              </a:spcAft>
              <a:buNone/>
            </a:pPr>
            <a:r>
              <a:rPr lang="en-US" sz="1900" dirty="0">
                <a:solidFill>
                  <a:schemeClr val="tx1"/>
                </a:solidFill>
              </a:rPr>
              <a:t>Slow, low-level Anglo-French mission; Poland refused Soviet troops.</a:t>
            </a:r>
            <a:endParaRPr lang="en-US" sz="1900" dirty="0"/>
          </a:p>
        </p:txBody>
      </p:sp>
      <p:sp>
        <p:nvSpPr>
          <p:cNvPr id="16" name="Card 2893"/>
          <p:cNvSpPr/>
          <p:nvPr/>
        </p:nvSpPr>
        <p:spPr>
          <a:xfrm>
            <a:off x="6210148" y="2715768"/>
            <a:ext cx="2602154" cy="2560320"/>
          </a:xfrm>
          <a:prstGeom prst="roundRect">
            <a:avLst>
              <a:gd name="adj" fmla="val 3571"/>
            </a:avLst>
          </a:prstGeom>
          <a:solidFill>
            <a:schemeClr val="accent3">
              <a:alpha val="10000"/>
            </a:schemeClr>
          </a:solidFill>
          <a:ln/>
        </p:spPr>
      </p:sp>
      <p:sp>
        <p:nvSpPr>
          <p:cNvPr id="17" name="Card title 2894"/>
          <p:cNvSpPr txBox="1"/>
          <p:nvPr/>
        </p:nvSpPr>
        <p:spPr>
          <a:xfrm>
            <a:off x="6393028" y="2898648"/>
            <a:ext cx="2236394"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Soviet gains</a:t>
            </a:r>
            <a:endParaRPr lang="en-US" sz="1700" dirty="0"/>
          </a:p>
        </p:txBody>
      </p:sp>
      <p:sp>
        <p:nvSpPr>
          <p:cNvPr id="18" name="Text 2895"/>
          <p:cNvSpPr txBox="1"/>
          <p:nvPr/>
        </p:nvSpPr>
        <p:spPr>
          <a:xfrm>
            <a:off x="6393028" y="3483864"/>
            <a:ext cx="2236394" cy="1609344"/>
          </a:xfrm>
          <a:prstGeom prst="rect">
            <a:avLst/>
          </a:prstGeom>
          <a:noFill/>
          <a:ln/>
        </p:spPr>
        <p:txBody>
          <a:bodyPr wrap="square" lIns="0" tIns="0" rIns="0" bIns="0" rtlCol="0" anchor="t"/>
          <a:lstStyle/>
          <a:p>
            <a:pPr algn="l" indent="0" marL="0">
              <a:spcAft>
                <a:spcPts val="500"/>
              </a:spcAft>
              <a:buNone/>
            </a:pPr>
            <a:r>
              <a:rPr lang="en-US" sz="1900" dirty="0">
                <a:solidFill>
                  <a:schemeClr val="tx1"/>
                </a:solidFill>
              </a:rPr>
              <a:t>Time to rebuild after the purges; eastern Poland and the Baltic states.</a:t>
            </a:r>
            <a:endParaRPr lang="en-US" sz="1900" dirty="0"/>
          </a:p>
        </p:txBody>
      </p:sp>
      <p:sp>
        <p:nvSpPr>
          <p:cNvPr id="19" name="Card 2896"/>
          <p:cNvSpPr/>
          <p:nvPr/>
        </p:nvSpPr>
        <p:spPr>
          <a:xfrm>
            <a:off x="9040901" y="2715768"/>
            <a:ext cx="2602154" cy="2560320"/>
          </a:xfrm>
          <a:prstGeom prst="roundRect">
            <a:avLst>
              <a:gd name="adj" fmla="val 3571"/>
            </a:avLst>
          </a:prstGeom>
          <a:solidFill>
            <a:schemeClr val="accent3">
              <a:alpha val="10000"/>
            </a:schemeClr>
          </a:solidFill>
          <a:ln/>
        </p:spPr>
      </p:sp>
      <p:sp>
        <p:nvSpPr>
          <p:cNvPr id="20" name="Card title 2897"/>
          <p:cNvSpPr txBox="1"/>
          <p:nvPr/>
        </p:nvSpPr>
        <p:spPr>
          <a:xfrm>
            <a:off x="9223781" y="2898648"/>
            <a:ext cx="2236394"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Hitler's needs</a:t>
            </a:r>
            <a:endParaRPr lang="en-US" sz="1700" dirty="0"/>
          </a:p>
        </p:txBody>
      </p:sp>
      <p:sp>
        <p:nvSpPr>
          <p:cNvPr id="21" name="Text 2898"/>
          <p:cNvSpPr txBox="1"/>
          <p:nvPr/>
        </p:nvSpPr>
        <p:spPr>
          <a:xfrm>
            <a:off x="9223781" y="3483864"/>
            <a:ext cx="2236394" cy="1609344"/>
          </a:xfrm>
          <a:prstGeom prst="rect">
            <a:avLst/>
          </a:prstGeom>
          <a:noFill/>
          <a:ln/>
        </p:spPr>
        <p:txBody>
          <a:bodyPr wrap="square" lIns="0" tIns="0" rIns="0" bIns="0" rtlCol="0" anchor="t"/>
          <a:lstStyle/>
          <a:p>
            <a:pPr algn="l" indent="0" marL="0">
              <a:spcAft>
                <a:spcPts val="500"/>
              </a:spcAft>
              <a:buNone/>
            </a:pPr>
            <a:r>
              <a:rPr lang="en-US" sz="1900" dirty="0">
                <a:solidFill>
                  <a:schemeClr val="tx1"/>
                </a:solidFill>
              </a:rPr>
              <a:t>Avoid a two-front war before attacking Poland; Soviet raw materials.</a:t>
            </a:r>
            <a:endParaRPr lang="en-US" sz="1900" dirty="0"/>
          </a:p>
        </p:txBody>
      </p:sp>
      <p:sp>
        <p:nvSpPr>
          <p:cNvPr id="22" name="Callout 2899"/>
          <p:cNvSpPr/>
          <p:nvPr/>
        </p:nvSpPr>
        <p:spPr>
          <a:xfrm>
            <a:off x="548640" y="5550408"/>
            <a:ext cx="11094415" cy="713232"/>
          </a:xfrm>
          <a:prstGeom prst="roundRect">
            <a:avLst>
              <a:gd name="adj" fmla="val 12821"/>
            </a:avLst>
          </a:prstGeom>
          <a:solidFill>
            <a:schemeClr val="accent4">
              <a:alpha val="20000"/>
            </a:schemeClr>
          </a:solidFill>
          <a:ln/>
        </p:spPr>
      </p:sp>
      <p:sp>
        <p:nvSpPr>
          <p:cNvPr id="23" name="Callout label 2900"/>
          <p:cNvSpPr/>
          <p:nvPr/>
        </p:nvSpPr>
        <p:spPr>
          <a:xfrm>
            <a:off x="731520" y="5751576"/>
            <a:ext cx="977581" cy="310896"/>
          </a:xfrm>
          <a:prstGeom prst="roundRect">
            <a:avLst>
              <a:gd name="adj" fmla="val 50000"/>
            </a:avLst>
          </a:prstGeom>
          <a:solidFill>
            <a:schemeClr val="accent4"/>
          </a:solidFill>
          <a:ln/>
        </p:spPr>
      </p:sp>
      <p:sp>
        <p:nvSpPr>
          <p:cNvPr id="24" name="Text 2901"/>
          <p:cNvSpPr txBox="1"/>
          <p:nvPr/>
        </p:nvSpPr>
        <p:spPr>
          <a:xfrm>
            <a:off x="731520" y="5751576"/>
            <a:ext cx="97758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EXAM TIP</a:t>
            </a:r>
            <a:endParaRPr lang="en-US" sz="1200" dirty="0"/>
          </a:p>
        </p:txBody>
      </p:sp>
      <p:sp>
        <p:nvSpPr>
          <p:cNvPr id="25" name="Text 2902"/>
          <p:cNvSpPr txBox="1"/>
          <p:nvPr/>
        </p:nvSpPr>
        <p:spPr>
          <a:xfrm>
            <a:off x="1891981" y="5623560"/>
            <a:ext cx="956819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Link the factors: distrust explains why talks failed — and why Stalin took the better offer from Hitler.</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Kicker 290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EXAM FOCUS · (B)</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Plan it: a (b) question</a:t>
            </a:r>
            <a:endParaRPr lang="en-US" sz="3400" dirty="0"/>
          </a:p>
        </p:txBody>
      </p:sp>
      <p:sp>
        <p:nvSpPr>
          <p:cNvPr id="4" name="Question banner 2904"/>
          <p:cNvSpPr/>
          <p:nvPr/>
        </p:nvSpPr>
        <p:spPr>
          <a:xfrm>
            <a:off x="548640" y="1481328"/>
            <a:ext cx="11094415" cy="960120"/>
          </a:xfrm>
          <a:prstGeom prst="roundRect">
            <a:avLst>
              <a:gd name="adj" fmla="val 9524"/>
            </a:avLst>
          </a:prstGeom>
          <a:solidFill>
            <a:schemeClr val="tx2"/>
          </a:solidFill>
          <a:ln/>
        </p:spPr>
      </p:sp>
      <p:sp>
        <p:nvSpPr>
          <p:cNvPr id="5" name="Icon circle 2905"/>
          <p:cNvSpPr/>
          <p:nvPr/>
        </p:nvSpPr>
        <p:spPr>
          <a:xfrm>
            <a:off x="749808" y="1709928"/>
            <a:ext cx="502920" cy="502920"/>
          </a:xfrm>
          <a:prstGeom prst="ellipse">
            <a:avLst/>
          </a:prstGeom>
          <a:solidFill>
            <a:schemeClr val="accent3"/>
          </a:solidFill>
          <a:ln/>
        </p:spPr>
      </p:sp>
      <p:pic>
        <p:nvPicPr>
          <p:cNvPr id="6" name="Icon FaQuestion 2906" descr="preencoded.png">    </p:cNvPr>
          <p:cNvPicPr>
            <a:picLocks noChangeAspect="1"/>
          </p:cNvPicPr>
          <p:nvPr/>
        </p:nvPicPr>
        <p:blipFill>
          <a:blip r:embed="rId1"/>
          <a:stretch>
            <a:fillRect/>
          </a:stretch>
        </p:blipFill>
        <p:spPr>
          <a:xfrm>
            <a:off x="860450" y="1820570"/>
            <a:ext cx="281635" cy="281635"/>
          </a:xfrm>
          <a:prstGeom prst="rect">
            <a:avLst/>
          </a:prstGeom>
        </p:spPr>
      </p:pic>
      <p:sp>
        <p:nvSpPr>
          <p:cNvPr id="7" name="Text 2907"/>
          <p:cNvSpPr txBox="1"/>
          <p:nvPr/>
        </p:nvSpPr>
        <p:spPr>
          <a:xfrm>
            <a:off x="1417320" y="1554480"/>
            <a:ext cx="8625535" cy="813816"/>
          </a:xfrm>
          <a:prstGeom prst="rect">
            <a:avLst/>
          </a:prstGeom>
          <a:noFill/>
          <a:ln/>
        </p:spPr>
        <p:txBody>
          <a:bodyPr wrap="square" lIns="0" tIns="0" rIns="0" bIns="0" rtlCol="0" anchor="ctr"/>
          <a:lstStyle/>
          <a:p>
            <a:pPr algn="l" indent="0" marL="0">
              <a:spcAft>
                <a:spcPts val="600"/>
              </a:spcAft>
              <a:buNone/>
            </a:pPr>
            <a:r>
              <a:rPr lang="en-US" sz="1800" i="1" dirty="0">
                <a:solidFill>
                  <a:schemeClr val="bg1"/>
                </a:solidFill>
                <a:latin typeface="+mj-lt" pitchFamily="34" charset="0"/>
                <a:ea typeface="+mj-lt" pitchFamily="34" charset="-122"/>
                <a:cs typeface="+mj-lt" pitchFamily="34" charset="-120"/>
              </a:rPr>
              <a:t>'The main reason for the League's failure in the 1930s was the Great Depression.' How far do you agree?</a:t>
            </a:r>
            <a:endParaRPr lang="en-US" sz="1800" dirty="0"/>
          </a:p>
        </p:txBody>
      </p:sp>
      <p:sp>
        <p:nvSpPr>
          <p:cNvPr id="8" name="Marks pill 2908"/>
          <p:cNvSpPr/>
          <p:nvPr/>
        </p:nvSpPr>
        <p:spPr>
          <a:xfrm>
            <a:off x="10225735" y="1760220"/>
            <a:ext cx="1234440" cy="402336"/>
          </a:xfrm>
          <a:prstGeom prst="roundRect">
            <a:avLst>
              <a:gd name="adj" fmla="val 50000"/>
            </a:avLst>
          </a:prstGeom>
          <a:solidFill>
            <a:schemeClr val="accent4"/>
          </a:solidFill>
          <a:ln/>
        </p:spPr>
      </p:sp>
      <p:sp>
        <p:nvSpPr>
          <p:cNvPr id="9" name="Text 2909"/>
          <p:cNvSpPr txBox="1"/>
          <p:nvPr/>
        </p:nvSpPr>
        <p:spPr>
          <a:xfrm>
            <a:off x="10225735" y="1760220"/>
            <a:ext cx="1234440" cy="402336"/>
          </a:xfrm>
          <a:prstGeom prst="rect">
            <a:avLst/>
          </a:prstGeom>
          <a:noFill/>
          <a:ln/>
        </p:spPr>
        <p:txBody>
          <a:bodyPr wrap="square" lIns="0" tIns="0" rIns="0" bIns="0" rtlCol="0" anchor="ctr"/>
          <a:lstStyle/>
          <a:p>
            <a:pPr algn="ctr" indent="0" marL="0">
              <a:spcAft>
                <a:spcPts val="600"/>
              </a:spcAft>
              <a:buNone/>
            </a:pPr>
            <a:r>
              <a:rPr lang="en-US" sz="1400" b="1" dirty="0">
                <a:solidFill>
                  <a:schemeClr val="tx2"/>
                </a:solidFill>
              </a:rPr>
              <a:t>20 marks</a:t>
            </a:r>
            <a:endParaRPr lang="en-US" sz="1400" dirty="0"/>
          </a:p>
        </p:txBody>
      </p:sp>
      <p:sp>
        <p:nvSpPr>
          <p:cNvPr id="10" name="Card 2910"/>
          <p:cNvSpPr/>
          <p:nvPr/>
        </p:nvSpPr>
        <p:spPr>
          <a:xfrm>
            <a:off x="548640" y="2715768"/>
            <a:ext cx="3545738" cy="2560320"/>
          </a:xfrm>
          <a:prstGeom prst="roundRect">
            <a:avLst>
              <a:gd name="adj" fmla="val 3571"/>
            </a:avLst>
          </a:prstGeom>
          <a:solidFill>
            <a:schemeClr val="accent3">
              <a:alpha val="10000"/>
            </a:schemeClr>
          </a:solidFill>
          <a:ln/>
        </p:spPr>
      </p:sp>
      <p:sp>
        <p:nvSpPr>
          <p:cNvPr id="11" name="Card title 2911"/>
          <p:cNvSpPr txBox="1"/>
          <p:nvPr/>
        </p:nvSpPr>
        <p:spPr>
          <a:xfrm>
            <a:off x="731520" y="2898648"/>
            <a:ext cx="3179978"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Agree</a:t>
            </a:r>
            <a:endParaRPr lang="en-US" sz="1700" dirty="0"/>
          </a:p>
        </p:txBody>
      </p:sp>
      <p:sp>
        <p:nvSpPr>
          <p:cNvPr id="12" name="Text 2912"/>
          <p:cNvSpPr txBox="1"/>
          <p:nvPr/>
        </p:nvSpPr>
        <p:spPr>
          <a:xfrm>
            <a:off x="731520" y="3483864"/>
            <a:ext cx="3179978" cy="1609344"/>
          </a:xfrm>
          <a:prstGeom prst="rect">
            <a:avLst/>
          </a:prstGeom>
          <a:noFill/>
          <a:ln/>
        </p:spPr>
        <p:txBody>
          <a:bodyPr wrap="square" lIns="0" tIns="0" rIns="0" bIns="0" rtlCol="0" anchor="t"/>
          <a:lstStyle/>
          <a:p>
            <a:pPr algn="l" marL="190500" indent="-190500">
              <a:spcAft>
                <a:spcPts val="500"/>
              </a:spcAft>
              <a:buSzPct val="100000"/>
              <a:buChar char="•"/>
            </a:pPr>
            <a:r>
              <a:rPr lang="en-US" sz="1600" dirty="0">
                <a:solidFill>
                  <a:schemeClr val="tx1"/>
                </a:solidFill>
              </a:rPr>
              <a:t>Brought extremists to power</a:t>
            </a:r>
            <a:endParaRPr lang="en-US" sz="1600" dirty="0"/>
          </a:p>
          <a:p>
            <a:pPr algn="l" marL="190500" indent="-190500">
              <a:spcAft>
                <a:spcPts val="500"/>
              </a:spcAft>
              <a:buSzPct val="100000"/>
              <a:buChar char="•"/>
            </a:pPr>
            <a:r>
              <a:rPr lang="en-US" sz="1600" dirty="0">
                <a:solidFill>
                  <a:schemeClr val="tx1"/>
                </a:solidFill>
              </a:rPr>
              <a:t>Made members unwilling to impose sanctions (no oil ban, 1935)</a:t>
            </a:r>
            <a:endParaRPr lang="en-US" sz="1600" dirty="0"/>
          </a:p>
          <a:p>
            <a:pPr algn="l" marL="190500" indent="-190500">
              <a:spcAft>
                <a:spcPts val="500"/>
              </a:spcAft>
              <a:buSzPct val="100000"/>
              <a:buChar char="•"/>
            </a:pPr>
            <a:r>
              <a:rPr lang="en-US" sz="1600" dirty="0">
                <a:solidFill>
                  <a:schemeClr val="tx1"/>
                </a:solidFill>
              </a:rPr>
              <a:t>Japan's crisis drove the Manchuria invasion</a:t>
            </a:r>
            <a:endParaRPr lang="en-US" sz="1600" dirty="0"/>
          </a:p>
        </p:txBody>
      </p:sp>
      <p:sp>
        <p:nvSpPr>
          <p:cNvPr id="13" name="Card 2913"/>
          <p:cNvSpPr/>
          <p:nvPr/>
        </p:nvSpPr>
        <p:spPr>
          <a:xfrm>
            <a:off x="4322978" y="2715768"/>
            <a:ext cx="3545738" cy="2560320"/>
          </a:xfrm>
          <a:prstGeom prst="roundRect">
            <a:avLst>
              <a:gd name="adj" fmla="val 3571"/>
            </a:avLst>
          </a:prstGeom>
          <a:solidFill>
            <a:schemeClr val="accent3">
              <a:alpha val="10000"/>
            </a:schemeClr>
          </a:solidFill>
          <a:ln/>
        </p:spPr>
      </p:sp>
      <p:sp>
        <p:nvSpPr>
          <p:cNvPr id="14" name="Card title 2914"/>
          <p:cNvSpPr txBox="1"/>
          <p:nvPr/>
        </p:nvSpPr>
        <p:spPr>
          <a:xfrm>
            <a:off x="4505858" y="2898648"/>
            <a:ext cx="3179978"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Other factors</a:t>
            </a:r>
            <a:endParaRPr lang="en-US" sz="1700" dirty="0"/>
          </a:p>
        </p:txBody>
      </p:sp>
      <p:sp>
        <p:nvSpPr>
          <p:cNvPr id="15" name="Text 2915"/>
          <p:cNvSpPr txBox="1"/>
          <p:nvPr/>
        </p:nvSpPr>
        <p:spPr>
          <a:xfrm>
            <a:off x="4505858" y="3483864"/>
            <a:ext cx="3179978" cy="1609344"/>
          </a:xfrm>
          <a:prstGeom prst="rect">
            <a:avLst/>
          </a:prstGeom>
          <a:noFill/>
          <a:ln/>
        </p:spPr>
        <p:txBody>
          <a:bodyPr wrap="square" lIns="0" tIns="0" rIns="0" bIns="0" rtlCol="0" anchor="t"/>
          <a:lstStyle/>
          <a:p>
            <a:pPr algn="l" marL="190500" indent="-190500">
              <a:spcAft>
                <a:spcPts val="500"/>
              </a:spcAft>
              <a:buSzPct val="100000"/>
              <a:buChar char="•"/>
            </a:pPr>
            <a:r>
              <a:rPr lang="en-US" sz="1600" dirty="0">
                <a:solidFill>
                  <a:schemeClr val="tx1"/>
                </a:solidFill>
              </a:rPr>
              <a:t>Built-in weakness (WEAK)</a:t>
            </a:r>
            <a:endParaRPr lang="en-US" sz="1600" dirty="0"/>
          </a:p>
          <a:p>
            <a:pPr algn="l" marL="190500" indent="-190500">
              <a:spcAft>
                <a:spcPts val="500"/>
              </a:spcAft>
              <a:buSzPct val="100000"/>
              <a:buChar char="•"/>
            </a:pPr>
            <a:r>
              <a:rPr lang="en-US" sz="1600" dirty="0">
                <a:solidFill>
                  <a:schemeClr val="tx1"/>
                </a:solidFill>
              </a:rPr>
              <a:t>Self-interest of Britain and France (Hoare–Laval)</a:t>
            </a:r>
            <a:endParaRPr lang="en-US" sz="1600" dirty="0"/>
          </a:p>
          <a:p>
            <a:pPr algn="l" marL="190500" indent="-190500">
              <a:spcAft>
                <a:spcPts val="500"/>
              </a:spcAft>
              <a:buSzPct val="100000"/>
              <a:buChar char="•"/>
            </a:pPr>
            <a:r>
              <a:rPr lang="en-US" sz="1600" dirty="0">
                <a:solidFill>
                  <a:schemeClr val="tx1"/>
                </a:solidFill>
              </a:rPr>
              <a:t>Great-power aggressors; USA absent</a:t>
            </a:r>
            <a:endParaRPr lang="en-US" sz="1600" dirty="0"/>
          </a:p>
        </p:txBody>
      </p:sp>
      <p:sp>
        <p:nvSpPr>
          <p:cNvPr id="16" name="Card 2916"/>
          <p:cNvSpPr/>
          <p:nvPr/>
        </p:nvSpPr>
        <p:spPr>
          <a:xfrm>
            <a:off x="8097317" y="2715768"/>
            <a:ext cx="3545738" cy="2560320"/>
          </a:xfrm>
          <a:prstGeom prst="roundRect">
            <a:avLst>
              <a:gd name="adj" fmla="val 3571"/>
            </a:avLst>
          </a:prstGeom>
          <a:solidFill>
            <a:schemeClr val="accent3">
              <a:alpha val="10000"/>
            </a:schemeClr>
          </a:solidFill>
          <a:ln/>
        </p:spPr>
      </p:sp>
      <p:sp>
        <p:nvSpPr>
          <p:cNvPr id="17" name="Card title 2917"/>
          <p:cNvSpPr txBox="1"/>
          <p:nvPr/>
        </p:nvSpPr>
        <p:spPr>
          <a:xfrm>
            <a:off x="8280197" y="2898648"/>
            <a:ext cx="3179978"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Judgement</a:t>
            </a:r>
            <a:endParaRPr lang="en-US" sz="1700" dirty="0"/>
          </a:p>
        </p:txBody>
      </p:sp>
      <p:sp>
        <p:nvSpPr>
          <p:cNvPr id="18" name="Text 2918"/>
          <p:cNvSpPr txBox="1"/>
          <p:nvPr/>
        </p:nvSpPr>
        <p:spPr>
          <a:xfrm>
            <a:off x="8280197" y="3483864"/>
            <a:ext cx="3179978" cy="1609344"/>
          </a:xfrm>
          <a:prstGeom prst="rect">
            <a:avLst/>
          </a:prstGeom>
          <a:noFill/>
          <a:ln/>
        </p:spPr>
        <p:txBody>
          <a:bodyPr wrap="square" lIns="0" tIns="0" rIns="0" bIns="0" rtlCol="0" anchor="t"/>
          <a:lstStyle/>
          <a:p>
            <a:pPr algn="l" marL="190500" indent="-190500">
              <a:spcAft>
                <a:spcPts val="500"/>
              </a:spcAft>
              <a:buSzPct val="100000"/>
              <a:buChar char="•"/>
            </a:pPr>
            <a:r>
              <a:rPr lang="en-US" sz="1600" dirty="0">
                <a:solidFill>
                  <a:schemeClr val="tx1"/>
                </a:solidFill>
              </a:rPr>
              <a:t>The Depression created the conditions</a:t>
            </a:r>
            <a:endParaRPr lang="en-US" sz="1600" dirty="0"/>
          </a:p>
          <a:p>
            <a:pPr algn="l" marL="190500" indent="-190500">
              <a:spcAft>
                <a:spcPts val="500"/>
              </a:spcAft>
              <a:buSzPct val="100000"/>
              <a:buChar char="•"/>
            </a:pPr>
            <a:r>
              <a:rPr lang="en-US" sz="1600" dirty="0">
                <a:solidFill>
                  <a:schemeClr val="tx1"/>
                </a:solidFill>
              </a:rPr>
              <a:t>But the League failed because its leading members chose not to act</a:t>
            </a:r>
            <a:endParaRPr lang="en-US" sz="1600" dirty="0"/>
          </a:p>
        </p:txBody>
      </p:sp>
      <p:sp>
        <p:nvSpPr>
          <p:cNvPr id="19" name="Callout 2919"/>
          <p:cNvSpPr/>
          <p:nvPr/>
        </p:nvSpPr>
        <p:spPr>
          <a:xfrm>
            <a:off x="548640" y="5550408"/>
            <a:ext cx="11094415" cy="713232"/>
          </a:xfrm>
          <a:prstGeom prst="roundRect">
            <a:avLst>
              <a:gd name="adj" fmla="val 12821"/>
            </a:avLst>
          </a:prstGeom>
          <a:solidFill>
            <a:schemeClr val="accent4">
              <a:alpha val="20000"/>
            </a:schemeClr>
          </a:solidFill>
          <a:ln/>
        </p:spPr>
      </p:sp>
      <p:sp>
        <p:nvSpPr>
          <p:cNvPr id="20" name="Callout label 2920"/>
          <p:cNvSpPr/>
          <p:nvPr/>
        </p:nvSpPr>
        <p:spPr>
          <a:xfrm>
            <a:off x="731520" y="5751576"/>
            <a:ext cx="977581" cy="310896"/>
          </a:xfrm>
          <a:prstGeom prst="roundRect">
            <a:avLst>
              <a:gd name="adj" fmla="val 50000"/>
            </a:avLst>
          </a:prstGeom>
          <a:solidFill>
            <a:schemeClr val="accent4"/>
          </a:solidFill>
          <a:ln/>
        </p:spPr>
      </p:sp>
      <p:sp>
        <p:nvSpPr>
          <p:cNvPr id="21" name="Text 2921"/>
          <p:cNvSpPr txBox="1"/>
          <p:nvPr/>
        </p:nvSpPr>
        <p:spPr>
          <a:xfrm>
            <a:off x="731520" y="5751576"/>
            <a:ext cx="97758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EXAM TIP</a:t>
            </a:r>
            <a:endParaRPr lang="en-US" sz="1200" dirty="0"/>
          </a:p>
        </p:txBody>
      </p:sp>
      <p:sp>
        <p:nvSpPr>
          <p:cNvPr id="22" name="Text 2922"/>
          <p:cNvSpPr txBox="1"/>
          <p:nvPr/>
        </p:nvSpPr>
        <p:spPr>
          <a:xfrm>
            <a:off x="1891981" y="5623560"/>
            <a:ext cx="956819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Reach a clear judgement in your introduction, then argue it consistently through every paragraph.</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Kicker 2923"/>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3"/>
                </a:solidFill>
              </a:rPr>
              <a:t>TOPIC 3 · EXAM FOCUS · (B)</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Plan it: an appeasement question</a:t>
            </a:r>
            <a:endParaRPr lang="en-US" sz="3400" dirty="0"/>
          </a:p>
        </p:txBody>
      </p:sp>
      <p:sp>
        <p:nvSpPr>
          <p:cNvPr id="4" name="Question banner 2924"/>
          <p:cNvSpPr/>
          <p:nvPr/>
        </p:nvSpPr>
        <p:spPr>
          <a:xfrm>
            <a:off x="548640" y="1481328"/>
            <a:ext cx="11094415" cy="960120"/>
          </a:xfrm>
          <a:prstGeom prst="roundRect">
            <a:avLst>
              <a:gd name="adj" fmla="val 9524"/>
            </a:avLst>
          </a:prstGeom>
          <a:solidFill>
            <a:schemeClr val="tx2"/>
          </a:solidFill>
          <a:ln/>
        </p:spPr>
      </p:sp>
      <p:sp>
        <p:nvSpPr>
          <p:cNvPr id="5" name="Icon circle 2925"/>
          <p:cNvSpPr/>
          <p:nvPr/>
        </p:nvSpPr>
        <p:spPr>
          <a:xfrm>
            <a:off x="749808" y="1709928"/>
            <a:ext cx="502920" cy="502920"/>
          </a:xfrm>
          <a:prstGeom prst="ellipse">
            <a:avLst/>
          </a:prstGeom>
          <a:solidFill>
            <a:schemeClr val="accent3"/>
          </a:solidFill>
          <a:ln/>
        </p:spPr>
      </p:sp>
      <p:pic>
        <p:nvPicPr>
          <p:cNvPr id="6" name="Icon FaQuestion 2926" descr="preencoded.png">    </p:cNvPr>
          <p:cNvPicPr>
            <a:picLocks noChangeAspect="1"/>
          </p:cNvPicPr>
          <p:nvPr/>
        </p:nvPicPr>
        <p:blipFill>
          <a:blip r:embed="rId1"/>
          <a:stretch>
            <a:fillRect/>
          </a:stretch>
        </p:blipFill>
        <p:spPr>
          <a:xfrm>
            <a:off x="860450" y="1820570"/>
            <a:ext cx="281635" cy="281635"/>
          </a:xfrm>
          <a:prstGeom prst="rect">
            <a:avLst/>
          </a:prstGeom>
        </p:spPr>
      </p:pic>
      <p:sp>
        <p:nvSpPr>
          <p:cNvPr id="7" name="Text 2927"/>
          <p:cNvSpPr txBox="1"/>
          <p:nvPr/>
        </p:nvSpPr>
        <p:spPr>
          <a:xfrm>
            <a:off x="1417320" y="1554480"/>
            <a:ext cx="8625535" cy="813816"/>
          </a:xfrm>
          <a:prstGeom prst="rect">
            <a:avLst/>
          </a:prstGeom>
          <a:noFill/>
          <a:ln/>
        </p:spPr>
        <p:txBody>
          <a:bodyPr wrap="square" lIns="0" tIns="0" rIns="0" bIns="0" rtlCol="0" anchor="ctr"/>
          <a:lstStyle/>
          <a:p>
            <a:pPr algn="l" indent="0" marL="0">
              <a:spcAft>
                <a:spcPts val="600"/>
              </a:spcAft>
              <a:buNone/>
            </a:pPr>
            <a:r>
              <a:rPr lang="en-US" sz="1800" i="1" dirty="0">
                <a:solidFill>
                  <a:schemeClr val="bg1"/>
                </a:solidFill>
                <a:latin typeface="+mj-lt" pitchFamily="34" charset="0"/>
                <a:ea typeface="+mj-lt" pitchFamily="34" charset="-122"/>
                <a:cs typeface="+mj-lt" pitchFamily="34" charset="-120"/>
              </a:rPr>
              <a:t>'Appeasement was a sensible policy for Britain in the 1930s.' How far do you agree?</a:t>
            </a:r>
            <a:endParaRPr lang="en-US" sz="1800" dirty="0"/>
          </a:p>
        </p:txBody>
      </p:sp>
      <p:sp>
        <p:nvSpPr>
          <p:cNvPr id="8" name="Marks pill 2928"/>
          <p:cNvSpPr/>
          <p:nvPr/>
        </p:nvSpPr>
        <p:spPr>
          <a:xfrm>
            <a:off x="10225735" y="1760220"/>
            <a:ext cx="1234440" cy="402336"/>
          </a:xfrm>
          <a:prstGeom prst="roundRect">
            <a:avLst>
              <a:gd name="adj" fmla="val 50000"/>
            </a:avLst>
          </a:prstGeom>
          <a:solidFill>
            <a:schemeClr val="accent4"/>
          </a:solidFill>
          <a:ln/>
        </p:spPr>
      </p:sp>
      <p:sp>
        <p:nvSpPr>
          <p:cNvPr id="9" name="Text 2929"/>
          <p:cNvSpPr txBox="1"/>
          <p:nvPr/>
        </p:nvSpPr>
        <p:spPr>
          <a:xfrm>
            <a:off x="10225735" y="1760220"/>
            <a:ext cx="1234440" cy="402336"/>
          </a:xfrm>
          <a:prstGeom prst="rect">
            <a:avLst/>
          </a:prstGeom>
          <a:noFill/>
          <a:ln/>
        </p:spPr>
        <p:txBody>
          <a:bodyPr wrap="square" lIns="0" tIns="0" rIns="0" bIns="0" rtlCol="0" anchor="ctr"/>
          <a:lstStyle/>
          <a:p>
            <a:pPr algn="ctr" indent="0" marL="0">
              <a:spcAft>
                <a:spcPts val="600"/>
              </a:spcAft>
              <a:buNone/>
            </a:pPr>
            <a:r>
              <a:rPr lang="en-US" sz="1400" b="1" dirty="0">
                <a:solidFill>
                  <a:schemeClr val="tx2"/>
                </a:solidFill>
              </a:rPr>
              <a:t>20 marks</a:t>
            </a:r>
            <a:endParaRPr lang="en-US" sz="1400" dirty="0"/>
          </a:p>
        </p:txBody>
      </p:sp>
      <p:sp>
        <p:nvSpPr>
          <p:cNvPr id="10" name="Card 2930"/>
          <p:cNvSpPr/>
          <p:nvPr/>
        </p:nvSpPr>
        <p:spPr>
          <a:xfrm>
            <a:off x="548640" y="2715768"/>
            <a:ext cx="3545738" cy="2560320"/>
          </a:xfrm>
          <a:prstGeom prst="roundRect">
            <a:avLst>
              <a:gd name="adj" fmla="val 3571"/>
            </a:avLst>
          </a:prstGeom>
          <a:solidFill>
            <a:schemeClr val="accent3">
              <a:alpha val="10000"/>
            </a:schemeClr>
          </a:solidFill>
          <a:ln/>
        </p:spPr>
      </p:sp>
      <p:sp>
        <p:nvSpPr>
          <p:cNvPr id="11" name="Card title 2931"/>
          <p:cNvSpPr txBox="1"/>
          <p:nvPr/>
        </p:nvSpPr>
        <p:spPr>
          <a:xfrm>
            <a:off x="731520" y="2898648"/>
            <a:ext cx="3179978"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Sensible</a:t>
            </a:r>
            <a:endParaRPr lang="en-US" sz="1700" dirty="0"/>
          </a:p>
        </p:txBody>
      </p:sp>
      <p:sp>
        <p:nvSpPr>
          <p:cNvPr id="12" name="Text 2932"/>
          <p:cNvSpPr txBox="1"/>
          <p:nvPr/>
        </p:nvSpPr>
        <p:spPr>
          <a:xfrm>
            <a:off x="731520" y="3483864"/>
            <a:ext cx="3179978" cy="1609344"/>
          </a:xfrm>
          <a:prstGeom prst="rect">
            <a:avLst/>
          </a:prstGeom>
          <a:noFill/>
          <a:ln/>
        </p:spPr>
        <p:txBody>
          <a:bodyPr wrap="square" lIns="0" tIns="0" rIns="0" bIns="0" rtlCol="0" anchor="t"/>
          <a:lstStyle/>
          <a:p>
            <a:pPr algn="l" marL="190500" indent="-190500">
              <a:spcAft>
                <a:spcPts val="500"/>
              </a:spcAft>
              <a:buSzPct val="100000"/>
              <a:buChar char="•"/>
            </a:pPr>
            <a:r>
              <a:rPr lang="en-US" sz="1500" dirty="0">
                <a:solidFill>
                  <a:schemeClr val="tx1"/>
                </a:solidFill>
              </a:rPr>
              <a:t>Military weakness and fear of bombing</a:t>
            </a:r>
            <a:endParaRPr lang="en-US" sz="1500" dirty="0"/>
          </a:p>
          <a:p>
            <a:pPr algn="l" marL="190500" indent="-190500">
              <a:spcAft>
                <a:spcPts val="500"/>
              </a:spcAft>
              <a:buSzPct val="100000"/>
              <a:buChar char="•"/>
            </a:pPr>
            <a:r>
              <a:rPr lang="en-US" sz="1500" dirty="0">
                <a:solidFill>
                  <a:schemeClr val="tx1"/>
                </a:solidFill>
              </a:rPr>
              <a:t>Public opinion and the Dominions</a:t>
            </a:r>
            <a:endParaRPr lang="en-US" sz="1500" dirty="0"/>
          </a:p>
          <a:p>
            <a:pPr algn="l" marL="190500" indent="-190500">
              <a:spcAft>
                <a:spcPts val="500"/>
              </a:spcAft>
              <a:buSzPct val="100000"/>
              <a:buChar char="•"/>
            </a:pPr>
            <a:r>
              <a:rPr lang="en-US" sz="1500" dirty="0">
                <a:solidFill>
                  <a:schemeClr val="tx1"/>
                </a:solidFill>
              </a:rPr>
              <a:t>Bought time to rearm (1938–39)</a:t>
            </a:r>
            <a:endParaRPr lang="en-US" sz="1500" dirty="0"/>
          </a:p>
        </p:txBody>
      </p:sp>
      <p:sp>
        <p:nvSpPr>
          <p:cNvPr id="13" name="Card 2933"/>
          <p:cNvSpPr/>
          <p:nvPr/>
        </p:nvSpPr>
        <p:spPr>
          <a:xfrm>
            <a:off x="4322978" y="2715768"/>
            <a:ext cx="3545738" cy="2560320"/>
          </a:xfrm>
          <a:prstGeom prst="roundRect">
            <a:avLst>
              <a:gd name="adj" fmla="val 3571"/>
            </a:avLst>
          </a:prstGeom>
          <a:solidFill>
            <a:schemeClr val="accent3">
              <a:alpha val="10000"/>
            </a:schemeClr>
          </a:solidFill>
          <a:ln/>
        </p:spPr>
      </p:sp>
      <p:sp>
        <p:nvSpPr>
          <p:cNvPr id="14" name="Card title 2934"/>
          <p:cNvSpPr txBox="1"/>
          <p:nvPr/>
        </p:nvSpPr>
        <p:spPr>
          <a:xfrm>
            <a:off x="4505858" y="2898648"/>
            <a:ext cx="3179978"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Not sensible</a:t>
            </a:r>
            <a:endParaRPr lang="en-US" sz="1700" dirty="0"/>
          </a:p>
        </p:txBody>
      </p:sp>
      <p:sp>
        <p:nvSpPr>
          <p:cNvPr id="15" name="Text 2935"/>
          <p:cNvSpPr txBox="1"/>
          <p:nvPr/>
        </p:nvSpPr>
        <p:spPr>
          <a:xfrm>
            <a:off x="4505858" y="3483864"/>
            <a:ext cx="3179978" cy="1609344"/>
          </a:xfrm>
          <a:prstGeom prst="rect">
            <a:avLst/>
          </a:prstGeom>
          <a:noFill/>
          <a:ln/>
        </p:spPr>
        <p:txBody>
          <a:bodyPr wrap="square" lIns="0" tIns="0" rIns="0" bIns="0" rtlCol="0" anchor="t"/>
          <a:lstStyle/>
          <a:p>
            <a:pPr algn="l" marL="190500" indent="-190500">
              <a:spcAft>
                <a:spcPts val="500"/>
              </a:spcAft>
              <a:buSzPct val="100000"/>
              <a:buChar char="•"/>
            </a:pPr>
            <a:r>
              <a:rPr lang="en-US" sz="1500" dirty="0">
                <a:solidFill>
                  <a:schemeClr val="tx1"/>
                </a:solidFill>
              </a:rPr>
              <a:t>Each concession made Hitler stronger</a:t>
            </a:r>
            <a:endParaRPr lang="en-US" sz="1500" dirty="0"/>
          </a:p>
          <a:p>
            <a:pPr algn="l" marL="190500" indent="-190500">
              <a:spcAft>
                <a:spcPts val="500"/>
              </a:spcAft>
              <a:buSzPct val="100000"/>
              <a:buChar char="•"/>
            </a:pPr>
            <a:r>
              <a:rPr lang="en-US" sz="1500" dirty="0">
                <a:solidFill>
                  <a:schemeClr val="tx1"/>
                </a:solidFill>
              </a:rPr>
              <a:t>Lost Czechoslovakia's army and arms works</a:t>
            </a:r>
            <a:endParaRPr lang="en-US" sz="1500" dirty="0"/>
          </a:p>
          <a:p>
            <a:pPr algn="l" marL="190500" indent="-190500">
              <a:spcAft>
                <a:spcPts val="500"/>
              </a:spcAft>
              <a:buSzPct val="100000"/>
              <a:buChar char="•"/>
            </a:pPr>
            <a:r>
              <a:rPr lang="en-US" sz="1500" dirty="0">
                <a:solidFill>
                  <a:schemeClr val="tx1"/>
                </a:solidFill>
              </a:rPr>
              <a:t>Alienated the USSR → Nazi–Soviet Pact</a:t>
            </a:r>
            <a:endParaRPr lang="en-US" sz="1500" dirty="0"/>
          </a:p>
        </p:txBody>
      </p:sp>
      <p:sp>
        <p:nvSpPr>
          <p:cNvPr id="16" name="Card 2936"/>
          <p:cNvSpPr/>
          <p:nvPr/>
        </p:nvSpPr>
        <p:spPr>
          <a:xfrm>
            <a:off x="8097317" y="2715768"/>
            <a:ext cx="3545738" cy="2560320"/>
          </a:xfrm>
          <a:prstGeom prst="roundRect">
            <a:avLst>
              <a:gd name="adj" fmla="val 3571"/>
            </a:avLst>
          </a:prstGeom>
          <a:solidFill>
            <a:schemeClr val="accent3">
              <a:alpha val="10000"/>
            </a:schemeClr>
          </a:solidFill>
          <a:ln/>
        </p:spPr>
      </p:sp>
      <p:sp>
        <p:nvSpPr>
          <p:cNvPr id="17" name="Card title 2937"/>
          <p:cNvSpPr txBox="1"/>
          <p:nvPr/>
        </p:nvSpPr>
        <p:spPr>
          <a:xfrm>
            <a:off x="8280197" y="2898648"/>
            <a:ext cx="3179978" cy="475488"/>
          </a:xfrm>
          <a:prstGeom prst="rect">
            <a:avLst/>
          </a:prstGeom>
          <a:noFill/>
          <a:ln/>
        </p:spPr>
        <p:txBody>
          <a:bodyPr wrap="square" lIns="0" tIns="0" rIns="0" bIns="0" rtlCol="0" anchor="t"/>
          <a:lstStyle/>
          <a:p>
            <a:pPr algn="l" indent="0" marL="0">
              <a:spcAft>
                <a:spcPts val="600"/>
              </a:spcAft>
              <a:buNone/>
            </a:pPr>
            <a:r>
              <a:rPr lang="en-US" sz="1700" b="1" dirty="0">
                <a:solidFill>
                  <a:schemeClr val="tx2"/>
                </a:solidFill>
              </a:rPr>
              <a:t>Judgement</a:t>
            </a:r>
            <a:endParaRPr lang="en-US" sz="1700" dirty="0"/>
          </a:p>
        </p:txBody>
      </p:sp>
      <p:sp>
        <p:nvSpPr>
          <p:cNvPr id="18" name="Text 2938"/>
          <p:cNvSpPr txBox="1"/>
          <p:nvPr/>
        </p:nvSpPr>
        <p:spPr>
          <a:xfrm>
            <a:off x="8280197" y="3483864"/>
            <a:ext cx="3179978" cy="1609344"/>
          </a:xfrm>
          <a:prstGeom prst="rect">
            <a:avLst/>
          </a:prstGeom>
          <a:noFill/>
          <a:ln/>
        </p:spPr>
        <p:txBody>
          <a:bodyPr wrap="square" lIns="0" tIns="0" rIns="0" bIns="0" rtlCol="0" anchor="t"/>
          <a:lstStyle/>
          <a:p>
            <a:pPr algn="l" marL="190500" indent="-190500">
              <a:spcAft>
                <a:spcPts val="500"/>
              </a:spcAft>
              <a:buSzPct val="100000"/>
              <a:buChar char="•"/>
            </a:pPr>
            <a:r>
              <a:rPr lang="en-US" sz="1500" dirty="0">
                <a:solidFill>
                  <a:schemeClr val="tx1"/>
                </a:solidFill>
              </a:rPr>
              <a:t>Understandable until Munich</a:t>
            </a:r>
            <a:endParaRPr lang="en-US" sz="1500" dirty="0"/>
          </a:p>
          <a:p>
            <a:pPr algn="l" marL="190500" indent="-190500">
              <a:spcAft>
                <a:spcPts val="500"/>
              </a:spcAft>
              <a:buSzPct val="100000"/>
              <a:buChar char="•"/>
            </a:pPr>
            <a:r>
              <a:rPr lang="en-US" sz="1500" dirty="0">
                <a:solidFill>
                  <a:schemeClr val="tx1"/>
                </a:solidFill>
              </a:rPr>
              <a:t>A mistake once Hitler's aims were clear</a:t>
            </a:r>
            <a:endParaRPr lang="en-US" sz="1500" dirty="0"/>
          </a:p>
          <a:p>
            <a:pPr algn="l" marL="190500" indent="-190500">
              <a:spcAft>
                <a:spcPts val="500"/>
              </a:spcAft>
              <a:buSzPct val="100000"/>
              <a:buChar char="•"/>
            </a:pPr>
            <a:r>
              <a:rPr lang="en-US" sz="1500" dirty="0">
                <a:solidFill>
                  <a:schemeClr val="tx1"/>
                </a:solidFill>
              </a:rPr>
              <a:t>Distinguish 1935–36 from 1938</a:t>
            </a:r>
            <a:endParaRPr lang="en-US" sz="1500" dirty="0"/>
          </a:p>
        </p:txBody>
      </p:sp>
      <p:sp>
        <p:nvSpPr>
          <p:cNvPr id="19" name="Callout 2939"/>
          <p:cNvSpPr/>
          <p:nvPr/>
        </p:nvSpPr>
        <p:spPr>
          <a:xfrm>
            <a:off x="548640" y="5550408"/>
            <a:ext cx="11094415" cy="713232"/>
          </a:xfrm>
          <a:prstGeom prst="roundRect">
            <a:avLst>
              <a:gd name="adj" fmla="val 12821"/>
            </a:avLst>
          </a:prstGeom>
          <a:solidFill>
            <a:schemeClr val="accent4">
              <a:alpha val="20000"/>
            </a:schemeClr>
          </a:solidFill>
          <a:ln/>
        </p:spPr>
      </p:sp>
      <p:sp>
        <p:nvSpPr>
          <p:cNvPr id="20" name="Callout label 2940"/>
          <p:cNvSpPr/>
          <p:nvPr/>
        </p:nvSpPr>
        <p:spPr>
          <a:xfrm>
            <a:off x="731520" y="5751576"/>
            <a:ext cx="977581" cy="310896"/>
          </a:xfrm>
          <a:prstGeom prst="roundRect">
            <a:avLst>
              <a:gd name="adj" fmla="val 50000"/>
            </a:avLst>
          </a:prstGeom>
          <a:solidFill>
            <a:schemeClr val="accent4"/>
          </a:solidFill>
          <a:ln/>
        </p:spPr>
      </p:sp>
      <p:sp>
        <p:nvSpPr>
          <p:cNvPr id="21" name="Text 2941"/>
          <p:cNvSpPr txBox="1"/>
          <p:nvPr/>
        </p:nvSpPr>
        <p:spPr>
          <a:xfrm>
            <a:off x="731520" y="5751576"/>
            <a:ext cx="97758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EXAM TIP</a:t>
            </a:r>
            <a:endParaRPr lang="en-US" sz="1200" dirty="0"/>
          </a:p>
        </p:txBody>
      </p:sp>
      <p:sp>
        <p:nvSpPr>
          <p:cNvPr id="22" name="Text 2942"/>
          <p:cNvSpPr txBox="1"/>
          <p:nvPr/>
        </p:nvSpPr>
        <p:spPr>
          <a:xfrm>
            <a:off x="1891981" y="5623560"/>
            <a:ext cx="956819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Change over time is a strong way to judge: was appeasement equally sensible in 1935, 1936 and 1938?</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chemeClr val="accent5"/>
        </a:solidFill>
      </p:bgPr>
    </p:bg>
    <p:spTree>
      <p:nvGrpSpPr>
        <p:cNvPr id="1" name=""/>
        <p:cNvGrpSpPr/>
        <p:nvPr/>
      </p:nvGrpSpPr>
      <p:grpSpPr>
        <a:xfrm>
          <a:off x="0" y="0"/>
          <a:ext cx="0" cy="0"/>
          <a:chOff x="0" y="0"/>
          <a:chExt cx="0" cy="0"/>
        </a:xfrm>
      </p:grpSpPr>
      <p:sp>
        <p:nvSpPr>
          <p:cNvPr id="2" name="Topic number 2943"/>
          <p:cNvSpPr/>
          <p:nvPr/>
        </p:nvSpPr>
        <p:spPr>
          <a:xfrm>
            <a:off x="548640" y="914400"/>
            <a:ext cx="1783080" cy="1783080"/>
          </a:xfrm>
          <a:prstGeom prst="ellipse">
            <a:avLst/>
          </a:prstGeom>
          <a:solidFill>
            <a:schemeClr val="bg1"/>
          </a:solidFill>
          <a:ln/>
        </p:spPr>
      </p:sp>
      <p:sp>
        <p:nvSpPr>
          <p:cNvPr id="3" name="Text 2944"/>
          <p:cNvSpPr txBox="1"/>
          <p:nvPr/>
        </p:nvSpPr>
        <p:spPr>
          <a:xfrm>
            <a:off x="548640" y="914400"/>
            <a:ext cx="1783080" cy="1783080"/>
          </a:xfrm>
          <a:prstGeom prst="rect">
            <a:avLst/>
          </a:prstGeom>
          <a:noFill/>
          <a:ln/>
        </p:spPr>
        <p:txBody>
          <a:bodyPr wrap="square" lIns="0" tIns="0" rIns="0" bIns="0" rtlCol="0" anchor="ctr"/>
          <a:lstStyle/>
          <a:p>
            <a:pPr algn="ctr" indent="0" marL="0">
              <a:spcAft>
                <a:spcPts val="600"/>
              </a:spcAft>
              <a:buNone/>
            </a:pPr>
            <a:r>
              <a:rPr lang="en-US" sz="5400" b="1" dirty="0">
                <a:solidFill>
                  <a:schemeClr val="accent5"/>
                </a:solidFill>
                <a:latin typeface="+mj-lt" pitchFamily="34" charset="0"/>
                <a:ea typeface="+mj-lt" pitchFamily="34" charset="-122"/>
                <a:cs typeface="+mj-lt" pitchFamily="34" charset="-120"/>
              </a:rPr>
              <a:t>P2</a:t>
            </a:r>
            <a:endParaRPr lang="en-US" sz="5400" dirty="0"/>
          </a:p>
        </p:txBody>
      </p:sp>
      <p:sp>
        <p:nvSpPr>
          <p:cNvPr id="4" name="Text 0"/>
          <p:cNvSpPr/>
          <p:nvPr>
            <p:ph idx="100" type="title" hasCustomPrompt="1"/>
          </p:nvPr>
        </p:nvSpPr>
        <p:spPr>
          <a:xfrm>
            <a:off x="2788920" y="868680"/>
            <a:ext cx="8869680" cy="1737360"/>
          </a:xfrm>
          <a:prstGeom prst="rect">
            <a:avLst/>
          </a:prstGeom>
          <a:noFill/>
          <a:ln/>
        </p:spPr>
        <p:txBody>
          <a:bodyPr wrap="square" lIns="0" tIns="0" rIns="0" bIns="0" rtlCol="0" anchor="ctr"/>
          <a:lstStyle/>
          <a:p>
            <a:pPr algn="l" indent="0" marL="0">
              <a:buNone/>
            </a:pPr>
            <a:r>
              <a:rPr lang="en-US" sz="3400" b="1" dirty="0">
                <a:solidFill>
                  <a:schemeClr val="bg1"/>
                </a:solidFill>
              </a:rPr>
              <a:t>Paper 2 skills: writing the essays</a:t>
            </a:r>
            <a:endParaRPr lang="en-US" sz="3400" dirty="0"/>
          </a:p>
        </p:txBody>
      </p:sp>
      <p:sp>
        <p:nvSpPr>
          <p:cNvPr id="5" name="Text 0"/>
          <p:cNvSpPr/>
          <p:nvPr>
            <p:ph idx="101" type="body" hasCustomPrompt="1"/>
          </p:nvPr>
        </p:nvSpPr>
        <p:spPr>
          <a:xfrm>
            <a:off x="2788920" y="2606040"/>
            <a:ext cx="8869680" cy="457200"/>
          </a:xfrm>
          <a:prstGeom prst="rect">
            <a:avLst/>
          </a:prstGeom>
          <a:noFill/>
          <a:ln/>
        </p:spPr>
        <p:txBody>
          <a:bodyPr wrap="square" lIns="0" tIns="0" rIns="0" bIns="0" rtlCol="0" anchor="ctr"/>
          <a:lstStyle/>
          <a:p>
            <a:pPr algn="l" indent="0" marL="0">
              <a:buNone/>
            </a:pPr>
            <a:r>
              <a:rPr lang="en-US" sz="1800" i="1" dirty="0">
                <a:solidFill>
                  <a:schemeClr val="bg1"/>
                </a:solidFill>
              </a:rPr>
              <a:t>1 hr 45 min · 60 marks · Topics 2 and 3</a:t>
            </a:r>
            <a:endParaRPr lang="en-US" sz="1800" dirty="0"/>
          </a:p>
        </p:txBody>
      </p:sp>
      <p:sp>
        <p:nvSpPr>
          <p:cNvPr id="6" name="KQ pill 2945"/>
          <p:cNvSpPr/>
          <p:nvPr/>
        </p:nvSpPr>
        <p:spPr>
          <a:xfrm>
            <a:off x="2788920" y="3502152"/>
            <a:ext cx="786384" cy="365760"/>
          </a:xfrm>
          <a:prstGeom prst="roundRect">
            <a:avLst>
              <a:gd name="adj" fmla="val 50000"/>
            </a:avLst>
          </a:prstGeom>
          <a:solidFill>
            <a:schemeClr val="bg1"/>
          </a:solidFill>
          <a:ln/>
        </p:spPr>
      </p:sp>
      <p:sp>
        <p:nvSpPr>
          <p:cNvPr id="7" name="Text 2946"/>
          <p:cNvSpPr txBox="1"/>
          <p:nvPr/>
        </p:nvSpPr>
        <p:spPr>
          <a:xfrm>
            <a:off x="2788920" y="3502152"/>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5"/>
                </a:solidFill>
              </a:rPr>
              <a:t>(a)</a:t>
            </a:r>
            <a:endParaRPr lang="en-US" sz="1400" dirty="0"/>
          </a:p>
        </p:txBody>
      </p:sp>
      <p:sp>
        <p:nvSpPr>
          <p:cNvPr id="8" name="Text 2947"/>
          <p:cNvSpPr txBox="1"/>
          <p:nvPr/>
        </p:nvSpPr>
        <p:spPr>
          <a:xfrm>
            <a:off x="3749040" y="3447288"/>
            <a:ext cx="7863840" cy="67665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'Explain why…' — 10 marks: several linked reasons</a:t>
            </a:r>
            <a:endParaRPr lang="en-US" sz="1700" dirty="0"/>
          </a:p>
        </p:txBody>
      </p:sp>
      <p:sp>
        <p:nvSpPr>
          <p:cNvPr id="9" name="KQ pill 2948"/>
          <p:cNvSpPr/>
          <p:nvPr/>
        </p:nvSpPr>
        <p:spPr>
          <a:xfrm>
            <a:off x="2788920" y="4215384"/>
            <a:ext cx="786384" cy="365760"/>
          </a:xfrm>
          <a:prstGeom prst="roundRect">
            <a:avLst>
              <a:gd name="adj" fmla="val 50000"/>
            </a:avLst>
          </a:prstGeom>
          <a:solidFill>
            <a:schemeClr val="bg1"/>
          </a:solidFill>
          <a:ln/>
        </p:spPr>
      </p:sp>
      <p:sp>
        <p:nvSpPr>
          <p:cNvPr id="10" name="Text 2949"/>
          <p:cNvSpPr txBox="1"/>
          <p:nvPr/>
        </p:nvSpPr>
        <p:spPr>
          <a:xfrm>
            <a:off x="2788920" y="4215384"/>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5"/>
                </a:solidFill>
              </a:rPr>
              <a:t>(b)</a:t>
            </a:r>
            <a:endParaRPr lang="en-US" sz="1400" dirty="0"/>
          </a:p>
        </p:txBody>
      </p:sp>
      <p:sp>
        <p:nvSpPr>
          <p:cNvPr id="11" name="Text 2950"/>
          <p:cNvSpPr txBox="1"/>
          <p:nvPr/>
        </p:nvSpPr>
        <p:spPr>
          <a:xfrm>
            <a:off x="3749040" y="4160520"/>
            <a:ext cx="7863840" cy="67665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'How far…?' / 'To what extent…?' / 'Assess…' — 20 marks: a judgement</a:t>
            </a:r>
            <a:endParaRPr lang="en-US" sz="1700" dirty="0"/>
          </a:p>
        </p:txBody>
      </p:sp>
      <p:sp>
        <p:nvSpPr>
          <p:cNvPr id="12" name="KQ pill 2951"/>
          <p:cNvSpPr/>
          <p:nvPr/>
        </p:nvSpPr>
        <p:spPr>
          <a:xfrm>
            <a:off x="2788920" y="4928616"/>
            <a:ext cx="786384" cy="365760"/>
          </a:xfrm>
          <a:prstGeom prst="roundRect">
            <a:avLst>
              <a:gd name="adj" fmla="val 50000"/>
            </a:avLst>
          </a:prstGeom>
          <a:solidFill>
            <a:schemeClr val="bg1"/>
          </a:solidFill>
          <a:ln/>
        </p:spPr>
      </p:sp>
      <p:sp>
        <p:nvSpPr>
          <p:cNvPr id="13" name="Text 2952"/>
          <p:cNvSpPr txBox="1"/>
          <p:nvPr/>
        </p:nvSpPr>
        <p:spPr>
          <a:xfrm>
            <a:off x="2788920" y="4928616"/>
            <a:ext cx="786384" cy="365760"/>
          </a:xfrm>
          <a:prstGeom prst="rect">
            <a:avLst/>
          </a:prstGeom>
          <a:noFill/>
          <a:ln/>
        </p:spPr>
        <p:txBody>
          <a:bodyPr wrap="square" lIns="0" tIns="0" rIns="0" bIns="0" rtlCol="0" anchor="ctr"/>
          <a:lstStyle/>
          <a:p>
            <a:pPr algn="ctr" indent="0" marL="0">
              <a:spcAft>
                <a:spcPts val="600"/>
              </a:spcAft>
              <a:buNone/>
            </a:pPr>
            <a:r>
              <a:rPr lang="en-US" sz="1400" b="1" dirty="0">
                <a:solidFill>
                  <a:schemeClr val="accent5"/>
                </a:solidFill>
              </a:rPr>
              <a:t>Tip</a:t>
            </a:r>
            <a:endParaRPr lang="en-US" sz="1400" dirty="0"/>
          </a:p>
        </p:txBody>
      </p:sp>
      <p:sp>
        <p:nvSpPr>
          <p:cNvPr id="14" name="Text 2953"/>
          <p:cNvSpPr txBox="1"/>
          <p:nvPr/>
        </p:nvSpPr>
        <p:spPr>
          <a:xfrm>
            <a:off x="3749040" y="4873752"/>
            <a:ext cx="7863840" cy="676656"/>
          </a:xfrm>
          <a:prstGeom prst="rect">
            <a:avLst/>
          </a:prstGeom>
          <a:noFill/>
          <a:ln/>
        </p:spPr>
        <p:txBody>
          <a:bodyPr wrap="square" lIns="0" tIns="0" rIns="0" bIns="0" rtlCol="0" anchor="t"/>
          <a:lstStyle/>
          <a:p>
            <a:pPr algn="l" indent="0" marL="0">
              <a:spcAft>
                <a:spcPts val="600"/>
              </a:spcAft>
              <a:buNone/>
            </a:pPr>
            <a:r>
              <a:rPr lang="en-US" sz="1700" dirty="0">
                <a:solidFill>
                  <a:schemeClr val="bg1"/>
                </a:solidFill>
              </a:rPr>
              <a:t>Plan first: five minutes of planning saves fifteen of waffle</a:t>
            </a:r>
            <a:endParaRPr lang="en-US" sz="17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Kicker 295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2 · TIMING</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105 minutes, two questions</a:t>
            </a:r>
            <a:endParaRPr lang="en-US" sz="3400" dirty="0"/>
          </a:p>
        </p:txBody>
      </p:sp>
      <p:sp>
        <p:nvSpPr>
          <p:cNvPr id="4" name="Time block 2955"/>
          <p:cNvSpPr/>
          <p:nvPr/>
        </p:nvSpPr>
        <p:spPr>
          <a:xfrm>
            <a:off x="548640" y="1892808"/>
            <a:ext cx="502180" cy="1051560"/>
          </a:xfrm>
          <a:prstGeom prst="roundRect">
            <a:avLst>
              <a:gd name="adj" fmla="val 14567"/>
            </a:avLst>
          </a:prstGeom>
          <a:solidFill>
            <a:schemeClr val="accent6"/>
          </a:solidFill>
          <a:ln/>
        </p:spPr>
      </p:sp>
      <p:sp>
        <p:nvSpPr>
          <p:cNvPr id="5" name="Text 2956"/>
          <p:cNvSpPr txBox="1"/>
          <p:nvPr/>
        </p:nvSpPr>
        <p:spPr>
          <a:xfrm>
            <a:off x="594360" y="1938528"/>
            <a:ext cx="410740" cy="502920"/>
          </a:xfrm>
          <a:prstGeom prst="rect">
            <a:avLst/>
          </a:prstGeom>
          <a:noFill/>
          <a:ln/>
        </p:spPr>
        <p:txBody>
          <a:bodyPr wrap="square" lIns="0" tIns="0" rIns="0" bIns="0" rtlCol="0" anchor="t"/>
          <a:lstStyle/>
          <a:p>
            <a:pPr algn="ctr" indent="0" marL="0">
              <a:spcAft>
                <a:spcPts val="600"/>
              </a:spcAft>
              <a:buNone/>
            </a:pPr>
            <a:r>
              <a:rPr lang="en-US" sz="2200" b="1" dirty="0">
                <a:solidFill>
                  <a:schemeClr val="bg1"/>
                </a:solidFill>
                <a:latin typeface="+mj-lt" pitchFamily="34" charset="0"/>
                <a:ea typeface="+mj-lt" pitchFamily="34" charset="-122"/>
                <a:cs typeface="+mj-lt" pitchFamily="34" charset="-120"/>
              </a:rPr>
              <a:t>5′</a:t>
            </a:r>
            <a:endParaRPr lang="en-US" sz="2200" dirty="0"/>
          </a:p>
        </p:txBody>
      </p:sp>
      <p:sp>
        <p:nvSpPr>
          <p:cNvPr id="6" name="Time block 2957"/>
          <p:cNvSpPr/>
          <p:nvPr/>
        </p:nvSpPr>
        <p:spPr>
          <a:xfrm>
            <a:off x="1160548" y="1892808"/>
            <a:ext cx="1506539" cy="1051560"/>
          </a:xfrm>
          <a:prstGeom prst="roundRect">
            <a:avLst>
              <a:gd name="adj" fmla="val 6957"/>
            </a:avLst>
          </a:prstGeom>
          <a:solidFill>
            <a:schemeClr val="accent2"/>
          </a:solidFill>
          <a:ln/>
        </p:spPr>
      </p:sp>
      <p:sp>
        <p:nvSpPr>
          <p:cNvPr id="7" name="Text 2958"/>
          <p:cNvSpPr txBox="1"/>
          <p:nvPr/>
        </p:nvSpPr>
        <p:spPr>
          <a:xfrm>
            <a:off x="1206268" y="1938528"/>
            <a:ext cx="1415099" cy="502920"/>
          </a:xfrm>
          <a:prstGeom prst="rect">
            <a:avLst/>
          </a:prstGeom>
          <a:noFill/>
          <a:ln/>
        </p:spPr>
        <p:txBody>
          <a:bodyPr wrap="square" lIns="0" tIns="0" rIns="0" bIns="0" rtlCol="0" anchor="t"/>
          <a:lstStyle/>
          <a:p>
            <a:pPr algn="ctr" indent="0" marL="0">
              <a:spcAft>
                <a:spcPts val="600"/>
              </a:spcAft>
              <a:buNone/>
            </a:pPr>
            <a:r>
              <a:rPr lang="en-US" sz="2200" b="1" dirty="0">
                <a:solidFill>
                  <a:schemeClr val="bg1"/>
                </a:solidFill>
                <a:latin typeface="+mj-lt" pitchFamily="34" charset="0"/>
                <a:ea typeface="+mj-lt" pitchFamily="34" charset="-122"/>
                <a:cs typeface="+mj-lt" pitchFamily="34" charset="-120"/>
              </a:rPr>
              <a:t>15′</a:t>
            </a:r>
            <a:endParaRPr lang="en-US" sz="2200" dirty="0"/>
          </a:p>
        </p:txBody>
      </p:sp>
      <p:sp>
        <p:nvSpPr>
          <p:cNvPr id="8" name="Text 2959"/>
          <p:cNvSpPr txBox="1"/>
          <p:nvPr/>
        </p:nvSpPr>
        <p:spPr>
          <a:xfrm>
            <a:off x="1206268" y="2441448"/>
            <a:ext cx="1415099" cy="411480"/>
          </a:xfrm>
          <a:prstGeom prst="rect">
            <a:avLst/>
          </a:prstGeom>
          <a:noFill/>
          <a:ln/>
        </p:spPr>
        <p:txBody>
          <a:bodyPr wrap="square" lIns="0" tIns="0" rIns="0" bIns="0" rtlCol="0" anchor="t"/>
          <a:lstStyle/>
          <a:p>
            <a:pPr algn="ctr" indent="0" marL="0">
              <a:spcAft>
                <a:spcPts val="600"/>
              </a:spcAft>
              <a:buNone/>
            </a:pPr>
            <a:r>
              <a:rPr lang="en-US" sz="1400" b="1" dirty="0">
                <a:solidFill>
                  <a:schemeClr val="bg1"/>
                </a:solidFill>
              </a:rPr>
              <a:t>(a) · 10 marks</a:t>
            </a:r>
            <a:endParaRPr lang="en-US" sz="1400" dirty="0"/>
          </a:p>
        </p:txBody>
      </p:sp>
      <p:sp>
        <p:nvSpPr>
          <p:cNvPr id="9" name="Time block 2960"/>
          <p:cNvSpPr/>
          <p:nvPr/>
        </p:nvSpPr>
        <p:spPr>
          <a:xfrm>
            <a:off x="2776815" y="1892808"/>
            <a:ext cx="3213951" cy="1051560"/>
          </a:xfrm>
          <a:prstGeom prst="roundRect">
            <a:avLst>
              <a:gd name="adj" fmla="val 6957"/>
            </a:avLst>
          </a:prstGeom>
          <a:solidFill>
            <a:schemeClr val="accent3"/>
          </a:solidFill>
          <a:ln/>
        </p:spPr>
      </p:sp>
      <p:sp>
        <p:nvSpPr>
          <p:cNvPr id="10" name="Text 2961"/>
          <p:cNvSpPr txBox="1"/>
          <p:nvPr/>
        </p:nvSpPr>
        <p:spPr>
          <a:xfrm>
            <a:off x="2822535" y="1938528"/>
            <a:ext cx="3122511" cy="502920"/>
          </a:xfrm>
          <a:prstGeom prst="rect">
            <a:avLst/>
          </a:prstGeom>
          <a:noFill/>
          <a:ln/>
        </p:spPr>
        <p:txBody>
          <a:bodyPr wrap="square" lIns="0" tIns="0" rIns="0" bIns="0" rtlCol="0" anchor="t"/>
          <a:lstStyle/>
          <a:p>
            <a:pPr algn="ctr" indent="0" marL="0">
              <a:spcAft>
                <a:spcPts val="600"/>
              </a:spcAft>
              <a:buNone/>
            </a:pPr>
            <a:r>
              <a:rPr lang="en-US" sz="2200" b="1" dirty="0">
                <a:solidFill>
                  <a:schemeClr val="bg1"/>
                </a:solidFill>
                <a:latin typeface="+mj-lt" pitchFamily="34" charset="0"/>
                <a:ea typeface="+mj-lt" pitchFamily="34" charset="-122"/>
                <a:cs typeface="+mj-lt" pitchFamily="34" charset="-120"/>
              </a:rPr>
              <a:t>32′</a:t>
            </a:r>
            <a:endParaRPr lang="en-US" sz="2200" dirty="0"/>
          </a:p>
        </p:txBody>
      </p:sp>
      <p:sp>
        <p:nvSpPr>
          <p:cNvPr id="11" name="Text 2962"/>
          <p:cNvSpPr txBox="1"/>
          <p:nvPr/>
        </p:nvSpPr>
        <p:spPr>
          <a:xfrm>
            <a:off x="2822535" y="2441448"/>
            <a:ext cx="3122511" cy="411480"/>
          </a:xfrm>
          <a:prstGeom prst="rect">
            <a:avLst/>
          </a:prstGeom>
          <a:noFill/>
          <a:ln/>
        </p:spPr>
        <p:txBody>
          <a:bodyPr wrap="square" lIns="0" tIns="0" rIns="0" bIns="0" rtlCol="0" anchor="t"/>
          <a:lstStyle/>
          <a:p>
            <a:pPr algn="ctr" indent="0" marL="0">
              <a:spcAft>
                <a:spcPts val="600"/>
              </a:spcAft>
              <a:buNone/>
            </a:pPr>
            <a:r>
              <a:rPr lang="en-US" sz="1400" b="1" dirty="0">
                <a:solidFill>
                  <a:schemeClr val="bg1"/>
                </a:solidFill>
              </a:rPr>
              <a:t>(b) · 20 marks</a:t>
            </a:r>
            <a:endParaRPr lang="en-US" sz="1400" dirty="0"/>
          </a:p>
        </p:txBody>
      </p:sp>
      <p:sp>
        <p:nvSpPr>
          <p:cNvPr id="12" name="Time block 2963"/>
          <p:cNvSpPr/>
          <p:nvPr/>
        </p:nvSpPr>
        <p:spPr>
          <a:xfrm>
            <a:off x="6100494" y="1892808"/>
            <a:ext cx="502180" cy="1051560"/>
          </a:xfrm>
          <a:prstGeom prst="roundRect">
            <a:avLst>
              <a:gd name="adj" fmla="val 14567"/>
            </a:avLst>
          </a:prstGeom>
          <a:solidFill>
            <a:schemeClr val="accent6"/>
          </a:solidFill>
          <a:ln/>
        </p:spPr>
      </p:sp>
      <p:sp>
        <p:nvSpPr>
          <p:cNvPr id="13" name="Text 2964"/>
          <p:cNvSpPr txBox="1"/>
          <p:nvPr/>
        </p:nvSpPr>
        <p:spPr>
          <a:xfrm>
            <a:off x="6146214" y="1938528"/>
            <a:ext cx="410740" cy="502920"/>
          </a:xfrm>
          <a:prstGeom prst="rect">
            <a:avLst/>
          </a:prstGeom>
          <a:noFill/>
          <a:ln/>
        </p:spPr>
        <p:txBody>
          <a:bodyPr wrap="square" lIns="0" tIns="0" rIns="0" bIns="0" rtlCol="0" anchor="t"/>
          <a:lstStyle/>
          <a:p>
            <a:pPr algn="ctr" indent="0" marL="0">
              <a:spcAft>
                <a:spcPts val="600"/>
              </a:spcAft>
              <a:buNone/>
            </a:pPr>
            <a:r>
              <a:rPr lang="en-US" sz="2200" b="1" dirty="0">
                <a:solidFill>
                  <a:schemeClr val="bg1"/>
                </a:solidFill>
                <a:latin typeface="+mj-lt" pitchFamily="34" charset="0"/>
                <a:ea typeface="+mj-lt" pitchFamily="34" charset="-122"/>
                <a:cs typeface="+mj-lt" pitchFamily="34" charset="-120"/>
              </a:rPr>
              <a:t>5′</a:t>
            </a:r>
            <a:endParaRPr lang="en-US" sz="2200" dirty="0"/>
          </a:p>
        </p:txBody>
      </p:sp>
      <p:sp>
        <p:nvSpPr>
          <p:cNvPr id="14" name="Time block 2965"/>
          <p:cNvSpPr/>
          <p:nvPr/>
        </p:nvSpPr>
        <p:spPr>
          <a:xfrm>
            <a:off x="6712401" y="1892808"/>
            <a:ext cx="1506539" cy="1051560"/>
          </a:xfrm>
          <a:prstGeom prst="roundRect">
            <a:avLst>
              <a:gd name="adj" fmla="val 6957"/>
            </a:avLst>
          </a:prstGeom>
          <a:solidFill>
            <a:schemeClr val="accent2"/>
          </a:solidFill>
          <a:ln/>
        </p:spPr>
      </p:sp>
      <p:sp>
        <p:nvSpPr>
          <p:cNvPr id="15" name="Text 2966"/>
          <p:cNvSpPr txBox="1"/>
          <p:nvPr/>
        </p:nvSpPr>
        <p:spPr>
          <a:xfrm>
            <a:off x="6758121" y="1938528"/>
            <a:ext cx="1415099" cy="502920"/>
          </a:xfrm>
          <a:prstGeom prst="rect">
            <a:avLst/>
          </a:prstGeom>
          <a:noFill/>
          <a:ln/>
        </p:spPr>
        <p:txBody>
          <a:bodyPr wrap="square" lIns="0" tIns="0" rIns="0" bIns="0" rtlCol="0" anchor="t"/>
          <a:lstStyle/>
          <a:p>
            <a:pPr algn="ctr" indent="0" marL="0">
              <a:spcAft>
                <a:spcPts val="600"/>
              </a:spcAft>
              <a:buNone/>
            </a:pPr>
            <a:r>
              <a:rPr lang="en-US" sz="2200" b="1" dirty="0">
                <a:solidFill>
                  <a:schemeClr val="bg1"/>
                </a:solidFill>
                <a:latin typeface="+mj-lt" pitchFamily="34" charset="0"/>
                <a:ea typeface="+mj-lt" pitchFamily="34" charset="-122"/>
                <a:cs typeface="+mj-lt" pitchFamily="34" charset="-120"/>
              </a:rPr>
              <a:t>15′</a:t>
            </a:r>
            <a:endParaRPr lang="en-US" sz="2200" dirty="0"/>
          </a:p>
        </p:txBody>
      </p:sp>
      <p:sp>
        <p:nvSpPr>
          <p:cNvPr id="16" name="Text 2967"/>
          <p:cNvSpPr txBox="1"/>
          <p:nvPr/>
        </p:nvSpPr>
        <p:spPr>
          <a:xfrm>
            <a:off x="6758121" y="2441448"/>
            <a:ext cx="1415099" cy="411480"/>
          </a:xfrm>
          <a:prstGeom prst="rect">
            <a:avLst/>
          </a:prstGeom>
          <a:noFill/>
          <a:ln/>
        </p:spPr>
        <p:txBody>
          <a:bodyPr wrap="square" lIns="0" tIns="0" rIns="0" bIns="0" rtlCol="0" anchor="t"/>
          <a:lstStyle/>
          <a:p>
            <a:pPr algn="ctr" indent="0" marL="0">
              <a:spcAft>
                <a:spcPts val="600"/>
              </a:spcAft>
              <a:buNone/>
            </a:pPr>
            <a:r>
              <a:rPr lang="en-US" sz="1400" b="1" dirty="0">
                <a:solidFill>
                  <a:schemeClr val="bg1"/>
                </a:solidFill>
              </a:rPr>
              <a:t>(a) · 10 marks</a:t>
            </a:r>
            <a:endParaRPr lang="en-US" sz="1400" dirty="0"/>
          </a:p>
        </p:txBody>
      </p:sp>
      <p:sp>
        <p:nvSpPr>
          <p:cNvPr id="17" name="Time block 2968"/>
          <p:cNvSpPr/>
          <p:nvPr/>
        </p:nvSpPr>
        <p:spPr>
          <a:xfrm>
            <a:off x="8328669" y="1892808"/>
            <a:ext cx="3314386" cy="1051560"/>
          </a:xfrm>
          <a:prstGeom prst="roundRect">
            <a:avLst>
              <a:gd name="adj" fmla="val 6957"/>
            </a:avLst>
          </a:prstGeom>
          <a:solidFill>
            <a:schemeClr val="accent3"/>
          </a:solidFill>
          <a:ln/>
        </p:spPr>
      </p:sp>
      <p:sp>
        <p:nvSpPr>
          <p:cNvPr id="18" name="Text 2969"/>
          <p:cNvSpPr txBox="1"/>
          <p:nvPr/>
        </p:nvSpPr>
        <p:spPr>
          <a:xfrm>
            <a:off x="8374389" y="1938528"/>
            <a:ext cx="3222946" cy="502920"/>
          </a:xfrm>
          <a:prstGeom prst="rect">
            <a:avLst/>
          </a:prstGeom>
          <a:noFill/>
          <a:ln/>
        </p:spPr>
        <p:txBody>
          <a:bodyPr wrap="square" lIns="0" tIns="0" rIns="0" bIns="0" rtlCol="0" anchor="t"/>
          <a:lstStyle/>
          <a:p>
            <a:pPr algn="ctr" indent="0" marL="0">
              <a:spcAft>
                <a:spcPts val="600"/>
              </a:spcAft>
              <a:buNone/>
            </a:pPr>
            <a:r>
              <a:rPr lang="en-US" sz="2200" b="1" dirty="0">
                <a:solidFill>
                  <a:schemeClr val="bg1"/>
                </a:solidFill>
                <a:latin typeface="+mj-lt" pitchFamily="34" charset="0"/>
                <a:ea typeface="+mj-lt" pitchFamily="34" charset="-122"/>
                <a:cs typeface="+mj-lt" pitchFamily="34" charset="-120"/>
              </a:rPr>
              <a:t>33′</a:t>
            </a:r>
            <a:endParaRPr lang="en-US" sz="2200" dirty="0"/>
          </a:p>
        </p:txBody>
      </p:sp>
      <p:sp>
        <p:nvSpPr>
          <p:cNvPr id="19" name="Text 2970"/>
          <p:cNvSpPr txBox="1"/>
          <p:nvPr/>
        </p:nvSpPr>
        <p:spPr>
          <a:xfrm>
            <a:off x="8374389" y="2441448"/>
            <a:ext cx="3222946" cy="411480"/>
          </a:xfrm>
          <a:prstGeom prst="rect">
            <a:avLst/>
          </a:prstGeom>
          <a:noFill/>
          <a:ln/>
        </p:spPr>
        <p:txBody>
          <a:bodyPr wrap="square" lIns="0" tIns="0" rIns="0" bIns="0" rtlCol="0" anchor="t"/>
          <a:lstStyle/>
          <a:p>
            <a:pPr algn="ctr" indent="0" marL="0">
              <a:spcAft>
                <a:spcPts val="600"/>
              </a:spcAft>
              <a:buNone/>
            </a:pPr>
            <a:r>
              <a:rPr lang="en-US" sz="1400" b="1" dirty="0">
                <a:solidFill>
                  <a:schemeClr val="bg1"/>
                </a:solidFill>
              </a:rPr>
              <a:t>(b) · 20 marks</a:t>
            </a:r>
            <a:endParaRPr lang="en-US" sz="1400" dirty="0"/>
          </a:p>
        </p:txBody>
      </p:sp>
      <p:sp>
        <p:nvSpPr>
          <p:cNvPr id="20" name="Text 2971"/>
          <p:cNvSpPr txBox="1"/>
          <p:nvPr/>
        </p:nvSpPr>
        <p:spPr>
          <a:xfrm>
            <a:off x="548640" y="1481328"/>
            <a:ext cx="5547208" cy="347472"/>
          </a:xfrm>
          <a:prstGeom prst="rect">
            <a:avLst/>
          </a:prstGeom>
          <a:noFill/>
          <a:ln/>
        </p:spPr>
        <p:txBody>
          <a:bodyPr wrap="square" lIns="0" tIns="0" rIns="0" bIns="0" rtlCol="0" anchor="t"/>
          <a:lstStyle/>
          <a:p>
            <a:pPr algn="l" indent="0" marL="0">
              <a:spcAft>
                <a:spcPts val="600"/>
              </a:spcAft>
              <a:buNone/>
            </a:pPr>
            <a:r>
              <a:rPr lang="en-US" sz="1600" b="1" dirty="0">
                <a:solidFill>
                  <a:schemeClr val="accent5"/>
                </a:solidFill>
              </a:rPr>
              <a:t>Question 1</a:t>
            </a:r>
            <a:endParaRPr lang="en-US" sz="1600" dirty="0"/>
          </a:p>
        </p:txBody>
      </p:sp>
      <p:sp>
        <p:nvSpPr>
          <p:cNvPr id="21" name="Text 2972"/>
          <p:cNvSpPr txBox="1"/>
          <p:nvPr/>
        </p:nvSpPr>
        <p:spPr>
          <a:xfrm>
            <a:off x="6150712" y="1481328"/>
            <a:ext cx="5547208" cy="347472"/>
          </a:xfrm>
          <a:prstGeom prst="rect">
            <a:avLst/>
          </a:prstGeom>
          <a:noFill/>
          <a:ln/>
        </p:spPr>
        <p:txBody>
          <a:bodyPr wrap="square" lIns="0" tIns="0" rIns="0" bIns="0" rtlCol="0" anchor="t"/>
          <a:lstStyle/>
          <a:p>
            <a:pPr algn="l" indent="0" marL="0">
              <a:spcAft>
                <a:spcPts val="600"/>
              </a:spcAft>
              <a:buNone/>
            </a:pPr>
            <a:r>
              <a:rPr lang="en-US" sz="1600" b="1" dirty="0">
                <a:solidFill>
                  <a:schemeClr val="accent5"/>
                </a:solidFill>
              </a:rPr>
              <a:t>Question 2</a:t>
            </a:r>
            <a:endParaRPr lang="en-US" sz="1600" dirty="0"/>
          </a:p>
        </p:txBody>
      </p:sp>
      <p:sp>
        <p:nvSpPr>
          <p:cNvPr id="22" name="Card 2973"/>
          <p:cNvSpPr/>
          <p:nvPr/>
        </p:nvSpPr>
        <p:spPr>
          <a:xfrm>
            <a:off x="548640" y="3310128"/>
            <a:ext cx="3515258" cy="2953512"/>
          </a:xfrm>
          <a:prstGeom prst="roundRect">
            <a:avLst>
              <a:gd name="adj" fmla="val 3096"/>
            </a:avLst>
          </a:prstGeom>
          <a:solidFill>
            <a:schemeClr val="accent5">
              <a:alpha val="10000"/>
            </a:schemeClr>
          </a:solidFill>
          <a:ln/>
        </p:spPr>
      </p:sp>
      <p:sp>
        <p:nvSpPr>
          <p:cNvPr id="23" name="Icon circle 2974"/>
          <p:cNvSpPr/>
          <p:nvPr/>
        </p:nvSpPr>
        <p:spPr>
          <a:xfrm>
            <a:off x="731520" y="3493008"/>
            <a:ext cx="475488" cy="475488"/>
          </a:xfrm>
          <a:prstGeom prst="ellipse">
            <a:avLst/>
          </a:prstGeom>
          <a:solidFill>
            <a:schemeClr val="accent5"/>
          </a:solidFill>
          <a:ln/>
        </p:spPr>
      </p:sp>
      <p:pic>
        <p:nvPicPr>
          <p:cNvPr id="24" name="Icon FaListOl 2975" descr="preencoded.png">    </p:cNvPr>
          <p:cNvPicPr>
            <a:picLocks noChangeAspect="1"/>
          </p:cNvPicPr>
          <p:nvPr/>
        </p:nvPicPr>
        <p:blipFill>
          <a:blip r:embed="rId1"/>
          <a:stretch>
            <a:fillRect/>
          </a:stretch>
        </p:blipFill>
        <p:spPr>
          <a:xfrm>
            <a:off x="836127" y="3597615"/>
            <a:ext cx="266273" cy="266273"/>
          </a:xfrm>
          <a:prstGeom prst="rect">
            <a:avLst/>
          </a:prstGeom>
        </p:spPr>
      </p:pic>
      <p:sp>
        <p:nvSpPr>
          <p:cNvPr id="25" name="Card title 2976"/>
          <p:cNvSpPr txBox="1"/>
          <p:nvPr/>
        </p:nvSpPr>
        <p:spPr>
          <a:xfrm>
            <a:off x="1335024" y="34930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Plan both parts</a:t>
            </a:r>
            <a:endParaRPr lang="en-US" sz="1700" dirty="0"/>
          </a:p>
        </p:txBody>
      </p:sp>
      <p:sp>
        <p:nvSpPr>
          <p:cNvPr id="26" name="Text 2977"/>
          <p:cNvSpPr txBox="1"/>
          <p:nvPr/>
        </p:nvSpPr>
        <p:spPr>
          <a:xfrm>
            <a:off x="731520" y="4078224"/>
            <a:ext cx="3149498" cy="200253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Jot 3–4 factors for (a) and a for/against list for (b) before writing.</a:t>
            </a:r>
            <a:endParaRPr lang="en-US" sz="1800" dirty="0"/>
          </a:p>
        </p:txBody>
      </p:sp>
      <p:sp>
        <p:nvSpPr>
          <p:cNvPr id="27" name="Card 2978"/>
          <p:cNvSpPr/>
          <p:nvPr/>
        </p:nvSpPr>
        <p:spPr>
          <a:xfrm>
            <a:off x="4338218" y="3310128"/>
            <a:ext cx="3515258" cy="2953512"/>
          </a:xfrm>
          <a:prstGeom prst="roundRect">
            <a:avLst>
              <a:gd name="adj" fmla="val 3096"/>
            </a:avLst>
          </a:prstGeom>
          <a:solidFill>
            <a:schemeClr val="accent5">
              <a:alpha val="10000"/>
            </a:schemeClr>
          </a:solidFill>
          <a:ln/>
        </p:spPr>
      </p:sp>
      <p:sp>
        <p:nvSpPr>
          <p:cNvPr id="28" name="Icon circle 2979"/>
          <p:cNvSpPr/>
          <p:nvPr/>
        </p:nvSpPr>
        <p:spPr>
          <a:xfrm>
            <a:off x="4521098" y="3493008"/>
            <a:ext cx="475488" cy="475488"/>
          </a:xfrm>
          <a:prstGeom prst="ellipse">
            <a:avLst/>
          </a:prstGeom>
          <a:solidFill>
            <a:schemeClr val="accent5"/>
          </a:solidFill>
          <a:ln/>
        </p:spPr>
      </p:sp>
      <p:pic>
        <p:nvPicPr>
          <p:cNvPr id="29" name="Icon FaScaleBalanced 2980" descr="preencoded.png">    </p:cNvPr>
          <p:cNvPicPr>
            <a:picLocks noChangeAspect="1"/>
          </p:cNvPicPr>
          <p:nvPr/>
        </p:nvPicPr>
        <p:blipFill>
          <a:blip r:embed="rId2"/>
          <a:stretch>
            <a:fillRect/>
          </a:stretch>
        </p:blipFill>
        <p:spPr>
          <a:xfrm>
            <a:off x="4625706" y="3597615"/>
            <a:ext cx="266273" cy="266273"/>
          </a:xfrm>
          <a:prstGeom prst="rect">
            <a:avLst/>
          </a:prstGeom>
        </p:spPr>
      </p:pic>
      <p:sp>
        <p:nvSpPr>
          <p:cNvPr id="30" name="Card title 2981"/>
          <p:cNvSpPr txBox="1"/>
          <p:nvPr/>
        </p:nvSpPr>
        <p:spPr>
          <a:xfrm>
            <a:off x="5124602" y="34930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Twice the marks</a:t>
            </a:r>
            <a:endParaRPr lang="en-US" sz="1700" dirty="0"/>
          </a:p>
        </p:txBody>
      </p:sp>
      <p:sp>
        <p:nvSpPr>
          <p:cNvPr id="31" name="Text 2982"/>
          <p:cNvSpPr txBox="1"/>
          <p:nvPr/>
        </p:nvSpPr>
        <p:spPr>
          <a:xfrm>
            <a:off x="4521098" y="4078224"/>
            <a:ext cx="3149498" cy="200253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(b) is worth twice (a) — so give it about twice the time.</a:t>
            </a:r>
            <a:endParaRPr lang="en-US" sz="1800" dirty="0"/>
          </a:p>
        </p:txBody>
      </p:sp>
      <p:sp>
        <p:nvSpPr>
          <p:cNvPr id="32" name="Card 2983"/>
          <p:cNvSpPr/>
          <p:nvPr/>
        </p:nvSpPr>
        <p:spPr>
          <a:xfrm>
            <a:off x="8127797" y="3310128"/>
            <a:ext cx="3515258" cy="2953512"/>
          </a:xfrm>
          <a:prstGeom prst="roundRect">
            <a:avLst>
              <a:gd name="adj" fmla="val 3096"/>
            </a:avLst>
          </a:prstGeom>
          <a:solidFill>
            <a:schemeClr val="accent5">
              <a:alpha val="10000"/>
            </a:schemeClr>
          </a:solidFill>
          <a:ln/>
        </p:spPr>
      </p:sp>
      <p:sp>
        <p:nvSpPr>
          <p:cNvPr id="33" name="Icon circle 2984"/>
          <p:cNvSpPr/>
          <p:nvPr/>
        </p:nvSpPr>
        <p:spPr>
          <a:xfrm>
            <a:off x="8310677" y="3493008"/>
            <a:ext cx="475488" cy="475488"/>
          </a:xfrm>
          <a:prstGeom prst="ellipse">
            <a:avLst/>
          </a:prstGeom>
          <a:solidFill>
            <a:schemeClr val="accent5"/>
          </a:solidFill>
          <a:ln/>
        </p:spPr>
      </p:sp>
      <p:pic>
        <p:nvPicPr>
          <p:cNvPr id="34" name="Icon FaStopwatch 2985" descr="preencoded.png">    </p:cNvPr>
          <p:cNvPicPr>
            <a:picLocks noChangeAspect="1"/>
          </p:cNvPicPr>
          <p:nvPr/>
        </p:nvPicPr>
        <p:blipFill>
          <a:blip r:embed="rId3"/>
          <a:stretch>
            <a:fillRect/>
          </a:stretch>
        </p:blipFill>
        <p:spPr>
          <a:xfrm>
            <a:off x="8415284" y="3597615"/>
            <a:ext cx="266273" cy="266273"/>
          </a:xfrm>
          <a:prstGeom prst="rect">
            <a:avLst/>
          </a:prstGeom>
        </p:spPr>
      </p:pic>
      <p:sp>
        <p:nvSpPr>
          <p:cNvPr id="35" name="Card title 2986"/>
          <p:cNvSpPr txBox="1"/>
          <p:nvPr/>
        </p:nvSpPr>
        <p:spPr>
          <a:xfrm>
            <a:off x="8914181" y="3493008"/>
            <a:ext cx="254599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Never leave a gap</a:t>
            </a:r>
            <a:endParaRPr lang="en-US" sz="1700" dirty="0"/>
          </a:p>
        </p:txBody>
      </p:sp>
      <p:sp>
        <p:nvSpPr>
          <p:cNvPr id="36" name="Text 2987"/>
          <p:cNvSpPr txBox="1"/>
          <p:nvPr/>
        </p:nvSpPr>
        <p:spPr>
          <a:xfrm>
            <a:off x="8310677" y="4078224"/>
            <a:ext cx="3149498" cy="2002536"/>
          </a:xfrm>
          <a:prstGeom prst="rect">
            <a:avLst/>
          </a:prstGeom>
          <a:noFill/>
          <a:ln/>
        </p:spPr>
        <p:txBody>
          <a:bodyPr wrap="square" lIns="0" tIns="0" rIns="0" bIns="0" rtlCol="0" anchor="t"/>
          <a:lstStyle/>
          <a:p>
            <a:pPr algn="l" indent="0" marL="0">
              <a:spcAft>
                <a:spcPts val="500"/>
              </a:spcAft>
              <a:buNone/>
            </a:pPr>
            <a:r>
              <a:rPr lang="en-US" sz="1800" dirty="0">
                <a:solidFill>
                  <a:schemeClr val="tx1"/>
                </a:solidFill>
              </a:rPr>
              <a:t>A rushed, planned answer scores far more than a blank page.</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Kicker 2988"/>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2 · PART (A)</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(a) 'Explain why…' — 10 marks</a:t>
            </a:r>
            <a:endParaRPr lang="en-US" sz="3400" dirty="0"/>
          </a:p>
        </p:txBody>
      </p:sp>
      <p:sp>
        <p:nvSpPr>
          <p:cNvPr id="4" name="Step 2989"/>
          <p:cNvSpPr/>
          <p:nvPr/>
        </p:nvSpPr>
        <p:spPr>
          <a:xfrm>
            <a:off x="548640" y="1481328"/>
            <a:ext cx="2485568" cy="3794760"/>
          </a:xfrm>
          <a:prstGeom prst="roundRect">
            <a:avLst>
              <a:gd name="adj" fmla="val 3679"/>
            </a:avLst>
          </a:prstGeom>
          <a:solidFill>
            <a:schemeClr val="accent5">
              <a:alpha val="10000"/>
            </a:schemeClr>
          </a:solidFill>
          <a:ln/>
        </p:spPr>
      </p:sp>
      <p:sp>
        <p:nvSpPr>
          <p:cNvPr id="5" name="Step number 2990"/>
          <p:cNvSpPr/>
          <p:nvPr/>
        </p:nvSpPr>
        <p:spPr>
          <a:xfrm>
            <a:off x="713232" y="1645920"/>
            <a:ext cx="420624" cy="420624"/>
          </a:xfrm>
          <a:prstGeom prst="ellipse">
            <a:avLst/>
          </a:prstGeom>
          <a:solidFill>
            <a:schemeClr val="accent5"/>
          </a:solidFill>
          <a:ln/>
        </p:spPr>
      </p:sp>
      <p:sp>
        <p:nvSpPr>
          <p:cNvPr id="6" name="Text 2991"/>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2992"/>
          <p:cNvSpPr txBox="1"/>
          <p:nvPr/>
        </p:nvSpPr>
        <p:spPr>
          <a:xfrm>
            <a:off x="1243584"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Find 3–4 reasons</a:t>
            </a:r>
            <a:endParaRPr lang="en-US" sz="1600" dirty="0"/>
          </a:p>
        </p:txBody>
      </p:sp>
      <p:sp>
        <p:nvSpPr>
          <p:cNvPr id="8" name="Text 2993"/>
          <p:cNvSpPr txBox="1"/>
          <p:nvPr/>
        </p:nvSpPr>
        <p:spPr>
          <a:xfrm>
            <a:off x="713232"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Mix types: long-term, short-term, trigger; political, economic, personal.</a:t>
            </a:r>
            <a:endParaRPr lang="en-US" sz="1800" dirty="0"/>
          </a:p>
        </p:txBody>
      </p:sp>
      <p:sp>
        <p:nvSpPr>
          <p:cNvPr id="9" name="Arrow 2994"/>
          <p:cNvSpPr/>
          <p:nvPr/>
        </p:nvSpPr>
        <p:spPr>
          <a:xfrm>
            <a:off x="3098216" y="3232404"/>
            <a:ext cx="256032" cy="292608"/>
          </a:xfrm>
          <a:prstGeom prst="chevron">
            <a:avLst/>
          </a:prstGeom>
          <a:solidFill>
            <a:schemeClr val="accent5"/>
          </a:solidFill>
          <a:ln/>
        </p:spPr>
      </p:sp>
      <p:sp>
        <p:nvSpPr>
          <p:cNvPr id="10" name="Step 2995"/>
          <p:cNvSpPr/>
          <p:nvPr/>
        </p:nvSpPr>
        <p:spPr>
          <a:xfrm>
            <a:off x="3418256" y="1481328"/>
            <a:ext cx="2485568" cy="3794760"/>
          </a:xfrm>
          <a:prstGeom prst="roundRect">
            <a:avLst>
              <a:gd name="adj" fmla="val 3679"/>
            </a:avLst>
          </a:prstGeom>
          <a:solidFill>
            <a:schemeClr val="accent5">
              <a:alpha val="10000"/>
            </a:schemeClr>
          </a:solidFill>
          <a:ln/>
        </p:spPr>
      </p:sp>
      <p:sp>
        <p:nvSpPr>
          <p:cNvPr id="11" name="Step number 2996"/>
          <p:cNvSpPr/>
          <p:nvPr/>
        </p:nvSpPr>
        <p:spPr>
          <a:xfrm>
            <a:off x="3582848" y="1645920"/>
            <a:ext cx="420624" cy="420624"/>
          </a:xfrm>
          <a:prstGeom prst="ellipse">
            <a:avLst/>
          </a:prstGeom>
          <a:solidFill>
            <a:schemeClr val="accent5"/>
          </a:solidFill>
          <a:ln/>
        </p:spPr>
      </p:sp>
      <p:sp>
        <p:nvSpPr>
          <p:cNvPr id="12" name="Text 2997"/>
          <p:cNvSpPr txBox="1"/>
          <p:nvPr/>
        </p:nvSpPr>
        <p:spPr>
          <a:xfrm>
            <a:off x="3582848"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2998"/>
          <p:cNvSpPr txBox="1"/>
          <p:nvPr/>
        </p:nvSpPr>
        <p:spPr>
          <a:xfrm>
            <a:off x="4113200" y="1645920"/>
            <a:ext cx="1662608" cy="496092"/>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One paragraph each</a:t>
            </a:r>
            <a:endParaRPr lang="en-US" sz="1600" dirty="0"/>
          </a:p>
        </p:txBody>
      </p:sp>
      <p:sp>
        <p:nvSpPr>
          <p:cNvPr id="14" name="Text 2999"/>
          <p:cNvSpPr txBox="1"/>
          <p:nvPr/>
        </p:nvSpPr>
        <p:spPr>
          <a:xfrm>
            <a:off x="3582848" y="2251740"/>
            <a:ext cx="2156384" cy="2887188"/>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Point → Evidence → Explain how it caused the event → Link to the question.</a:t>
            </a:r>
            <a:endParaRPr lang="en-US" sz="1800" dirty="0"/>
          </a:p>
        </p:txBody>
      </p:sp>
      <p:sp>
        <p:nvSpPr>
          <p:cNvPr id="15" name="Arrow 3000"/>
          <p:cNvSpPr/>
          <p:nvPr/>
        </p:nvSpPr>
        <p:spPr>
          <a:xfrm>
            <a:off x="5967832" y="3232404"/>
            <a:ext cx="256032" cy="292608"/>
          </a:xfrm>
          <a:prstGeom prst="chevron">
            <a:avLst/>
          </a:prstGeom>
          <a:solidFill>
            <a:schemeClr val="accent5"/>
          </a:solidFill>
          <a:ln/>
        </p:spPr>
      </p:sp>
      <p:sp>
        <p:nvSpPr>
          <p:cNvPr id="16" name="Step 3001"/>
          <p:cNvSpPr/>
          <p:nvPr/>
        </p:nvSpPr>
        <p:spPr>
          <a:xfrm>
            <a:off x="6287872" y="1481328"/>
            <a:ext cx="2485568" cy="3794760"/>
          </a:xfrm>
          <a:prstGeom prst="roundRect">
            <a:avLst>
              <a:gd name="adj" fmla="val 3679"/>
            </a:avLst>
          </a:prstGeom>
          <a:solidFill>
            <a:schemeClr val="accent5">
              <a:alpha val="10000"/>
            </a:schemeClr>
          </a:solidFill>
          <a:ln/>
        </p:spPr>
      </p:sp>
      <p:sp>
        <p:nvSpPr>
          <p:cNvPr id="17" name="Step number 3002"/>
          <p:cNvSpPr/>
          <p:nvPr/>
        </p:nvSpPr>
        <p:spPr>
          <a:xfrm>
            <a:off x="6452464" y="1645920"/>
            <a:ext cx="420624" cy="420624"/>
          </a:xfrm>
          <a:prstGeom prst="ellipse">
            <a:avLst/>
          </a:prstGeom>
          <a:solidFill>
            <a:schemeClr val="accent5"/>
          </a:solidFill>
          <a:ln/>
        </p:spPr>
      </p:sp>
      <p:sp>
        <p:nvSpPr>
          <p:cNvPr id="18" name="Text 3003"/>
          <p:cNvSpPr txBox="1"/>
          <p:nvPr/>
        </p:nvSpPr>
        <p:spPr>
          <a:xfrm>
            <a:off x="6452464"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3004"/>
          <p:cNvSpPr txBox="1"/>
          <p:nvPr/>
        </p:nvSpPr>
        <p:spPr>
          <a:xfrm>
            <a:off x="6982816"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Show links</a:t>
            </a:r>
            <a:endParaRPr lang="en-US" sz="1600" dirty="0"/>
          </a:p>
        </p:txBody>
      </p:sp>
      <p:sp>
        <p:nvSpPr>
          <p:cNvPr id="20" name="Text 3005"/>
          <p:cNvSpPr txBox="1"/>
          <p:nvPr/>
        </p:nvSpPr>
        <p:spPr>
          <a:xfrm>
            <a:off x="6452464"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How did reasons connect or make each other worse?</a:t>
            </a:r>
            <a:endParaRPr lang="en-US" sz="1800" dirty="0"/>
          </a:p>
        </p:txBody>
      </p:sp>
      <p:sp>
        <p:nvSpPr>
          <p:cNvPr id="21" name="Arrow 3006"/>
          <p:cNvSpPr/>
          <p:nvPr/>
        </p:nvSpPr>
        <p:spPr>
          <a:xfrm>
            <a:off x="8837447" y="3232404"/>
            <a:ext cx="256032" cy="292608"/>
          </a:xfrm>
          <a:prstGeom prst="chevron">
            <a:avLst/>
          </a:prstGeom>
          <a:solidFill>
            <a:schemeClr val="accent5"/>
          </a:solidFill>
          <a:ln/>
        </p:spPr>
      </p:sp>
      <p:sp>
        <p:nvSpPr>
          <p:cNvPr id="22" name="Step 3007"/>
          <p:cNvSpPr/>
          <p:nvPr/>
        </p:nvSpPr>
        <p:spPr>
          <a:xfrm>
            <a:off x="9157487" y="1481328"/>
            <a:ext cx="2485568" cy="3794760"/>
          </a:xfrm>
          <a:prstGeom prst="roundRect">
            <a:avLst>
              <a:gd name="adj" fmla="val 3679"/>
            </a:avLst>
          </a:prstGeom>
          <a:solidFill>
            <a:schemeClr val="accent5">
              <a:alpha val="10000"/>
            </a:schemeClr>
          </a:solidFill>
          <a:ln/>
        </p:spPr>
      </p:sp>
      <p:sp>
        <p:nvSpPr>
          <p:cNvPr id="23" name="Step number 3008"/>
          <p:cNvSpPr/>
          <p:nvPr/>
        </p:nvSpPr>
        <p:spPr>
          <a:xfrm>
            <a:off x="9322079" y="1645920"/>
            <a:ext cx="420624" cy="420624"/>
          </a:xfrm>
          <a:prstGeom prst="ellipse">
            <a:avLst/>
          </a:prstGeom>
          <a:solidFill>
            <a:schemeClr val="accent5"/>
          </a:solidFill>
          <a:ln/>
        </p:spPr>
      </p:sp>
      <p:sp>
        <p:nvSpPr>
          <p:cNvPr id="24" name="Text 3009"/>
          <p:cNvSpPr txBox="1"/>
          <p:nvPr/>
        </p:nvSpPr>
        <p:spPr>
          <a:xfrm>
            <a:off x="9322079"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4</a:t>
            </a:r>
            <a:endParaRPr lang="en-US" sz="1600" dirty="0"/>
          </a:p>
        </p:txBody>
      </p:sp>
      <p:sp>
        <p:nvSpPr>
          <p:cNvPr id="25" name="Text 3010"/>
          <p:cNvSpPr txBox="1"/>
          <p:nvPr/>
        </p:nvSpPr>
        <p:spPr>
          <a:xfrm>
            <a:off x="9852431"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Conclude</a:t>
            </a:r>
            <a:endParaRPr lang="en-US" sz="1600" dirty="0"/>
          </a:p>
        </p:txBody>
      </p:sp>
      <p:sp>
        <p:nvSpPr>
          <p:cNvPr id="26" name="Text 3011"/>
          <p:cNvSpPr txBox="1"/>
          <p:nvPr/>
        </p:nvSpPr>
        <p:spPr>
          <a:xfrm>
            <a:off x="9322079"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Which reason mattered most — and why? One clear sentence of judgement.</a:t>
            </a:r>
            <a:endParaRPr lang="en-US" sz="1800" dirty="0"/>
          </a:p>
        </p:txBody>
      </p:sp>
      <p:sp>
        <p:nvSpPr>
          <p:cNvPr id="27" name="Callout 3012"/>
          <p:cNvSpPr/>
          <p:nvPr/>
        </p:nvSpPr>
        <p:spPr>
          <a:xfrm>
            <a:off x="548640" y="5550408"/>
            <a:ext cx="11094415" cy="713232"/>
          </a:xfrm>
          <a:prstGeom prst="roundRect">
            <a:avLst>
              <a:gd name="adj" fmla="val 12821"/>
            </a:avLst>
          </a:prstGeom>
          <a:solidFill>
            <a:schemeClr val="accent4">
              <a:alpha val="20000"/>
            </a:schemeClr>
          </a:solidFill>
          <a:ln/>
        </p:spPr>
      </p:sp>
      <p:sp>
        <p:nvSpPr>
          <p:cNvPr id="28" name="Callout label 3013"/>
          <p:cNvSpPr/>
          <p:nvPr/>
        </p:nvSpPr>
        <p:spPr>
          <a:xfrm>
            <a:off x="731520" y="5751576"/>
            <a:ext cx="1519560" cy="310896"/>
          </a:xfrm>
          <a:prstGeom prst="roundRect">
            <a:avLst>
              <a:gd name="adj" fmla="val 50000"/>
            </a:avLst>
          </a:prstGeom>
          <a:solidFill>
            <a:schemeClr val="accent4"/>
          </a:solidFill>
          <a:ln/>
        </p:spPr>
      </p:sp>
      <p:sp>
        <p:nvSpPr>
          <p:cNvPr id="29" name="Text 3014"/>
          <p:cNvSpPr txBox="1"/>
          <p:nvPr/>
        </p:nvSpPr>
        <p:spPr>
          <a:xfrm>
            <a:off x="731520" y="5751576"/>
            <a:ext cx="1519560"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MODEL OPENING</a:t>
            </a:r>
            <a:endParaRPr lang="en-US" sz="1200" dirty="0"/>
          </a:p>
        </p:txBody>
      </p:sp>
      <p:sp>
        <p:nvSpPr>
          <p:cNvPr id="30" name="Text 3015"/>
          <p:cNvSpPr txBox="1"/>
          <p:nvPr/>
        </p:nvSpPr>
        <p:spPr>
          <a:xfrm>
            <a:off x="2433960" y="5623560"/>
            <a:ext cx="9026216"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'France occupied the Ruhr mainly for security, but Germany's default in 1922 provided the trigger…'</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Kicker 301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2 · PART (B)</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(b) 'How far…?' — 20 marks</a:t>
            </a:r>
            <a:endParaRPr lang="en-US" sz="3400" dirty="0"/>
          </a:p>
        </p:txBody>
      </p:sp>
      <p:sp>
        <p:nvSpPr>
          <p:cNvPr id="4" name="Step 3017"/>
          <p:cNvSpPr/>
          <p:nvPr/>
        </p:nvSpPr>
        <p:spPr>
          <a:xfrm>
            <a:off x="548640" y="1481328"/>
            <a:ext cx="2485568" cy="3794760"/>
          </a:xfrm>
          <a:prstGeom prst="roundRect">
            <a:avLst>
              <a:gd name="adj" fmla="val 3679"/>
            </a:avLst>
          </a:prstGeom>
          <a:solidFill>
            <a:schemeClr val="accent5">
              <a:alpha val="10000"/>
            </a:schemeClr>
          </a:solidFill>
          <a:ln/>
        </p:spPr>
      </p:sp>
      <p:sp>
        <p:nvSpPr>
          <p:cNvPr id="5" name="Step number 3018"/>
          <p:cNvSpPr/>
          <p:nvPr/>
        </p:nvSpPr>
        <p:spPr>
          <a:xfrm>
            <a:off x="713232" y="1645920"/>
            <a:ext cx="420624" cy="420624"/>
          </a:xfrm>
          <a:prstGeom prst="ellipse">
            <a:avLst/>
          </a:prstGeom>
          <a:solidFill>
            <a:schemeClr val="accent5"/>
          </a:solidFill>
          <a:ln/>
        </p:spPr>
      </p:sp>
      <p:sp>
        <p:nvSpPr>
          <p:cNvPr id="6" name="Text 3019"/>
          <p:cNvSpPr txBox="1"/>
          <p:nvPr/>
        </p:nvSpPr>
        <p:spPr>
          <a:xfrm>
            <a:off x="713232"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1</a:t>
            </a:r>
            <a:endParaRPr lang="en-US" sz="1600" dirty="0"/>
          </a:p>
        </p:txBody>
      </p:sp>
      <p:sp>
        <p:nvSpPr>
          <p:cNvPr id="7" name="Text 3020"/>
          <p:cNvSpPr txBox="1"/>
          <p:nvPr/>
        </p:nvSpPr>
        <p:spPr>
          <a:xfrm>
            <a:off x="1243584"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Introduction</a:t>
            </a:r>
            <a:endParaRPr lang="en-US" sz="1600" dirty="0"/>
          </a:p>
        </p:txBody>
      </p:sp>
      <p:sp>
        <p:nvSpPr>
          <p:cNvPr id="8" name="Text 3021"/>
          <p:cNvSpPr txBox="1"/>
          <p:nvPr/>
        </p:nvSpPr>
        <p:spPr>
          <a:xfrm>
            <a:off x="713232"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Define key terms, outline both sides and state your judgement.</a:t>
            </a:r>
            <a:endParaRPr lang="en-US" sz="1800" dirty="0"/>
          </a:p>
        </p:txBody>
      </p:sp>
      <p:sp>
        <p:nvSpPr>
          <p:cNvPr id="9" name="Arrow 3022"/>
          <p:cNvSpPr/>
          <p:nvPr/>
        </p:nvSpPr>
        <p:spPr>
          <a:xfrm>
            <a:off x="3098216" y="3232404"/>
            <a:ext cx="256032" cy="292608"/>
          </a:xfrm>
          <a:prstGeom prst="chevron">
            <a:avLst/>
          </a:prstGeom>
          <a:solidFill>
            <a:schemeClr val="accent5"/>
          </a:solidFill>
          <a:ln/>
        </p:spPr>
      </p:sp>
      <p:sp>
        <p:nvSpPr>
          <p:cNvPr id="10" name="Step 3023"/>
          <p:cNvSpPr/>
          <p:nvPr/>
        </p:nvSpPr>
        <p:spPr>
          <a:xfrm>
            <a:off x="3418256" y="1481328"/>
            <a:ext cx="2485568" cy="3794760"/>
          </a:xfrm>
          <a:prstGeom prst="roundRect">
            <a:avLst>
              <a:gd name="adj" fmla="val 3679"/>
            </a:avLst>
          </a:prstGeom>
          <a:solidFill>
            <a:schemeClr val="accent5">
              <a:alpha val="10000"/>
            </a:schemeClr>
          </a:solidFill>
          <a:ln/>
        </p:spPr>
      </p:sp>
      <p:sp>
        <p:nvSpPr>
          <p:cNvPr id="11" name="Step number 3024"/>
          <p:cNvSpPr/>
          <p:nvPr/>
        </p:nvSpPr>
        <p:spPr>
          <a:xfrm>
            <a:off x="3582848" y="1645920"/>
            <a:ext cx="420624" cy="420624"/>
          </a:xfrm>
          <a:prstGeom prst="ellipse">
            <a:avLst/>
          </a:prstGeom>
          <a:solidFill>
            <a:schemeClr val="accent5"/>
          </a:solidFill>
          <a:ln/>
        </p:spPr>
      </p:sp>
      <p:sp>
        <p:nvSpPr>
          <p:cNvPr id="12" name="Text 3025"/>
          <p:cNvSpPr txBox="1"/>
          <p:nvPr/>
        </p:nvSpPr>
        <p:spPr>
          <a:xfrm>
            <a:off x="3582848"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2</a:t>
            </a:r>
            <a:endParaRPr lang="en-US" sz="1600" dirty="0"/>
          </a:p>
        </p:txBody>
      </p:sp>
      <p:sp>
        <p:nvSpPr>
          <p:cNvPr id="13" name="Text 3026"/>
          <p:cNvSpPr txBox="1"/>
          <p:nvPr/>
        </p:nvSpPr>
        <p:spPr>
          <a:xfrm>
            <a:off x="4113200"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Argue for the view</a:t>
            </a:r>
            <a:endParaRPr lang="en-US" sz="1600" dirty="0"/>
          </a:p>
        </p:txBody>
      </p:sp>
      <p:sp>
        <p:nvSpPr>
          <p:cNvPr id="14" name="Text 3027"/>
          <p:cNvSpPr txBox="1"/>
          <p:nvPr/>
        </p:nvSpPr>
        <p:spPr>
          <a:xfrm>
            <a:off x="3582848"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2–3 paragraphs with precise evidence (dates, names, figures).</a:t>
            </a:r>
            <a:endParaRPr lang="en-US" sz="1800" dirty="0"/>
          </a:p>
        </p:txBody>
      </p:sp>
      <p:sp>
        <p:nvSpPr>
          <p:cNvPr id="15" name="Arrow 3028"/>
          <p:cNvSpPr/>
          <p:nvPr/>
        </p:nvSpPr>
        <p:spPr>
          <a:xfrm>
            <a:off x="5967832" y="3232404"/>
            <a:ext cx="256032" cy="292608"/>
          </a:xfrm>
          <a:prstGeom prst="chevron">
            <a:avLst/>
          </a:prstGeom>
          <a:solidFill>
            <a:schemeClr val="accent5"/>
          </a:solidFill>
          <a:ln/>
        </p:spPr>
      </p:sp>
      <p:sp>
        <p:nvSpPr>
          <p:cNvPr id="16" name="Step 3029"/>
          <p:cNvSpPr/>
          <p:nvPr/>
        </p:nvSpPr>
        <p:spPr>
          <a:xfrm>
            <a:off x="6287872" y="1481328"/>
            <a:ext cx="2485568" cy="3794760"/>
          </a:xfrm>
          <a:prstGeom prst="roundRect">
            <a:avLst>
              <a:gd name="adj" fmla="val 3679"/>
            </a:avLst>
          </a:prstGeom>
          <a:solidFill>
            <a:schemeClr val="accent5">
              <a:alpha val="10000"/>
            </a:schemeClr>
          </a:solidFill>
          <a:ln/>
        </p:spPr>
      </p:sp>
      <p:sp>
        <p:nvSpPr>
          <p:cNvPr id="17" name="Step number 3030"/>
          <p:cNvSpPr/>
          <p:nvPr/>
        </p:nvSpPr>
        <p:spPr>
          <a:xfrm>
            <a:off x="6452464" y="1645920"/>
            <a:ext cx="420624" cy="420624"/>
          </a:xfrm>
          <a:prstGeom prst="ellipse">
            <a:avLst/>
          </a:prstGeom>
          <a:solidFill>
            <a:schemeClr val="accent5"/>
          </a:solidFill>
          <a:ln/>
        </p:spPr>
      </p:sp>
      <p:sp>
        <p:nvSpPr>
          <p:cNvPr id="18" name="Text 3031"/>
          <p:cNvSpPr txBox="1"/>
          <p:nvPr/>
        </p:nvSpPr>
        <p:spPr>
          <a:xfrm>
            <a:off x="6452464"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3</a:t>
            </a:r>
            <a:endParaRPr lang="en-US" sz="1600" dirty="0"/>
          </a:p>
        </p:txBody>
      </p:sp>
      <p:sp>
        <p:nvSpPr>
          <p:cNvPr id="19" name="Text 3032"/>
          <p:cNvSpPr txBox="1"/>
          <p:nvPr/>
        </p:nvSpPr>
        <p:spPr>
          <a:xfrm>
            <a:off x="6982816" y="1645920"/>
            <a:ext cx="1662608" cy="496092"/>
          </a:xfrm>
          <a:prstGeom prst="rect">
            <a:avLst/>
          </a:prstGeom>
          <a:noFill/>
          <a:ln/>
        </p:spPr>
        <p:txBody>
          <a:bodyPr wrap="square" lIns="0" tIns="0" rIns="0" bIns="0" rtlCol="0" anchor="t"/>
          <a:lstStyle/>
          <a:p>
            <a:pPr algn="l" indent="0" marL="0">
              <a:spcAft>
                <a:spcPts val="600"/>
              </a:spcAft>
              <a:buNone/>
            </a:pPr>
            <a:r>
              <a:rPr lang="en-US" sz="1600" b="1" dirty="0">
                <a:solidFill>
                  <a:schemeClr val="tx2"/>
                </a:solidFill>
              </a:rPr>
              <a:t>Argue against / other factors</a:t>
            </a:r>
            <a:endParaRPr lang="en-US" sz="1600" dirty="0"/>
          </a:p>
        </p:txBody>
      </p:sp>
      <p:sp>
        <p:nvSpPr>
          <p:cNvPr id="20" name="Text 3033"/>
          <p:cNvSpPr txBox="1"/>
          <p:nvPr/>
        </p:nvSpPr>
        <p:spPr>
          <a:xfrm>
            <a:off x="6452464" y="2251740"/>
            <a:ext cx="2156384" cy="2887188"/>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2–3 paragraphs. Compare each factor with the one in the question.</a:t>
            </a:r>
            <a:endParaRPr lang="en-US" sz="1800" dirty="0"/>
          </a:p>
        </p:txBody>
      </p:sp>
      <p:sp>
        <p:nvSpPr>
          <p:cNvPr id="21" name="Arrow 3034"/>
          <p:cNvSpPr/>
          <p:nvPr/>
        </p:nvSpPr>
        <p:spPr>
          <a:xfrm>
            <a:off x="8837447" y="3232404"/>
            <a:ext cx="256032" cy="292608"/>
          </a:xfrm>
          <a:prstGeom prst="chevron">
            <a:avLst/>
          </a:prstGeom>
          <a:solidFill>
            <a:schemeClr val="accent5"/>
          </a:solidFill>
          <a:ln/>
        </p:spPr>
      </p:sp>
      <p:sp>
        <p:nvSpPr>
          <p:cNvPr id="22" name="Step 3035"/>
          <p:cNvSpPr/>
          <p:nvPr/>
        </p:nvSpPr>
        <p:spPr>
          <a:xfrm>
            <a:off x="9157487" y="1481328"/>
            <a:ext cx="2485568" cy="3794760"/>
          </a:xfrm>
          <a:prstGeom prst="roundRect">
            <a:avLst>
              <a:gd name="adj" fmla="val 3679"/>
            </a:avLst>
          </a:prstGeom>
          <a:solidFill>
            <a:schemeClr val="accent5">
              <a:alpha val="10000"/>
            </a:schemeClr>
          </a:solidFill>
          <a:ln/>
        </p:spPr>
      </p:sp>
      <p:sp>
        <p:nvSpPr>
          <p:cNvPr id="23" name="Step number 3036"/>
          <p:cNvSpPr/>
          <p:nvPr/>
        </p:nvSpPr>
        <p:spPr>
          <a:xfrm>
            <a:off x="9322079" y="1645920"/>
            <a:ext cx="420624" cy="420624"/>
          </a:xfrm>
          <a:prstGeom prst="ellipse">
            <a:avLst/>
          </a:prstGeom>
          <a:solidFill>
            <a:schemeClr val="accent5"/>
          </a:solidFill>
          <a:ln/>
        </p:spPr>
      </p:sp>
      <p:sp>
        <p:nvSpPr>
          <p:cNvPr id="24" name="Text 3037"/>
          <p:cNvSpPr txBox="1"/>
          <p:nvPr/>
        </p:nvSpPr>
        <p:spPr>
          <a:xfrm>
            <a:off x="9322079" y="1645920"/>
            <a:ext cx="420624" cy="420624"/>
          </a:xfrm>
          <a:prstGeom prst="rect">
            <a:avLst/>
          </a:prstGeom>
          <a:noFill/>
          <a:ln/>
        </p:spPr>
        <p:txBody>
          <a:bodyPr wrap="square" lIns="0" tIns="0" rIns="0" bIns="0" rtlCol="0" anchor="ctr"/>
          <a:lstStyle/>
          <a:p>
            <a:pPr algn="ctr" indent="0" marL="0">
              <a:spcAft>
                <a:spcPts val="600"/>
              </a:spcAft>
              <a:buNone/>
            </a:pPr>
            <a:r>
              <a:rPr lang="en-US" sz="1600" b="1" dirty="0">
                <a:solidFill>
                  <a:schemeClr val="bg1"/>
                </a:solidFill>
              </a:rPr>
              <a:t>4</a:t>
            </a:r>
            <a:endParaRPr lang="en-US" sz="1600" dirty="0"/>
          </a:p>
        </p:txBody>
      </p:sp>
      <p:sp>
        <p:nvSpPr>
          <p:cNvPr id="25" name="Text 3038"/>
          <p:cNvSpPr txBox="1"/>
          <p:nvPr/>
        </p:nvSpPr>
        <p:spPr>
          <a:xfrm>
            <a:off x="9852431" y="1645920"/>
            <a:ext cx="1662608" cy="420624"/>
          </a:xfrm>
          <a:prstGeom prst="rect">
            <a:avLst/>
          </a:prstGeom>
          <a:noFill/>
          <a:ln/>
        </p:spPr>
        <p:txBody>
          <a:bodyPr wrap="square" lIns="0" tIns="0" rIns="0" bIns="0" rtlCol="0" anchor="ctr"/>
          <a:lstStyle/>
          <a:p>
            <a:pPr algn="l" indent="0" marL="0">
              <a:spcAft>
                <a:spcPts val="600"/>
              </a:spcAft>
              <a:buNone/>
            </a:pPr>
            <a:r>
              <a:rPr lang="en-US" sz="1600" b="1" dirty="0">
                <a:solidFill>
                  <a:schemeClr val="tx2"/>
                </a:solidFill>
              </a:rPr>
              <a:t>Conclusion</a:t>
            </a:r>
            <a:endParaRPr lang="en-US" sz="1600" dirty="0"/>
          </a:p>
        </p:txBody>
      </p:sp>
      <p:sp>
        <p:nvSpPr>
          <p:cNvPr id="26" name="Text 3039"/>
          <p:cNvSpPr txBox="1"/>
          <p:nvPr/>
        </p:nvSpPr>
        <p:spPr>
          <a:xfrm>
            <a:off x="9322079" y="2176272"/>
            <a:ext cx="2156384" cy="2962656"/>
          </a:xfrm>
          <a:prstGeom prst="rect">
            <a:avLst/>
          </a:prstGeom>
          <a:noFill/>
          <a:ln/>
        </p:spPr>
        <p:txBody>
          <a:bodyPr wrap="square" lIns="0" tIns="0" rIns="0" bIns="0" rtlCol="0" anchor="t"/>
          <a:lstStyle/>
          <a:p>
            <a:pPr algn="l" indent="0" marL="0">
              <a:spcAft>
                <a:spcPts val="400"/>
              </a:spcAft>
              <a:buNone/>
            </a:pPr>
            <a:r>
              <a:rPr lang="en-US" sz="1800" dirty="0">
                <a:solidFill>
                  <a:schemeClr val="tx1"/>
                </a:solidFill>
              </a:rPr>
              <a:t>Weigh using criteria: long- vs short-term, necessary vs sufficient, impact.</a:t>
            </a:r>
            <a:endParaRPr lang="en-US" sz="1800" dirty="0"/>
          </a:p>
        </p:txBody>
      </p:sp>
      <p:sp>
        <p:nvSpPr>
          <p:cNvPr id="27" name="Callout 3040"/>
          <p:cNvSpPr/>
          <p:nvPr/>
        </p:nvSpPr>
        <p:spPr>
          <a:xfrm>
            <a:off x="548640" y="5550408"/>
            <a:ext cx="11094415" cy="713232"/>
          </a:xfrm>
          <a:prstGeom prst="roundRect">
            <a:avLst>
              <a:gd name="adj" fmla="val 12821"/>
            </a:avLst>
          </a:prstGeom>
          <a:solidFill>
            <a:schemeClr val="accent4">
              <a:alpha val="20000"/>
            </a:schemeClr>
          </a:solidFill>
          <a:ln/>
        </p:spPr>
      </p:sp>
      <p:sp>
        <p:nvSpPr>
          <p:cNvPr id="28" name="Callout label 3041"/>
          <p:cNvSpPr/>
          <p:nvPr/>
        </p:nvSpPr>
        <p:spPr>
          <a:xfrm>
            <a:off x="731520" y="5751576"/>
            <a:ext cx="842411" cy="310896"/>
          </a:xfrm>
          <a:prstGeom prst="roundRect">
            <a:avLst>
              <a:gd name="adj" fmla="val 50000"/>
            </a:avLst>
          </a:prstGeom>
          <a:solidFill>
            <a:schemeClr val="accent4"/>
          </a:solidFill>
          <a:ln/>
        </p:spPr>
      </p:sp>
      <p:sp>
        <p:nvSpPr>
          <p:cNvPr id="29" name="Text 3042"/>
          <p:cNvSpPr txBox="1"/>
          <p:nvPr/>
        </p:nvSpPr>
        <p:spPr>
          <a:xfrm>
            <a:off x="731520" y="5751576"/>
            <a:ext cx="842411" cy="310896"/>
          </a:xfrm>
          <a:prstGeom prst="rect">
            <a:avLst/>
          </a:prstGeom>
          <a:noFill/>
          <a:ln/>
        </p:spPr>
        <p:txBody>
          <a:bodyPr wrap="square" lIns="0" tIns="0" rIns="0" bIns="0" rtlCol="0" anchor="ctr"/>
          <a:lstStyle/>
          <a:p>
            <a:pPr algn="ctr" indent="0" marL="0">
              <a:spcAft>
                <a:spcPts val="600"/>
              </a:spcAft>
              <a:buNone/>
            </a:pPr>
            <a:r>
              <a:rPr lang="en-US" sz="1200" b="1" spc="100" kern="0" dirty="0">
                <a:solidFill>
                  <a:schemeClr val="tx2"/>
                </a:solidFill>
              </a:rPr>
              <a:t>TOP TIP</a:t>
            </a:r>
            <a:endParaRPr lang="en-US" sz="1200" dirty="0"/>
          </a:p>
        </p:txBody>
      </p:sp>
      <p:sp>
        <p:nvSpPr>
          <p:cNvPr id="30" name="Text 3043"/>
          <p:cNvSpPr txBox="1"/>
          <p:nvPr/>
        </p:nvSpPr>
        <p:spPr>
          <a:xfrm>
            <a:off x="1756811" y="5623560"/>
            <a:ext cx="9703364" cy="566928"/>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End every paragraph with a mini-judgement that links back to the question.</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Kicker 3044"/>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2 · COMMAND WORDS</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What the question is really asking</a:t>
            </a:r>
            <a:endParaRPr lang="en-US" sz="3400" dirty="0"/>
          </a:p>
        </p:txBody>
      </p:sp>
      <p:graphicFrame>
        <p:nvGraphicFramePr>
          <p:cNvPr id="128" name="Table 3045"/>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017520"/>
                <a:gridCol w="8076895"/>
              </a:tblGrid>
              <a:tr h="384048">
                <a:tc>
                  <a:txBody>
                    <a:bodyPr/>
                    <a:lstStyle/>
                    <a:p>
                      <a:pPr indent="0" marL="0">
                        <a:buNone/>
                      </a:pPr>
                      <a:r>
                        <a:rPr lang="en-US" sz="1500" b="1" dirty="0">
                          <a:solidFill>
                            <a:schemeClr val="bg1"/>
                          </a:solidFill>
                        </a:rPr>
                        <a:t>Command words</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5"/>
                    </a:solidFill>
                  </a:tcPr>
                </a:tc>
                <a:tc>
                  <a:txBody>
                    <a:bodyPr/>
                    <a:lstStyle/>
                    <a:p>
                      <a:pPr indent="0" marL="0">
                        <a:buNone/>
                      </a:pPr>
                      <a:r>
                        <a:rPr lang="en-US" sz="1500" b="1" dirty="0">
                          <a:solidFill>
                            <a:schemeClr val="bg1"/>
                          </a:solidFill>
                        </a:rPr>
                        <a:t>What you must do</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accent5"/>
                    </a:solidFill>
                  </a:tcPr>
                </a:tc>
              </a:tr>
              <a:tr h="685800">
                <a:tc>
                  <a:txBody>
                    <a:bodyPr/>
                    <a:lstStyle/>
                    <a:p>
                      <a:pPr algn="l" indent="0" marL="0">
                        <a:buNone/>
                      </a:pPr>
                      <a:r>
                        <a:rPr lang="en-US" sz="1500" b="1" dirty="0">
                          <a:solidFill>
                            <a:schemeClr val="tx1"/>
                          </a:solidFill>
                        </a:rPr>
                        <a:t>Explain why…</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Give several reasons, explain how each caused the event, and show which mattered most</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685800">
                <a:tc>
                  <a:txBody>
                    <a:bodyPr/>
                    <a:lstStyle/>
                    <a:p>
                      <a:pPr algn="l" indent="0" marL="0">
                        <a:buNone/>
                      </a:pPr>
                      <a:r>
                        <a:rPr lang="en-US" sz="1500" b="1" dirty="0">
                          <a:solidFill>
                            <a:schemeClr val="tx1"/>
                          </a:solidFill>
                        </a:rPr>
                        <a:t>How far… / To what extent…</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Weigh evidence for and against the statement; reach a clear 'to a large/limited extent' judgement</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685800">
                <a:tc>
                  <a:txBody>
                    <a:bodyPr/>
                    <a:lstStyle/>
                    <a:p>
                      <a:pPr algn="l" indent="0" marL="0">
                        <a:buNone/>
                      </a:pPr>
                      <a:r>
                        <a:rPr lang="en-US" sz="1500" b="1" dirty="0">
                          <a:solidFill>
                            <a:schemeClr val="tx1"/>
                          </a:solidFill>
                        </a:rPr>
                        <a:t>Assess… / Evaluate…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Judge the importance or success of something, using criteria and evidence</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r h="685800">
                <a:tc>
                  <a:txBody>
                    <a:bodyPr/>
                    <a:lstStyle/>
                    <a:p>
                      <a:pPr algn="l" indent="0" marL="0">
                        <a:buNone/>
                      </a:pPr>
                      <a:r>
                        <a:rPr lang="en-US" sz="1500" b="1" dirty="0">
                          <a:solidFill>
                            <a:schemeClr val="tx1"/>
                          </a:solidFill>
                        </a:rPr>
                        <a:t>How successful…</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Define success (aims? outcomes? for whom?), then judge against it</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2"/>
                    </a:solidFill>
                  </a:tcPr>
                </a:tc>
              </a:tr>
              <a:tr h="685800">
                <a:tc>
                  <a:txBody>
                    <a:bodyPr/>
                    <a:lstStyle/>
                    <a:p>
                      <a:pPr algn="l" indent="0" marL="0">
                        <a:buNone/>
                      </a:pPr>
                      <a:r>
                        <a:rPr lang="en-US" sz="1500" b="1" dirty="0">
                          <a:solidFill>
                            <a:schemeClr val="tx1"/>
                          </a:solidFill>
                        </a:rPr>
                        <a:t>How significant…</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Judge the impact: how far-reaching, how lasting, compared with what?</a:t>
                      </a:r>
                      <a:endParaRPr lang="en-US" sz="1500" dirty="0"/>
                    </a:p>
                  </a:txBody>
                  <a:tcPr marL="91440" marR="91440" marT="54864" marB="54864" anchor="ctr">
                    <a:lnL w="9525" cap="flat" cmpd="sng" algn="ctr">
                      <a:solidFill>
                        <a:srgbClr val="D7DBE0"/>
                      </a:solidFill>
                      <a:prstDash val="solid"/>
                      <a:round/>
                      <a:headEnd type="none" w="med" len="med"/>
                      <a:tailEnd type="none" w="med" len="med"/>
                    </a:lnL>
                    <a:lnR w="9525" cap="flat" cmpd="sng" algn="ctr">
                      <a:solidFill>
                        <a:srgbClr val="D7DBE0"/>
                      </a:solidFill>
                      <a:prstDash val="solid"/>
                      <a:round/>
                      <a:headEnd type="none" w="med" len="med"/>
                      <a:tailEnd type="none" w="med" len="med"/>
                    </a:lnR>
                    <a:lnT w="9525" cap="flat" cmpd="sng" algn="ctr">
                      <a:solidFill>
                        <a:srgbClr val="D7DBE0"/>
                      </a:solidFill>
                      <a:prstDash val="solid"/>
                      <a:round/>
                      <a:headEnd type="none" w="med" len="med"/>
                      <a:tailEnd type="none" w="med" len="med"/>
                    </a:lnT>
                    <a:lnB w="9525" cap="flat" cmpd="sng" algn="ctr">
                      <a:solidFill>
                        <a:srgbClr val="D7DB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Kicker 304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accent5"/>
                </a:solidFill>
              </a:rPr>
              <a:t>PAPER 2 · IMPROVE YOUR WRITING</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Turn a weak paragraph into a strong one</a:t>
            </a:r>
            <a:endParaRPr lang="en-US" sz="3400" dirty="0"/>
          </a:p>
        </p:txBody>
      </p:sp>
      <p:sp>
        <p:nvSpPr>
          <p:cNvPr id="4" name="Card 3047"/>
          <p:cNvSpPr/>
          <p:nvPr/>
        </p:nvSpPr>
        <p:spPr>
          <a:xfrm>
            <a:off x="548640" y="1481328"/>
            <a:ext cx="5410048" cy="4782312"/>
          </a:xfrm>
          <a:prstGeom prst="roundRect">
            <a:avLst>
              <a:gd name="adj" fmla="val 1912"/>
            </a:avLst>
          </a:prstGeom>
          <a:solidFill>
            <a:schemeClr val="accent1">
              <a:alpha val="10000"/>
            </a:schemeClr>
          </a:solidFill>
          <a:ln/>
        </p:spPr>
      </p:sp>
      <p:sp>
        <p:nvSpPr>
          <p:cNvPr id="5" name="Icon circle 3048"/>
          <p:cNvSpPr/>
          <p:nvPr/>
        </p:nvSpPr>
        <p:spPr>
          <a:xfrm>
            <a:off x="731520" y="1664208"/>
            <a:ext cx="475488" cy="475488"/>
          </a:xfrm>
          <a:prstGeom prst="ellipse">
            <a:avLst/>
          </a:prstGeom>
          <a:solidFill>
            <a:schemeClr val="accent1"/>
          </a:solidFill>
          <a:ln/>
        </p:spPr>
      </p:sp>
      <p:pic>
        <p:nvPicPr>
          <p:cNvPr id="6" name="Icon FaCircleXmark 3049" descr="preencoded.png">    </p:cNvPr>
          <p:cNvPicPr>
            <a:picLocks noChangeAspect="1"/>
          </p:cNvPicPr>
          <p:nvPr/>
        </p:nvPicPr>
        <p:blipFill>
          <a:blip r:embed="rId1"/>
          <a:stretch>
            <a:fillRect/>
          </a:stretch>
        </p:blipFill>
        <p:spPr>
          <a:xfrm>
            <a:off x="836127" y="1768815"/>
            <a:ext cx="266273" cy="266273"/>
          </a:xfrm>
          <a:prstGeom prst="rect">
            <a:avLst/>
          </a:prstGeom>
        </p:spPr>
      </p:pic>
      <p:sp>
        <p:nvSpPr>
          <p:cNvPr id="7" name="Card title 3050"/>
          <p:cNvSpPr txBox="1"/>
          <p:nvPr/>
        </p:nvSpPr>
        <p:spPr>
          <a:xfrm>
            <a:off x="1335024"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Weak</a:t>
            </a:r>
            <a:endParaRPr lang="en-US" sz="1700" dirty="0"/>
          </a:p>
        </p:txBody>
      </p:sp>
      <p:sp>
        <p:nvSpPr>
          <p:cNvPr id="8" name="Text 3051"/>
          <p:cNvSpPr txBox="1"/>
          <p:nvPr/>
        </p:nvSpPr>
        <p:spPr>
          <a:xfrm>
            <a:off x="731520" y="2249424"/>
            <a:ext cx="5044288" cy="3831336"/>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'The League failed because of the Depression. Countries were poor and did not want to help. This was bad for the League.'</a:t>
            </a:r>
            <a:endParaRPr lang="en-US" sz="2000" dirty="0"/>
          </a:p>
          <a:p>
            <a:pPr algn="l" marL="190500" indent="-190500">
              <a:spcAft>
                <a:spcPts val="800"/>
              </a:spcAft>
              <a:buSzPct val="100000"/>
              <a:buChar char="•"/>
            </a:pPr>
            <a:r>
              <a:rPr lang="en-US" sz="2000" dirty="0">
                <a:solidFill>
                  <a:schemeClr val="tx1"/>
                </a:solidFill>
              </a:rPr>
              <a:t>Vague — no evidence</a:t>
            </a:r>
            <a:endParaRPr lang="en-US" sz="2000" dirty="0"/>
          </a:p>
          <a:p>
            <a:pPr algn="l" marL="190500" indent="-190500">
              <a:spcAft>
                <a:spcPts val="800"/>
              </a:spcAft>
              <a:buSzPct val="100000"/>
              <a:buChar char="•"/>
            </a:pPr>
            <a:r>
              <a:rPr lang="en-US" sz="2000" dirty="0">
                <a:solidFill>
                  <a:schemeClr val="tx1"/>
                </a:solidFill>
              </a:rPr>
              <a:t>Doesn't explain HOW the Depression caused failure</a:t>
            </a:r>
            <a:endParaRPr lang="en-US" sz="2000" dirty="0"/>
          </a:p>
          <a:p>
            <a:pPr algn="l" marL="190500" indent="-190500">
              <a:spcAft>
                <a:spcPts val="800"/>
              </a:spcAft>
              <a:buSzPct val="100000"/>
              <a:buChar char="•"/>
            </a:pPr>
            <a:r>
              <a:rPr lang="en-US" sz="2000" dirty="0">
                <a:solidFill>
                  <a:schemeClr val="tx1"/>
                </a:solidFill>
              </a:rPr>
              <a:t>No link to the question</a:t>
            </a:r>
            <a:endParaRPr lang="en-US" sz="2000" dirty="0"/>
          </a:p>
        </p:txBody>
      </p:sp>
      <p:sp>
        <p:nvSpPr>
          <p:cNvPr id="9" name="Card 3052"/>
          <p:cNvSpPr/>
          <p:nvPr/>
        </p:nvSpPr>
        <p:spPr>
          <a:xfrm>
            <a:off x="6233008" y="1481328"/>
            <a:ext cx="5410048" cy="4782312"/>
          </a:xfrm>
          <a:prstGeom prst="roundRect">
            <a:avLst>
              <a:gd name="adj" fmla="val 1912"/>
            </a:avLst>
          </a:prstGeom>
          <a:solidFill>
            <a:schemeClr val="accent2">
              <a:alpha val="10000"/>
            </a:schemeClr>
          </a:solidFill>
          <a:ln/>
        </p:spPr>
      </p:sp>
      <p:sp>
        <p:nvSpPr>
          <p:cNvPr id="10" name="Icon circle 3053"/>
          <p:cNvSpPr/>
          <p:nvPr/>
        </p:nvSpPr>
        <p:spPr>
          <a:xfrm>
            <a:off x="6415888" y="1664208"/>
            <a:ext cx="475488" cy="475488"/>
          </a:xfrm>
          <a:prstGeom prst="ellipse">
            <a:avLst/>
          </a:prstGeom>
          <a:solidFill>
            <a:schemeClr val="accent2"/>
          </a:solidFill>
          <a:ln/>
        </p:spPr>
      </p:sp>
      <p:pic>
        <p:nvPicPr>
          <p:cNvPr id="11" name="Icon FaCircleCheck 3054" descr="preencoded.png">    </p:cNvPr>
          <p:cNvPicPr>
            <a:picLocks noChangeAspect="1"/>
          </p:cNvPicPr>
          <p:nvPr/>
        </p:nvPicPr>
        <p:blipFill>
          <a:blip r:embed="rId2"/>
          <a:stretch>
            <a:fillRect/>
          </a:stretch>
        </p:blipFill>
        <p:spPr>
          <a:xfrm>
            <a:off x="6520495" y="1768815"/>
            <a:ext cx="266273" cy="266273"/>
          </a:xfrm>
          <a:prstGeom prst="rect">
            <a:avLst/>
          </a:prstGeom>
        </p:spPr>
      </p:pic>
      <p:sp>
        <p:nvSpPr>
          <p:cNvPr id="12" name="Card title 3055"/>
          <p:cNvSpPr txBox="1"/>
          <p:nvPr/>
        </p:nvSpPr>
        <p:spPr>
          <a:xfrm>
            <a:off x="7019392" y="1664208"/>
            <a:ext cx="4440784" cy="475488"/>
          </a:xfrm>
          <a:prstGeom prst="rect">
            <a:avLst/>
          </a:prstGeom>
          <a:noFill/>
          <a:ln/>
        </p:spPr>
        <p:txBody>
          <a:bodyPr wrap="square" lIns="0" tIns="0" rIns="0" bIns="0" rtlCol="0" anchor="ctr"/>
          <a:lstStyle/>
          <a:p>
            <a:pPr algn="l" indent="0" marL="0">
              <a:spcAft>
                <a:spcPts val="600"/>
              </a:spcAft>
              <a:buNone/>
            </a:pPr>
            <a:r>
              <a:rPr lang="en-US" sz="1700" b="1" dirty="0">
                <a:solidFill>
                  <a:schemeClr val="tx2"/>
                </a:solidFill>
              </a:rPr>
              <a:t>Strong</a:t>
            </a:r>
            <a:endParaRPr lang="en-US" sz="1700" dirty="0"/>
          </a:p>
        </p:txBody>
      </p:sp>
      <p:sp>
        <p:nvSpPr>
          <p:cNvPr id="13" name="Text 3056"/>
          <p:cNvSpPr txBox="1"/>
          <p:nvPr/>
        </p:nvSpPr>
        <p:spPr>
          <a:xfrm>
            <a:off x="6415888" y="2249424"/>
            <a:ext cx="5044288" cy="3831336"/>
          </a:xfrm>
          <a:prstGeom prst="rect">
            <a:avLst/>
          </a:prstGeom>
          <a:noFill/>
          <a:ln/>
        </p:spPr>
        <p:txBody>
          <a:bodyPr wrap="square" lIns="0" tIns="0" rIns="0" bIns="0" rtlCol="0" anchor="t"/>
          <a:lstStyle/>
          <a:p>
            <a:pPr algn="l" marL="190500" indent="-190500">
              <a:spcAft>
                <a:spcPts val="800"/>
              </a:spcAft>
              <a:buSzPct val="100000"/>
              <a:buChar char="•"/>
            </a:pPr>
            <a:r>
              <a:rPr lang="en-US" sz="2000" dirty="0">
                <a:solidFill>
                  <a:schemeClr val="tx1"/>
                </a:solidFill>
              </a:rPr>
              <a:t>'The Depression weakened the League by making Britain and France unwilling to pay the cost of sanctions. In 1935 they refused to ban oil sales to Italy, partly to protect trade, so Mussolini conquered Abyssinia. However…'</a:t>
            </a:r>
            <a:endParaRPr lang="en-US" sz="2000" dirty="0"/>
          </a:p>
          <a:p>
            <a:pPr algn="l" marL="190500" indent="-190500">
              <a:spcAft>
                <a:spcPts val="800"/>
              </a:spcAft>
              <a:buSzPct val="100000"/>
              <a:buChar char="•"/>
            </a:pPr>
            <a:r>
              <a:rPr lang="en-US" sz="2000" dirty="0">
                <a:solidFill>
                  <a:schemeClr val="tx1"/>
                </a:solidFill>
              </a:rPr>
              <a:t>Precise evidence</a:t>
            </a:r>
            <a:endParaRPr lang="en-US" sz="2000" dirty="0"/>
          </a:p>
          <a:p>
            <a:pPr algn="l" marL="190500" indent="-190500">
              <a:spcAft>
                <a:spcPts val="800"/>
              </a:spcAft>
              <a:buSzPct val="100000"/>
              <a:buChar char="•"/>
            </a:pPr>
            <a:r>
              <a:rPr lang="en-US" sz="2000" dirty="0">
                <a:solidFill>
                  <a:schemeClr val="tx1"/>
                </a:solidFill>
              </a:rPr>
              <a:t>Explains the mechanism; links back</a:t>
            </a:r>
            <a:endParaRPr lang="en-US"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Kicker 3057"/>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tx2"/>
                </a:solidFill>
              </a:rPr>
              <a:t>FINAL REVISION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Must-know dates: 24 to learn</a:t>
            </a:r>
            <a:endParaRPr lang="en-US" sz="3400" dirty="0"/>
          </a:p>
        </p:txBody>
      </p:sp>
      <p:sp>
        <p:nvSpPr>
          <p:cNvPr id="4" name="Date column 3058"/>
          <p:cNvSpPr/>
          <p:nvPr/>
        </p:nvSpPr>
        <p:spPr>
          <a:xfrm>
            <a:off x="548640" y="1481328"/>
            <a:ext cx="3515258" cy="4782312"/>
          </a:xfrm>
          <a:prstGeom prst="roundRect">
            <a:avLst>
              <a:gd name="adj" fmla="val 2601"/>
            </a:avLst>
          </a:prstGeom>
          <a:solidFill>
            <a:schemeClr val="accent1">
              <a:alpha val="8000"/>
            </a:schemeClr>
          </a:solidFill>
          <a:ln/>
        </p:spPr>
      </p:sp>
      <p:sp>
        <p:nvSpPr>
          <p:cNvPr id="5" name="Text 3059"/>
          <p:cNvSpPr txBox="1"/>
          <p:nvPr/>
        </p:nvSpPr>
        <p:spPr>
          <a:xfrm>
            <a:off x="777240" y="1618488"/>
            <a:ext cx="3058058" cy="384048"/>
          </a:xfrm>
          <a:prstGeom prst="rect">
            <a:avLst/>
          </a:prstGeom>
          <a:noFill/>
          <a:ln/>
        </p:spPr>
        <p:txBody>
          <a:bodyPr wrap="square" lIns="0" tIns="0" rIns="0" bIns="0" rtlCol="0" anchor="t"/>
          <a:lstStyle/>
          <a:p>
            <a:pPr algn="l" indent="0" marL="0">
              <a:spcAft>
                <a:spcPts val="600"/>
              </a:spcAft>
              <a:buNone/>
            </a:pPr>
            <a:r>
              <a:rPr lang="en-US" sz="1800" b="1" dirty="0">
                <a:solidFill>
                  <a:schemeClr val="accent1"/>
                </a:solidFill>
              </a:rPr>
              <a:t>Topic 1</a:t>
            </a:r>
            <a:endParaRPr lang="en-US" sz="1800" dirty="0"/>
          </a:p>
        </p:txBody>
      </p:sp>
      <p:sp>
        <p:nvSpPr>
          <p:cNvPr id="6" name="Date pill 3060"/>
          <p:cNvSpPr/>
          <p:nvPr/>
        </p:nvSpPr>
        <p:spPr>
          <a:xfrm>
            <a:off x="777240" y="2167128"/>
            <a:ext cx="1325880" cy="329184"/>
          </a:xfrm>
          <a:prstGeom prst="roundRect">
            <a:avLst>
              <a:gd name="adj" fmla="val 50000"/>
            </a:avLst>
          </a:prstGeom>
          <a:solidFill>
            <a:schemeClr val="accent1"/>
          </a:solidFill>
          <a:ln/>
        </p:spPr>
      </p:sp>
      <p:sp>
        <p:nvSpPr>
          <p:cNvPr id="7" name="Text 3061"/>
          <p:cNvSpPr txBox="1"/>
          <p:nvPr/>
        </p:nvSpPr>
        <p:spPr>
          <a:xfrm>
            <a:off x="777240" y="2167128"/>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1868</a:t>
            </a:r>
            <a:endParaRPr lang="en-US" sz="1200" dirty="0"/>
          </a:p>
        </p:txBody>
      </p:sp>
      <p:sp>
        <p:nvSpPr>
          <p:cNvPr id="8" name="Text 3062"/>
          <p:cNvSpPr txBox="1"/>
          <p:nvPr/>
        </p:nvSpPr>
        <p:spPr>
          <a:xfrm>
            <a:off x="2212848" y="2075688"/>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Meiji Restoration</a:t>
            </a:r>
            <a:endParaRPr lang="en-US" sz="1500" dirty="0"/>
          </a:p>
        </p:txBody>
      </p:sp>
      <p:sp>
        <p:nvSpPr>
          <p:cNvPr id="9" name="Date pill 3063"/>
          <p:cNvSpPr/>
          <p:nvPr/>
        </p:nvSpPr>
        <p:spPr>
          <a:xfrm>
            <a:off x="777240" y="2679192"/>
            <a:ext cx="1325880" cy="329184"/>
          </a:xfrm>
          <a:prstGeom prst="roundRect">
            <a:avLst>
              <a:gd name="adj" fmla="val 50000"/>
            </a:avLst>
          </a:prstGeom>
          <a:solidFill>
            <a:schemeClr val="accent1"/>
          </a:solidFill>
          <a:ln/>
        </p:spPr>
      </p:sp>
      <p:sp>
        <p:nvSpPr>
          <p:cNvPr id="10" name="Text 3064"/>
          <p:cNvSpPr txBox="1"/>
          <p:nvPr/>
        </p:nvSpPr>
        <p:spPr>
          <a:xfrm>
            <a:off x="777240" y="2679192"/>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1884–85</a:t>
            </a:r>
            <a:endParaRPr lang="en-US" sz="1200" dirty="0"/>
          </a:p>
        </p:txBody>
      </p:sp>
      <p:sp>
        <p:nvSpPr>
          <p:cNvPr id="11" name="Text 3065"/>
          <p:cNvSpPr txBox="1"/>
          <p:nvPr/>
        </p:nvSpPr>
        <p:spPr>
          <a:xfrm>
            <a:off x="2212848" y="2587752"/>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Berlin Conference</a:t>
            </a:r>
            <a:endParaRPr lang="en-US" sz="1500" dirty="0"/>
          </a:p>
        </p:txBody>
      </p:sp>
      <p:sp>
        <p:nvSpPr>
          <p:cNvPr id="12" name="Date pill 3066"/>
          <p:cNvSpPr/>
          <p:nvPr/>
        </p:nvSpPr>
        <p:spPr>
          <a:xfrm>
            <a:off x="777240" y="3191256"/>
            <a:ext cx="1325880" cy="329184"/>
          </a:xfrm>
          <a:prstGeom prst="roundRect">
            <a:avLst>
              <a:gd name="adj" fmla="val 50000"/>
            </a:avLst>
          </a:prstGeom>
          <a:solidFill>
            <a:schemeClr val="accent1"/>
          </a:solidFill>
          <a:ln/>
        </p:spPr>
      </p:sp>
      <p:sp>
        <p:nvSpPr>
          <p:cNvPr id="13" name="Text 3067"/>
          <p:cNvSpPr txBox="1"/>
          <p:nvPr/>
        </p:nvSpPr>
        <p:spPr>
          <a:xfrm>
            <a:off x="777240" y="3191256"/>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1894–95</a:t>
            </a:r>
            <a:endParaRPr lang="en-US" sz="1200" dirty="0"/>
          </a:p>
        </p:txBody>
      </p:sp>
      <p:sp>
        <p:nvSpPr>
          <p:cNvPr id="14" name="Text 3068"/>
          <p:cNvSpPr txBox="1"/>
          <p:nvPr/>
        </p:nvSpPr>
        <p:spPr>
          <a:xfrm>
            <a:off x="2212848" y="3099816"/>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Sino-Japanese War</a:t>
            </a:r>
            <a:endParaRPr lang="en-US" sz="1500" dirty="0"/>
          </a:p>
        </p:txBody>
      </p:sp>
      <p:sp>
        <p:nvSpPr>
          <p:cNvPr id="15" name="Date pill 3069"/>
          <p:cNvSpPr/>
          <p:nvPr/>
        </p:nvSpPr>
        <p:spPr>
          <a:xfrm>
            <a:off x="777240" y="3703320"/>
            <a:ext cx="1325880" cy="329184"/>
          </a:xfrm>
          <a:prstGeom prst="roundRect">
            <a:avLst>
              <a:gd name="adj" fmla="val 50000"/>
            </a:avLst>
          </a:prstGeom>
          <a:solidFill>
            <a:schemeClr val="accent1"/>
          </a:solidFill>
          <a:ln/>
        </p:spPr>
      </p:sp>
      <p:sp>
        <p:nvSpPr>
          <p:cNvPr id="16" name="Text 3070"/>
          <p:cNvSpPr txBox="1"/>
          <p:nvPr/>
        </p:nvSpPr>
        <p:spPr>
          <a:xfrm>
            <a:off x="777240" y="3703320"/>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1898</a:t>
            </a:r>
            <a:endParaRPr lang="en-US" sz="1200" dirty="0"/>
          </a:p>
        </p:txBody>
      </p:sp>
      <p:sp>
        <p:nvSpPr>
          <p:cNvPr id="17" name="Text 3071"/>
          <p:cNvSpPr txBox="1"/>
          <p:nvPr/>
        </p:nvSpPr>
        <p:spPr>
          <a:xfrm>
            <a:off x="2212848" y="3611880"/>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Fashoda; war with Spain</a:t>
            </a:r>
            <a:endParaRPr lang="en-US" sz="1500" dirty="0"/>
          </a:p>
        </p:txBody>
      </p:sp>
      <p:sp>
        <p:nvSpPr>
          <p:cNvPr id="18" name="Date pill 3072"/>
          <p:cNvSpPr/>
          <p:nvPr/>
        </p:nvSpPr>
        <p:spPr>
          <a:xfrm>
            <a:off x="777240" y="4215384"/>
            <a:ext cx="1325880" cy="329184"/>
          </a:xfrm>
          <a:prstGeom prst="roundRect">
            <a:avLst>
              <a:gd name="adj" fmla="val 50000"/>
            </a:avLst>
          </a:prstGeom>
          <a:solidFill>
            <a:schemeClr val="accent1"/>
          </a:solidFill>
          <a:ln/>
        </p:spPr>
      </p:sp>
      <p:sp>
        <p:nvSpPr>
          <p:cNvPr id="19" name="Text 3073"/>
          <p:cNvSpPr txBox="1"/>
          <p:nvPr/>
        </p:nvSpPr>
        <p:spPr>
          <a:xfrm>
            <a:off x="777240" y="4215384"/>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1900</a:t>
            </a:r>
            <a:endParaRPr lang="en-US" sz="1200" dirty="0"/>
          </a:p>
        </p:txBody>
      </p:sp>
      <p:sp>
        <p:nvSpPr>
          <p:cNvPr id="20" name="Text 3074"/>
          <p:cNvSpPr txBox="1"/>
          <p:nvPr/>
        </p:nvSpPr>
        <p:spPr>
          <a:xfrm>
            <a:off x="2212848" y="4123944"/>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Boxer Rebellion</a:t>
            </a:r>
            <a:endParaRPr lang="en-US" sz="1500" dirty="0"/>
          </a:p>
        </p:txBody>
      </p:sp>
      <p:sp>
        <p:nvSpPr>
          <p:cNvPr id="21" name="Date pill 3075"/>
          <p:cNvSpPr/>
          <p:nvPr/>
        </p:nvSpPr>
        <p:spPr>
          <a:xfrm>
            <a:off x="777240" y="4727448"/>
            <a:ext cx="1325880" cy="329184"/>
          </a:xfrm>
          <a:prstGeom prst="roundRect">
            <a:avLst>
              <a:gd name="adj" fmla="val 50000"/>
            </a:avLst>
          </a:prstGeom>
          <a:solidFill>
            <a:schemeClr val="accent1"/>
          </a:solidFill>
          <a:ln/>
        </p:spPr>
      </p:sp>
      <p:sp>
        <p:nvSpPr>
          <p:cNvPr id="22" name="Text 3076"/>
          <p:cNvSpPr txBox="1"/>
          <p:nvPr/>
        </p:nvSpPr>
        <p:spPr>
          <a:xfrm>
            <a:off x="777240" y="4727448"/>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1902</a:t>
            </a:r>
            <a:endParaRPr lang="en-US" sz="1200" dirty="0"/>
          </a:p>
        </p:txBody>
      </p:sp>
      <p:sp>
        <p:nvSpPr>
          <p:cNvPr id="23" name="Text 3077"/>
          <p:cNvSpPr txBox="1"/>
          <p:nvPr/>
        </p:nvSpPr>
        <p:spPr>
          <a:xfrm>
            <a:off x="2212848" y="4636008"/>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Anglo-Japanese Alliance</a:t>
            </a:r>
            <a:endParaRPr lang="en-US" sz="1500" dirty="0"/>
          </a:p>
        </p:txBody>
      </p:sp>
      <p:sp>
        <p:nvSpPr>
          <p:cNvPr id="24" name="Date pill 3078"/>
          <p:cNvSpPr/>
          <p:nvPr/>
        </p:nvSpPr>
        <p:spPr>
          <a:xfrm>
            <a:off x="777240" y="5239512"/>
            <a:ext cx="1325880" cy="329184"/>
          </a:xfrm>
          <a:prstGeom prst="roundRect">
            <a:avLst>
              <a:gd name="adj" fmla="val 50000"/>
            </a:avLst>
          </a:prstGeom>
          <a:solidFill>
            <a:schemeClr val="accent1"/>
          </a:solidFill>
          <a:ln/>
        </p:spPr>
      </p:sp>
      <p:sp>
        <p:nvSpPr>
          <p:cNvPr id="25" name="Text 3079"/>
          <p:cNvSpPr txBox="1"/>
          <p:nvPr/>
        </p:nvSpPr>
        <p:spPr>
          <a:xfrm>
            <a:off x="777240" y="5239512"/>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1904–05</a:t>
            </a:r>
            <a:endParaRPr lang="en-US" sz="1200" dirty="0"/>
          </a:p>
        </p:txBody>
      </p:sp>
      <p:sp>
        <p:nvSpPr>
          <p:cNvPr id="26" name="Text 3080"/>
          <p:cNvSpPr txBox="1"/>
          <p:nvPr/>
        </p:nvSpPr>
        <p:spPr>
          <a:xfrm>
            <a:off x="2212848" y="5148072"/>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Russo-Japanese War</a:t>
            </a:r>
            <a:endParaRPr lang="en-US" sz="1500" dirty="0"/>
          </a:p>
        </p:txBody>
      </p:sp>
      <p:sp>
        <p:nvSpPr>
          <p:cNvPr id="27" name="Date pill 3081"/>
          <p:cNvSpPr/>
          <p:nvPr/>
        </p:nvSpPr>
        <p:spPr>
          <a:xfrm>
            <a:off x="777240" y="5751576"/>
            <a:ext cx="1325880" cy="329184"/>
          </a:xfrm>
          <a:prstGeom prst="roundRect">
            <a:avLst>
              <a:gd name="adj" fmla="val 50000"/>
            </a:avLst>
          </a:prstGeom>
          <a:solidFill>
            <a:schemeClr val="accent1"/>
          </a:solidFill>
          <a:ln/>
        </p:spPr>
      </p:sp>
      <p:sp>
        <p:nvSpPr>
          <p:cNvPr id="28" name="Text 3082"/>
          <p:cNvSpPr txBox="1"/>
          <p:nvPr/>
        </p:nvSpPr>
        <p:spPr>
          <a:xfrm>
            <a:off x="777240" y="5751576"/>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1917</a:t>
            </a:r>
            <a:endParaRPr lang="en-US" sz="1200" dirty="0"/>
          </a:p>
        </p:txBody>
      </p:sp>
      <p:sp>
        <p:nvSpPr>
          <p:cNvPr id="29" name="Text 3083"/>
          <p:cNvSpPr txBox="1"/>
          <p:nvPr/>
        </p:nvSpPr>
        <p:spPr>
          <a:xfrm>
            <a:off x="2212848" y="5660136"/>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USA enters WW1</a:t>
            </a:r>
            <a:endParaRPr lang="en-US" sz="1500" dirty="0"/>
          </a:p>
        </p:txBody>
      </p:sp>
      <p:sp>
        <p:nvSpPr>
          <p:cNvPr id="30" name="Date column 3084"/>
          <p:cNvSpPr/>
          <p:nvPr/>
        </p:nvSpPr>
        <p:spPr>
          <a:xfrm>
            <a:off x="4338218" y="1481328"/>
            <a:ext cx="3515258" cy="4782312"/>
          </a:xfrm>
          <a:prstGeom prst="roundRect">
            <a:avLst>
              <a:gd name="adj" fmla="val 2601"/>
            </a:avLst>
          </a:prstGeom>
          <a:solidFill>
            <a:schemeClr val="accent2">
              <a:alpha val="8000"/>
            </a:schemeClr>
          </a:solidFill>
          <a:ln/>
        </p:spPr>
      </p:sp>
      <p:sp>
        <p:nvSpPr>
          <p:cNvPr id="31" name="Text 3085"/>
          <p:cNvSpPr txBox="1"/>
          <p:nvPr/>
        </p:nvSpPr>
        <p:spPr>
          <a:xfrm>
            <a:off x="4566818" y="1618488"/>
            <a:ext cx="3058058" cy="384048"/>
          </a:xfrm>
          <a:prstGeom prst="rect">
            <a:avLst/>
          </a:prstGeom>
          <a:noFill/>
          <a:ln/>
        </p:spPr>
        <p:txBody>
          <a:bodyPr wrap="square" lIns="0" tIns="0" rIns="0" bIns="0" rtlCol="0" anchor="t"/>
          <a:lstStyle/>
          <a:p>
            <a:pPr algn="l" indent="0" marL="0">
              <a:spcAft>
                <a:spcPts val="600"/>
              </a:spcAft>
              <a:buNone/>
            </a:pPr>
            <a:r>
              <a:rPr lang="en-US" sz="1800" b="1" dirty="0">
                <a:solidFill>
                  <a:schemeClr val="accent2"/>
                </a:solidFill>
              </a:rPr>
              <a:t>Topic 2</a:t>
            </a:r>
            <a:endParaRPr lang="en-US" sz="1800" dirty="0"/>
          </a:p>
        </p:txBody>
      </p:sp>
      <p:sp>
        <p:nvSpPr>
          <p:cNvPr id="32" name="Date pill 3086"/>
          <p:cNvSpPr/>
          <p:nvPr/>
        </p:nvSpPr>
        <p:spPr>
          <a:xfrm>
            <a:off x="4566818" y="2167128"/>
            <a:ext cx="1325880" cy="329184"/>
          </a:xfrm>
          <a:prstGeom prst="roundRect">
            <a:avLst>
              <a:gd name="adj" fmla="val 50000"/>
            </a:avLst>
          </a:prstGeom>
          <a:solidFill>
            <a:schemeClr val="accent2"/>
          </a:solidFill>
          <a:ln/>
        </p:spPr>
      </p:sp>
      <p:sp>
        <p:nvSpPr>
          <p:cNvPr id="33" name="Text 3087"/>
          <p:cNvSpPr txBox="1"/>
          <p:nvPr/>
        </p:nvSpPr>
        <p:spPr>
          <a:xfrm>
            <a:off x="4566818" y="2167128"/>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1919</a:t>
            </a:r>
            <a:endParaRPr lang="en-US" sz="1200" dirty="0"/>
          </a:p>
        </p:txBody>
      </p:sp>
      <p:sp>
        <p:nvSpPr>
          <p:cNvPr id="34" name="Text 3088"/>
          <p:cNvSpPr txBox="1"/>
          <p:nvPr/>
        </p:nvSpPr>
        <p:spPr>
          <a:xfrm>
            <a:off x="6002426" y="2075688"/>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Treaty of Versailles</a:t>
            </a:r>
            <a:endParaRPr lang="en-US" sz="1500" dirty="0"/>
          </a:p>
        </p:txBody>
      </p:sp>
      <p:sp>
        <p:nvSpPr>
          <p:cNvPr id="35" name="Date pill 3089"/>
          <p:cNvSpPr/>
          <p:nvPr/>
        </p:nvSpPr>
        <p:spPr>
          <a:xfrm>
            <a:off x="4566818" y="2679192"/>
            <a:ext cx="1325880" cy="329184"/>
          </a:xfrm>
          <a:prstGeom prst="roundRect">
            <a:avLst>
              <a:gd name="adj" fmla="val 50000"/>
            </a:avLst>
          </a:prstGeom>
          <a:solidFill>
            <a:schemeClr val="accent2"/>
          </a:solidFill>
          <a:ln/>
        </p:spPr>
      </p:sp>
      <p:sp>
        <p:nvSpPr>
          <p:cNvPr id="36" name="Text 3090"/>
          <p:cNvSpPr txBox="1"/>
          <p:nvPr/>
        </p:nvSpPr>
        <p:spPr>
          <a:xfrm>
            <a:off x="4566818" y="2679192"/>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1920</a:t>
            </a:r>
            <a:endParaRPr lang="en-US" sz="1200" dirty="0"/>
          </a:p>
        </p:txBody>
      </p:sp>
      <p:sp>
        <p:nvSpPr>
          <p:cNvPr id="37" name="Text 3091"/>
          <p:cNvSpPr txBox="1"/>
          <p:nvPr/>
        </p:nvSpPr>
        <p:spPr>
          <a:xfrm>
            <a:off x="6002426" y="2587752"/>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League begins</a:t>
            </a:r>
            <a:endParaRPr lang="en-US" sz="1500" dirty="0"/>
          </a:p>
        </p:txBody>
      </p:sp>
      <p:sp>
        <p:nvSpPr>
          <p:cNvPr id="38" name="Date pill 3092"/>
          <p:cNvSpPr/>
          <p:nvPr/>
        </p:nvSpPr>
        <p:spPr>
          <a:xfrm>
            <a:off x="4566818" y="3191256"/>
            <a:ext cx="1325880" cy="329184"/>
          </a:xfrm>
          <a:prstGeom prst="roundRect">
            <a:avLst>
              <a:gd name="adj" fmla="val 50000"/>
            </a:avLst>
          </a:prstGeom>
          <a:solidFill>
            <a:schemeClr val="accent2"/>
          </a:solidFill>
          <a:ln/>
        </p:spPr>
      </p:sp>
      <p:sp>
        <p:nvSpPr>
          <p:cNvPr id="39" name="Text 3093"/>
          <p:cNvSpPr txBox="1"/>
          <p:nvPr/>
        </p:nvSpPr>
        <p:spPr>
          <a:xfrm>
            <a:off x="4566818" y="3191256"/>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1922</a:t>
            </a:r>
            <a:endParaRPr lang="en-US" sz="1200" dirty="0"/>
          </a:p>
        </p:txBody>
      </p:sp>
      <p:sp>
        <p:nvSpPr>
          <p:cNvPr id="40" name="Text 3094"/>
          <p:cNvSpPr txBox="1"/>
          <p:nvPr/>
        </p:nvSpPr>
        <p:spPr>
          <a:xfrm>
            <a:off x="6002426" y="3099816"/>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Washington; Rapallo</a:t>
            </a:r>
            <a:endParaRPr lang="en-US" sz="1500" dirty="0"/>
          </a:p>
        </p:txBody>
      </p:sp>
      <p:sp>
        <p:nvSpPr>
          <p:cNvPr id="41" name="Date pill 3095"/>
          <p:cNvSpPr/>
          <p:nvPr/>
        </p:nvSpPr>
        <p:spPr>
          <a:xfrm>
            <a:off x="4566818" y="3703320"/>
            <a:ext cx="1325880" cy="329184"/>
          </a:xfrm>
          <a:prstGeom prst="roundRect">
            <a:avLst>
              <a:gd name="adj" fmla="val 50000"/>
            </a:avLst>
          </a:prstGeom>
          <a:solidFill>
            <a:schemeClr val="accent2"/>
          </a:solidFill>
          <a:ln/>
        </p:spPr>
      </p:sp>
      <p:sp>
        <p:nvSpPr>
          <p:cNvPr id="42" name="Text 3096"/>
          <p:cNvSpPr txBox="1"/>
          <p:nvPr/>
        </p:nvSpPr>
        <p:spPr>
          <a:xfrm>
            <a:off x="4566818" y="3703320"/>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1923</a:t>
            </a:r>
            <a:endParaRPr lang="en-US" sz="1200" dirty="0"/>
          </a:p>
        </p:txBody>
      </p:sp>
      <p:sp>
        <p:nvSpPr>
          <p:cNvPr id="43" name="Text 3097"/>
          <p:cNvSpPr txBox="1"/>
          <p:nvPr/>
        </p:nvSpPr>
        <p:spPr>
          <a:xfrm>
            <a:off x="6002426" y="3611880"/>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Ruhr; Corfu; Lausanne</a:t>
            </a:r>
            <a:endParaRPr lang="en-US" sz="1500" dirty="0"/>
          </a:p>
        </p:txBody>
      </p:sp>
      <p:sp>
        <p:nvSpPr>
          <p:cNvPr id="44" name="Date pill 3098"/>
          <p:cNvSpPr/>
          <p:nvPr/>
        </p:nvSpPr>
        <p:spPr>
          <a:xfrm>
            <a:off x="4566818" y="4215384"/>
            <a:ext cx="1325880" cy="329184"/>
          </a:xfrm>
          <a:prstGeom prst="roundRect">
            <a:avLst>
              <a:gd name="adj" fmla="val 50000"/>
            </a:avLst>
          </a:prstGeom>
          <a:solidFill>
            <a:schemeClr val="accent2"/>
          </a:solidFill>
          <a:ln/>
        </p:spPr>
      </p:sp>
      <p:sp>
        <p:nvSpPr>
          <p:cNvPr id="45" name="Text 3099"/>
          <p:cNvSpPr txBox="1"/>
          <p:nvPr/>
        </p:nvSpPr>
        <p:spPr>
          <a:xfrm>
            <a:off x="4566818" y="4215384"/>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1924</a:t>
            </a:r>
            <a:endParaRPr lang="en-US" sz="1200" dirty="0"/>
          </a:p>
        </p:txBody>
      </p:sp>
      <p:sp>
        <p:nvSpPr>
          <p:cNvPr id="46" name="Text 3100"/>
          <p:cNvSpPr txBox="1"/>
          <p:nvPr/>
        </p:nvSpPr>
        <p:spPr>
          <a:xfrm>
            <a:off x="6002426" y="4123944"/>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Dawes Plan</a:t>
            </a:r>
            <a:endParaRPr lang="en-US" sz="1500" dirty="0"/>
          </a:p>
        </p:txBody>
      </p:sp>
      <p:sp>
        <p:nvSpPr>
          <p:cNvPr id="47" name="Date pill 3101"/>
          <p:cNvSpPr/>
          <p:nvPr/>
        </p:nvSpPr>
        <p:spPr>
          <a:xfrm>
            <a:off x="4566818" y="4727448"/>
            <a:ext cx="1325880" cy="329184"/>
          </a:xfrm>
          <a:prstGeom prst="roundRect">
            <a:avLst>
              <a:gd name="adj" fmla="val 50000"/>
            </a:avLst>
          </a:prstGeom>
          <a:solidFill>
            <a:schemeClr val="accent2"/>
          </a:solidFill>
          <a:ln/>
        </p:spPr>
      </p:sp>
      <p:sp>
        <p:nvSpPr>
          <p:cNvPr id="48" name="Text 3102"/>
          <p:cNvSpPr txBox="1"/>
          <p:nvPr/>
        </p:nvSpPr>
        <p:spPr>
          <a:xfrm>
            <a:off x="4566818" y="4727448"/>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1925</a:t>
            </a:r>
            <a:endParaRPr lang="en-US" sz="1200" dirty="0"/>
          </a:p>
        </p:txBody>
      </p:sp>
      <p:sp>
        <p:nvSpPr>
          <p:cNvPr id="49" name="Text 3103"/>
          <p:cNvSpPr txBox="1"/>
          <p:nvPr/>
        </p:nvSpPr>
        <p:spPr>
          <a:xfrm>
            <a:off x="6002426" y="4636008"/>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Locarno Treaties</a:t>
            </a:r>
            <a:endParaRPr lang="en-US" sz="1500" dirty="0"/>
          </a:p>
        </p:txBody>
      </p:sp>
      <p:sp>
        <p:nvSpPr>
          <p:cNvPr id="50" name="Date pill 3104"/>
          <p:cNvSpPr/>
          <p:nvPr/>
        </p:nvSpPr>
        <p:spPr>
          <a:xfrm>
            <a:off x="4566818" y="5239512"/>
            <a:ext cx="1325880" cy="329184"/>
          </a:xfrm>
          <a:prstGeom prst="roundRect">
            <a:avLst>
              <a:gd name="adj" fmla="val 50000"/>
            </a:avLst>
          </a:prstGeom>
          <a:solidFill>
            <a:schemeClr val="accent2"/>
          </a:solidFill>
          <a:ln/>
        </p:spPr>
      </p:sp>
      <p:sp>
        <p:nvSpPr>
          <p:cNvPr id="51" name="Text 3105"/>
          <p:cNvSpPr txBox="1"/>
          <p:nvPr/>
        </p:nvSpPr>
        <p:spPr>
          <a:xfrm>
            <a:off x="4566818" y="5239512"/>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1926</a:t>
            </a:r>
            <a:endParaRPr lang="en-US" sz="1200" dirty="0"/>
          </a:p>
        </p:txBody>
      </p:sp>
      <p:sp>
        <p:nvSpPr>
          <p:cNvPr id="52" name="Text 3106"/>
          <p:cNvSpPr txBox="1"/>
          <p:nvPr/>
        </p:nvSpPr>
        <p:spPr>
          <a:xfrm>
            <a:off x="6002426" y="5148072"/>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Germany joins League</a:t>
            </a:r>
            <a:endParaRPr lang="en-US" sz="1500" dirty="0"/>
          </a:p>
        </p:txBody>
      </p:sp>
      <p:sp>
        <p:nvSpPr>
          <p:cNvPr id="53" name="Date pill 3107"/>
          <p:cNvSpPr/>
          <p:nvPr/>
        </p:nvSpPr>
        <p:spPr>
          <a:xfrm>
            <a:off x="4566818" y="5751576"/>
            <a:ext cx="1325880" cy="329184"/>
          </a:xfrm>
          <a:prstGeom prst="roundRect">
            <a:avLst>
              <a:gd name="adj" fmla="val 50000"/>
            </a:avLst>
          </a:prstGeom>
          <a:solidFill>
            <a:schemeClr val="accent2"/>
          </a:solidFill>
          <a:ln/>
        </p:spPr>
      </p:sp>
      <p:sp>
        <p:nvSpPr>
          <p:cNvPr id="54" name="Text 3108"/>
          <p:cNvSpPr txBox="1"/>
          <p:nvPr/>
        </p:nvSpPr>
        <p:spPr>
          <a:xfrm>
            <a:off x="4566818" y="5751576"/>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1928</a:t>
            </a:r>
            <a:endParaRPr lang="en-US" sz="1200" dirty="0"/>
          </a:p>
        </p:txBody>
      </p:sp>
      <p:sp>
        <p:nvSpPr>
          <p:cNvPr id="55" name="Text 3109"/>
          <p:cNvSpPr txBox="1"/>
          <p:nvPr/>
        </p:nvSpPr>
        <p:spPr>
          <a:xfrm>
            <a:off x="6002426" y="5660136"/>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Kellogg–Briand Pact</a:t>
            </a:r>
            <a:endParaRPr lang="en-US" sz="1500" dirty="0"/>
          </a:p>
        </p:txBody>
      </p:sp>
      <p:sp>
        <p:nvSpPr>
          <p:cNvPr id="56" name="Date column 3110"/>
          <p:cNvSpPr/>
          <p:nvPr/>
        </p:nvSpPr>
        <p:spPr>
          <a:xfrm>
            <a:off x="8127797" y="1481328"/>
            <a:ext cx="3515258" cy="4782312"/>
          </a:xfrm>
          <a:prstGeom prst="roundRect">
            <a:avLst>
              <a:gd name="adj" fmla="val 2601"/>
            </a:avLst>
          </a:prstGeom>
          <a:solidFill>
            <a:schemeClr val="accent3">
              <a:alpha val="8000"/>
            </a:schemeClr>
          </a:solidFill>
          <a:ln/>
        </p:spPr>
      </p:sp>
      <p:sp>
        <p:nvSpPr>
          <p:cNvPr id="57" name="Text 3111"/>
          <p:cNvSpPr txBox="1"/>
          <p:nvPr/>
        </p:nvSpPr>
        <p:spPr>
          <a:xfrm>
            <a:off x="8356397" y="1618488"/>
            <a:ext cx="3058058" cy="384048"/>
          </a:xfrm>
          <a:prstGeom prst="rect">
            <a:avLst/>
          </a:prstGeom>
          <a:noFill/>
          <a:ln/>
        </p:spPr>
        <p:txBody>
          <a:bodyPr wrap="square" lIns="0" tIns="0" rIns="0" bIns="0" rtlCol="0" anchor="t"/>
          <a:lstStyle/>
          <a:p>
            <a:pPr algn="l" indent="0" marL="0">
              <a:spcAft>
                <a:spcPts val="600"/>
              </a:spcAft>
              <a:buNone/>
            </a:pPr>
            <a:r>
              <a:rPr lang="en-US" sz="1800" b="1" dirty="0">
                <a:solidFill>
                  <a:schemeClr val="accent3"/>
                </a:solidFill>
              </a:rPr>
              <a:t>Topic 3</a:t>
            </a:r>
            <a:endParaRPr lang="en-US" sz="1800" dirty="0"/>
          </a:p>
        </p:txBody>
      </p:sp>
      <p:sp>
        <p:nvSpPr>
          <p:cNvPr id="58" name="Date pill 3112"/>
          <p:cNvSpPr/>
          <p:nvPr/>
        </p:nvSpPr>
        <p:spPr>
          <a:xfrm>
            <a:off x="8356397" y="2167128"/>
            <a:ext cx="1325880" cy="329184"/>
          </a:xfrm>
          <a:prstGeom prst="roundRect">
            <a:avLst>
              <a:gd name="adj" fmla="val 50000"/>
            </a:avLst>
          </a:prstGeom>
          <a:solidFill>
            <a:schemeClr val="accent3"/>
          </a:solidFill>
          <a:ln/>
        </p:spPr>
      </p:sp>
      <p:sp>
        <p:nvSpPr>
          <p:cNvPr id="59" name="Text 3113"/>
          <p:cNvSpPr txBox="1"/>
          <p:nvPr/>
        </p:nvSpPr>
        <p:spPr>
          <a:xfrm>
            <a:off x="8356397" y="2167128"/>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1929</a:t>
            </a:r>
            <a:endParaRPr lang="en-US" sz="1200" dirty="0"/>
          </a:p>
        </p:txBody>
      </p:sp>
      <p:sp>
        <p:nvSpPr>
          <p:cNvPr id="60" name="Text 3114"/>
          <p:cNvSpPr txBox="1"/>
          <p:nvPr/>
        </p:nvSpPr>
        <p:spPr>
          <a:xfrm>
            <a:off x="9792005" y="2075688"/>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Wall Street Crash</a:t>
            </a:r>
            <a:endParaRPr lang="en-US" sz="1500" dirty="0"/>
          </a:p>
        </p:txBody>
      </p:sp>
      <p:sp>
        <p:nvSpPr>
          <p:cNvPr id="61" name="Date pill 3115"/>
          <p:cNvSpPr/>
          <p:nvPr/>
        </p:nvSpPr>
        <p:spPr>
          <a:xfrm>
            <a:off x="8356397" y="2679192"/>
            <a:ext cx="1325880" cy="329184"/>
          </a:xfrm>
          <a:prstGeom prst="roundRect">
            <a:avLst>
              <a:gd name="adj" fmla="val 50000"/>
            </a:avLst>
          </a:prstGeom>
          <a:solidFill>
            <a:schemeClr val="accent3"/>
          </a:solidFill>
          <a:ln/>
        </p:spPr>
      </p:sp>
      <p:sp>
        <p:nvSpPr>
          <p:cNvPr id="62" name="Text 3116"/>
          <p:cNvSpPr txBox="1"/>
          <p:nvPr/>
        </p:nvSpPr>
        <p:spPr>
          <a:xfrm>
            <a:off x="8356397" y="2679192"/>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1931</a:t>
            </a:r>
            <a:endParaRPr lang="en-US" sz="1200" dirty="0"/>
          </a:p>
        </p:txBody>
      </p:sp>
      <p:sp>
        <p:nvSpPr>
          <p:cNvPr id="63" name="Text 3117"/>
          <p:cNvSpPr txBox="1"/>
          <p:nvPr/>
        </p:nvSpPr>
        <p:spPr>
          <a:xfrm>
            <a:off x="9792005" y="2587752"/>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Manchuria</a:t>
            </a:r>
            <a:endParaRPr lang="en-US" sz="1500" dirty="0"/>
          </a:p>
        </p:txBody>
      </p:sp>
      <p:sp>
        <p:nvSpPr>
          <p:cNvPr id="64" name="Date pill 3118"/>
          <p:cNvSpPr/>
          <p:nvPr/>
        </p:nvSpPr>
        <p:spPr>
          <a:xfrm>
            <a:off x="8356397" y="3191256"/>
            <a:ext cx="1325880" cy="329184"/>
          </a:xfrm>
          <a:prstGeom prst="roundRect">
            <a:avLst>
              <a:gd name="adj" fmla="val 50000"/>
            </a:avLst>
          </a:prstGeom>
          <a:solidFill>
            <a:schemeClr val="accent3"/>
          </a:solidFill>
          <a:ln/>
        </p:spPr>
      </p:sp>
      <p:sp>
        <p:nvSpPr>
          <p:cNvPr id="65" name="Text 3119"/>
          <p:cNvSpPr txBox="1"/>
          <p:nvPr/>
        </p:nvSpPr>
        <p:spPr>
          <a:xfrm>
            <a:off x="8356397" y="3191256"/>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1933</a:t>
            </a:r>
            <a:endParaRPr lang="en-US" sz="1200" dirty="0"/>
          </a:p>
        </p:txBody>
      </p:sp>
      <p:sp>
        <p:nvSpPr>
          <p:cNvPr id="66" name="Text 3120"/>
          <p:cNvSpPr txBox="1"/>
          <p:nvPr/>
        </p:nvSpPr>
        <p:spPr>
          <a:xfrm>
            <a:off x="9792005" y="3099816"/>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Hitler; Japan leaves League</a:t>
            </a:r>
            <a:endParaRPr lang="en-US" sz="1500" dirty="0"/>
          </a:p>
        </p:txBody>
      </p:sp>
      <p:sp>
        <p:nvSpPr>
          <p:cNvPr id="67" name="Date pill 3121"/>
          <p:cNvSpPr/>
          <p:nvPr/>
        </p:nvSpPr>
        <p:spPr>
          <a:xfrm>
            <a:off x="8356397" y="3703320"/>
            <a:ext cx="1325880" cy="329184"/>
          </a:xfrm>
          <a:prstGeom prst="roundRect">
            <a:avLst>
              <a:gd name="adj" fmla="val 50000"/>
            </a:avLst>
          </a:prstGeom>
          <a:solidFill>
            <a:schemeClr val="accent3"/>
          </a:solidFill>
          <a:ln/>
        </p:spPr>
      </p:sp>
      <p:sp>
        <p:nvSpPr>
          <p:cNvPr id="68" name="Text 3122"/>
          <p:cNvSpPr txBox="1"/>
          <p:nvPr/>
        </p:nvSpPr>
        <p:spPr>
          <a:xfrm>
            <a:off x="8356397" y="3703320"/>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1935</a:t>
            </a:r>
            <a:endParaRPr lang="en-US" sz="1200" dirty="0"/>
          </a:p>
        </p:txBody>
      </p:sp>
      <p:sp>
        <p:nvSpPr>
          <p:cNvPr id="69" name="Text 3123"/>
          <p:cNvSpPr txBox="1"/>
          <p:nvPr/>
        </p:nvSpPr>
        <p:spPr>
          <a:xfrm>
            <a:off x="9792005" y="3611880"/>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Abyssinia; Stresa</a:t>
            </a:r>
            <a:endParaRPr lang="en-US" sz="1500" dirty="0"/>
          </a:p>
        </p:txBody>
      </p:sp>
      <p:sp>
        <p:nvSpPr>
          <p:cNvPr id="70" name="Date pill 3124"/>
          <p:cNvSpPr/>
          <p:nvPr/>
        </p:nvSpPr>
        <p:spPr>
          <a:xfrm>
            <a:off x="8356397" y="4215384"/>
            <a:ext cx="1325880" cy="329184"/>
          </a:xfrm>
          <a:prstGeom prst="roundRect">
            <a:avLst>
              <a:gd name="adj" fmla="val 50000"/>
            </a:avLst>
          </a:prstGeom>
          <a:solidFill>
            <a:schemeClr val="accent3"/>
          </a:solidFill>
          <a:ln/>
        </p:spPr>
      </p:sp>
      <p:sp>
        <p:nvSpPr>
          <p:cNvPr id="71" name="Text 3125"/>
          <p:cNvSpPr txBox="1"/>
          <p:nvPr/>
        </p:nvSpPr>
        <p:spPr>
          <a:xfrm>
            <a:off x="8356397" y="4215384"/>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1936</a:t>
            </a:r>
            <a:endParaRPr lang="en-US" sz="1200" dirty="0"/>
          </a:p>
        </p:txBody>
      </p:sp>
      <p:sp>
        <p:nvSpPr>
          <p:cNvPr id="72" name="Text 3126"/>
          <p:cNvSpPr txBox="1"/>
          <p:nvPr/>
        </p:nvSpPr>
        <p:spPr>
          <a:xfrm>
            <a:off x="9792005" y="4123944"/>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Rhineland; Spain; Axis</a:t>
            </a:r>
            <a:endParaRPr lang="en-US" sz="1500" dirty="0"/>
          </a:p>
        </p:txBody>
      </p:sp>
      <p:sp>
        <p:nvSpPr>
          <p:cNvPr id="73" name="Date pill 3127"/>
          <p:cNvSpPr/>
          <p:nvPr/>
        </p:nvSpPr>
        <p:spPr>
          <a:xfrm>
            <a:off x="8356397" y="4727448"/>
            <a:ext cx="1325880" cy="329184"/>
          </a:xfrm>
          <a:prstGeom prst="roundRect">
            <a:avLst>
              <a:gd name="adj" fmla="val 50000"/>
            </a:avLst>
          </a:prstGeom>
          <a:solidFill>
            <a:schemeClr val="accent3"/>
          </a:solidFill>
          <a:ln/>
        </p:spPr>
      </p:sp>
      <p:sp>
        <p:nvSpPr>
          <p:cNvPr id="74" name="Text 3128"/>
          <p:cNvSpPr txBox="1"/>
          <p:nvPr/>
        </p:nvSpPr>
        <p:spPr>
          <a:xfrm>
            <a:off x="8356397" y="4727448"/>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1938</a:t>
            </a:r>
            <a:endParaRPr lang="en-US" sz="1200" dirty="0"/>
          </a:p>
        </p:txBody>
      </p:sp>
      <p:sp>
        <p:nvSpPr>
          <p:cNvPr id="75" name="Text 3129"/>
          <p:cNvSpPr txBox="1"/>
          <p:nvPr/>
        </p:nvSpPr>
        <p:spPr>
          <a:xfrm>
            <a:off x="9792005" y="4636008"/>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Anschluss; Munich</a:t>
            </a:r>
            <a:endParaRPr lang="en-US" sz="1500" dirty="0"/>
          </a:p>
        </p:txBody>
      </p:sp>
      <p:sp>
        <p:nvSpPr>
          <p:cNvPr id="76" name="Date pill 3130"/>
          <p:cNvSpPr/>
          <p:nvPr/>
        </p:nvSpPr>
        <p:spPr>
          <a:xfrm>
            <a:off x="8356397" y="5239512"/>
            <a:ext cx="1325880" cy="329184"/>
          </a:xfrm>
          <a:prstGeom prst="roundRect">
            <a:avLst>
              <a:gd name="adj" fmla="val 50000"/>
            </a:avLst>
          </a:prstGeom>
          <a:solidFill>
            <a:schemeClr val="accent3"/>
          </a:solidFill>
          <a:ln/>
        </p:spPr>
      </p:sp>
      <p:sp>
        <p:nvSpPr>
          <p:cNvPr id="77" name="Text 3131"/>
          <p:cNvSpPr txBox="1"/>
          <p:nvPr/>
        </p:nvSpPr>
        <p:spPr>
          <a:xfrm>
            <a:off x="8356397" y="5239512"/>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Mar 1939</a:t>
            </a:r>
            <a:endParaRPr lang="en-US" sz="1200" dirty="0"/>
          </a:p>
        </p:txBody>
      </p:sp>
      <p:sp>
        <p:nvSpPr>
          <p:cNvPr id="78" name="Text 3132"/>
          <p:cNvSpPr txBox="1"/>
          <p:nvPr/>
        </p:nvSpPr>
        <p:spPr>
          <a:xfrm>
            <a:off x="9792005" y="5148072"/>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Prague; Polish guarantee</a:t>
            </a:r>
            <a:endParaRPr lang="en-US" sz="1500" dirty="0"/>
          </a:p>
        </p:txBody>
      </p:sp>
      <p:sp>
        <p:nvSpPr>
          <p:cNvPr id="79" name="Date pill 3133"/>
          <p:cNvSpPr/>
          <p:nvPr/>
        </p:nvSpPr>
        <p:spPr>
          <a:xfrm>
            <a:off x="8356397" y="5751576"/>
            <a:ext cx="1325880" cy="329184"/>
          </a:xfrm>
          <a:prstGeom prst="roundRect">
            <a:avLst>
              <a:gd name="adj" fmla="val 50000"/>
            </a:avLst>
          </a:prstGeom>
          <a:solidFill>
            <a:schemeClr val="accent3"/>
          </a:solidFill>
          <a:ln/>
        </p:spPr>
      </p:sp>
      <p:sp>
        <p:nvSpPr>
          <p:cNvPr id="80" name="Text 3134"/>
          <p:cNvSpPr txBox="1"/>
          <p:nvPr/>
        </p:nvSpPr>
        <p:spPr>
          <a:xfrm>
            <a:off x="8356397" y="5751576"/>
            <a:ext cx="1325880" cy="329184"/>
          </a:xfrm>
          <a:prstGeom prst="rect">
            <a:avLst/>
          </a:prstGeom>
          <a:noFill/>
          <a:ln/>
        </p:spPr>
        <p:txBody>
          <a:bodyPr wrap="square" lIns="0" tIns="0" rIns="0" bIns="0" rtlCol="0" anchor="ctr"/>
          <a:lstStyle/>
          <a:p>
            <a:pPr algn="ctr" indent="0" marL="0">
              <a:spcAft>
                <a:spcPts val="600"/>
              </a:spcAft>
              <a:buNone/>
            </a:pPr>
            <a:r>
              <a:rPr lang="en-US" sz="1200" b="1" dirty="0">
                <a:solidFill>
                  <a:schemeClr val="bg1"/>
                </a:solidFill>
              </a:rPr>
              <a:t>Aug–Sept 1939</a:t>
            </a:r>
            <a:endParaRPr lang="en-US" sz="1200" dirty="0"/>
          </a:p>
        </p:txBody>
      </p:sp>
      <p:sp>
        <p:nvSpPr>
          <p:cNvPr id="81" name="Text 3135"/>
          <p:cNvSpPr txBox="1"/>
          <p:nvPr/>
        </p:nvSpPr>
        <p:spPr>
          <a:xfrm>
            <a:off x="9792005" y="5660136"/>
            <a:ext cx="1686458" cy="512064"/>
          </a:xfrm>
          <a:prstGeom prst="rect">
            <a:avLst/>
          </a:prstGeom>
          <a:noFill/>
          <a:ln/>
        </p:spPr>
        <p:txBody>
          <a:bodyPr wrap="square" lIns="0" tIns="0" rIns="0" bIns="0" rtlCol="0" anchor="ctr"/>
          <a:lstStyle/>
          <a:p>
            <a:pPr algn="l" indent="0" marL="0">
              <a:spcAft>
                <a:spcPts val="600"/>
              </a:spcAft>
              <a:buNone/>
            </a:pPr>
            <a:r>
              <a:rPr lang="en-US" sz="1500" dirty="0">
                <a:solidFill>
                  <a:schemeClr val="tx1"/>
                </a:solidFill>
              </a:rPr>
              <a:t>Nazi–Soviet Pact; war</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Kicker 3136"/>
          <p:cNvSpPr txBox="1"/>
          <p:nvPr/>
        </p:nvSpPr>
        <p:spPr>
          <a:xfrm>
            <a:off x="548640" y="329184"/>
            <a:ext cx="11094415" cy="274320"/>
          </a:xfrm>
          <a:prstGeom prst="rect">
            <a:avLst/>
          </a:prstGeom>
          <a:noFill/>
          <a:ln/>
        </p:spPr>
        <p:txBody>
          <a:bodyPr wrap="square" lIns="0" tIns="0" rIns="0" bIns="0" rtlCol="0" anchor="t"/>
          <a:lstStyle/>
          <a:p>
            <a:pPr algn="l" indent="0" marL="0">
              <a:spcAft>
                <a:spcPts val="600"/>
              </a:spcAft>
              <a:buNone/>
            </a:pPr>
            <a:r>
              <a:rPr lang="en-US" sz="1200" b="1" spc="150" kern="0" dirty="0">
                <a:solidFill>
                  <a:schemeClr val="tx2"/>
                </a:solidFill>
              </a:rPr>
              <a:t>FINAL REVISION</a:t>
            </a:r>
            <a:endParaRPr lang="en-US" sz="1200" dirty="0"/>
          </a:p>
        </p:txBody>
      </p:sp>
      <p:sp>
        <p:nvSpPr>
          <p:cNvPr id="3" name="Text 1"/>
          <p:cNvSpPr/>
          <p:nvPr>
            <p:ph idx="101" type="title" hasCustomPrompt="1"/>
          </p:nvPr>
        </p:nvSpPr>
        <p:spPr>
          <a:xfrm>
            <a:off x="548640" y="603504"/>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rPr>
              <a:t>Final checklist: can you…?</a:t>
            </a:r>
            <a:endParaRPr lang="en-US" sz="3400" dirty="0"/>
          </a:p>
        </p:txBody>
      </p:sp>
      <p:sp>
        <p:nvSpPr>
          <p:cNvPr id="4" name="Checklist column 3137"/>
          <p:cNvSpPr/>
          <p:nvPr/>
        </p:nvSpPr>
        <p:spPr>
          <a:xfrm>
            <a:off x="548640" y="1481328"/>
            <a:ext cx="3515258" cy="4782312"/>
          </a:xfrm>
          <a:prstGeom prst="roundRect">
            <a:avLst>
              <a:gd name="adj" fmla="val 2601"/>
            </a:avLst>
          </a:prstGeom>
          <a:solidFill>
            <a:schemeClr val="accent1">
              <a:alpha val="8000"/>
            </a:schemeClr>
          </a:solidFill>
          <a:ln/>
        </p:spPr>
      </p:sp>
      <p:sp>
        <p:nvSpPr>
          <p:cNvPr id="5" name="Text 3138"/>
          <p:cNvSpPr txBox="1"/>
          <p:nvPr/>
        </p:nvSpPr>
        <p:spPr>
          <a:xfrm>
            <a:off x="777240" y="1618488"/>
            <a:ext cx="3058058" cy="384048"/>
          </a:xfrm>
          <a:prstGeom prst="rect">
            <a:avLst/>
          </a:prstGeom>
          <a:noFill/>
          <a:ln/>
        </p:spPr>
        <p:txBody>
          <a:bodyPr wrap="square" lIns="0" tIns="0" rIns="0" bIns="0" rtlCol="0" anchor="t"/>
          <a:lstStyle/>
          <a:p>
            <a:pPr algn="l" indent="0" marL="0">
              <a:spcAft>
                <a:spcPts val="600"/>
              </a:spcAft>
              <a:buNone/>
            </a:pPr>
            <a:r>
              <a:rPr lang="en-US" sz="1800" b="1" dirty="0">
                <a:solidFill>
                  <a:schemeClr val="accent1"/>
                </a:solidFill>
              </a:rPr>
              <a:t>Topic 1 · Paper 1</a:t>
            </a:r>
            <a:endParaRPr lang="en-US" sz="1800" dirty="0"/>
          </a:p>
        </p:txBody>
      </p:sp>
      <p:sp>
        <p:nvSpPr>
          <p:cNvPr id="6" name="Checkbox 3139"/>
          <p:cNvSpPr/>
          <p:nvPr/>
        </p:nvSpPr>
        <p:spPr>
          <a:xfrm>
            <a:off x="777240" y="2194560"/>
            <a:ext cx="310896" cy="310896"/>
          </a:xfrm>
          <a:prstGeom prst="roundRect">
            <a:avLst>
              <a:gd name="adj" fmla="val 17647"/>
            </a:avLst>
          </a:prstGeom>
          <a:solidFill>
            <a:schemeClr val="bg1"/>
          </a:solidFill>
          <a:ln w="19050">
            <a:solidFill>
              <a:schemeClr val="accent1"/>
            </a:solidFill>
            <a:prstDash val="solid"/>
          </a:ln>
        </p:spPr>
      </p:sp>
      <p:sp>
        <p:nvSpPr>
          <p:cNvPr id="7" name="Text 3140"/>
          <p:cNvSpPr txBox="1"/>
          <p:nvPr/>
        </p:nvSpPr>
        <p:spPr>
          <a:xfrm>
            <a:off x="1234440" y="2121408"/>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Explain the EPIC motives for empire</a:t>
            </a:r>
            <a:endParaRPr lang="en-US" sz="1500" dirty="0"/>
          </a:p>
        </p:txBody>
      </p:sp>
      <p:sp>
        <p:nvSpPr>
          <p:cNvPr id="8" name="Checkbox 3141"/>
          <p:cNvSpPr/>
          <p:nvPr/>
        </p:nvSpPr>
        <p:spPr>
          <a:xfrm>
            <a:off x="777240" y="3004718"/>
            <a:ext cx="310896" cy="310896"/>
          </a:xfrm>
          <a:prstGeom prst="roundRect">
            <a:avLst>
              <a:gd name="adj" fmla="val 17647"/>
            </a:avLst>
          </a:prstGeom>
          <a:solidFill>
            <a:schemeClr val="bg1"/>
          </a:solidFill>
          <a:ln w="19050">
            <a:solidFill>
              <a:schemeClr val="accent1"/>
            </a:solidFill>
            <a:prstDash val="solid"/>
          </a:ln>
        </p:spPr>
      </p:sp>
      <p:sp>
        <p:nvSpPr>
          <p:cNvPr id="9" name="Text 3142"/>
          <p:cNvSpPr txBox="1"/>
          <p:nvPr/>
        </p:nvSpPr>
        <p:spPr>
          <a:xfrm>
            <a:off x="1234440" y="2931566"/>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Describe the Scramble and the Berlin Conference</a:t>
            </a:r>
            <a:endParaRPr lang="en-US" sz="1500" dirty="0"/>
          </a:p>
        </p:txBody>
      </p:sp>
      <p:sp>
        <p:nvSpPr>
          <p:cNvPr id="10" name="Checkbox 3143"/>
          <p:cNvSpPr/>
          <p:nvPr/>
        </p:nvSpPr>
        <p:spPr>
          <a:xfrm>
            <a:off x="777240" y="3814877"/>
            <a:ext cx="310896" cy="310896"/>
          </a:xfrm>
          <a:prstGeom prst="roundRect">
            <a:avLst>
              <a:gd name="adj" fmla="val 17647"/>
            </a:avLst>
          </a:prstGeom>
          <a:solidFill>
            <a:schemeClr val="bg1"/>
          </a:solidFill>
          <a:ln w="19050">
            <a:solidFill>
              <a:schemeClr val="accent1"/>
            </a:solidFill>
            <a:prstDash val="solid"/>
          </a:ln>
        </p:spPr>
      </p:sp>
      <p:sp>
        <p:nvSpPr>
          <p:cNvPr id="11" name="Text 3144"/>
          <p:cNvSpPr txBox="1"/>
          <p:nvPr/>
        </p:nvSpPr>
        <p:spPr>
          <a:xfrm>
            <a:off x="1234440" y="3741725"/>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Explain why Japan rose (1868–1918)</a:t>
            </a:r>
            <a:endParaRPr lang="en-US" sz="1500" dirty="0"/>
          </a:p>
        </p:txBody>
      </p:sp>
      <p:sp>
        <p:nvSpPr>
          <p:cNvPr id="12" name="Checkbox 3145"/>
          <p:cNvSpPr/>
          <p:nvPr/>
        </p:nvSpPr>
        <p:spPr>
          <a:xfrm>
            <a:off x="777240" y="4625035"/>
            <a:ext cx="310896" cy="310896"/>
          </a:xfrm>
          <a:prstGeom prst="roundRect">
            <a:avLst>
              <a:gd name="adj" fmla="val 17647"/>
            </a:avLst>
          </a:prstGeom>
          <a:solidFill>
            <a:schemeClr val="bg1"/>
          </a:solidFill>
          <a:ln w="19050">
            <a:solidFill>
              <a:schemeClr val="accent1"/>
            </a:solidFill>
            <a:prstDash val="solid"/>
          </a:ln>
        </p:spPr>
      </p:sp>
      <p:sp>
        <p:nvSpPr>
          <p:cNvPr id="13" name="Text 3146"/>
          <p:cNvSpPr txBox="1"/>
          <p:nvPr/>
        </p:nvSpPr>
        <p:spPr>
          <a:xfrm>
            <a:off x="1234440" y="4551883"/>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Explain why the USA rose (1890–1918)</a:t>
            </a:r>
            <a:endParaRPr lang="en-US" sz="1500" dirty="0"/>
          </a:p>
        </p:txBody>
      </p:sp>
      <p:sp>
        <p:nvSpPr>
          <p:cNvPr id="14" name="Checkbox 3147"/>
          <p:cNvSpPr/>
          <p:nvPr/>
        </p:nvSpPr>
        <p:spPr>
          <a:xfrm>
            <a:off x="777240" y="5435194"/>
            <a:ext cx="310896" cy="310896"/>
          </a:xfrm>
          <a:prstGeom prst="roundRect">
            <a:avLst>
              <a:gd name="adj" fmla="val 17647"/>
            </a:avLst>
          </a:prstGeom>
          <a:solidFill>
            <a:schemeClr val="bg1"/>
          </a:solidFill>
          <a:ln w="19050">
            <a:solidFill>
              <a:schemeClr val="accent1"/>
            </a:solidFill>
            <a:prstDash val="solid"/>
          </a:ln>
        </p:spPr>
      </p:sp>
      <p:sp>
        <p:nvSpPr>
          <p:cNvPr id="15" name="Text 3148"/>
          <p:cNvSpPr txBox="1"/>
          <p:nvPr/>
        </p:nvSpPr>
        <p:spPr>
          <a:xfrm>
            <a:off x="1234440" y="5362042"/>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Compare two sources using provenance</a:t>
            </a:r>
            <a:endParaRPr lang="en-US" sz="1500" dirty="0"/>
          </a:p>
        </p:txBody>
      </p:sp>
      <p:sp>
        <p:nvSpPr>
          <p:cNvPr id="16" name="Checklist column 3149"/>
          <p:cNvSpPr/>
          <p:nvPr/>
        </p:nvSpPr>
        <p:spPr>
          <a:xfrm>
            <a:off x="4338218" y="1481328"/>
            <a:ext cx="3515258" cy="4782312"/>
          </a:xfrm>
          <a:prstGeom prst="roundRect">
            <a:avLst>
              <a:gd name="adj" fmla="val 2601"/>
            </a:avLst>
          </a:prstGeom>
          <a:solidFill>
            <a:schemeClr val="accent2">
              <a:alpha val="8000"/>
            </a:schemeClr>
          </a:solidFill>
          <a:ln/>
        </p:spPr>
      </p:sp>
      <p:sp>
        <p:nvSpPr>
          <p:cNvPr id="17" name="Text 3150"/>
          <p:cNvSpPr txBox="1"/>
          <p:nvPr/>
        </p:nvSpPr>
        <p:spPr>
          <a:xfrm>
            <a:off x="4566818" y="1618488"/>
            <a:ext cx="3058058" cy="384048"/>
          </a:xfrm>
          <a:prstGeom prst="rect">
            <a:avLst/>
          </a:prstGeom>
          <a:noFill/>
          <a:ln/>
        </p:spPr>
        <p:txBody>
          <a:bodyPr wrap="square" lIns="0" tIns="0" rIns="0" bIns="0" rtlCol="0" anchor="t"/>
          <a:lstStyle/>
          <a:p>
            <a:pPr algn="l" indent="0" marL="0">
              <a:spcAft>
                <a:spcPts val="600"/>
              </a:spcAft>
              <a:buNone/>
            </a:pPr>
            <a:r>
              <a:rPr lang="en-US" sz="1800" b="1" dirty="0">
                <a:solidFill>
                  <a:schemeClr val="accent2"/>
                </a:solidFill>
              </a:rPr>
              <a:t>Topic 2 · Paper 2</a:t>
            </a:r>
            <a:endParaRPr lang="en-US" sz="1800" dirty="0"/>
          </a:p>
        </p:txBody>
      </p:sp>
      <p:sp>
        <p:nvSpPr>
          <p:cNvPr id="18" name="Checkbox 3151"/>
          <p:cNvSpPr/>
          <p:nvPr/>
        </p:nvSpPr>
        <p:spPr>
          <a:xfrm>
            <a:off x="4566818" y="2194560"/>
            <a:ext cx="310896" cy="310896"/>
          </a:xfrm>
          <a:prstGeom prst="roundRect">
            <a:avLst>
              <a:gd name="adj" fmla="val 17647"/>
            </a:avLst>
          </a:prstGeom>
          <a:solidFill>
            <a:schemeClr val="bg1"/>
          </a:solidFill>
          <a:ln w="19050">
            <a:solidFill>
              <a:schemeClr val="accent2"/>
            </a:solidFill>
            <a:prstDash val="solid"/>
          </a:ln>
        </p:spPr>
      </p:sp>
      <p:sp>
        <p:nvSpPr>
          <p:cNvPr id="19" name="Text 3152"/>
          <p:cNvSpPr txBox="1"/>
          <p:nvPr/>
        </p:nvSpPr>
        <p:spPr>
          <a:xfrm>
            <a:off x="5024018" y="2121408"/>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Explain LAMB and who was unhappy in 1919</a:t>
            </a:r>
            <a:endParaRPr lang="en-US" sz="1500" dirty="0"/>
          </a:p>
        </p:txBody>
      </p:sp>
      <p:sp>
        <p:nvSpPr>
          <p:cNvPr id="20" name="Checkbox 3153"/>
          <p:cNvSpPr/>
          <p:nvPr/>
        </p:nvSpPr>
        <p:spPr>
          <a:xfrm>
            <a:off x="4566818" y="3004718"/>
            <a:ext cx="310896" cy="310896"/>
          </a:xfrm>
          <a:prstGeom prst="roundRect">
            <a:avLst>
              <a:gd name="adj" fmla="val 17647"/>
            </a:avLst>
          </a:prstGeom>
          <a:solidFill>
            <a:schemeClr val="bg1"/>
          </a:solidFill>
          <a:ln w="19050">
            <a:solidFill>
              <a:schemeClr val="accent2"/>
            </a:solidFill>
            <a:prstDash val="solid"/>
          </a:ln>
        </p:spPr>
      </p:sp>
      <p:sp>
        <p:nvSpPr>
          <p:cNvPr id="21" name="Text 3154"/>
          <p:cNvSpPr txBox="1"/>
          <p:nvPr/>
        </p:nvSpPr>
        <p:spPr>
          <a:xfrm>
            <a:off x="5024018" y="2931566"/>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Judge the League's 1920s record</a:t>
            </a:r>
            <a:endParaRPr lang="en-US" sz="1500" dirty="0"/>
          </a:p>
        </p:txBody>
      </p:sp>
      <p:sp>
        <p:nvSpPr>
          <p:cNvPr id="22" name="Checkbox 3155"/>
          <p:cNvSpPr/>
          <p:nvPr/>
        </p:nvSpPr>
        <p:spPr>
          <a:xfrm>
            <a:off x="4566818" y="3814877"/>
            <a:ext cx="310896" cy="310896"/>
          </a:xfrm>
          <a:prstGeom prst="roundRect">
            <a:avLst>
              <a:gd name="adj" fmla="val 17647"/>
            </a:avLst>
          </a:prstGeom>
          <a:solidFill>
            <a:schemeClr val="bg1"/>
          </a:solidFill>
          <a:ln w="19050">
            <a:solidFill>
              <a:schemeClr val="accent2"/>
            </a:solidFill>
            <a:prstDash val="solid"/>
          </a:ln>
        </p:spPr>
      </p:sp>
      <p:sp>
        <p:nvSpPr>
          <p:cNvPr id="23" name="Text 3156"/>
          <p:cNvSpPr txBox="1"/>
          <p:nvPr/>
        </p:nvSpPr>
        <p:spPr>
          <a:xfrm>
            <a:off x="5024018" y="3741725"/>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Explain the crises of 1922–23</a:t>
            </a:r>
            <a:endParaRPr lang="en-US" sz="1500" dirty="0"/>
          </a:p>
        </p:txBody>
      </p:sp>
      <p:sp>
        <p:nvSpPr>
          <p:cNvPr id="24" name="Checkbox 3157"/>
          <p:cNvSpPr/>
          <p:nvPr/>
        </p:nvSpPr>
        <p:spPr>
          <a:xfrm>
            <a:off x="4566818" y="4625035"/>
            <a:ext cx="310896" cy="310896"/>
          </a:xfrm>
          <a:prstGeom prst="roundRect">
            <a:avLst>
              <a:gd name="adj" fmla="val 17647"/>
            </a:avLst>
          </a:prstGeom>
          <a:solidFill>
            <a:schemeClr val="bg1"/>
          </a:solidFill>
          <a:ln w="19050">
            <a:solidFill>
              <a:schemeClr val="accent2"/>
            </a:solidFill>
            <a:prstDash val="solid"/>
          </a:ln>
        </p:spPr>
      </p:sp>
      <p:sp>
        <p:nvSpPr>
          <p:cNvPr id="25" name="Text 3158"/>
          <p:cNvSpPr txBox="1"/>
          <p:nvPr/>
        </p:nvSpPr>
        <p:spPr>
          <a:xfrm>
            <a:off x="5024018" y="4551883"/>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Explain Dawes, Locarno and Kellogg–Briand</a:t>
            </a:r>
            <a:endParaRPr lang="en-US" sz="1500" dirty="0"/>
          </a:p>
        </p:txBody>
      </p:sp>
      <p:sp>
        <p:nvSpPr>
          <p:cNvPr id="26" name="Checkbox 3159"/>
          <p:cNvSpPr/>
          <p:nvPr/>
        </p:nvSpPr>
        <p:spPr>
          <a:xfrm>
            <a:off x="4566818" y="5435194"/>
            <a:ext cx="310896" cy="310896"/>
          </a:xfrm>
          <a:prstGeom prst="roundRect">
            <a:avLst>
              <a:gd name="adj" fmla="val 17647"/>
            </a:avLst>
          </a:prstGeom>
          <a:solidFill>
            <a:schemeClr val="bg1"/>
          </a:solidFill>
          <a:ln w="19050">
            <a:solidFill>
              <a:schemeClr val="accent2"/>
            </a:solidFill>
            <a:prstDash val="solid"/>
          </a:ln>
        </p:spPr>
      </p:sp>
      <p:sp>
        <p:nvSpPr>
          <p:cNvPr id="27" name="Text 3160"/>
          <p:cNvSpPr txBox="1"/>
          <p:nvPr/>
        </p:nvSpPr>
        <p:spPr>
          <a:xfrm>
            <a:off x="5024018" y="5362042"/>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Judge how far relations improved</a:t>
            </a:r>
            <a:endParaRPr lang="en-US" sz="1500" dirty="0"/>
          </a:p>
        </p:txBody>
      </p:sp>
      <p:sp>
        <p:nvSpPr>
          <p:cNvPr id="28" name="Checklist column 3161"/>
          <p:cNvSpPr/>
          <p:nvPr/>
        </p:nvSpPr>
        <p:spPr>
          <a:xfrm>
            <a:off x="8127797" y="1481328"/>
            <a:ext cx="3515258" cy="4782312"/>
          </a:xfrm>
          <a:prstGeom prst="roundRect">
            <a:avLst>
              <a:gd name="adj" fmla="val 2601"/>
            </a:avLst>
          </a:prstGeom>
          <a:solidFill>
            <a:schemeClr val="accent3">
              <a:alpha val="8000"/>
            </a:schemeClr>
          </a:solidFill>
          <a:ln/>
        </p:spPr>
      </p:sp>
      <p:sp>
        <p:nvSpPr>
          <p:cNvPr id="29" name="Text 3162"/>
          <p:cNvSpPr txBox="1"/>
          <p:nvPr/>
        </p:nvSpPr>
        <p:spPr>
          <a:xfrm>
            <a:off x="8356397" y="1618488"/>
            <a:ext cx="3058058" cy="384048"/>
          </a:xfrm>
          <a:prstGeom prst="rect">
            <a:avLst/>
          </a:prstGeom>
          <a:noFill/>
          <a:ln/>
        </p:spPr>
        <p:txBody>
          <a:bodyPr wrap="square" lIns="0" tIns="0" rIns="0" bIns="0" rtlCol="0" anchor="t"/>
          <a:lstStyle/>
          <a:p>
            <a:pPr algn="l" indent="0" marL="0">
              <a:spcAft>
                <a:spcPts val="600"/>
              </a:spcAft>
              <a:buNone/>
            </a:pPr>
            <a:r>
              <a:rPr lang="en-US" sz="1800" b="1" dirty="0">
                <a:solidFill>
                  <a:schemeClr val="accent3"/>
                </a:solidFill>
              </a:rPr>
              <a:t>Topic 3 · Paper 2</a:t>
            </a:r>
            <a:endParaRPr lang="en-US" sz="1800" dirty="0"/>
          </a:p>
        </p:txBody>
      </p:sp>
      <p:sp>
        <p:nvSpPr>
          <p:cNvPr id="30" name="Checkbox 3163"/>
          <p:cNvSpPr/>
          <p:nvPr/>
        </p:nvSpPr>
        <p:spPr>
          <a:xfrm>
            <a:off x="8356397" y="2194560"/>
            <a:ext cx="310896" cy="310896"/>
          </a:xfrm>
          <a:prstGeom prst="roundRect">
            <a:avLst>
              <a:gd name="adj" fmla="val 17647"/>
            </a:avLst>
          </a:prstGeom>
          <a:solidFill>
            <a:schemeClr val="bg1"/>
          </a:solidFill>
          <a:ln w="19050">
            <a:solidFill>
              <a:schemeClr val="accent3"/>
            </a:solidFill>
            <a:prstDash val="solid"/>
          </a:ln>
        </p:spPr>
      </p:sp>
      <p:sp>
        <p:nvSpPr>
          <p:cNvPr id="31" name="Text 3164"/>
          <p:cNvSpPr txBox="1"/>
          <p:nvPr/>
        </p:nvSpPr>
        <p:spPr>
          <a:xfrm>
            <a:off x="8813597" y="2121408"/>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Link the Depression to extremism</a:t>
            </a:r>
            <a:endParaRPr lang="en-US" sz="1500" dirty="0"/>
          </a:p>
        </p:txBody>
      </p:sp>
      <p:sp>
        <p:nvSpPr>
          <p:cNvPr id="32" name="Checkbox 3165"/>
          <p:cNvSpPr/>
          <p:nvPr/>
        </p:nvSpPr>
        <p:spPr>
          <a:xfrm>
            <a:off x="8356397" y="3004718"/>
            <a:ext cx="310896" cy="310896"/>
          </a:xfrm>
          <a:prstGeom prst="roundRect">
            <a:avLst>
              <a:gd name="adj" fmla="val 17647"/>
            </a:avLst>
          </a:prstGeom>
          <a:solidFill>
            <a:schemeClr val="bg1"/>
          </a:solidFill>
          <a:ln w="19050">
            <a:solidFill>
              <a:schemeClr val="accent3"/>
            </a:solidFill>
            <a:prstDash val="solid"/>
          </a:ln>
        </p:spPr>
      </p:sp>
      <p:sp>
        <p:nvSpPr>
          <p:cNvPr id="33" name="Text 3166"/>
          <p:cNvSpPr txBox="1"/>
          <p:nvPr/>
        </p:nvSpPr>
        <p:spPr>
          <a:xfrm>
            <a:off x="8813597" y="2931566"/>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Compare Manchuria and Abyssinia</a:t>
            </a:r>
            <a:endParaRPr lang="en-US" sz="1500" dirty="0"/>
          </a:p>
        </p:txBody>
      </p:sp>
      <p:sp>
        <p:nvSpPr>
          <p:cNvPr id="34" name="Checkbox 3167"/>
          <p:cNvSpPr/>
          <p:nvPr/>
        </p:nvSpPr>
        <p:spPr>
          <a:xfrm>
            <a:off x="8356397" y="3814877"/>
            <a:ext cx="310896" cy="310896"/>
          </a:xfrm>
          <a:prstGeom prst="roundRect">
            <a:avLst>
              <a:gd name="adj" fmla="val 17647"/>
            </a:avLst>
          </a:prstGeom>
          <a:solidFill>
            <a:schemeClr val="bg1"/>
          </a:solidFill>
          <a:ln w="19050">
            <a:solidFill>
              <a:schemeClr val="accent3"/>
            </a:solidFill>
            <a:prstDash val="solid"/>
          </a:ln>
        </p:spPr>
      </p:sp>
      <p:sp>
        <p:nvSpPr>
          <p:cNvPr id="35" name="Text 3168"/>
          <p:cNvSpPr txBox="1"/>
          <p:nvPr/>
        </p:nvSpPr>
        <p:spPr>
          <a:xfrm>
            <a:off x="8813597" y="3741725"/>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Explain appeasement (EMPIRE)</a:t>
            </a:r>
            <a:endParaRPr lang="en-US" sz="1500" dirty="0"/>
          </a:p>
        </p:txBody>
      </p:sp>
      <p:sp>
        <p:nvSpPr>
          <p:cNvPr id="36" name="Checkbox 3169"/>
          <p:cNvSpPr/>
          <p:nvPr/>
        </p:nvSpPr>
        <p:spPr>
          <a:xfrm>
            <a:off x="8356397" y="4625035"/>
            <a:ext cx="310896" cy="310896"/>
          </a:xfrm>
          <a:prstGeom prst="roundRect">
            <a:avLst>
              <a:gd name="adj" fmla="val 17647"/>
            </a:avLst>
          </a:prstGeom>
          <a:solidFill>
            <a:schemeClr val="bg1"/>
          </a:solidFill>
          <a:ln w="19050">
            <a:solidFill>
              <a:schemeClr val="accent3"/>
            </a:solidFill>
            <a:prstDash val="solid"/>
          </a:ln>
        </p:spPr>
      </p:sp>
      <p:sp>
        <p:nvSpPr>
          <p:cNvPr id="37" name="Text 3170"/>
          <p:cNvSpPr txBox="1"/>
          <p:nvPr/>
        </p:nvSpPr>
        <p:spPr>
          <a:xfrm>
            <a:off x="8813597" y="4551883"/>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Explain the Nazi–Soviet Pact</a:t>
            </a:r>
            <a:endParaRPr lang="en-US" sz="1500" dirty="0"/>
          </a:p>
        </p:txBody>
      </p:sp>
      <p:sp>
        <p:nvSpPr>
          <p:cNvPr id="38" name="Checkbox 3171"/>
          <p:cNvSpPr/>
          <p:nvPr/>
        </p:nvSpPr>
        <p:spPr>
          <a:xfrm>
            <a:off x="8356397" y="5435194"/>
            <a:ext cx="310896" cy="310896"/>
          </a:xfrm>
          <a:prstGeom prst="roundRect">
            <a:avLst>
              <a:gd name="adj" fmla="val 17647"/>
            </a:avLst>
          </a:prstGeom>
          <a:solidFill>
            <a:schemeClr val="bg1"/>
          </a:solidFill>
          <a:ln w="19050">
            <a:solidFill>
              <a:schemeClr val="accent3"/>
            </a:solidFill>
            <a:prstDash val="solid"/>
          </a:ln>
        </p:spPr>
      </p:sp>
      <p:sp>
        <p:nvSpPr>
          <p:cNvPr id="39" name="Text 3172"/>
          <p:cNvSpPr txBox="1"/>
          <p:nvPr/>
        </p:nvSpPr>
        <p:spPr>
          <a:xfrm>
            <a:off x="8813597" y="5362042"/>
            <a:ext cx="2646578" cy="764438"/>
          </a:xfrm>
          <a:prstGeom prst="rect">
            <a:avLst/>
          </a:prstGeom>
          <a:noFill/>
          <a:ln/>
        </p:spPr>
        <p:txBody>
          <a:bodyPr wrap="square" lIns="0" tIns="0" rIns="0" bIns="0" rtlCol="0" anchor="t"/>
          <a:lstStyle/>
          <a:p>
            <a:pPr algn="l" indent="0" marL="0">
              <a:spcAft>
                <a:spcPts val="600"/>
              </a:spcAft>
              <a:buNone/>
            </a:pPr>
            <a:r>
              <a:rPr lang="en-US" sz="1500" dirty="0">
                <a:solidFill>
                  <a:schemeClr val="tx1"/>
                </a:solidFill>
              </a:rPr>
              <a:t>Plan a (b) answer in 5 minutes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6583680" cy="1920240"/>
          </a:xfrm>
          <a:prstGeom prst="rect">
            <a:avLst/>
          </a:prstGeom>
          <a:noFill/>
          <a:ln/>
        </p:spPr>
        <p:txBody>
          <a:bodyPr wrap="square" lIns="0" tIns="0" rIns="0" bIns="0" rtlCol="0" anchor="b"/>
          <a:lstStyle/>
          <a:p>
            <a:pPr algn="l" indent="0" marL="0">
              <a:buNone/>
            </a:pPr>
            <a:r>
              <a:rPr lang="en-US" sz="4600" b="1" dirty="0">
                <a:solidFill>
                  <a:schemeClr val="bg1"/>
                </a:solidFill>
              </a:rPr>
              <a:t>You've got this.</a:t>
            </a:r>
            <a:endParaRPr lang="en-US" sz="4600" dirty="0"/>
          </a:p>
        </p:txBody>
      </p:sp>
      <p:sp>
        <p:nvSpPr>
          <p:cNvPr id="3" name="Text 0"/>
          <p:cNvSpPr/>
          <p:nvPr>
            <p:ph idx="101" type="body" hasCustomPrompt="1"/>
          </p:nvPr>
        </p:nvSpPr>
        <p:spPr>
          <a:xfrm>
            <a:off x="548640" y="3703320"/>
            <a:ext cx="6400800" cy="914400"/>
          </a:xfrm>
          <a:prstGeom prst="rect">
            <a:avLst/>
          </a:prstGeom>
          <a:noFill/>
          <a:ln/>
        </p:spPr>
        <p:txBody>
          <a:bodyPr wrap="square" lIns="0" tIns="0" rIns="0" bIns="0" rtlCol="0" anchor="t"/>
          <a:lstStyle/>
          <a:p>
            <a:pPr algn="l" indent="0" marL="0">
              <a:buNone/>
            </a:pPr>
            <a:r>
              <a:rPr lang="en-US" sz="2000" dirty="0">
                <a:solidFill>
                  <a:schemeClr val="accent4"/>
                </a:solidFill>
              </a:rPr>
              <a:t>Learn the story · revise by key question · test yourself · practise against the clock</a:t>
            </a:r>
            <a:endParaRPr lang="en-US" sz="2000" dirty="0"/>
          </a:p>
        </p:txBody>
      </p:sp>
      <p:sp>
        <p:nvSpPr>
          <p:cNvPr id="4" name="Reminder tile 3173"/>
          <p:cNvSpPr/>
          <p:nvPr/>
        </p:nvSpPr>
        <p:spPr>
          <a:xfrm>
            <a:off x="7635240" y="1325880"/>
            <a:ext cx="4007815" cy="1261872"/>
          </a:xfrm>
          <a:prstGeom prst="roundRect">
            <a:avLst>
              <a:gd name="adj" fmla="val 8696"/>
            </a:avLst>
          </a:prstGeom>
          <a:solidFill>
            <a:schemeClr val="accent1"/>
          </a:solidFill>
          <a:ln/>
        </p:spPr>
      </p:sp>
      <p:sp>
        <p:nvSpPr>
          <p:cNvPr id="5" name="Text 3174"/>
          <p:cNvSpPr txBox="1"/>
          <p:nvPr/>
        </p:nvSpPr>
        <p:spPr>
          <a:xfrm>
            <a:off x="7909560" y="1463040"/>
            <a:ext cx="3459175" cy="411480"/>
          </a:xfrm>
          <a:prstGeom prst="rect">
            <a:avLst/>
          </a:prstGeom>
          <a:noFill/>
          <a:ln/>
        </p:spPr>
        <p:txBody>
          <a:bodyPr wrap="square" lIns="0" tIns="0" rIns="0" bIns="0" rtlCol="0" anchor="t"/>
          <a:lstStyle/>
          <a:p>
            <a:pPr algn="l" indent="0" marL="0">
              <a:spcAft>
                <a:spcPts val="600"/>
              </a:spcAft>
              <a:buNone/>
            </a:pPr>
            <a:r>
              <a:rPr lang="en-US" sz="1900" b="1" dirty="0">
                <a:solidFill>
                  <a:schemeClr val="bg1"/>
                </a:solidFill>
              </a:rPr>
              <a:t>Paper 1</a:t>
            </a:r>
            <a:endParaRPr lang="en-US" sz="1900" dirty="0"/>
          </a:p>
        </p:txBody>
      </p:sp>
      <p:sp>
        <p:nvSpPr>
          <p:cNvPr id="6" name="Text 3175"/>
          <p:cNvSpPr txBox="1"/>
          <p:nvPr/>
        </p:nvSpPr>
        <p:spPr>
          <a:xfrm>
            <a:off x="7909560" y="1892808"/>
            <a:ext cx="3459175" cy="594360"/>
          </a:xfrm>
          <a:prstGeom prst="rect">
            <a:avLst/>
          </a:prstGeom>
          <a:noFill/>
          <a:ln/>
        </p:spPr>
        <p:txBody>
          <a:bodyPr wrap="square" lIns="0" tIns="0" rIns="0" bIns="0" rtlCol="0" anchor="t"/>
          <a:lstStyle/>
          <a:p>
            <a:pPr algn="l" indent="0" marL="0">
              <a:spcAft>
                <a:spcPts val="600"/>
              </a:spcAft>
              <a:buNone/>
            </a:pPr>
            <a:r>
              <a:rPr lang="en-US" sz="1500" dirty="0">
                <a:solidFill>
                  <a:schemeClr val="bg1"/>
                </a:solidFill>
              </a:rPr>
              <a:t>Compare, evaluate, judge — use every source.</a:t>
            </a:r>
            <a:endParaRPr lang="en-US" sz="1500" dirty="0"/>
          </a:p>
        </p:txBody>
      </p:sp>
      <p:sp>
        <p:nvSpPr>
          <p:cNvPr id="7" name="Reminder tile 3176"/>
          <p:cNvSpPr/>
          <p:nvPr/>
        </p:nvSpPr>
        <p:spPr>
          <a:xfrm>
            <a:off x="7635240" y="2807208"/>
            <a:ext cx="4007815" cy="1261872"/>
          </a:xfrm>
          <a:prstGeom prst="roundRect">
            <a:avLst>
              <a:gd name="adj" fmla="val 8696"/>
            </a:avLst>
          </a:prstGeom>
          <a:solidFill>
            <a:schemeClr val="accent2"/>
          </a:solidFill>
          <a:ln/>
        </p:spPr>
      </p:sp>
      <p:sp>
        <p:nvSpPr>
          <p:cNvPr id="8" name="Text 3177"/>
          <p:cNvSpPr txBox="1"/>
          <p:nvPr/>
        </p:nvSpPr>
        <p:spPr>
          <a:xfrm>
            <a:off x="7909560" y="2944368"/>
            <a:ext cx="3459175" cy="411480"/>
          </a:xfrm>
          <a:prstGeom prst="rect">
            <a:avLst/>
          </a:prstGeom>
          <a:noFill/>
          <a:ln/>
        </p:spPr>
        <p:txBody>
          <a:bodyPr wrap="square" lIns="0" tIns="0" rIns="0" bIns="0" rtlCol="0" anchor="t"/>
          <a:lstStyle/>
          <a:p>
            <a:pPr algn="l" indent="0" marL="0">
              <a:spcAft>
                <a:spcPts val="600"/>
              </a:spcAft>
              <a:buNone/>
            </a:pPr>
            <a:r>
              <a:rPr lang="en-US" sz="1900" b="1" dirty="0">
                <a:solidFill>
                  <a:schemeClr val="bg1"/>
                </a:solidFill>
              </a:rPr>
              <a:t>Paper 2 (a)</a:t>
            </a:r>
            <a:endParaRPr lang="en-US" sz="1900" dirty="0"/>
          </a:p>
        </p:txBody>
      </p:sp>
      <p:sp>
        <p:nvSpPr>
          <p:cNvPr id="9" name="Text 3178"/>
          <p:cNvSpPr txBox="1"/>
          <p:nvPr/>
        </p:nvSpPr>
        <p:spPr>
          <a:xfrm>
            <a:off x="7909560" y="3374136"/>
            <a:ext cx="3459175" cy="594360"/>
          </a:xfrm>
          <a:prstGeom prst="rect">
            <a:avLst/>
          </a:prstGeom>
          <a:noFill/>
          <a:ln/>
        </p:spPr>
        <p:txBody>
          <a:bodyPr wrap="square" lIns="0" tIns="0" rIns="0" bIns="0" rtlCol="0" anchor="t"/>
          <a:lstStyle/>
          <a:p>
            <a:pPr algn="l" indent="0" marL="0">
              <a:spcAft>
                <a:spcPts val="600"/>
              </a:spcAft>
              <a:buNone/>
            </a:pPr>
            <a:r>
              <a:rPr lang="en-US" sz="1500" dirty="0">
                <a:solidFill>
                  <a:schemeClr val="bg1"/>
                </a:solidFill>
              </a:rPr>
              <a:t>Several linked reasons — then rank them.</a:t>
            </a:r>
            <a:endParaRPr lang="en-US" sz="1500" dirty="0"/>
          </a:p>
        </p:txBody>
      </p:sp>
      <p:sp>
        <p:nvSpPr>
          <p:cNvPr id="10" name="Reminder tile 3179"/>
          <p:cNvSpPr/>
          <p:nvPr/>
        </p:nvSpPr>
        <p:spPr>
          <a:xfrm>
            <a:off x="7635240" y="4288536"/>
            <a:ext cx="4007815" cy="1261872"/>
          </a:xfrm>
          <a:prstGeom prst="roundRect">
            <a:avLst>
              <a:gd name="adj" fmla="val 8696"/>
            </a:avLst>
          </a:prstGeom>
          <a:solidFill>
            <a:schemeClr val="accent3"/>
          </a:solidFill>
          <a:ln/>
        </p:spPr>
      </p:sp>
      <p:sp>
        <p:nvSpPr>
          <p:cNvPr id="11" name="Text 3180"/>
          <p:cNvSpPr txBox="1"/>
          <p:nvPr/>
        </p:nvSpPr>
        <p:spPr>
          <a:xfrm>
            <a:off x="7909560" y="4425696"/>
            <a:ext cx="3459175" cy="411480"/>
          </a:xfrm>
          <a:prstGeom prst="rect">
            <a:avLst/>
          </a:prstGeom>
          <a:noFill/>
          <a:ln/>
        </p:spPr>
        <p:txBody>
          <a:bodyPr wrap="square" lIns="0" tIns="0" rIns="0" bIns="0" rtlCol="0" anchor="t"/>
          <a:lstStyle/>
          <a:p>
            <a:pPr algn="l" indent="0" marL="0">
              <a:spcAft>
                <a:spcPts val="600"/>
              </a:spcAft>
              <a:buNone/>
            </a:pPr>
            <a:r>
              <a:rPr lang="en-US" sz="1900" b="1" dirty="0">
                <a:solidFill>
                  <a:schemeClr val="bg1"/>
                </a:solidFill>
              </a:rPr>
              <a:t>Paper 2 (b)</a:t>
            </a:r>
            <a:endParaRPr lang="en-US" sz="1900" dirty="0"/>
          </a:p>
        </p:txBody>
      </p:sp>
      <p:sp>
        <p:nvSpPr>
          <p:cNvPr id="12" name="Text 3181"/>
          <p:cNvSpPr txBox="1"/>
          <p:nvPr/>
        </p:nvSpPr>
        <p:spPr>
          <a:xfrm>
            <a:off x="7909560" y="4855464"/>
            <a:ext cx="3459175" cy="594360"/>
          </a:xfrm>
          <a:prstGeom prst="rect">
            <a:avLst/>
          </a:prstGeom>
          <a:noFill/>
          <a:ln/>
        </p:spPr>
        <p:txBody>
          <a:bodyPr wrap="square" lIns="0" tIns="0" rIns="0" bIns="0" rtlCol="0" anchor="t"/>
          <a:lstStyle/>
          <a:p>
            <a:pPr algn="l" indent="0" marL="0">
              <a:spcAft>
                <a:spcPts val="600"/>
              </a:spcAft>
              <a:buNone/>
            </a:pPr>
            <a:r>
              <a:rPr lang="en-US" sz="1500" dirty="0">
                <a:solidFill>
                  <a:schemeClr val="bg1"/>
                </a:solidFill>
              </a:rPr>
              <a:t>A clear argument from introduction to conclusion.</a:t>
            </a:r>
            <a:endParaRPr lang="en-US" sz="1500" dirty="0"/>
          </a:p>
        </p:txBody>
      </p:sp>
    </p:spTree>
  </p:cSld>
  <p:clrMapOvr>
    <a:masterClrMapping/>
  </p:clrMapOvr>
</p:sld>
</file>

<file path=ppt/theme/theme1.xml><?xml version="1.0" encoding="utf-8"?>
<a:theme xmlns:a="http://schemas.openxmlformats.org/drawingml/2006/main" name="Empire to Appeasement">
  <a:themeElements>
    <a:clrScheme name="Empire to Appeasement">
      <a:dk1>
        <a:srgbClr val="1B1F24"/>
      </a:dk1>
      <a:lt1>
        <a:srgbClr val="FFFFFF"/>
      </a:lt1>
      <a:dk2>
        <a:srgbClr val="1E2A35"/>
      </a:dk2>
      <a:lt2>
        <a:srgbClr val="F1F3F5"/>
      </a:lt2>
      <a:accent1>
        <a:srgbClr val="9A2A2A"/>
      </a:accent1>
      <a:accent2>
        <a:srgbClr val="1C6E6A"/>
      </a:accent2>
      <a:accent3>
        <a:srgbClr val="A85A17"/>
      </a:accent3>
      <a:accent4>
        <a:srgbClr val="C8A13E"/>
      </a:accent4>
      <a:accent5>
        <a:srgbClr val="3E5468"/>
      </a:accent5>
      <a:accent6>
        <a:srgbClr val="6B7280"/>
      </a:accent6>
      <a:hlink>
        <a:srgbClr val="1C6E6A"/>
      </a:hlink>
      <a:folHlink>
        <a:srgbClr val="6B7280"/>
      </a:folHlink>
    </a:clrScheme>
    <a:fontScheme name="Empire to Appeasem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131</Slides>
  <Notes>131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131</vt:i4>
      </vt:variant>
    </vt:vector>
  </HeadingPairs>
  <TitlesOfParts>
    <vt:vector size="1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History 1870–1939 · AS History 9489 revision</dc:title>
  <dc:subject>Cambridge International AS History 9489 — International option revision</dc:subject>
  <dc:creator>Revision deck</dc:creator>
  <cp:lastModifiedBy>Revision deck</cp:lastModifiedBy>
  <cp:revision>1</cp:revision>
  <dcterms:created xsi:type="dcterms:W3CDTF">2026-10-07T10:52:09Z</dcterms:created>
  <dcterms:modified xsi:type="dcterms:W3CDTF">2026-10-07T10:52:09Z</dcterms:modified>
</cp:coreProperties>
</file>